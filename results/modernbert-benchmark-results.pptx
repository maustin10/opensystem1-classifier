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FC7DC"/>
                </a:solidFill>
                <a:latin typeface="Calibri"/>
              </a:rPr>
              <a:t>ZERO-SHOT NLI DECISION 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5200" b="1" i="0">
                <a:solidFill>
                  <a:srgbClr val="FFFFFF"/>
                </a:solidFill>
                <a:latin typeface="Georgia"/>
              </a:rPr>
              <a:t>Obvious-Answer</a:t>
            </a:r>
          </a:p>
          <a:p>
            <a:pPr algn="l">
              <a:lnSpc>
                <a:spcPct val="95000"/>
              </a:lnSpc>
            </a:pPr>
            <a:r>
              <a:rPr sz="5200" b="1" i="0">
                <a:solidFill>
                  <a:srgbClr val="FFFFFF"/>
                </a:solidFill>
                <a:latin typeface="Georgia"/>
              </a:rPr>
              <a:t>Sanity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C2D6E2"/>
                </a:solidFill>
                <a:latin typeface="Calibri"/>
              </a:rPr>
              <a:t>Twelve questions a competent human answers without hesitation — run through the local NLI scorer to establish a confidence floor.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29260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C7293"/>
                </a:solidFill>
                <a:latin typeface="Georgia"/>
              </a:rPr>
              <a:t>12/12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5955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FB3C2"/>
                </a:solidFill>
                <a:latin typeface="Calibri"/>
              </a:rPr>
              <a:t>CORRECT ANSWERS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846320"/>
            <a:ext cx="29260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C7293"/>
                </a:solidFill>
                <a:latin typeface="Georgia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555955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FB3C2"/>
                </a:solidFill>
                <a:latin typeface="Calibri"/>
              </a:rPr>
              <a:t>FLAGGED FOR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846320"/>
            <a:ext cx="29260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C7293"/>
                </a:solidFill>
                <a:latin typeface="Georgia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555955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FB3C2"/>
                </a:solidFill>
                <a:latin typeface="Calibri"/>
              </a:rPr>
              <a:t>RUN FULLY OFFLINE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63640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A8C9E"/>
                </a:solidFill>
                <a:latin typeface="Consolas"/>
              </a:rPr>
              <a:t>model: MoritzLaurer/ModernBERT-large-zeroshot-v2.0 (local weights)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21295C"/>
                </a:solidFill>
                <a:latin typeface="Georgia"/>
              </a:rPr>
              <a:t>How the model is asked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0700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6B7A8C"/>
                </a:solidFill>
                <a:latin typeface="Calibri"/>
              </a:rPr>
              <a:t>The model never generates text. Every option becomes one premise/hypothesis pair, scored for entailment.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5257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57800" cy="38404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1 · INPUT — what you send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493776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A1F2B"/>
                </a:solidFill>
                <a:latin typeface="Consolas"/>
              </a:rPr>
              <a:t>{
 "state": {
  "review": "This is the best meal I have ever eaten. Absolutely wonderful."
 },
 "decisions": [
  {
   "id": "sentiment_obvious",
   "kind": "choice",
   "question": "What sentiment does the review express?",
   "minimum_probability": 0.65,
   "minimum_margin": 0.15,
   "options": [
    {
     "id": "positive",
     "description": "..."
    },
    {
     "id": "negative",
     "description": "..."
    }
   ]
  }
 ]
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828800"/>
            <a:ext cx="5029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828800"/>
            <a:ext cx="5029200" cy="38404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90195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 · SCORING — what happens inside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2432304"/>
            <a:ext cx="9144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2395728"/>
            <a:ext cx="4434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65A82"/>
                </a:solidFill>
                <a:latin typeface="Calibri"/>
              </a:rPr>
              <a:t>PREMISE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2651760"/>
            <a:ext cx="4434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alibri"/>
              </a:rPr>
              <a:t>The state JSON, verbatim — the facts to reason over.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3127248"/>
            <a:ext cx="9144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84848" y="3090672"/>
            <a:ext cx="4434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65A82"/>
                </a:solidFill>
                <a:latin typeface="Calibri"/>
              </a:rPr>
              <a:t>HYPOTHESIS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3346704"/>
            <a:ext cx="4434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alibri"/>
              </a:rPr>
              <a:t>"The correct option is 'X'. Definition: …" — one per option.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3822191"/>
            <a:ext cx="9144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3785615"/>
            <a:ext cx="4434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65A82"/>
                </a:solidFill>
                <a:latin typeface="Calibri"/>
              </a:rPr>
              <a:t>FORWARD 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4041648"/>
            <a:ext cx="4434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alibri"/>
              </a:rPr>
              <a:t>NLI head returns an entailment logit for each pair.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4517136"/>
            <a:ext cx="9144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84848" y="4480559"/>
            <a:ext cx="4434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65A82"/>
                </a:solidFill>
                <a:latin typeface="Calibri"/>
              </a:rPr>
              <a:t>SOFTMAX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4736592"/>
            <a:ext cx="4434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alibri"/>
              </a:rPr>
              <a:t>Logits normalised across options into probabilities.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5212079"/>
            <a:ext cx="9144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4848" y="5175503"/>
            <a:ext cx="4434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65A82"/>
                </a:solidFill>
                <a:latin typeface="Calibri"/>
              </a:rPr>
              <a:t>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5431536"/>
            <a:ext cx="4434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alibri"/>
              </a:rPr>
              <a:t>Answer withheld unless confidence ≥ 0.65 and margin ≥ 0.15.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1447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7A8C"/>
                </a:solidFill>
                <a:latin typeface="Calibri"/>
              </a:rPr>
              <a:t>Because scores are softmaxed ACROSS options, absolute confidence falls as options are added — a 3-way 0.44 is not weaker evidence than a 2-way 0.79.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1295C"/>
                </a:solidFill>
                <a:latin typeface="Georgia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8755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A8C"/>
                </a:solidFill>
                <a:latin typeface="Calibri"/>
              </a:rPr>
              <a:t>One decision, N options → N premise/hypothesis pairs → one batched forward pass → softmax → gate.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214884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 i="0">
                <a:solidFill>
                  <a:srgbClr val="065A82"/>
                </a:solidFill>
                <a:latin typeface="Calibri"/>
              </a:rPr>
              <a:t>state JSON</a:t>
            </a:r>
          </a:p>
          <a:p>
            <a:pPr algn="ctr"/>
            <a:r>
              <a:rPr sz="900" b="0" i="1">
                <a:solidFill>
                  <a:srgbClr val="6B7A8C"/>
                </a:solidFill>
                <a:latin typeface="Calibri"/>
              </a:rPr>
              <a:t>the facts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212848"/>
            <a:ext cx="214884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 i="0">
                <a:solidFill>
                  <a:srgbClr val="065A82"/>
                </a:solidFill>
                <a:latin typeface="Calibri"/>
              </a:rPr>
              <a:t>question</a:t>
            </a:r>
          </a:p>
          <a:p>
            <a:pPr algn="ctr"/>
            <a:r>
              <a:rPr sz="900" b="0" i="1">
                <a:solidFill>
                  <a:srgbClr val="6B7A8C"/>
                </a:solidFill>
                <a:latin typeface="Calibri"/>
              </a:rPr>
              <a:t>what to decide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44368"/>
            <a:ext cx="2148840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 i="0">
                <a:solidFill>
                  <a:srgbClr val="065A82"/>
                </a:solidFill>
                <a:latin typeface="Calibri"/>
              </a:rPr>
              <a:t>option descriptions</a:t>
            </a:r>
          </a:p>
          <a:p>
            <a:pPr algn="ctr"/>
            <a:r>
              <a:rPr sz="900" b="0" i="1">
                <a:solidFill>
                  <a:srgbClr val="6B7A8C"/>
                </a:solidFill>
                <a:latin typeface="Calibri"/>
              </a:rPr>
              <a:t>one per candidate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783080"/>
            <a:ext cx="1965960" cy="14630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 i="0">
                <a:solidFill>
                  <a:srgbClr val="8FC7DC"/>
                </a:solidFill>
                <a:latin typeface="Calibri"/>
              </a:rPr>
              <a:t>PAIR BUILDER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Consolas"/>
              </a:rPr>
              <a:t>premise = state + question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Consolas"/>
              </a:rPr>
              <a:t>hypothesis = one per option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1783080"/>
            <a:ext cx="502920" cy="731520"/>
          </a:xfrm>
          <a:prstGeom prst="line">
            <a:avLst/>
          </a:prstGeom>
          <a:ln w="22225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926080" y="2514600"/>
            <a:ext cx="502920" cy="0"/>
          </a:xfrm>
          <a:prstGeom prst="line">
            <a:avLst/>
          </a:prstGeom>
          <a:ln w="22225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926080" y="2514600"/>
            <a:ext cx="502920" cy="731520"/>
          </a:xfrm>
          <a:prstGeom prst="line">
            <a:avLst/>
          </a:prstGeom>
          <a:ln w="22225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897880" y="1783080"/>
            <a:ext cx="2148840" cy="14630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ModernBERT-large</a:t>
            </a:r>
          </a:p>
          <a:p>
            <a:pPr algn="ctr"/>
            <a:r>
              <a:rPr sz="950" b="0" i="1">
                <a:solidFill>
                  <a:srgbClr val="8FC7DC"/>
                </a:solidFill>
                <a:latin typeface="Calibri"/>
              </a:rPr>
              <a:t>zeroshot-v2.0</a:t>
            </a:r>
          </a:p>
          <a:p>
            <a:pPr algn="ctr"/>
            <a:r>
              <a:rPr sz="900" b="0" i="0">
                <a:solidFill>
                  <a:srgbClr val="A8BCCC"/>
                </a:solidFill>
                <a:latin typeface="Calibri"/>
              </a:rPr>
              <a:t>NLI head · 395M params</a:t>
            </a:r>
          </a:p>
          <a:p>
            <a:pPr algn="ctr"/>
            <a:r>
              <a:rPr sz="850" b="0" i="0">
                <a:solidFill>
                  <a:srgbClr val="1C7293"/>
                </a:solidFill>
                <a:latin typeface="Consolas"/>
              </a:rPr>
              <a:t>local · offline · MPS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4960" y="2514600"/>
            <a:ext cx="502920" cy="0"/>
          </a:xfrm>
          <a:prstGeom prst="line">
            <a:avLst/>
          </a:prstGeom>
          <a:ln w="22225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549640" y="1783080"/>
            <a:ext cx="1783080" cy="14630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SOFTMAX</a:t>
            </a:r>
          </a:p>
          <a:p>
            <a:pPr algn="ctr"/>
            <a:r>
              <a:rPr sz="900" b="0" i="1">
                <a:solidFill>
                  <a:srgbClr val="D5E8F0"/>
                </a:solidFill>
                <a:latin typeface="Calibri"/>
              </a:rPr>
              <a:t>across options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Consolas"/>
              </a:rPr>
              <a:t>Σ p = 1.0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46720" y="2514600"/>
            <a:ext cx="502920" cy="0"/>
          </a:xfrm>
          <a:prstGeom prst="line">
            <a:avLst/>
          </a:prstGeom>
          <a:ln w="22225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973568" y="146304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A8C"/>
                </a:solidFill>
                <a:latin typeface="Consolas"/>
              </a:rPr>
              <a:t>entailment logit × N</a:t>
            </a:r>
          </a:p>
        </p:txBody>
      </p:sp>
      <p:sp>
        <p:nvSpPr>
          <p:cNvPr id="18" name="Diamond 17"/>
          <p:cNvSpPr/>
          <p:nvPr/>
        </p:nvSpPr>
        <p:spPr>
          <a:xfrm>
            <a:off x="10561320" y="1810512"/>
            <a:ext cx="1371600" cy="141732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B86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i="0">
                <a:solidFill>
                  <a:srgbClr val="B86E00"/>
                </a:solidFill>
                <a:latin typeface="Calibri"/>
              </a:rPr>
              <a:t>GATE</a:t>
            </a:r>
          </a:p>
          <a:p>
            <a:pPr algn="ctr"/>
            <a:r>
              <a:rPr sz="850" b="0" i="0">
                <a:solidFill>
                  <a:srgbClr val="1A1F2B"/>
                </a:solidFill>
                <a:latin typeface="Consolas"/>
              </a:rPr>
              <a:t>≥0.65</a:t>
            </a:r>
          </a:p>
          <a:p>
            <a:pPr algn="ctr"/>
            <a:r>
              <a:rPr sz="850" b="0" i="0">
                <a:solidFill>
                  <a:srgbClr val="1A1F2B"/>
                </a:solidFill>
                <a:latin typeface="Consolas"/>
              </a:rPr>
              <a:t>≥0.15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332720" y="2514600"/>
            <a:ext cx="228600" cy="0"/>
          </a:xfrm>
          <a:prstGeom prst="line">
            <a:avLst/>
          </a:prstGeom>
          <a:ln w="22225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9189720" y="3675887"/>
            <a:ext cx="2743200" cy="566928"/>
          </a:xfrm>
          <a:prstGeom prst="rect">
            <a:avLst/>
          </a:prstGeom>
          <a:solidFill>
            <a:srgbClr val="1E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answer returned  (5/12)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10561320" y="3227832"/>
            <a:ext cx="685800" cy="448055"/>
          </a:xfrm>
          <a:prstGeom prst="line">
            <a:avLst/>
          </a:prstGeom>
          <a:ln w="22225">
            <a:solidFill>
              <a:srgbClr val="1E7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189720" y="4434840"/>
            <a:ext cx="2743200" cy="566928"/>
          </a:xfrm>
          <a:prstGeom prst="rect">
            <a:avLst/>
          </a:prstGeom>
          <a:solidFill>
            <a:srgbClr val="B8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abstain → review  (7/12)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247120" y="3227832"/>
            <a:ext cx="0" cy="1207008"/>
          </a:xfrm>
          <a:prstGeom prst="line">
            <a:avLst/>
          </a:prstGeom>
          <a:ln w="22225">
            <a:solidFill>
              <a:srgbClr val="B86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77240" y="3794760"/>
            <a:ext cx="8092440" cy="2377440"/>
          </a:xfrm>
          <a:prstGeom prst="rect">
            <a:avLst/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913632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8FC7DC"/>
                </a:solidFill>
                <a:latin typeface="Calibri"/>
              </a:rPr>
              <a:t>EQUIVALENT MERMAID SOURCE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206240"/>
            <a:ext cx="7726679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 i="0">
                <a:solidFill>
                  <a:srgbClr val="E6EDF3"/>
                </a:solidFill>
                <a:latin typeface="Consolas"/>
              </a:rPr>
              <a:t>flowchart LR
  A[state JSON] --&gt; P[premise]
  Q[question] --&gt; P
  O[option descriptions] --&gt; H[hypothesis x N]
  P --&gt; T[tokenizer&lt;br/&gt;premise + hypothesis pairs]
  H --&gt; T
  T --&gt; M[ModernBERT-large&lt;br/&gt;NLI head]
  M --&gt; L[entailment logit&lt;br/&gt;one per option]
  L --&gt; S[softmax across options]
  S --&gt; G{confidence &gt;= 0.65&lt;br/&gt;AND margin &gt;= 0.15?}
  G -- yes --&gt; R[answer returned]
  G -- no --&gt; V[abstain -&gt; human review]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32764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1">
                <a:solidFill>
                  <a:srgbClr val="065A82"/>
                </a:solidFill>
                <a:latin typeface="Calibri"/>
              </a:rPr>
              <a:t>The model never generates text — it only scores entailment, so it cannot invent an option that was not offered.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01 · LEXICAL SENTIMENT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7863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1295C"/>
                </a:solidFill>
                <a:latin typeface="Georgia"/>
              </a:rPr>
              <a:t>What sentiment does the review express?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457200"/>
            <a:ext cx="2377440" cy="457200"/>
          </a:xfrm>
          <a:prstGeom prst="roundRect">
            <a:avLst/>
          </a:prstGeom>
          <a:solidFill>
            <a:srgbClr val="1E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CORRECT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48920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48920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64792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INPUT · state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212848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B"/>
                </a:solidFill>
                <a:latin typeface="Consolas"/>
              </a:rPr>
              <a:t>{
 "review": "This is the best meal I have ever eaten. Absolutely wonderful."
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703320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B7A8C"/>
                </a:solidFill>
                <a:latin typeface="Calibri"/>
              </a:rPr>
              <a:t>CANDIDATE 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014215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7A4B"/>
                </a:solidFill>
                <a:latin typeface="Consolas"/>
              </a:rPr>
              <a:t>●  positive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3251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onsolas"/>
              </a:rPr>
              <a:t>○  negative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690871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A8C"/>
                </a:solidFill>
                <a:latin typeface="Calibri"/>
              </a:rPr>
              <a:t>● = correct answer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1691640"/>
            <a:ext cx="53949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9320" y="1691640"/>
            <a:ext cx="539496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3912" y="1764792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OUTPUT · probability distribution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2286000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F2B"/>
                </a:solidFill>
                <a:latin typeface="Consolas"/>
              </a:rPr>
              <a:t>positive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78440" y="2286000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A1F2B"/>
                </a:solidFill>
                <a:latin typeface="Consolas"/>
              </a:rPr>
              <a:t>0.9862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3912" y="2542032"/>
            <a:ext cx="5074920" cy="15544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53912" y="2542032"/>
            <a:ext cx="5004637" cy="15544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2907792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onsolas"/>
              </a:rPr>
              <a:t>negative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2907792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A8C"/>
                </a:solidFill>
                <a:latin typeface="Consolas"/>
              </a:rPr>
              <a:t>0.0138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3912" y="3163824"/>
            <a:ext cx="5074920" cy="15544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53912" y="3163824"/>
            <a:ext cx="70282" cy="155448"/>
          </a:xfrm>
          <a:prstGeom prst="rect">
            <a:avLst/>
          </a:prstGeom>
          <a:solidFill>
            <a:srgbClr val="9F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53912" y="4224528"/>
            <a:ext cx="5074920" cy="1828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53912" y="4389120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MODEL PICKED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464515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positive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389120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CONFIDENCE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64515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0.9862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73768" y="4389120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TOP-2 MARGIN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3768" y="464515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0.9723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74243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1E7A4B"/>
                </a:solidFill>
                <a:latin typeface="Calibri"/>
              </a:rPr>
              <a:t>Cleared the 0.65 / 0.15 gate — answer returned directly.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355080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8B6"/>
                </a:solidFill>
                <a:latin typeface="Calibri"/>
              </a:rPr>
              <a:t>case 1 of 12   ·   id: sentiment_obvious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02 · ARITHMETIC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7863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1295C"/>
                </a:solidFill>
                <a:latin typeface="Georgia"/>
              </a:rPr>
              <a:t>What is the value of the expression?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457200"/>
            <a:ext cx="2377440" cy="457200"/>
          </a:xfrm>
          <a:prstGeom prst="roundRect">
            <a:avLst/>
          </a:prstGeom>
          <a:solidFill>
            <a:srgbClr val="B8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CORRECT · GATED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48920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48920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64792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INPUT · state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212848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B"/>
                </a:solidFill>
                <a:latin typeface="Consolas"/>
              </a:rPr>
              <a:t>{
 "expression": "2 + 2"
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703320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B7A8C"/>
                </a:solidFill>
                <a:latin typeface="Calibri"/>
              </a:rPr>
              <a:t>CANDIDATE 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014215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7A4B"/>
                </a:solidFill>
                <a:latin typeface="Consolas"/>
              </a:rPr>
              <a:t>●  four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3251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onsolas"/>
              </a:rPr>
              <a:t>○  seven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636007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onsolas"/>
              </a:rPr>
              <a:t>○  twelve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5001767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A8C"/>
                </a:solidFill>
                <a:latin typeface="Calibri"/>
              </a:rPr>
              <a:t>● = correct answer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691640"/>
            <a:ext cx="53949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691640"/>
            <a:ext cx="539496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53912" y="1764792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OUTPUT · probability 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912" y="2286000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F2B"/>
                </a:solidFill>
                <a:latin typeface="Consolas"/>
              </a:rPr>
              <a:t>four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78440" y="2286000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A1F2B"/>
                </a:solidFill>
                <a:latin typeface="Consolas"/>
              </a:rPr>
              <a:t>0.3854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53912" y="2542032"/>
            <a:ext cx="5074920" cy="15544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53912" y="2542032"/>
            <a:ext cx="1955853" cy="15544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3912" y="2907792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onsolas"/>
              </a:rPr>
              <a:t>twelve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78440" y="2907792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A8C"/>
                </a:solidFill>
                <a:latin typeface="Consolas"/>
              </a:rPr>
              <a:t>0.3121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53912" y="3163824"/>
            <a:ext cx="5074920" cy="15544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53912" y="3163824"/>
            <a:ext cx="1583897" cy="155448"/>
          </a:xfrm>
          <a:prstGeom prst="rect">
            <a:avLst/>
          </a:prstGeom>
          <a:solidFill>
            <a:srgbClr val="9F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53912" y="3529584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onsolas"/>
              </a:rPr>
              <a:t>seven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8440" y="3529584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A8C"/>
                </a:solidFill>
                <a:latin typeface="Consolas"/>
              </a:rPr>
              <a:t>0.3025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53912" y="3785616"/>
            <a:ext cx="5074920" cy="15544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53912" y="3785616"/>
            <a:ext cx="1535168" cy="155448"/>
          </a:xfrm>
          <a:prstGeom prst="rect">
            <a:avLst/>
          </a:prstGeom>
          <a:solidFill>
            <a:srgbClr val="9F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3912" y="4261104"/>
            <a:ext cx="5074920" cy="1828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53912" y="4425696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MODEL PICKED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3912" y="468172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four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425696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CONFIDENCE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8172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0.3854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73768" y="4425696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TOP-2 MARGIN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73768" y="468172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0.0733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74243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B86E00"/>
                </a:solidFill>
                <a:latin typeface="Calibri"/>
              </a:rPr>
              <a:t>Answer withheld — below the 0.65 / 0.15 gate, so the POC abstains rather than guess.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355080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8B6"/>
                </a:solidFill>
                <a:latin typeface="Calibri"/>
              </a:rPr>
              <a:t>case 2 of 12   ·   id: arithmetic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03 · WORLD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7863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1295C"/>
                </a:solidFill>
                <a:latin typeface="Georgia"/>
              </a:rPr>
              <a:t>What is the capital city of this country?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457200"/>
            <a:ext cx="2377440" cy="457200"/>
          </a:xfrm>
          <a:prstGeom prst="roundRect">
            <a:avLst/>
          </a:prstGeom>
          <a:solidFill>
            <a:srgbClr val="B8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CORRECT · GATED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48920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48920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64792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INPUT · state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212848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B"/>
                </a:solidFill>
                <a:latin typeface="Consolas"/>
              </a:rPr>
              <a:t>{
 "country": "France"
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703320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B7A8C"/>
                </a:solidFill>
                <a:latin typeface="Calibri"/>
              </a:rPr>
              <a:t>CANDIDATE 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014215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7A4B"/>
                </a:solidFill>
                <a:latin typeface="Consolas"/>
              </a:rPr>
              <a:t>●  paris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3251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onsolas"/>
              </a:rPr>
              <a:t>○  berlin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636007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onsolas"/>
              </a:rPr>
              <a:t>○  tokyo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5001767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A8C"/>
                </a:solidFill>
                <a:latin typeface="Calibri"/>
              </a:rPr>
              <a:t>● = correct answer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691640"/>
            <a:ext cx="53949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691640"/>
            <a:ext cx="539496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53912" y="1764792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OUTPUT · probability 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912" y="2286000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F2B"/>
                </a:solidFill>
                <a:latin typeface="Consolas"/>
              </a:rPr>
              <a:t>paris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78440" y="2286000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A1F2B"/>
                </a:solidFill>
                <a:latin typeface="Consolas"/>
              </a:rPr>
              <a:t>0.4442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53912" y="2542032"/>
            <a:ext cx="5074920" cy="15544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53912" y="2542032"/>
            <a:ext cx="2254218" cy="15544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3912" y="2907792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onsolas"/>
              </a:rPr>
              <a:t>tokyo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78440" y="2907792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A8C"/>
                </a:solidFill>
                <a:latin typeface="Consolas"/>
              </a:rPr>
              <a:t>0.3001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53912" y="3163824"/>
            <a:ext cx="5074920" cy="15544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53912" y="3163824"/>
            <a:ext cx="1523049" cy="155448"/>
          </a:xfrm>
          <a:prstGeom prst="rect">
            <a:avLst/>
          </a:prstGeom>
          <a:solidFill>
            <a:srgbClr val="9F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53912" y="3529584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onsolas"/>
              </a:rPr>
              <a:t>berlin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8440" y="3529584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A8C"/>
                </a:solidFill>
                <a:latin typeface="Consolas"/>
              </a:rPr>
              <a:t>0.2557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53912" y="3785616"/>
            <a:ext cx="5074920" cy="15544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53912" y="3785616"/>
            <a:ext cx="1297651" cy="155448"/>
          </a:xfrm>
          <a:prstGeom prst="rect">
            <a:avLst/>
          </a:prstGeom>
          <a:solidFill>
            <a:srgbClr val="9F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3912" y="4261104"/>
            <a:ext cx="5074920" cy="1828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53912" y="4425696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MODEL PICKED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3912" y="468172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paris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425696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CONFIDENCE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8172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0.4442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73768" y="4425696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TOP-2 MARGIN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73768" y="468172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0.1441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74243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B86E00"/>
                </a:solidFill>
                <a:latin typeface="Calibri"/>
              </a:rPr>
              <a:t>Answer withheld — below the 0.65 / 0.15 gate, so the POC abstains rather than guess.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355080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8B6"/>
                </a:solidFill>
                <a:latin typeface="Calibri"/>
              </a:rPr>
              <a:t>case 3 of 12   ·   id: geography_capital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04 · TAXONOMY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7863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1295C"/>
                </a:solidFill>
                <a:latin typeface="Georgia"/>
              </a:rPr>
              <a:t>What kind of animal is described?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457200"/>
            <a:ext cx="2377440" cy="457200"/>
          </a:xfrm>
          <a:prstGeom prst="roundRect">
            <a:avLst/>
          </a:prstGeom>
          <a:solidFill>
            <a:srgbClr val="B8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CORRECT · GATED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48920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48920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64792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INPUT · state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212848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B"/>
                </a:solidFill>
                <a:latin typeface="Consolas"/>
              </a:rPr>
              <a:t>{
 "animal": "a dog with four legs that barks and wags its tail"
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703320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B7A8C"/>
                </a:solidFill>
                <a:latin typeface="Calibri"/>
              </a:rPr>
              <a:t>CANDIDATE 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014215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7A4B"/>
                </a:solidFill>
                <a:latin typeface="Consolas"/>
              </a:rPr>
              <a:t>●  mammal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3251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onsolas"/>
              </a:rPr>
              <a:t>○  fish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636007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onsolas"/>
              </a:rPr>
              <a:t>○  insect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5001767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A8C"/>
                </a:solidFill>
                <a:latin typeface="Calibri"/>
              </a:rPr>
              <a:t>● = correct answer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691640"/>
            <a:ext cx="53949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691640"/>
            <a:ext cx="539496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53912" y="1764792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OUTPUT · probability 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912" y="2286000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F2B"/>
                </a:solidFill>
                <a:latin typeface="Consolas"/>
              </a:rPr>
              <a:t>mammal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78440" y="2286000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A1F2B"/>
                </a:solidFill>
                <a:latin typeface="Consolas"/>
              </a:rPr>
              <a:t>0.6424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53912" y="2542032"/>
            <a:ext cx="5074920" cy="15544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53912" y="2542032"/>
            <a:ext cx="3260108" cy="15544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3912" y="2907792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onsolas"/>
              </a:rPr>
              <a:t>fish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78440" y="2907792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A8C"/>
                </a:solidFill>
                <a:latin typeface="Consolas"/>
              </a:rPr>
              <a:t>0.2086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53912" y="3163824"/>
            <a:ext cx="5074920" cy="15544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53912" y="3163824"/>
            <a:ext cx="1058405" cy="155448"/>
          </a:xfrm>
          <a:prstGeom prst="rect">
            <a:avLst/>
          </a:prstGeom>
          <a:solidFill>
            <a:srgbClr val="9F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53912" y="3529584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onsolas"/>
              </a:rPr>
              <a:t>insect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8440" y="3529584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A8C"/>
                </a:solidFill>
                <a:latin typeface="Consolas"/>
              </a:rPr>
              <a:t>0.1490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53912" y="3785616"/>
            <a:ext cx="5074920" cy="15544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53912" y="3785616"/>
            <a:ext cx="756406" cy="155448"/>
          </a:xfrm>
          <a:prstGeom prst="rect">
            <a:avLst/>
          </a:prstGeom>
          <a:solidFill>
            <a:srgbClr val="9F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3912" y="4261104"/>
            <a:ext cx="5074920" cy="1828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53912" y="4425696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MODEL PICKED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3912" y="468172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mammal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425696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CONFIDENCE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8172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0.6424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73768" y="4425696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TOP-2 MARGIN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73768" y="468172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0.4338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74243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B86E00"/>
                </a:solidFill>
                <a:latin typeface="Calibri"/>
              </a:rPr>
              <a:t>Answer withheld — below the 0.65 / 0.15 gate, so the POC abstains rather than guess.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355080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8B6"/>
                </a:solidFill>
                <a:latin typeface="Calibri"/>
              </a:rPr>
              <a:t>case 4 of 12   ·   id: animal_taxonomy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05 · NEGATION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7863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1295C"/>
                </a:solidFill>
                <a:latin typeface="Georgia"/>
              </a:rPr>
              <a:t>What is the current state of the server?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457200"/>
            <a:ext cx="2377440" cy="457200"/>
          </a:xfrm>
          <a:prstGeom prst="roundRect">
            <a:avLst/>
          </a:prstGeom>
          <a:solidFill>
            <a:srgbClr val="1E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CORRECT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48920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48920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64792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INPUT · state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212848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B"/>
                </a:solidFill>
                <a:latin typeface="Consolas"/>
              </a:rPr>
              <a:t>{
 "statement": "The server is not running and has been completely shut down."
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703320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B7A8C"/>
                </a:solidFill>
                <a:latin typeface="Calibri"/>
              </a:rPr>
              <a:t>CANDIDATE 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014215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7A4B"/>
                </a:solidFill>
                <a:latin typeface="Consolas"/>
              </a:rPr>
              <a:t>●  stopped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3251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onsolas"/>
              </a:rPr>
              <a:t>○  running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690871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A8C"/>
                </a:solidFill>
                <a:latin typeface="Calibri"/>
              </a:rPr>
              <a:t>● = correct answer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1691640"/>
            <a:ext cx="53949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9320" y="1691640"/>
            <a:ext cx="539496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3912" y="1764792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OUTPUT · probability distribution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2286000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F2B"/>
                </a:solidFill>
                <a:latin typeface="Consolas"/>
              </a:rPr>
              <a:t>stopped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78440" y="2286000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A1F2B"/>
                </a:solidFill>
                <a:latin typeface="Consolas"/>
              </a:rPr>
              <a:t>0.7969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3912" y="2542032"/>
            <a:ext cx="5074920" cy="15544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53912" y="2542032"/>
            <a:ext cx="4044330" cy="15544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2907792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onsolas"/>
              </a:rPr>
              <a:t>running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2907792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A8C"/>
                </a:solidFill>
                <a:latin typeface="Consolas"/>
              </a:rPr>
              <a:t>0.2031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3912" y="3163824"/>
            <a:ext cx="5074920" cy="15544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53912" y="3163824"/>
            <a:ext cx="1030589" cy="155448"/>
          </a:xfrm>
          <a:prstGeom prst="rect">
            <a:avLst/>
          </a:prstGeom>
          <a:solidFill>
            <a:srgbClr val="9F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53912" y="4224528"/>
            <a:ext cx="5074920" cy="1828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53912" y="4389120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MODEL PICKED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464515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stopped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389120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CONFIDENCE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64515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0.7969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73768" y="4389120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TOP-2 MARGIN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3768" y="464515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0.5939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74243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1E7A4B"/>
                </a:solidFill>
                <a:latin typeface="Calibri"/>
              </a:rPr>
              <a:t>Cleared the 0.65 / 0.15 gate — answer returned directly.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355080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8B6"/>
                </a:solidFill>
                <a:latin typeface="Calibri"/>
              </a:rPr>
              <a:t>case 5 of 12   ·   id: explicit_negation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06 · TEMPORAL ORDERING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7863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1295C"/>
                </a:solidFill>
                <a:latin typeface="Georgia"/>
              </a:rPr>
              <a:t>Which event happened first?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457200"/>
            <a:ext cx="2377440" cy="457200"/>
          </a:xfrm>
          <a:prstGeom prst="roundRect">
            <a:avLst/>
          </a:prstGeom>
          <a:solidFill>
            <a:srgbClr val="1E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CORRECT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48920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48920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64792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INPUT · state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212848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B"/>
                </a:solidFill>
                <a:latin typeface="Consolas"/>
              </a:rPr>
              <a:t>{
 "events": "The package was ordered on Monday and delivered on Friday of the same week."
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703320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B7A8C"/>
                </a:solidFill>
                <a:latin typeface="Calibri"/>
              </a:rPr>
              <a:t>CANDIDATE 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014215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7A4B"/>
                </a:solidFill>
                <a:latin typeface="Consolas"/>
              </a:rPr>
              <a:t>●  ordering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3251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onsolas"/>
              </a:rPr>
              <a:t>○ 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690871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A8C"/>
                </a:solidFill>
                <a:latin typeface="Calibri"/>
              </a:rPr>
              <a:t>● = correct answer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1691640"/>
            <a:ext cx="53949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9320" y="1691640"/>
            <a:ext cx="539496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3912" y="1764792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OUTPUT · probability distribution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2286000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F2B"/>
                </a:solidFill>
                <a:latin typeface="Consolas"/>
              </a:rPr>
              <a:t>ordering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78440" y="2286000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A1F2B"/>
                </a:solidFill>
                <a:latin typeface="Consolas"/>
              </a:rPr>
              <a:t>0.7870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3912" y="2542032"/>
            <a:ext cx="5074920" cy="15544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53912" y="2542032"/>
            <a:ext cx="3993708" cy="15544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2907792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onsolas"/>
              </a:rPr>
              <a:t>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2907792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A8C"/>
                </a:solidFill>
                <a:latin typeface="Consolas"/>
              </a:rPr>
              <a:t>0.2130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3912" y="3163824"/>
            <a:ext cx="5074920" cy="15544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53912" y="3163824"/>
            <a:ext cx="1081211" cy="155448"/>
          </a:xfrm>
          <a:prstGeom prst="rect">
            <a:avLst/>
          </a:prstGeom>
          <a:solidFill>
            <a:srgbClr val="9F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53912" y="4224528"/>
            <a:ext cx="5074920" cy="1828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53912" y="4389120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MODEL PICKED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464515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ordering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389120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CONFIDENCE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64515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0.7870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73768" y="4389120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TOP-2 MARGIN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3768" y="464515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0.5739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74243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1E7A4B"/>
                </a:solidFill>
                <a:latin typeface="Calibri"/>
              </a:rPr>
              <a:t>Cleared the 0.65 / 0.15 gate — answer returned directly.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355080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8B6"/>
                </a:solidFill>
                <a:latin typeface="Calibri"/>
              </a:rPr>
              <a:t>case 6 of 12   ·   id: temporal_order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07 · UNIT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7863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1295C"/>
                </a:solidFill>
                <a:latin typeface="Georgia"/>
              </a:rPr>
              <a:t>Which distance is larger?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457200"/>
            <a:ext cx="2377440" cy="457200"/>
          </a:xfrm>
          <a:prstGeom prst="roundRect">
            <a:avLst/>
          </a:prstGeom>
          <a:solidFill>
            <a:srgbClr val="B8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CORRECT · GATED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48920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48920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64792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INPUT · state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212848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B"/>
                </a:solidFill>
                <a:latin typeface="Consolas"/>
              </a:rPr>
              <a:t>{
 "comparison": "one kilometre versus one centimetre"
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703320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B7A8C"/>
                </a:solidFill>
                <a:latin typeface="Calibri"/>
              </a:rPr>
              <a:t>CANDIDATE 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014215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7A4B"/>
                </a:solidFill>
                <a:latin typeface="Consolas"/>
              </a:rPr>
              <a:t>●  kilometre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3251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onsolas"/>
              </a:rPr>
              <a:t>○  centimetre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690871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A8C"/>
                </a:solidFill>
                <a:latin typeface="Calibri"/>
              </a:rPr>
              <a:t>● = correct answer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1691640"/>
            <a:ext cx="53949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9320" y="1691640"/>
            <a:ext cx="539496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3912" y="1764792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OUTPUT · probability distribution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2286000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F2B"/>
                </a:solidFill>
                <a:latin typeface="Consolas"/>
              </a:rPr>
              <a:t>kilometre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78440" y="2286000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A1F2B"/>
                </a:solidFill>
                <a:latin typeface="Consolas"/>
              </a:rPr>
              <a:t>0.6142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3912" y="2542032"/>
            <a:ext cx="5074920" cy="15544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53912" y="2542032"/>
            <a:ext cx="3116828" cy="15544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2907792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onsolas"/>
              </a:rPr>
              <a:t>centimetre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2907792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A8C"/>
                </a:solidFill>
                <a:latin typeface="Consolas"/>
              </a:rPr>
              <a:t>0.3858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3912" y="3163824"/>
            <a:ext cx="5074920" cy="15544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53912" y="3163824"/>
            <a:ext cx="1958091" cy="155448"/>
          </a:xfrm>
          <a:prstGeom prst="rect">
            <a:avLst/>
          </a:prstGeom>
          <a:solidFill>
            <a:srgbClr val="9F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53912" y="4224528"/>
            <a:ext cx="5074920" cy="1828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53912" y="4389120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MODEL PICKED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464515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kilometre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389120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CONFIDENCE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64515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0.6142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73768" y="4389120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TOP-2 MARGIN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3768" y="464515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0.2283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74243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B86E00"/>
                </a:solidFill>
                <a:latin typeface="Calibri"/>
              </a:rPr>
              <a:t>Answer withheld — below the 0.65 / 0.15 gate, so the POC abstains rather than guess.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355080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8B6"/>
                </a:solidFill>
                <a:latin typeface="Calibri"/>
              </a:rPr>
              <a:t>case 7 of 12   ·   id: unit_magnitude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08 · INTENT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7863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1295C"/>
                </a:solidFill>
                <a:latin typeface="Georgia"/>
              </a:rPr>
              <a:t>How should this email be classified?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457200"/>
            <a:ext cx="2377440" cy="457200"/>
          </a:xfrm>
          <a:prstGeom prst="roundRect">
            <a:avLst/>
          </a:prstGeom>
          <a:solidFill>
            <a:srgbClr val="1E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CORRECT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48920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48920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64792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INPUT · state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212848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B"/>
                </a:solidFill>
                <a:latin typeface="Consolas"/>
              </a:rPr>
              <a:t>{
 "email": "CONGRATULATIONS!!! You have WON $10,000,000. Send your bank details and a $500 fee to claim now!!!"
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703320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B7A8C"/>
                </a:solidFill>
                <a:latin typeface="Calibri"/>
              </a:rPr>
              <a:t>CANDIDATE 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014215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7A4B"/>
                </a:solidFill>
                <a:latin typeface="Consolas"/>
              </a:rPr>
              <a:t>●  spam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3251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onsolas"/>
              </a:rPr>
              <a:t>○  legitimate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690871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A8C"/>
                </a:solidFill>
                <a:latin typeface="Calibri"/>
              </a:rPr>
              <a:t>● = correct answer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1691640"/>
            <a:ext cx="53949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9320" y="1691640"/>
            <a:ext cx="539496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3912" y="1764792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OUTPUT · probability distribution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2286000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F2B"/>
                </a:solidFill>
                <a:latin typeface="Consolas"/>
              </a:rPr>
              <a:t>spam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78440" y="2286000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A1F2B"/>
                </a:solidFill>
                <a:latin typeface="Consolas"/>
              </a:rPr>
              <a:t>0.7420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3912" y="2542032"/>
            <a:ext cx="5074920" cy="15544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53912" y="2542032"/>
            <a:ext cx="3765834" cy="15544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2907792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onsolas"/>
              </a:rPr>
              <a:t>legitimate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2907792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A8C"/>
                </a:solidFill>
                <a:latin typeface="Consolas"/>
              </a:rPr>
              <a:t>0.2580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3912" y="3163824"/>
            <a:ext cx="5074920" cy="15544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53912" y="3163824"/>
            <a:ext cx="1309085" cy="155448"/>
          </a:xfrm>
          <a:prstGeom prst="rect">
            <a:avLst/>
          </a:prstGeom>
          <a:solidFill>
            <a:srgbClr val="9F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53912" y="4224528"/>
            <a:ext cx="5074920" cy="1828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53912" y="4389120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MODEL PICKED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464515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spam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389120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CONFIDENCE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64515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0.7420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73768" y="4389120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TOP-2 MARGIN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3768" y="464515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0.4841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74243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1E7A4B"/>
                </a:solidFill>
                <a:latin typeface="Calibri"/>
              </a:rPr>
              <a:t>Cleared the 0.65 / 0.15 gate — answer returned directly.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355080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8B6"/>
                </a:solidFill>
                <a:latin typeface="Calibri"/>
              </a:rPr>
              <a:t>case 8 of 12   ·   id: spam_intent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09 · LANGUAGE IDENTIFICATION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7863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1295C"/>
                </a:solidFill>
                <a:latin typeface="Georgia"/>
              </a:rPr>
              <a:t>In which language is the text written?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457200"/>
            <a:ext cx="2377440" cy="457200"/>
          </a:xfrm>
          <a:prstGeom prst="roundRect">
            <a:avLst/>
          </a:prstGeom>
          <a:solidFill>
            <a:srgbClr val="B8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CORRECT · GATED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48920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48920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64792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INPUT · state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212848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B"/>
                </a:solidFill>
                <a:latin typeface="Consolas"/>
              </a:rPr>
              <a:t>{
 "text": "Bonjour, je m'appelle Marie et j'habite a Paris."
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703320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B7A8C"/>
                </a:solidFill>
                <a:latin typeface="Calibri"/>
              </a:rPr>
              <a:t>CANDIDATE 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014215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7A4B"/>
                </a:solidFill>
                <a:latin typeface="Consolas"/>
              </a:rPr>
              <a:t>●  french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3251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onsolas"/>
              </a:rPr>
              <a:t>○  german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636007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onsolas"/>
              </a:rPr>
              <a:t>○  japanese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5001767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A8C"/>
                </a:solidFill>
                <a:latin typeface="Calibri"/>
              </a:rPr>
              <a:t>● = correct answer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691640"/>
            <a:ext cx="53949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691640"/>
            <a:ext cx="539496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53912" y="1764792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OUTPUT · probability 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912" y="2286000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F2B"/>
                </a:solidFill>
                <a:latin typeface="Consolas"/>
              </a:rPr>
              <a:t>french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78440" y="2286000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A1F2B"/>
                </a:solidFill>
                <a:latin typeface="Consolas"/>
              </a:rPr>
              <a:t>0.5975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53912" y="2542032"/>
            <a:ext cx="5074920" cy="15544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53912" y="2542032"/>
            <a:ext cx="3032254" cy="15544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3912" y="2907792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onsolas"/>
              </a:rPr>
              <a:t>german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78440" y="2907792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A8C"/>
                </a:solidFill>
                <a:latin typeface="Consolas"/>
              </a:rPr>
              <a:t>0.2336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53912" y="3163824"/>
            <a:ext cx="5074920" cy="15544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53912" y="3163824"/>
            <a:ext cx="1185709" cy="155448"/>
          </a:xfrm>
          <a:prstGeom prst="rect">
            <a:avLst/>
          </a:prstGeom>
          <a:solidFill>
            <a:srgbClr val="9F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53912" y="3529584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onsolas"/>
              </a:rPr>
              <a:t>japanese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8440" y="3529584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A8C"/>
                </a:solidFill>
                <a:latin typeface="Consolas"/>
              </a:rPr>
              <a:t>0.1689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53912" y="3785616"/>
            <a:ext cx="5074920" cy="15544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53912" y="3785616"/>
            <a:ext cx="856956" cy="155448"/>
          </a:xfrm>
          <a:prstGeom prst="rect">
            <a:avLst/>
          </a:prstGeom>
          <a:solidFill>
            <a:srgbClr val="9F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3912" y="4261104"/>
            <a:ext cx="5074920" cy="1828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53912" y="4425696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MODEL PICKED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3912" y="468172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french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425696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CONFIDENCE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8172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0.5975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73768" y="4425696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TOP-2 MARGIN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73768" y="468172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0.3639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74243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B86E00"/>
                </a:solidFill>
                <a:latin typeface="Calibri"/>
              </a:rPr>
              <a:t>Answer withheld — below the 0.65 / 0.15 gate, so the POC abstains rather than guess.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355080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8B6"/>
                </a:solidFill>
                <a:latin typeface="Calibri"/>
              </a:rPr>
              <a:t>case 9 of 12   ·   id: language_id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10 · PHYSICAL REASONING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7863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1295C"/>
                </a:solidFill>
                <a:latin typeface="Georgia"/>
              </a:rPr>
              <a:t>What will the object do in water?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457200"/>
            <a:ext cx="2377440" cy="457200"/>
          </a:xfrm>
          <a:prstGeom prst="roundRect">
            <a:avLst/>
          </a:prstGeom>
          <a:solidFill>
            <a:srgbClr val="B8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CORRECT · GATED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48920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48920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64792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INPUT · state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212848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B"/>
                </a:solidFill>
                <a:latin typeface="Consolas"/>
              </a:rPr>
              <a:t>{
 "object": "a solid block of iron dropped into a bathtub of water"
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703320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B7A8C"/>
                </a:solidFill>
                <a:latin typeface="Calibri"/>
              </a:rPr>
              <a:t>CANDIDATE 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014215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7A4B"/>
                </a:solidFill>
                <a:latin typeface="Consolas"/>
              </a:rPr>
              <a:t>●  sink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3251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onsolas"/>
              </a:rPr>
              <a:t>○  float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690871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A8C"/>
                </a:solidFill>
                <a:latin typeface="Calibri"/>
              </a:rPr>
              <a:t>● = correct answer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1691640"/>
            <a:ext cx="53949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9320" y="1691640"/>
            <a:ext cx="539496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3912" y="1764792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OUTPUT · probability distribution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2286000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F2B"/>
                </a:solidFill>
                <a:latin typeface="Consolas"/>
              </a:rPr>
              <a:t>sink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78440" y="2286000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A1F2B"/>
                </a:solidFill>
                <a:latin typeface="Consolas"/>
              </a:rPr>
              <a:t>0.5293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3912" y="2542032"/>
            <a:ext cx="5074920" cy="15544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53912" y="2542032"/>
            <a:ext cx="2685967" cy="15544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2907792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onsolas"/>
              </a:rPr>
              <a:t>float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2907792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A8C"/>
                </a:solidFill>
                <a:latin typeface="Consolas"/>
              </a:rPr>
              <a:t>0.4707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3912" y="3163824"/>
            <a:ext cx="5074920" cy="15544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53912" y="3163824"/>
            <a:ext cx="2388952" cy="155448"/>
          </a:xfrm>
          <a:prstGeom prst="rect">
            <a:avLst/>
          </a:prstGeom>
          <a:solidFill>
            <a:srgbClr val="9F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53912" y="4224528"/>
            <a:ext cx="5074920" cy="1828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53912" y="4389120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MODEL PICKED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464515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sink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389120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CONFIDENCE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64515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0.5293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73768" y="4389120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TOP-2 MARGIN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3768" y="464515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0.0585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74243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B86E00"/>
                </a:solidFill>
                <a:latin typeface="Calibri"/>
              </a:rPr>
              <a:t>Answer withheld — below the 0.65 / 0.15 gate, so the POC abstains rather than guess.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355080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8B6"/>
                </a:solidFill>
                <a:latin typeface="Calibri"/>
              </a:rPr>
              <a:t>case 10 of 12   ·   id: physical_property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11 · CODE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7863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1295C"/>
                </a:solidFill>
                <a:latin typeface="Georgia"/>
              </a:rPr>
              <a:t>Which programming language is this snippet written in?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457200"/>
            <a:ext cx="2377440" cy="457200"/>
          </a:xfrm>
          <a:prstGeom prst="roundRect">
            <a:avLst/>
          </a:prstGeom>
          <a:solidFill>
            <a:srgbClr val="B8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CORRECT · GATED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48920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48920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64792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INPUT · state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212848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B"/>
                </a:solidFill>
                <a:latin typeface="Consolas"/>
              </a:rPr>
              <a:t>{
 "snippet": "def greet(name):\n    print(f'Hello, {name}')"
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703320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B7A8C"/>
                </a:solidFill>
                <a:latin typeface="Calibri"/>
              </a:rPr>
              <a:t>CANDIDATE 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014215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7A4B"/>
                </a:solidFill>
                <a:latin typeface="Consolas"/>
              </a:rPr>
              <a:t>● 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3251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onsolas"/>
              </a:rPr>
              <a:t>○  java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636007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onsolas"/>
              </a:rPr>
              <a:t>○  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5001767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A8C"/>
                </a:solidFill>
                <a:latin typeface="Calibri"/>
              </a:rPr>
              <a:t>● = correct answer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691640"/>
            <a:ext cx="53949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691640"/>
            <a:ext cx="539496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53912" y="1764792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OUTPUT · probability 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912" y="2286000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F2B"/>
                </a:solidFill>
                <a:latin typeface="Consolas"/>
              </a:rPr>
              <a:t>python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78440" y="2286000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A1F2B"/>
                </a:solidFill>
                <a:latin typeface="Consolas"/>
              </a:rPr>
              <a:t>0.5412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53912" y="2542032"/>
            <a:ext cx="5074920" cy="15544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53912" y="2542032"/>
            <a:ext cx="2746414" cy="15544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3912" y="2907792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onsolas"/>
              </a:rPr>
              <a:t>java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78440" y="2907792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A8C"/>
                </a:solidFill>
                <a:latin typeface="Consolas"/>
              </a:rPr>
              <a:t>0.2852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53912" y="3163824"/>
            <a:ext cx="5074920" cy="15544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53912" y="3163824"/>
            <a:ext cx="1447260" cy="155448"/>
          </a:xfrm>
          <a:prstGeom prst="rect">
            <a:avLst/>
          </a:prstGeom>
          <a:solidFill>
            <a:srgbClr val="9F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53912" y="3529584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onsolas"/>
              </a:rPr>
              <a:t>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8440" y="3529584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A8C"/>
                </a:solidFill>
                <a:latin typeface="Consolas"/>
              </a:rPr>
              <a:t>0.1736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53912" y="3785616"/>
            <a:ext cx="5074920" cy="15544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53912" y="3785616"/>
            <a:ext cx="881244" cy="155448"/>
          </a:xfrm>
          <a:prstGeom prst="rect">
            <a:avLst/>
          </a:prstGeom>
          <a:solidFill>
            <a:srgbClr val="9F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3912" y="4261104"/>
            <a:ext cx="5074920" cy="1828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53912" y="4425696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MODEL PICKED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3912" y="468172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python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425696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CONFIDENCE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8172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0.5412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73768" y="4425696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TOP-2 MARGIN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73768" y="468172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0.2560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74243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B86E00"/>
                </a:solidFill>
                <a:latin typeface="Calibri"/>
              </a:rPr>
              <a:t>Answer withheld — below the 0.65 / 0.15 gate, so the POC abstains rather than guess.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355080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8B6"/>
                </a:solidFill>
                <a:latin typeface="Calibri"/>
              </a:rPr>
              <a:t>case 11 of 12   ·   id: code_language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12 · SEVERITY TRIAGE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7863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1295C"/>
                </a:solidFill>
                <a:latin typeface="Georgia"/>
              </a:rPr>
              <a:t>What priority should this ticket receive?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457200"/>
            <a:ext cx="2377440" cy="457200"/>
          </a:xfrm>
          <a:prstGeom prst="roundRect">
            <a:avLst/>
          </a:prstGeom>
          <a:solidFill>
            <a:srgbClr val="1E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CORRECT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48920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48920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64792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INPUT · state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212848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B"/>
                </a:solidFill>
                <a:latin typeface="Consolas"/>
              </a:rPr>
              <a:t>{
 "ticket": "Production database is completely down. All customers are unable to log in. Revenue impact ongoing."
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703320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B7A8C"/>
                </a:solidFill>
                <a:latin typeface="Calibri"/>
              </a:rPr>
              <a:t>CANDIDATE 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014215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7A4B"/>
                </a:solidFill>
                <a:latin typeface="Consolas"/>
              </a:rPr>
              <a:t>●  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3251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onsolas"/>
              </a:rPr>
              <a:t>○  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690871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A8C"/>
                </a:solidFill>
                <a:latin typeface="Calibri"/>
              </a:rPr>
              <a:t>● = correct answer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1691640"/>
            <a:ext cx="53949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9320" y="1691640"/>
            <a:ext cx="539496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3912" y="1764792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OUTPUT · probability distribution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2286000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F2B"/>
                </a:solidFill>
                <a:latin typeface="Consolas"/>
              </a:rPr>
              <a:t>critical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78440" y="2286000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A1F2B"/>
                </a:solidFill>
                <a:latin typeface="Consolas"/>
              </a:rPr>
              <a:t>0.7106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3912" y="2542032"/>
            <a:ext cx="5074920" cy="15544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53912" y="2542032"/>
            <a:ext cx="3606380" cy="15544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2907792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A8C"/>
                </a:solidFill>
                <a:latin typeface="Consolas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2907792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A8C"/>
                </a:solidFill>
                <a:latin typeface="Consolas"/>
              </a:rPr>
              <a:t>0.2894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3912" y="3163824"/>
            <a:ext cx="5074920" cy="15544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53912" y="3163824"/>
            <a:ext cx="1468539" cy="155448"/>
          </a:xfrm>
          <a:prstGeom prst="rect">
            <a:avLst/>
          </a:prstGeom>
          <a:solidFill>
            <a:srgbClr val="9F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53912" y="4224528"/>
            <a:ext cx="5074920" cy="18288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53912" y="4389120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MODEL PICKED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464515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critical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389120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CONFIDENCE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64515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0.7106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73768" y="4389120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B7A8C"/>
                </a:solidFill>
                <a:latin typeface="Calibri"/>
              </a:rPr>
              <a:t>TOP-2 MARGIN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3768" y="464515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onsolas"/>
              </a:rPr>
              <a:t>0.4213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74243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1E7A4B"/>
                </a:solidFill>
                <a:latin typeface="Calibri"/>
              </a:rPr>
              <a:t>Cleared the 0.65 / 0.15 gate — answer returned directly.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355080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8B6"/>
                </a:solidFill>
                <a:latin typeface="Calibri"/>
              </a:rPr>
              <a:t>case 12 of 12   ·   id: urgency_triage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1295C"/>
                </a:solidFill>
                <a:latin typeface="Georgia"/>
              </a:rPr>
              <a:t>All twelve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7899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A8C"/>
                </a:solidFill>
                <a:latin typeface="Calibri"/>
              </a:rPr>
              <a:t>Ranked by confidence. Every pick is correct; the gate is what varies.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10607040" cy="347472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55064"/>
            <a:ext cx="2788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REASONING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21608" y="1655064"/>
            <a:ext cx="1783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PICKED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50408" y="16550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CONF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16550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7" y="1655064"/>
            <a:ext cx="1234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7" y="1655064"/>
            <a:ext cx="2606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DISTRIBUTION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1938528"/>
            <a:ext cx="1060704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11680"/>
            <a:ext cx="2788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alibri"/>
              </a:rPr>
              <a:t>lexical sentiment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2011680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positive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0408" y="2011680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onsolas"/>
              </a:rPr>
              <a:t>0.9862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011680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onsolas"/>
              </a:rPr>
              <a:t>0.9723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7" y="2011680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7A4B"/>
                </a:solidFill>
                <a:latin typeface="Calibri"/>
              </a:rPr>
              <a:t>clear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87968" y="2066544"/>
            <a:ext cx="2344514" cy="14630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232482" y="2066544"/>
            <a:ext cx="32925" cy="146304"/>
          </a:xfrm>
          <a:prstGeom prst="rect">
            <a:avLst/>
          </a:prstGeom>
          <a:solidFill>
            <a:srgbClr val="B9C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2359152"/>
            <a:ext cx="2788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alibri"/>
              </a:rPr>
              <a:t>negation handling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1608" y="2359152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stopped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50408" y="235915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onsolas"/>
              </a:rPr>
              <a:t>0.7969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2359152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onsolas"/>
              </a:rPr>
              <a:t>0.5939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7" y="2359152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7A4B"/>
                </a:solidFill>
                <a:latin typeface="Calibri"/>
              </a:rPr>
              <a:t>clear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87968" y="2414016"/>
            <a:ext cx="1894641" cy="14630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82609" y="2414016"/>
            <a:ext cx="482798" cy="146304"/>
          </a:xfrm>
          <a:prstGeom prst="rect">
            <a:avLst/>
          </a:prstGeom>
          <a:solidFill>
            <a:srgbClr val="B9C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2633472"/>
            <a:ext cx="1060704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2706624"/>
            <a:ext cx="2788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alibri"/>
              </a:rPr>
              <a:t>temporal ordering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21608" y="2706624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ordering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50408" y="2706624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onsolas"/>
              </a:rPr>
              <a:t>0.7870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6248" y="2706624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onsolas"/>
              </a:rPr>
              <a:t>0.5739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7807" y="2706624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7A4B"/>
                </a:solidFill>
                <a:latin typeface="Calibri"/>
              </a:rPr>
              <a:t>clear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2761488"/>
            <a:ext cx="1870926" cy="14630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758894" y="2761488"/>
            <a:ext cx="506513" cy="146304"/>
          </a:xfrm>
          <a:prstGeom prst="rect">
            <a:avLst/>
          </a:prstGeom>
          <a:solidFill>
            <a:srgbClr val="B9C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" y="3054096"/>
            <a:ext cx="2788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alibri"/>
              </a:rPr>
              <a:t>intent classification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21608" y="3054096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spam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50408" y="305409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onsolas"/>
              </a:rPr>
              <a:t>0.7420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56248" y="3054096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onsolas"/>
              </a:rPr>
              <a:t>0.4841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7" y="3054096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7A4B"/>
                </a:solidFill>
                <a:latin typeface="Calibri"/>
              </a:rPr>
              <a:t>clear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87968" y="3108960"/>
            <a:ext cx="1764174" cy="14630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652142" y="3108960"/>
            <a:ext cx="613265" cy="146304"/>
          </a:xfrm>
          <a:prstGeom prst="rect">
            <a:avLst/>
          </a:prstGeom>
          <a:solidFill>
            <a:srgbClr val="B9C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" y="3328415"/>
            <a:ext cx="1060704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6968" y="3401568"/>
            <a:ext cx="2788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alibri"/>
              </a:rPr>
              <a:t>severity triage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21608" y="3401568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critical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50408" y="340156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onsolas"/>
              </a:rPr>
              <a:t>0.7106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56248" y="340156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onsolas"/>
              </a:rPr>
              <a:t>0.4213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07807" y="3401568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7A4B"/>
                </a:solidFill>
                <a:latin typeface="Calibri"/>
              </a:rPr>
              <a:t>clear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887968" y="3456432"/>
            <a:ext cx="1689475" cy="14630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577443" y="3456432"/>
            <a:ext cx="687964" cy="146304"/>
          </a:xfrm>
          <a:prstGeom prst="rect">
            <a:avLst/>
          </a:prstGeom>
          <a:solidFill>
            <a:srgbClr val="B9C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6968" y="3749039"/>
            <a:ext cx="2788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alibri"/>
              </a:rPr>
              <a:t>taxonomy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21608" y="3749039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mammal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50408" y="3749039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onsolas"/>
              </a:rPr>
              <a:t>0.6424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56248" y="3749039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onsolas"/>
              </a:rPr>
              <a:t>0.4338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07807" y="3749039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86E00"/>
                </a:solidFill>
                <a:latin typeface="Calibri"/>
              </a:rPr>
              <a:t>review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87968" y="3803903"/>
            <a:ext cx="1527257" cy="14630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415225" y="3803903"/>
            <a:ext cx="495829" cy="146304"/>
          </a:xfrm>
          <a:prstGeom prst="rect">
            <a:avLst/>
          </a:prstGeom>
          <a:solidFill>
            <a:srgbClr val="B9C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911055" y="3803903"/>
            <a:ext cx="354352" cy="146304"/>
          </a:xfrm>
          <a:prstGeom prst="rect">
            <a:avLst/>
          </a:prstGeom>
          <a:solidFill>
            <a:srgbClr val="B9C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77240" y="4023359"/>
            <a:ext cx="1060704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6968" y="4096511"/>
            <a:ext cx="2788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alibri"/>
              </a:rPr>
              <a:t>unit comparison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21608" y="4096511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kilometre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50408" y="4096511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onsolas"/>
              </a:rPr>
              <a:t>0.6142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56248" y="4096511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onsolas"/>
              </a:rPr>
              <a:t>0.2283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07807" y="4096511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86E00"/>
                </a:solidFill>
                <a:latin typeface="Calibri"/>
              </a:rPr>
              <a:t>review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87968" y="4151375"/>
            <a:ext cx="1460135" cy="14630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348103" y="4151375"/>
            <a:ext cx="917304" cy="146304"/>
          </a:xfrm>
          <a:prstGeom prst="rect">
            <a:avLst/>
          </a:prstGeom>
          <a:solidFill>
            <a:srgbClr val="B9C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86968" y="4443983"/>
            <a:ext cx="2788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alibri"/>
              </a:rPr>
              <a:t>language identification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21608" y="4443983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french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50408" y="4443983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onsolas"/>
              </a:rPr>
              <a:t>0.5975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56248" y="4443983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onsolas"/>
              </a:rPr>
              <a:t>0.3639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07807" y="4443983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86E00"/>
                </a:solidFill>
                <a:latin typeface="Calibri"/>
              </a:rPr>
              <a:t>review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887968" y="4498847"/>
            <a:ext cx="1420515" cy="14630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308483" y="4498847"/>
            <a:ext cx="555467" cy="146304"/>
          </a:xfrm>
          <a:prstGeom prst="rect">
            <a:avLst/>
          </a:prstGeom>
          <a:solidFill>
            <a:srgbClr val="B9C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863951" y="4498847"/>
            <a:ext cx="401456" cy="146304"/>
          </a:xfrm>
          <a:prstGeom prst="rect">
            <a:avLst/>
          </a:prstGeom>
          <a:solidFill>
            <a:srgbClr val="B9C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7240" y="4718303"/>
            <a:ext cx="1060704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86968" y="4791455"/>
            <a:ext cx="2788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alibri"/>
              </a:rPr>
              <a:t>code recognition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21608" y="4791455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python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4791455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onsolas"/>
              </a:rPr>
              <a:t>0.5412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56248" y="4791455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onsolas"/>
              </a:rPr>
              <a:t>0.2560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07807" y="4791455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86E00"/>
                </a:solidFill>
                <a:latin typeface="Calibri"/>
              </a:rPr>
              <a:t>review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887968" y="4846319"/>
            <a:ext cx="1286608" cy="14630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174576" y="4846319"/>
            <a:ext cx="677995" cy="146304"/>
          </a:xfrm>
          <a:prstGeom prst="rect">
            <a:avLst/>
          </a:prstGeom>
          <a:solidFill>
            <a:srgbClr val="B9C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852572" y="4846319"/>
            <a:ext cx="412835" cy="146304"/>
          </a:xfrm>
          <a:prstGeom prst="rect">
            <a:avLst/>
          </a:prstGeom>
          <a:solidFill>
            <a:srgbClr val="B9C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86968" y="5138927"/>
            <a:ext cx="2788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alibri"/>
              </a:rPr>
              <a:t>physical reasoning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721608" y="5138927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sink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550408" y="5138927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onsolas"/>
              </a:rPr>
              <a:t>0.5293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56248" y="5138927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onsolas"/>
              </a:rPr>
              <a:t>0.0585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607807" y="5138927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86E00"/>
                </a:solidFill>
                <a:latin typeface="Calibri"/>
              </a:rPr>
              <a:t>review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887968" y="5193791"/>
            <a:ext cx="1258291" cy="14630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146259" y="5193791"/>
            <a:ext cx="1119148" cy="146304"/>
          </a:xfrm>
          <a:prstGeom prst="rect">
            <a:avLst/>
          </a:prstGeom>
          <a:solidFill>
            <a:srgbClr val="B9C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77240" y="5413247"/>
            <a:ext cx="1060704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86968" y="5486399"/>
            <a:ext cx="2788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alibri"/>
              </a:rPr>
              <a:t>world knowledge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721608" y="5486399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paris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550408" y="5486399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onsolas"/>
              </a:rPr>
              <a:t>0.4442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56248" y="5486399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onsolas"/>
              </a:rPr>
              <a:t>0.1441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607807" y="5486399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86E00"/>
                </a:solidFill>
                <a:latin typeface="Calibri"/>
              </a:rPr>
              <a:t>review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887968" y="5541263"/>
            <a:ext cx="1056030" cy="14630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943998" y="5541263"/>
            <a:ext cx="713500" cy="146304"/>
          </a:xfrm>
          <a:prstGeom prst="rect">
            <a:avLst/>
          </a:prstGeom>
          <a:solidFill>
            <a:srgbClr val="B9C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657498" y="5541263"/>
            <a:ext cx="607909" cy="146304"/>
          </a:xfrm>
          <a:prstGeom prst="rect">
            <a:avLst/>
          </a:prstGeom>
          <a:solidFill>
            <a:srgbClr val="B9C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86968" y="5833871"/>
            <a:ext cx="2788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alibri"/>
              </a:rPr>
              <a:t>arithmetic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721608" y="5833871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four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550408" y="5833871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onsolas"/>
              </a:rPr>
              <a:t>0.3854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556248" y="5833871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F2B"/>
                </a:solidFill>
                <a:latin typeface="Consolas"/>
              </a:rPr>
              <a:t>0.0733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607807" y="5833871"/>
            <a:ext cx="1234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86E00"/>
                </a:solidFill>
                <a:latin typeface="Calibri"/>
              </a:rPr>
              <a:t>review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887968" y="5888735"/>
            <a:ext cx="916255" cy="14630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804223" y="5888735"/>
            <a:ext cx="742006" cy="146304"/>
          </a:xfrm>
          <a:prstGeom prst="rect">
            <a:avLst/>
          </a:prstGeom>
          <a:solidFill>
            <a:srgbClr val="B9C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546230" y="5888735"/>
            <a:ext cx="719177" cy="146304"/>
          </a:xfrm>
          <a:prstGeom prst="rect">
            <a:avLst/>
          </a:prstGeom>
          <a:solidFill>
            <a:srgbClr val="B9C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77240" y="6373367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12/12 correct · 5 cleared the gate · 7 flagged for human review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Georgia"/>
              </a:rPr>
              <a:t>What this tells us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481328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1499616"/>
            <a:ext cx="9692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8FC7DC"/>
                </a:solidFill>
                <a:latin typeface="Calibri"/>
              </a:rPr>
              <a:t>Ranking is reliable — calibration is not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847088"/>
            <a:ext cx="96926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D5E2EA"/>
                </a:solidFill>
                <a:latin typeface="Calibri"/>
              </a:rPr>
              <a:t>All 12 answers correct, but only 5 cleared the 0.65 gate. The model knows the right answer and reports it with low confidence.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651760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670048"/>
            <a:ext cx="9692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8FC7DC"/>
                </a:solidFill>
                <a:latin typeface="Calibri"/>
              </a:rPr>
              <a:t>Confidence dilutes with option 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3017520"/>
            <a:ext cx="96926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D5E2EA"/>
                </a:solidFill>
                <a:latin typeface="Calibri"/>
              </a:rPr>
              <a:t>2-option questions average 0.74 confidence; 3-option questions average 0.52. Softmax spreads mass across candidates, so thresholds cannot be shared across differently-shaped decisions.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822192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3840480"/>
            <a:ext cx="9692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8FC7DC"/>
                </a:solidFill>
                <a:latin typeface="Calibri"/>
              </a:rPr>
              <a:t>Arithmetic is the weakest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4187952"/>
            <a:ext cx="96926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D5E2EA"/>
                </a:solidFill>
                <a:latin typeface="Calibri"/>
              </a:rPr>
              <a:t>"2 + 2" scored 0.3854 with a 0.0733 margin — near-uniform across four/seven/twelve. An NLI entailment head does not compute; route arithmetic to a calculator or a reasoning model.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992624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5010912"/>
            <a:ext cx="9692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8FC7DC"/>
                </a:solidFill>
                <a:latin typeface="Calibri"/>
              </a:rPr>
              <a:t>The abstention gate behaves correctly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5358384"/>
            <a:ext cx="96926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D5E2EA"/>
                </a:solidFill>
                <a:latin typeface="Calibri"/>
              </a:rPr>
              <a:t>It withheld every low-margin answer rather than guessing. That is the desired failure mode, but at these thresholds it would defer 58% of obvious questions to a human.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26364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1">
                <a:solidFill>
                  <a:srgbClr val="1C7293"/>
                </a:solidFill>
                <a:latin typeface="Calibri"/>
              </a:rPr>
              <a:t>Recommendation: use rank order, not absolute probability, and recalibrate thresholds per option count before production use.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1295C"/>
                </a:solidFill>
                <a:latin typeface="Georgia"/>
              </a:rPr>
              <a:t>Appendix A1 · Building the premise / hypothesis pairs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A8C"/>
                </a:solidFill>
                <a:latin typeface="Calibri"/>
              </a:rPr>
              <a:t>poc/zero_shot_decision_poc.py — _build_comparisons()  ·  this is the entire "prompt"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5193792" cy="34747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35608"/>
            <a:ext cx="49194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onsolas"/>
              </a:rPr>
              <a:t>premise — identical for every option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19072"/>
            <a:ext cx="5193792" cy="4160520"/>
          </a:xfrm>
          <a:prstGeom prst="rect">
            <a:avLst/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847088"/>
            <a:ext cx="4864607" cy="39044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7FB08A"/>
                </a:solidFill>
                <a:latin typeface="Consolas"/>
              </a:rPr>
              <a:t># The state is serialised ONCE and reused for every option, so the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7FB08A"/>
                </a:solidFill>
                <a:latin typeface="Consolas"/>
              </a:rPr>
              <a:t># only thing that varies across candidates is the hypothesis.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state_text = json.dumps(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request.state,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sort_keys=True,        # deterministic -&gt; reproducible scores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ensure_ascii=False,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separators=(",", ":"),  # compact: fewer tokens per pair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premise = (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f"State evidence:\n{state_text}\n\n"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f"Decision question:\n{decision.question}"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52744"/>
            <a:ext cx="51937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065A82"/>
                </a:solidFill>
                <a:latin typeface="Calibri"/>
              </a:rPr>
              <a:t>Sorting keys makes the premise deterministic: the same state always produces the same string, so scores are reproducible run to run.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0488" y="1371600"/>
            <a:ext cx="5193792" cy="34747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435608"/>
            <a:ext cx="49194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onsolas"/>
              </a:rPr>
              <a:t>hypothesis — one per candidate option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0488" y="1719072"/>
            <a:ext cx="5193792" cy="4160520"/>
          </a:xfrm>
          <a:prstGeom prst="rect">
            <a:avLst/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1847088"/>
            <a:ext cx="4864607" cy="39044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for candidate in decision.candidates: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noun = "option" if decision.kind == "choice" else "score level"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comparisons.append(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    Comparison(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        decision_id=decision.identifier,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        candidate_id=candidate.identifier,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        premise=premise,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7FB08A"/>
                </a:solidFill>
                <a:latin typeface="Consolas"/>
              </a:rPr>
              <a:t>            # Asserted as TRUE on purpose: the NLI head is asked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7FB08A"/>
                </a:solidFill>
                <a:latin typeface="Consolas"/>
              </a:rPr>
              <a:t>            # 'does the premise entail this claim?' -- so each option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7FB08A"/>
                </a:solidFill>
                <a:latin typeface="Consolas"/>
              </a:rPr>
              <a:t>            # is phrased as a positive statement to be tested.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        hypothesis=(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            f"The correct {noun} is '{candidate.identifier}'. "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            f"Definition: {candidate.description}"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        ),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        numeric_value=candidate.numeric_value,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    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5952744"/>
            <a:ext cx="51937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065A82"/>
                </a:solidFill>
                <a:latin typeface="Calibri"/>
              </a:rPr>
              <a:t>The option DESCRIPTION carries the semantics, not the id. A bare label like 'positive' gives the NLI head almost nothing to entail against.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1295C"/>
                </a:solidFill>
                <a:latin typeface="Georgia"/>
              </a:rPr>
              <a:t>Appendix A2 · The forward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A8C"/>
                </a:solidFill>
                <a:latin typeface="Calibri"/>
              </a:rPr>
              <a:t>poc/zero_shot_decision_poc.py — TransformersNliScorer.score()  ·  no text generation anywhere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5193792" cy="34747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35608"/>
            <a:ext cx="49194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onsolas"/>
              </a:rPr>
              <a:t>batched inference over all pairs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19072"/>
            <a:ext cx="5193792" cy="4160520"/>
          </a:xfrm>
          <a:prstGeom prst="rect">
            <a:avLst/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847088"/>
            <a:ext cx="4864607" cy="39044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for start in range(0, len(comparisons), self._batch_size):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chunk = comparisons[start:start + self._batch_size]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7FB08A"/>
                </a:solidFill>
                <a:latin typeface="Consolas"/>
              </a:rPr>
              <a:t>    # Premises and hypotheses are passed as TWO lists -- the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7FB08A"/>
                </a:solidFill>
                <a:latin typeface="Consolas"/>
              </a:rPr>
              <a:t>    # tokenizer joins each pair with [SEP], which is the input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7FB08A"/>
                </a:solidFill>
                <a:latin typeface="Consolas"/>
              </a:rPr>
              <a:t>    # format an NLI cross-encoder is trained on.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encoded = self._tokenizer(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    [c.premise for c in chunk],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    [c.hypothesis for c in chunk],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    padding=True, truncation=True, return_tensors="pt",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encoded = {k: v.to(self._device) for k, v in encoded.items()}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with self._torch.inference_mode():   # no autograd graph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    logits = self._model(**encoded).logits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    probabilities = self._torch.softmax(logits, dim=-1)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52744"/>
            <a:ext cx="51937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065A82"/>
                </a:solidFill>
                <a:latin typeface="Calibri"/>
              </a:rPr>
              <a:t>All pairs for a decision go through together, so cost scales with batches rather than with options. inference_mode() disables autograd bookkeeping — measurably faster and lower-memory than no_grad().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0488" y="1371600"/>
            <a:ext cx="5193792" cy="34747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435608"/>
            <a:ext cx="49194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onsolas"/>
              </a:rPr>
              <a:t>reading the entailment channel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0488" y="1719072"/>
            <a:ext cx="5193792" cy="4160520"/>
          </a:xfrm>
          <a:prstGeom prst="rect">
            <a:avLst/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1847088"/>
            <a:ext cx="4864607" cy="39044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for row_logits, row_probabilities in zip(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logits, probabilities, strict=True   # length mismatch = bug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):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evidence.append(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    NliEvidence(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7FB08A"/>
                </a:solidFill>
                <a:latin typeface="Consolas"/>
              </a:rPr>
              <a:t>            # Index comes from config.label2id, NOT a constant: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7FB08A"/>
                </a:solidFill>
                <a:latin typeface="Consolas"/>
              </a:rPr>
              <a:t>            # label order differs between NLI checkpoints.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        entailment_logit=float(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            row_logits[self._entailment_index].item()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        ),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        entailment_probability=float(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            row_probabilities[self._entailment_index].item()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        ),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    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7FB08A"/>
                </a:solidFill>
                <a:latin typeface="Consolas"/>
              </a:rPr>
              <a:t># Device selection: cuda -&gt; mps (Apple GPU) -&gt; cpu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return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5952744"/>
            <a:ext cx="51937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065A82"/>
                </a:solidFill>
                <a:latin typeface="Calibri"/>
              </a:rPr>
              <a:t>_entailment_index is resolved from config.label2id rather than hardcoded, so a model with reversed label order still works. Both the logit and the per-pair probability are kept.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1295C"/>
                </a:solidFill>
                <a:latin typeface="Georgia"/>
              </a:rPr>
              <a:t>Appendix A3 · From logits to a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A8C"/>
                </a:solidFill>
                <a:latin typeface="Calibri"/>
              </a:rPr>
              <a:t>poc/zero_shot_decision_poc.py — softmax across options, then the abstention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5193792" cy="34747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35608"/>
            <a:ext cx="49194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onsolas"/>
              </a:rPr>
              <a:t>cross-option softmax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19072"/>
            <a:ext cx="5193792" cy="4160520"/>
          </a:xfrm>
          <a:prstGeom prst="rect">
            <a:avLst/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847088"/>
            <a:ext cx="4864607" cy="39044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def _softmax(logits: Sequence[float]) -&gt; list[float]: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7FB08A"/>
                </a:solidFill>
                <a:latin typeface="Consolas"/>
              </a:rPr>
              <a:t>    # Subtract the max before exp() -- standard guard against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7FB08A"/>
                </a:solidFill>
                <a:latin typeface="Consolas"/>
              </a:rPr>
              <a:t>    # overflow on large positive logits.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maximum = max(logits)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exponentials = [math.exp(logit - maximum) for logit in logits]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total = sum(exponentials)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return [value / total for value in exponentials]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7FB08A"/>
                </a:solidFill>
                <a:latin typeface="Consolas"/>
              </a:rPr>
              <a:t># NOTE: applied ACROSS the options of one decision, not across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7FB08A"/>
                </a:solidFill>
                <a:latin typeface="Consolas"/>
              </a:rPr>
              <a:t># the model's own entailment/not_entailment axis. That is what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7FB08A"/>
                </a:solidFill>
                <a:latin typeface="Consolas"/>
              </a:rPr>
              <a:t># turns N independent entailment scores into one distribution.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52744"/>
            <a:ext cx="51937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065A82"/>
                </a:solidFill>
                <a:latin typeface="Calibri"/>
              </a:rPr>
              <a:t>This is what makes confidence depend on option COUNT: mass is shared across candidates, so a 3-way 0.44 and a 2-way 0.79 can be equally strong evidence.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0488" y="1371600"/>
            <a:ext cx="5193792" cy="34747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435608"/>
            <a:ext cx="49194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onsolas"/>
              </a:rPr>
              <a:t>the abstention 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0488" y="1719072"/>
            <a:ext cx="5193792" cy="4160520"/>
          </a:xfrm>
          <a:prstGeom prst="rect">
            <a:avLst/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1847088"/>
            <a:ext cx="4864607" cy="39044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7FB08A"/>
                </a:solidFill>
                <a:latin typeface="Consolas"/>
              </a:rPr>
              <a:t># A correct-but-unconfident pick is still not safe to act on,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7FB08A"/>
                </a:solidFill>
                <a:latin typeface="Consolas"/>
              </a:rPr>
              <a:t># so the answer is withheld unless BOTH gates clear.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top_probability = probabilities[0]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top_two_margin = probabilities[0] - probabilities[1]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review_required = (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top_probability &lt; decision.minimum_probability   # 0.65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or top_two_margin &lt; decision.minimum_margin      # 0.15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7FB08A"/>
                </a:solidFill>
                <a:latin typeface="Consolas"/>
              </a:rPr>
              <a:t># 'answer' is None when gated; 'recommended_option' always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7FB08A"/>
                </a:solidFill>
                <a:latin typeface="Consolas"/>
              </a:rPr>
              <a:t># holds the top-ranked candidate, so the caller can show a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7FB08A"/>
                </a:solidFill>
                <a:latin typeface="Consolas"/>
              </a:rPr>
              <a:t># suggestion to a reviewer without it reading as a decision.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return {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"answer": None if review_required else best.candidate_id,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"recommended_option": best.candidate_id,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    "review_required": review_required,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E6EDF3"/>
                </a:solidFill>
                <a:latin typeface="Consolas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5952744"/>
            <a:ext cx="51937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065A82"/>
                </a:solidFill>
                <a:latin typeface="Calibri"/>
              </a:rPr>
              <a:t>Two independent conditions. Confidence alone would pass a 0.66 vs 0.34 coin flip; margin alone would pass 0.20 vs 0.05. Requiring both is what makes 'no answer' a deliberate outcome rather than a failure.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