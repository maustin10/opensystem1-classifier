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5358b65ad54df4" /><Relationship Type="http://schemas.openxmlformats.org/officeDocument/2006/relationships/extended-properties" Target="/docProps/app.xml" Id="Rb5d086806b99447a" /><Relationship Type="http://schemas.openxmlformats.org/officeDocument/2006/relationships/officeDocument" Target="/ppt/presentation.xml" Id="Rbf2fd46587ee49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c839c10aa9418a"/>
  </p:sldMasterIdLst>
  <p:notesMasterIdLst>
    <p:notesMasterId xmlns:r="http://schemas.openxmlformats.org/officeDocument/2006/relationships" r:id="R1170cacdb8fc4295"/>
  </p:notesMasterIdLst>
  <p:sldIdLst>
    <p:sldId xmlns:r="http://schemas.openxmlformats.org/officeDocument/2006/relationships" id="256" r:id="R4b34b386f3c74be5"/>
    <p:sldId xmlns:r="http://schemas.openxmlformats.org/officeDocument/2006/relationships" id="257" r:id="R890223e24bd54666"/>
    <p:sldId xmlns:r="http://schemas.openxmlformats.org/officeDocument/2006/relationships" id="258" r:id="R68625f2f706c44ae"/>
    <p:sldId xmlns:r="http://schemas.openxmlformats.org/officeDocument/2006/relationships" id="259" r:id="R3345f348b8d0459c"/>
    <p:sldId xmlns:r="http://schemas.openxmlformats.org/officeDocument/2006/relationships" id="260" r:id="R1ddb60867dd04672"/>
    <p:sldId xmlns:r="http://schemas.openxmlformats.org/officeDocument/2006/relationships" id="261" r:id="Rb3f00241cbf44a24"/>
    <p:sldId xmlns:r="http://schemas.openxmlformats.org/officeDocument/2006/relationships" id="262" r:id="Ra5797ee0a2484363"/>
    <p:sldId xmlns:r="http://schemas.openxmlformats.org/officeDocument/2006/relationships" id="263" r:id="R4f8dd6abe3ec4cf2"/>
    <p:sldId xmlns:r="http://schemas.openxmlformats.org/officeDocument/2006/relationships" id="264" r:id="Rc7930dc72a18492b"/>
    <p:sldId xmlns:r="http://schemas.openxmlformats.org/officeDocument/2006/relationships" id="265" r:id="R5e8155e85238438a"/>
    <p:sldId xmlns:r="http://schemas.openxmlformats.org/officeDocument/2006/relationships" id="266" r:id="Ra66665ca0404460e"/>
    <p:sldId xmlns:r="http://schemas.openxmlformats.org/officeDocument/2006/relationships" id="267" r:id="Rddc438df584f4786"/>
    <p:sldId xmlns:r="http://schemas.openxmlformats.org/officeDocument/2006/relationships" id="268" r:id="Rc4e8ff94bf4241b9"/>
    <p:sldId xmlns:r="http://schemas.openxmlformats.org/officeDocument/2006/relationships" id="269" r:id="R5641d4b6e78f4ce2"/>
    <p:sldId xmlns:r="http://schemas.openxmlformats.org/officeDocument/2006/relationships" id="270" r:id="R9f28e5e77c0449d0"/>
    <p:sldId xmlns:r="http://schemas.openxmlformats.org/officeDocument/2006/relationships" id="271" r:id="R92132e1034d64f0e"/>
    <p:sldId xmlns:r="http://schemas.openxmlformats.org/officeDocument/2006/relationships" id="272" r:id="R2b21f2139a9b41b3"/>
    <p:sldId xmlns:r="http://schemas.openxmlformats.org/officeDocument/2006/relationships" id="273" r:id="Rb136e3a579284484"/>
    <p:sldId xmlns:r="http://schemas.openxmlformats.org/officeDocument/2006/relationships" id="274" r:id="R529acaac9cc04e94"/>
    <p:sldId xmlns:r="http://schemas.openxmlformats.org/officeDocument/2006/relationships" id="275" r:id="R497cf9532eb748b9"/>
    <p:sldId xmlns:r="http://schemas.openxmlformats.org/officeDocument/2006/relationships" id="276" r:id="Ra24e950c219b497f"/>
    <p:sldId xmlns:r="http://schemas.openxmlformats.org/officeDocument/2006/relationships" id="277" r:id="R2354898797774443"/>
    <p:sldId xmlns:r="http://schemas.openxmlformats.org/officeDocument/2006/relationships" id="278" r:id="R414920c10bb34531"/>
    <p:sldId xmlns:r="http://schemas.openxmlformats.org/officeDocument/2006/relationships" id="279" r:id="R9718c6ab81e24e04"/>
    <p:sldId xmlns:r="http://schemas.openxmlformats.org/officeDocument/2006/relationships" id="280" r:id="Ra94e1a178dfe41e6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4db903f3442f3" /><Relationship Type="http://schemas.openxmlformats.org/officeDocument/2006/relationships/slideMaster" Target="/ppt/slideMasters/slideMaster1.xml" Id="R1fc839c10aa9418a" /><Relationship Type="http://schemas.openxmlformats.org/officeDocument/2006/relationships/notesMaster" Target="/ppt/notesMasters/notesMaster1.xml" Id="R1170cacdb8fc4295" /><Relationship Type="http://schemas.openxmlformats.org/officeDocument/2006/relationships/presProps" Target="/ppt/presProps.xml" Id="R6715dc93ad504e85" /><Relationship Type="http://schemas.openxmlformats.org/officeDocument/2006/relationships/viewProps" Target="/ppt/viewProps.xml" Id="R6df3c89dc5384517" /><Relationship Type="http://schemas.openxmlformats.org/officeDocument/2006/relationships/tableStyles" Target="/ppt/tableStyles.xml" Id="Rdda6c6ed4e3148e6" /><Relationship Type="http://schemas.openxmlformats.org/officeDocument/2006/relationships/slide" Target="/ppt/slides/slide1.xml" Id="R4b34b386f3c74be5" /><Relationship Type="http://schemas.openxmlformats.org/officeDocument/2006/relationships/slide" Target="/ppt/slides/slide2.xml" Id="R890223e24bd54666" /><Relationship Type="http://schemas.openxmlformats.org/officeDocument/2006/relationships/slide" Target="/ppt/slides/slide3.xml" Id="R68625f2f706c44ae" /><Relationship Type="http://schemas.openxmlformats.org/officeDocument/2006/relationships/slide" Target="/ppt/slides/slide4.xml" Id="R3345f348b8d0459c" /><Relationship Type="http://schemas.openxmlformats.org/officeDocument/2006/relationships/slide" Target="/ppt/slides/slide5.xml" Id="R1ddb60867dd04672" /><Relationship Type="http://schemas.openxmlformats.org/officeDocument/2006/relationships/slide" Target="/ppt/slides/slide6.xml" Id="Rb3f00241cbf44a24" /><Relationship Type="http://schemas.openxmlformats.org/officeDocument/2006/relationships/slide" Target="/ppt/slides/slide7.xml" Id="Ra5797ee0a2484363" /><Relationship Type="http://schemas.openxmlformats.org/officeDocument/2006/relationships/slide" Target="/ppt/slides/slide8.xml" Id="R4f8dd6abe3ec4cf2" /><Relationship Type="http://schemas.openxmlformats.org/officeDocument/2006/relationships/slide" Target="/ppt/slides/slide9.xml" Id="Rc7930dc72a18492b" /><Relationship Type="http://schemas.openxmlformats.org/officeDocument/2006/relationships/slide" Target="/ppt/slides/slide10.xml" Id="R5e8155e85238438a" /><Relationship Type="http://schemas.openxmlformats.org/officeDocument/2006/relationships/slide" Target="/ppt/slides/slide11.xml" Id="Ra66665ca0404460e" /><Relationship Type="http://schemas.openxmlformats.org/officeDocument/2006/relationships/slide" Target="/ppt/slides/slide12.xml" Id="Rddc438df584f4786" /><Relationship Type="http://schemas.openxmlformats.org/officeDocument/2006/relationships/slide" Target="/ppt/slides/slide13.xml" Id="Rc4e8ff94bf4241b9" /><Relationship Type="http://schemas.openxmlformats.org/officeDocument/2006/relationships/slide" Target="/ppt/slides/slide14.xml" Id="R5641d4b6e78f4ce2" /><Relationship Type="http://schemas.openxmlformats.org/officeDocument/2006/relationships/slide" Target="/ppt/slides/slide15.xml" Id="R9f28e5e77c0449d0" /><Relationship Type="http://schemas.openxmlformats.org/officeDocument/2006/relationships/slide" Target="/ppt/slides/slide16.xml" Id="R92132e1034d64f0e" /><Relationship Type="http://schemas.openxmlformats.org/officeDocument/2006/relationships/slide" Target="/ppt/slides/slide17.xml" Id="R2b21f2139a9b41b3" /><Relationship Type="http://schemas.openxmlformats.org/officeDocument/2006/relationships/slide" Target="/ppt/slides/slide18.xml" Id="Rb136e3a579284484" /><Relationship Type="http://schemas.openxmlformats.org/officeDocument/2006/relationships/slide" Target="/ppt/slides/slide19.xml" Id="R529acaac9cc04e94" /><Relationship Type="http://schemas.openxmlformats.org/officeDocument/2006/relationships/slide" Target="/ppt/slides/slide20.xml" Id="R497cf9532eb748b9" /><Relationship Type="http://schemas.openxmlformats.org/officeDocument/2006/relationships/slide" Target="/ppt/slides/slide21.xml" Id="Ra24e950c219b497f" /><Relationship Type="http://schemas.openxmlformats.org/officeDocument/2006/relationships/slide" Target="/ppt/slides/slide22.xml" Id="R2354898797774443" /><Relationship Type="http://schemas.openxmlformats.org/officeDocument/2006/relationships/slide" Target="/ppt/slides/slide23.xml" Id="R414920c10bb34531" /><Relationship Type="http://schemas.openxmlformats.org/officeDocument/2006/relationships/slide" Target="/ppt/slides/slide24.xml" Id="R9718c6ab81e24e04" /><Relationship Type="http://schemas.openxmlformats.org/officeDocument/2006/relationships/slide" Target="/ppt/slides/slide25.xml" Id="Ra94e1a178dfe41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96a739c4a347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05d1bbd6f94457" /><Relationship Type="http://schemas.openxmlformats.org/officeDocument/2006/relationships/notesMaster" Target="/ppt/notesMasters/notesMaster1.xml" Id="Rcb640970d85c47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87610a4dc649b5" /><Relationship Type="http://schemas.openxmlformats.org/officeDocument/2006/relationships/notesMaster" Target="/ppt/notesMasters/notesMaster1.xml" Id="Rf40dec68cf394b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f2258cf6084a83" /><Relationship Type="http://schemas.openxmlformats.org/officeDocument/2006/relationships/notesMaster" Target="/ppt/notesMasters/notesMaster1.xml" Id="R2088ddf7af1547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850ffcb8814395" /><Relationship Type="http://schemas.openxmlformats.org/officeDocument/2006/relationships/notesMaster" Target="/ppt/notesMasters/notesMaster1.xml" Id="R7c8450983d3e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6f2149ddd547ad" /><Relationship Type="http://schemas.openxmlformats.org/officeDocument/2006/relationships/notesMaster" Target="/ppt/notesMasters/notesMaster1.xml" Id="Ra7e26dac521248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41beaddfb8478d" /><Relationship Type="http://schemas.openxmlformats.org/officeDocument/2006/relationships/notesMaster" Target="/ppt/notesMasters/notesMaster1.xml" Id="R18b64289a10c4c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8544a9490b42ea" /><Relationship Type="http://schemas.openxmlformats.org/officeDocument/2006/relationships/notesMaster" Target="/ppt/notesMasters/notesMaster1.xml" Id="Rd51aac642cc34c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489816e41e4d84" /><Relationship Type="http://schemas.openxmlformats.org/officeDocument/2006/relationships/notesMaster" Target="/ppt/notesMasters/notesMaster1.xml" Id="Rc7a25781540741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9c4aee3c804ed4" /><Relationship Type="http://schemas.openxmlformats.org/officeDocument/2006/relationships/notesMaster" Target="/ppt/notesMasters/notesMaster1.xml" Id="R8c55a0c3dd834d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a8b454440449c7" /><Relationship Type="http://schemas.openxmlformats.org/officeDocument/2006/relationships/notesMaster" Target="/ppt/notesMasters/notesMaster1.xml" Id="R6e5e52fa7db148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ea9d085c944fdf" /><Relationship Type="http://schemas.openxmlformats.org/officeDocument/2006/relationships/notesMaster" Target="/ppt/notesMasters/notesMaster1.xml" Id="R4f90c453e83545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d94d84fde14957" /><Relationship Type="http://schemas.openxmlformats.org/officeDocument/2006/relationships/notesMaster" Target="/ppt/notesMasters/notesMaster1.xml" Id="R77e63362c96d47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fb1b4639424c9a" /><Relationship Type="http://schemas.openxmlformats.org/officeDocument/2006/relationships/notesMaster" Target="/ppt/notesMasters/notesMaster1.xml" Id="Ra63250fddf2b45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215b72c3824d86" /><Relationship Type="http://schemas.openxmlformats.org/officeDocument/2006/relationships/notesMaster" Target="/ppt/notesMasters/notesMaster1.xml" Id="R8a100c17d3f247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ec0a412c3246ae" /><Relationship Type="http://schemas.openxmlformats.org/officeDocument/2006/relationships/notesMaster" Target="/ppt/notesMasters/notesMaster1.xml" Id="R11366fb0319d49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a70c47d0d94583" /><Relationship Type="http://schemas.openxmlformats.org/officeDocument/2006/relationships/notesMaster" Target="/ppt/notesMasters/notesMaster1.xml" Id="R28b1b364318444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c90368332a4a53" /><Relationship Type="http://schemas.openxmlformats.org/officeDocument/2006/relationships/notesMaster" Target="/ppt/notesMasters/notesMaster1.xml" Id="R9cbe616bd7974f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5d146cbcfa45c7" /><Relationship Type="http://schemas.openxmlformats.org/officeDocument/2006/relationships/notesMaster" Target="/ppt/notesMasters/notesMaster1.xml" Id="R9b36bcfa190441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9de65e43d640f3" /><Relationship Type="http://schemas.openxmlformats.org/officeDocument/2006/relationships/notesMaster" Target="/ppt/notesMasters/notesMaster1.xml" Id="Rc08a293efd9a42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d171dae1c344b4" /><Relationship Type="http://schemas.openxmlformats.org/officeDocument/2006/relationships/notesMaster" Target="/ppt/notesMasters/notesMaster1.xml" Id="Rfb2f9e6980d240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1e0641fc4504e29" /><Relationship Type="http://schemas.openxmlformats.org/officeDocument/2006/relationships/notesMaster" Target="/ppt/notesMasters/notesMaster1.xml" Id="R6916abdb5c4c4d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9a8c8abb5454d25" /><Relationship Type="http://schemas.openxmlformats.org/officeDocument/2006/relationships/notesMaster" Target="/ppt/notesMasters/notesMaster1.xml" Id="R216e1454b7244f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e6dc44248e4946" /><Relationship Type="http://schemas.openxmlformats.org/officeDocument/2006/relationships/notesMaster" Target="/ppt/notesMasters/notesMaster1.xml" Id="Rd53b9f286cdc41f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21a4f3e19f462e" /><Relationship Type="http://schemas.openxmlformats.org/officeDocument/2006/relationships/notesMaster" Target="/ppt/notesMasters/notesMaster1.xml" Id="R57c397b8adcd4f6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be1f0c78bd4cf5" /><Relationship Type="http://schemas.openxmlformats.org/officeDocument/2006/relationships/notesMaster" Target="/ppt/notesMasters/notesMaster1.xml" Id="R6b1a2a28c6e74f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API reference: https://docs.typesafe.ai/api</a:t>
            </a:r>
          </a:p>
          <a:p xmlns:a="http://schemas.openxmlformats.org/drawingml/2006/main">
            <a:r>
              <a:t>TypeSafe models: https://docs.typesafe.ai/models</a:t>
            </a:r>
          </a:p>
          <a:p xmlns:a="http://schemas.openxmlformats.org/drawingml/2006/main">
            <a:r>
              <a:t>TypeSafe confidence: https://docs.typesafe.ai/confidence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confidence semantics: https://docs.typesafe.ai/confidence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positive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four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paris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mammal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stopped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ordering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kilometre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spam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french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sink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python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answer: critical</a:t>
            </a:r>
          </a:p>
          <a:p xmlns:a="http://schemas.openxmlformats.org/drawingml/2006/main">
            <a:r>
              <a:t>Local result source: results/benchmark-results.json</a:t>
            </a:r>
          </a:p>
          <a:p xmlns:a="http://schemas.openxmlformats.org/drawingml/2006/main">
            <a:r>
              <a:t>TypeSafe result source: results/typesafe-benchmark-results.json</a:t>
            </a:r>
          </a:p>
          <a:p xmlns:a="http://schemas.openxmlformats.org/drawingml/2006/main">
            <a:r>
              <a:t>TypeSafe model: jev-1.13.0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results/benchmark-results.json and results/typesafe-benchmark-results.json</a:t>
            </a:r>
          </a:p>
          <a:p xmlns:a="http://schemas.openxmlformats.org/drawingml/2006/main">
            <a:r>
              <a:t>Accuracy = correct top-ranked answer / 12. Gate clearance = review_required is false / 12.</a:t>
            </a:r>
          </a:p>
          <a:p xmlns:a="http://schemas.openxmlformats.org/drawingml/2006/main">
            <a:r>
              <a:t>TypeSafe probabilities were literal API responses. The top-two margin and shared gate were computed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TypeSafe's documentation recommends choosing confidence thresholds based on domain risk and validating them on the user's own data.</a:t>
            </a:r>
          </a:p>
          <a:p xmlns:a="http://schemas.openxmlformats.org/drawingml/2006/main">
            <a:r>
              <a:t>Source: https://docs.typesafe.ai/confidence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DeBERTa: https://huggingface.co/MoritzLaurer/deberta-v3-large-zeroshot-v2.0</a:t>
            </a:r>
          </a:p>
          <a:p xmlns:a="http://schemas.openxmlformats.org/drawingml/2006/main">
            <a:r>
              <a:t>BART MNLI: https://huggingface.co/facebook/bart-large-mnli</a:t>
            </a:r>
          </a:p>
          <a:p xmlns:a="http://schemas.openxmlformats.org/drawingml/2006/main">
            <a:r>
              <a:t>mDeBERTa MNLI/XNLI: https://huggingface.co/MoritzLaurer/mDeBERTa-v3-base-mnli-xnli</a:t>
            </a:r>
          </a:p>
          <a:p xmlns:a="http://schemas.openxmlformats.org/drawingml/2006/main">
            <a:r>
              <a:t>GLiClass: https://huggingface.co/knowledgator/gliclass-small-v1.0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retained from the original local NLI benchmark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retained from the original local NLI benchmark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retained from the original local NLI benchmark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ModernBERT pipeline restored from the original deck's How it works slide.</a:t>
            </a:r>
          </a:p>
          <a:p xmlns:a="http://schemas.openxmlformats.org/drawingml/2006/main">
            <a:r>
              <a:t>The answer/review counts are the local ModernBERT results: 5 clear, 7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reference: https://docs.typesafe.ai/api</a:t>
            </a:r>
          </a:p>
          <a:p xmlns:a="http://schemas.openxmlformats.org/drawingml/2006/main">
            <a:r>
              <a:t>Implementation: poc/typesafe_decision_poc.py</a:t>
            </a:r>
          </a:p>
          <a:p xmlns:a="http://schemas.openxmlformats.org/drawingml/2006/main">
            <a:r>
              <a:t>Raw audit artifact: results/typesafe-benchmark-raw-responses.json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fields: https://docs.typesafe.ai/api</a:t>
            </a:r>
          </a:p>
          <a:p xmlns:a="http://schemas.openxmlformats.org/drawingml/2006/main">
            <a:r>
              <a:t>Confidence semantics: https://docs.typesafe.ai/confidence</a:t>
            </a:r>
          </a:p>
          <a:p xmlns:a="http://schemas.openxmlformats.org/drawingml/2006/main">
            <a:r>
              <a:t>The top-two margin is computed by poc/typesafe_decision_poc.py and is not a TypeSafe response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891e19d8c47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f929737a545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b09071c804a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276e52a2547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55d6d2d4348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de40de17c4b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4f2e3cca244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11ca10fa24c1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7a78580cf4e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3beb1367041e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d92846fbe4c6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66CB87-7839-4999-B810-E254A0FFAAD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EDB80F3-05B2-4BB4-A7DF-53F0456695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AD16F1-C356-4B67-9E91-175CB8A1F3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D0E38C-A733-4E80-8C85-7A23920E77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74A130-541A-4EA1-B2CB-C5021500C7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23C786-B584-4D52-B814-72EA5BAA7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D1C2366-105F-4731-AA89-AD9000DAEC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700BB2-5D44-4859-BCE4-197FD7151C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12D79D-5D04-4CFD-A070-7C93AE7265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B8B404-5377-4759-92FD-37E42C63B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A5D131-37D0-408E-A475-C6F93B98C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289A4F-843C-455E-A3D3-D0C8050E6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0BC917-E232-4F50-B9C5-63E1B9309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A18060-06D5-4DD1-A184-E0A19CCF51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7ED477-46D0-4CFD-B5A5-E3152B040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6BFA27-2D35-4FA0-AC69-8D64A2CD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22C971-0653-488A-908A-E364DC318D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009DF51-1A7B-4AE2-B13A-68DFFFF2D9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5A93C7D-2C18-4E37-9EE0-3FE705E2EB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91B5373-15F3-4E0B-BEB6-E39B90DA0D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F0F994-D3C3-431A-9990-D7DF5150CD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297475-9AE2-4696-ACE0-C4940B61C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4951ED-BB51-4115-9DA6-80736075FC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FE8112B-036E-44E0-901F-D03D772DC8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D15129B-6D61-418C-8A8E-774F9C8E57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467B08F-3726-478D-853C-1536441B5AE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8986771-6797-4F93-B20B-351703CF0A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5607CA6-8301-4044-98C0-D0B8429766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C48AE57-A462-43C7-A38F-5463E158E1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E2EC8A-561A-40FF-9F65-ADD155A3E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5189605-55D8-4116-B31D-E2B8162EE7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A12225E-17EC-4649-BEBA-51192673F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DCF487C-8EAE-4B70-8F4F-3FF8E6F1A3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D7D0C6F-EC07-4B2B-B10B-63B4BA6500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1C56F9D-C25C-4EE1-AC72-192ACF6389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5E9EA73-035E-438C-ABDA-91BC9C05F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1F32D4-AF6E-4890-830F-799C2E098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FC26A7-604C-4A82-9D48-F9B71BF3C9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D681412-D1B7-44F8-AB07-5807F3439E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5C8A4C4-BEDA-4991-9EC2-D5FF2B593F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B5BEAB-1449-46DD-9845-8B665AAA6F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8756DE-F16E-46E9-9601-C1476DD27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7361B-7CB6-4456-AFA1-FB1B922D9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F005BC2-A64E-4C5F-B047-4D8BF856E38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806CB6B-89B2-4A54-A8F6-B3BF164E70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3221C1-9F53-43FC-AC82-DFA3768B49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B6FAEE-F408-4099-B04D-AAF55317C6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3E34922-6BD5-4427-B90C-F99F085A03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2EC675-67AD-4861-81EB-218D5BB9D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CB407D-FCC6-4F9F-8CFD-0BBAA2E8F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1CA4B-5F12-468C-82AC-224A01D492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40112B-4DA3-4F0E-A4DD-F05ECC3809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39638D-CEBE-4141-99A4-AB4251DE2E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99B01BA-1118-4E43-9883-3C42492E0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68C025-8055-4A5E-B7DC-E73C8954D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880E44-8B13-4A37-ADEF-3E2DCF7A0C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86AFC5-D975-46B2-A2FF-80ED34B45E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80275D-42F0-4642-B0B8-B77FFF7E4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3abaeeea834da4" /><Relationship Type="http://schemas.openxmlformats.org/officeDocument/2006/relationships/slideLayout" Target="/ppt/slideLayouts/slideLayout1.xml" Id="R340a5c531ea14aae" /><Relationship Type="http://schemas.openxmlformats.org/officeDocument/2006/relationships/slideLayout" Target="/ppt/slideLayouts/slideLayout2.xml" Id="Rd54b55312b724149" /><Relationship Type="http://schemas.openxmlformats.org/officeDocument/2006/relationships/slideLayout" Target="/ppt/slideLayouts/slideLayout3.xml" Id="Rc1d619a626d744cf" /><Relationship Type="http://schemas.openxmlformats.org/officeDocument/2006/relationships/slideLayout" Target="/ppt/slideLayouts/slideLayout4.xml" Id="Rf1d7974d4f4647af" /><Relationship Type="http://schemas.openxmlformats.org/officeDocument/2006/relationships/slideLayout" Target="/ppt/slideLayouts/slideLayout5.xml" Id="R49292c66854142ec" /><Relationship Type="http://schemas.openxmlformats.org/officeDocument/2006/relationships/slideLayout" Target="/ppt/slideLayouts/slideLayout6.xml" Id="R0ee2e1ca7a92428a" /><Relationship Type="http://schemas.openxmlformats.org/officeDocument/2006/relationships/slideLayout" Target="/ppt/slideLayouts/slideLayout7.xml" Id="R14f3e57664754edd" /><Relationship Type="http://schemas.openxmlformats.org/officeDocument/2006/relationships/slideLayout" Target="/ppt/slideLayouts/slideLayout8.xml" Id="Reec9100164c34677" /><Relationship Type="http://schemas.openxmlformats.org/officeDocument/2006/relationships/slideLayout" Target="/ppt/slideLayouts/slideLayout9.xml" Id="Rdb6ce18b36ee489e" /><Relationship Type="http://schemas.openxmlformats.org/officeDocument/2006/relationships/slideLayout" Target="/ppt/slideLayouts/slideLayout10.xml" Id="Rbfd7245127cb4927" /><Relationship Type="http://schemas.openxmlformats.org/officeDocument/2006/relationships/slideLayout" Target="/ppt/slideLayouts/slideLayout11.xml" Id="R6e7e6926454745b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B5A021B-FC36-4D96-B589-EEA0E6004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DB28A3-C3A0-4D12-911A-13BB16DF1D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760F59-8B62-444D-B267-1373AFA2042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2DA1D4-99A2-46AF-8C59-A1014F4EBE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C3DAE3-75C8-4149-A87E-2543C20715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0a5c531ea14aae"/>
    <p:sldLayoutId xmlns:r="http://schemas.openxmlformats.org/officeDocument/2006/relationships" id="2147483650" r:id="Rd54b55312b724149"/>
    <p:sldLayoutId xmlns:r="http://schemas.openxmlformats.org/officeDocument/2006/relationships" id="2147483651" r:id="Rc1d619a626d744cf"/>
    <p:sldLayoutId xmlns:r="http://schemas.openxmlformats.org/officeDocument/2006/relationships" id="2147483652" r:id="Rf1d7974d4f4647af"/>
    <p:sldLayoutId xmlns:r="http://schemas.openxmlformats.org/officeDocument/2006/relationships" id="2147483653" r:id="R49292c66854142ec"/>
    <p:sldLayoutId xmlns:r="http://schemas.openxmlformats.org/officeDocument/2006/relationships" id="2147483654" r:id="R0ee2e1ca7a92428a"/>
    <p:sldLayoutId xmlns:r="http://schemas.openxmlformats.org/officeDocument/2006/relationships" id="2147483655" r:id="R14f3e57664754edd"/>
    <p:sldLayoutId xmlns:r="http://schemas.openxmlformats.org/officeDocument/2006/relationships" id="2147483656" r:id="Reec9100164c34677"/>
    <p:sldLayoutId xmlns:r="http://schemas.openxmlformats.org/officeDocument/2006/relationships" id="2147483657" r:id="Rdb6ce18b36ee489e"/>
    <p:sldLayoutId xmlns:r="http://schemas.openxmlformats.org/officeDocument/2006/relationships" id="2147483658" r:id="Rbfd7245127cb4927"/>
    <p:sldLayoutId xmlns:r="http://schemas.openxmlformats.org/officeDocument/2006/relationships" id="2147483659" r:id="R6e7e6926454745b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a3c89d257a45e9" /><Relationship Type="http://schemas.openxmlformats.org/officeDocument/2006/relationships/notesSlide" Target="/ppt/notesSlides/notesSlide1.xml" Id="R2e8663557006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c52059597641ad" /><Relationship Type="http://schemas.openxmlformats.org/officeDocument/2006/relationships/notesSlide" Target="/ppt/notesSlides/notesSlide2.xml" Id="R20403412391845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855d0ae3da4aee" /><Relationship Type="http://schemas.openxmlformats.org/officeDocument/2006/relationships/notesSlide" Target="/ppt/notesSlides/notesSlide3.xml" Id="Rd0f3e39172a440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a3d998a09044b7" /><Relationship Type="http://schemas.openxmlformats.org/officeDocument/2006/relationships/notesSlide" Target="/ppt/notesSlides/notesSlide4.xml" Id="Rc5f2422af63843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59096a474648f4" /><Relationship Type="http://schemas.openxmlformats.org/officeDocument/2006/relationships/notesSlide" Target="/ppt/notesSlides/notesSlide5.xml" Id="R6f66331bff6c4d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c4a6dd361e4b94" /><Relationship Type="http://schemas.openxmlformats.org/officeDocument/2006/relationships/notesSlide" Target="/ppt/notesSlides/notesSlide6.xml" Id="Rc7dbe10069c242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b137fbd8de402b" /><Relationship Type="http://schemas.openxmlformats.org/officeDocument/2006/relationships/notesSlide" Target="/ppt/notesSlides/notesSlide7.xml" Id="R71de80e81dcd4b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1c44ee7ae44d45" /><Relationship Type="http://schemas.openxmlformats.org/officeDocument/2006/relationships/notesSlide" Target="/ppt/notesSlides/notesSlide8.xml" Id="R5057c2348ac741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b99a441d894072" /><Relationship Type="http://schemas.openxmlformats.org/officeDocument/2006/relationships/notesSlide" Target="/ppt/notesSlides/notesSlide9.xml" Id="Rfe35d3b3ead34f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ff56d01c69487b" /><Relationship Type="http://schemas.openxmlformats.org/officeDocument/2006/relationships/notesSlide" Target="/ppt/notesSlides/notesSlide10.xml" Id="R09c0d712464647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fe4dd6ad454d3c" /><Relationship Type="http://schemas.openxmlformats.org/officeDocument/2006/relationships/notesSlide" Target="/ppt/notesSlides/notesSlide11.xml" Id="Rdc00413f752246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6ee3740c3b4665" /><Relationship Type="http://schemas.openxmlformats.org/officeDocument/2006/relationships/notesSlide" Target="/ppt/notesSlides/notesSlide12.xml" Id="Rd464316ca44a43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595a3df0f44e51" /><Relationship Type="http://schemas.openxmlformats.org/officeDocument/2006/relationships/notesSlide" Target="/ppt/notesSlides/notesSlide13.xml" Id="Rac8dc5fa65ef47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50e768a6784b9d" /><Relationship Type="http://schemas.openxmlformats.org/officeDocument/2006/relationships/notesSlide" Target="/ppt/notesSlides/notesSlide14.xml" Id="R27080088f5d446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fd6be3fd014e03" /><Relationship Type="http://schemas.openxmlformats.org/officeDocument/2006/relationships/notesSlide" Target="/ppt/notesSlides/notesSlide15.xml" Id="Ra5e0414f551043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82a62fa2e5435e" /><Relationship Type="http://schemas.openxmlformats.org/officeDocument/2006/relationships/notesSlide" Target="/ppt/notesSlides/notesSlide16.xml" Id="R251140ddaa9449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047691cfd4f0f" /><Relationship Type="http://schemas.openxmlformats.org/officeDocument/2006/relationships/chart" Target="/ppt/slides/charts/chart1.xml" Id="Rfc647b31ec4f42f4" /><Relationship Type="http://schemas.openxmlformats.org/officeDocument/2006/relationships/notesSlide" Target="/ppt/notesSlides/notesSlide17.xml" Id="Rf6b35dea31c34e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cb306608004e2b" /><Relationship Type="http://schemas.openxmlformats.org/officeDocument/2006/relationships/notesSlide" Target="/ppt/notesSlides/notesSlide18.xml" Id="R03f935af963f4e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9c6f54c104ba2" /><Relationship Type="http://schemas.openxmlformats.org/officeDocument/2006/relationships/notesSlide" Target="/ppt/notesSlides/notesSlide19.xml" Id="Rc2907c6f7f8244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b967b9fc474b64" /><Relationship Type="http://schemas.openxmlformats.org/officeDocument/2006/relationships/notesSlide" Target="/ppt/notesSlides/notesSlide20.xml" Id="R860351c410a64f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d3918ca31a4bc1" /><Relationship Type="http://schemas.openxmlformats.org/officeDocument/2006/relationships/notesSlide" Target="/ppt/notesSlides/notesSlide21.xml" Id="R321b43e38e9b4f2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49e5007da247ee" /><Relationship Type="http://schemas.openxmlformats.org/officeDocument/2006/relationships/notesSlide" Target="/ppt/notesSlides/notesSlide22.xml" Id="R50fabce3f82d40b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df438853c4dda" /><Relationship Type="http://schemas.openxmlformats.org/officeDocument/2006/relationships/notesSlide" Target="/ppt/notesSlides/notesSlide23.xml" Id="R21cbfe9723f24f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b273d18f24e3a" /><Relationship Type="http://schemas.openxmlformats.org/officeDocument/2006/relationships/notesSlide" Target="/ppt/notesSlides/notesSlide24.xml" Id="R95321b0586c547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9718c8a6941c8" /><Relationship Type="http://schemas.openxmlformats.org/officeDocument/2006/relationships/notesSlide" Target="/ppt/notesSlides/notesSlide25.xml" Id="R7e6eaff6bab14f0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ModernBERT NLI</c:v>
          </c:tx>
          <c:spPr>
            <a:solidFill xmlns:a="http://schemas.openxmlformats.org/drawingml/2006/main">
              <a:srgbClr val="065A82"/>
            </a:solidFill>
            <a:ln xmlns:a="http://schemas.openxmlformats.org/drawingml/2006/main" w="9525">
              <a:solidFill>
                <a:srgbClr val="065A82"/>
              </a:solidFill>
              <a:prstDash val="solid"/>
            </a:ln>
          </c:spPr>
          <c:cat>
            <c:strLit>
              <c:ptCount val="2"/>
              <c:pt idx="0">
                <c:v>Correct top-ranked answer</c:v>
              </c:pt>
              <c:pt idx="1">
                <c:v>Cleared decision gate</c:v>
              </c:pt>
            </c:strLit>
          </c:cat>
          <c:val>
            <c:numLit>
              <c:formatCode>0%</c:formatCode>
              <c:ptCount val="2"/>
              <c:pt idx="0">
                <c:v>1</c:v>
              </c:pt>
              <c:pt idx="1">
                <c:v>0.4166666666666667</c:v>
              </c:pt>
            </c:numLit>
          </c:val>
        </c:ser>
        <c:ser>
          <c:idx val="1"/>
          <c:order val="1"/>
          <c:tx>
            <c:v>TypeSafe Jev 1.13.0</c:v>
          </c:tx>
          <c:spPr>
            <a:solidFill xmlns:a="http://schemas.openxmlformats.org/drawingml/2006/main">
              <a:srgbClr val="815AC0"/>
            </a:solidFill>
            <a:ln xmlns:a="http://schemas.openxmlformats.org/drawingml/2006/main" w="9525">
              <a:solidFill>
                <a:srgbClr val="815AC0"/>
              </a:solidFill>
              <a:prstDash val="solid"/>
            </a:ln>
          </c:spPr>
          <c:cat>
            <c:strLit>
              <c:ptCount val="2"/>
              <c:pt idx="0">
                <c:v>Correct top-ranked answer</c:v>
              </c:pt>
              <c:pt idx="1">
                <c:v>Cleared decision gate</c:v>
              </c:pt>
            </c:strLit>
          </c:cat>
          <c:val>
            <c:numLit>
              <c:formatCode>0%</c:formatCode>
              <c:ptCount val="2"/>
              <c:pt idx="0">
                <c:v>1</c:v>
              </c:pt>
              <c:pt idx="1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A1F2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5DF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A1F2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ackground">
            <a:extLst xmlns:a="http://schemas.openxmlformats.org/drawingml/2006/main">
              <a:ext uri="{FF2B5EF4-FFF2-40B4-BE49-F238E27FC236}">
                <a16:creationId xmlns:a16="http://schemas.microsoft.com/office/drawing/2014/main" id="{5EB0FCA9-080E-48C2-8316-1BC8AF46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111A0E03-7966-4691-9A50-42192208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16502-1DCF-46E3-AEFF-C99952BE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ZERO-SHOT DECISION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33060-B3F9-4B0E-BAF7-63DDF5FF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Obvious-Answer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Benchmark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192D7-9FA2-420E-9E28-6280E12F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C2D6E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C2D6E2"/>
                </a:solidFill>
                <a:latin typeface="Calibri"/>
                <a:ea typeface="Calibri"/>
                <a:cs typeface="Calibri"/>
              </a:rPr>
              <a:t>ModernBERT NLI and TypeSafe System One on the same 12 multiple-choice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49AF2-349D-4CDD-8F23-6368569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MODERNBERT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0B523-D865-4EF1-B147-6344037C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C7293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1C7293"/>
                </a:solidFill>
                <a:latin typeface="Georgia"/>
                <a:ea typeface="Georgia"/>
                <a:cs typeface="Georgia"/>
              </a:rPr>
              <a:t>12/12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0AE61-B8A5-4013-A698-00D18D11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FB3C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9FB3C2"/>
                </a:solidFill>
                <a:latin typeface="Calibri"/>
                <a:ea typeface="Calibri"/>
                <a:cs typeface="Calibri"/>
              </a:rPr>
              <a:t>correct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D064E-4330-4201-B117-6816356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149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C7293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1C7293"/>
                </a:solidFill>
                <a:latin typeface="Georgia"/>
                <a:ea typeface="Georgia"/>
                <a:cs typeface="Georgia"/>
              </a:rPr>
              <a:t>5/12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9A488-BF0E-4321-A278-20C9858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FB3C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9FB3C2"/>
                </a:solidFill>
                <a:latin typeface="Calibri"/>
                <a:ea typeface="Calibri"/>
                <a:cs typeface="Calibri"/>
              </a:rPr>
              <a:t>cleared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3E604-C463-40C0-87F2-136E4F9C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7200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07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E609B-E43E-4448-B865-5032F03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29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8CBE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D8CBEF"/>
                </a:solidFill>
                <a:latin typeface="Calibri"/>
                <a:ea typeface="Calibri"/>
                <a:cs typeface="Calibri"/>
              </a:rPr>
              <a:t>TYPESAFE JEV 1.13.0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D6A12-C71B-44BF-A9D9-AE007BF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149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815AC0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815AC0"/>
                </a:solidFill>
                <a:latin typeface="Georgia"/>
                <a:ea typeface="Georgia"/>
                <a:cs typeface="Georgia"/>
              </a:rPr>
              <a:t>12/12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6994C-7F31-4D5C-AD5F-B00C01DD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410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EB2D7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BEB2D7"/>
                </a:solidFill>
                <a:latin typeface="Calibri"/>
                <a:ea typeface="Calibri"/>
                <a:cs typeface="Calibri"/>
              </a:rPr>
              <a:t>correct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D7AAB-3B06-4F4A-B311-A089D14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149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815AC0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815AC0"/>
                </a:solidFill>
                <a:latin typeface="Georgia"/>
                <a:ea typeface="Georgia"/>
                <a:cs typeface="Georgia"/>
              </a:rPr>
              <a:t>12/12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6CD7F-7318-4F93-9B30-A2BDE9D3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410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EB2D7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BEB2D7"/>
                </a:solidFill>
                <a:latin typeface="Calibri"/>
                <a:ea typeface="Calibri"/>
                <a:cs typeface="Calibri"/>
              </a:rPr>
              <a:t>cleared same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E8AAF-7AC0-4170-8487-F4139CC7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388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595A8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8595A8"/>
                </a:solidFill>
                <a:latin typeface="Consolas"/>
                <a:ea typeface="Consolas"/>
                <a:cs typeface="Consolas"/>
              </a:rPr>
              <a:t>Same states, questions, option descriptions, and 0.65 / 0.15 decision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8044F-0E0A-48A3-AB6F-59B7E279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007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C2D6E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2D6E2"/>
                </a:solidFill>
                <a:latin typeface="Calibri"/>
                <a:ea typeface="Calibri"/>
                <a:cs typeface="Calibri"/>
              </a:rPr>
              <a:t>Prepared by Mark Austin</a:t>
            </a:r>
          </a:p>
        </p:txBody>
      </p:sp>
    </p:spTree>
    <p:extLst>
      <p:ext uri="{BB962C8B-B14F-4D97-AF65-F5344CB8AC3E}">
        <p14:creationId xmlns:p14="http://schemas.microsoft.com/office/powerpoint/2010/main" val="4957880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ackground">
            <a:extLst xmlns:a="http://schemas.openxmlformats.org/drawingml/2006/main">
              <a:ext uri="{FF2B5EF4-FFF2-40B4-BE49-F238E27FC236}">
                <a16:creationId xmlns:a16="http://schemas.microsoft.com/office/drawing/2014/main" id="{63453C51-0795-4B75-9F84-5E78291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08A22245-8960-4624-ACF8-4B3ABB60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B4842-083F-477B-AC12-B155B136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Same questions, two scorers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A306A-FC17-497B-BCAF-59EEB978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Each path receives the identical state, question, and multiple-choice definitions</a:t>
            </a:r>
          </a:p>
        </p:txBody>
      </p:sp>
      <p:sp>
        <p:nvSpPr>
          <p:cNvPr id="5" name="LOCAL NLI-panel">
            <a:extLst xmlns:a="http://schemas.openxmlformats.org/drawingml/2006/main">
              <a:ext uri="{FF2B5EF4-FFF2-40B4-BE49-F238E27FC236}">
                <a16:creationId xmlns:a16="http://schemas.microsoft.com/office/drawing/2014/main" id="{A10E46AA-5DB6-4513-B5B8-EA90A79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5048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6" name="LOCAL NLI-header">
            <a:extLst xmlns:a="http://schemas.openxmlformats.org/drawingml/2006/main">
              <a:ext uri="{FF2B5EF4-FFF2-40B4-BE49-F238E27FC236}">
                <a16:creationId xmlns:a16="http://schemas.microsoft.com/office/drawing/2014/main" id="{0543787D-ACFF-481E-A082-ADFDCCDF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1427A-DDC3-46CA-8325-DFD8F4E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LOCAL NLI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D47EE-5E21-492C-B5BB-22A67BF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ModernBERT-large-zeroshot-v2.0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7AD0E-6A8A-431E-B9AE-D02EE578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08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AF47-2F70-49D5-B97F-B3145DC9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7733B-2C45-4709-80BE-5C849C51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State JSON plus the decision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1E2B2-C534-44C6-B150-4F269B86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39F9C-AA39-495B-8FB0-0D4130B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0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1F379-208C-424C-B0DB-334CFDEE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One premise and hypothesis pair per 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57BAB-3BAB-4E41-982E-7E67B4E4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671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CB667-57CB-4B0B-8A23-0AABF81D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9AADA-39D0-4070-93BB-1AC2EB49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Cross-option softmax probabilities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ADE07-2975-441B-995D-D57B1D46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55C0B-BBA6-43EC-8141-648C2A4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767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43906-54E4-487C-A9E6-AD16E8A1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863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Local weights, offline inference</a:t>
            </a:r>
          </a:p>
        </p:txBody>
      </p:sp>
      <p:sp>
        <p:nvSpPr>
          <p:cNvPr id="21" name="TYPESAFE SYSTEM ONE-panel">
            <a:extLst xmlns:a="http://schemas.openxmlformats.org/drawingml/2006/main">
              <a:ext uri="{FF2B5EF4-FFF2-40B4-BE49-F238E27FC236}">
                <a16:creationId xmlns:a16="http://schemas.microsoft.com/office/drawing/2014/main" id="{1662921E-E13A-4996-A89E-BE1BB336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048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22" name="TYPESAFE SYSTEM ONE-header">
            <a:extLst xmlns:a="http://schemas.openxmlformats.org/drawingml/2006/main">
              <a:ext uri="{FF2B5EF4-FFF2-40B4-BE49-F238E27FC236}">
                <a16:creationId xmlns:a16="http://schemas.microsoft.com/office/drawing/2014/main" id="{CEFDC651-76FA-4087-8AC4-9A439A74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18900-0974-4F6F-8C9D-85E3FEA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SYSTEM 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FFD3C-B02B-42FB-9BA9-814C50C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Jev 1.13.0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69263-6DFE-4BF8-8260-29A443DD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908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EE411-0BDF-4F72-89AC-4DFA619E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74893-31D9-49FB-9680-D4F9255D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State plus one typed choice question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0F0435-074B-4459-BCEF-A0CA30E3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19F93-0CAF-4E15-9446-6A5BD4AE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OPTIONS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2F920-AEE1-4327-A767-2357F9D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Option descriptions sent as criteria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66A76-170B-44A0-A30B-0E97C416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671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32C39-3EB9-49C6-8D32-FAECE81F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2B079-46D2-47D9-8BC8-D497CF4C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Choice, full probabilities, and confidence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F5FD2F-26B9-4A8F-A351-8D7D2D71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F449FA-C134-4871-9CDF-3C416D4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EXECUTION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55BE79-7829-4111-A4C7-70D28E15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863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Hosted API, one request per unique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4B8D9-366E-438B-AFCE-3F5B686C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CF22CE-B92D-42F9-BB01-E122FD09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19800"/>
            <a:ext cx="1007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Comparison rule: top probability ≥ 0.65 and top-two margin ≥ 0.15</a:t>
            </a:r>
          </a:p>
        </p:txBody>
      </p:sp>
    </p:spTree>
    <p:extLst>
      <p:ext uri="{BB962C8B-B14F-4D97-AF65-F5344CB8AC3E}">
        <p14:creationId xmlns:p14="http://schemas.microsoft.com/office/powerpoint/2010/main" val="15004783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DB05DF-B138-4CD8-902A-93316A4F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E8434A68-C6F8-457C-9A8E-9CCCF915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6E5A9-154A-4B6F-A7DF-865F6211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Benchmark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FE8B3-48CF-4284-A8CB-A66AA5C5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The experiment changes the scorer and keeps the decision task fixed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19E26-32F3-4D0F-BBE5-4244C7C0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5A82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E768D-F38B-417B-9B5C-3A502FF5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5A39B-461E-4B3A-8930-78B5AE48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Sentiment, arithmetic, knowledge, taxonomy, negation, time, units, spam, language, physics, code, and triage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55540-5664-40F7-8879-1D6E8538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897F6-31E3-4A46-A37A-200D4415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5A82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2–3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C8690-A566-4181-8ABB-89275CC8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OPTIONS 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A3A5A-A2D8-4AFA-A173-C874C00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same option ids and descriptions go to both scorers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03AFE-3D74-4C0E-AF36-F18C66F9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1BDBD-3BE1-4287-9DDE-3CB18412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B86E00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B86E00"/>
                </a:solidFill>
                <a:latin typeface="Georgia"/>
                <a:ea typeface="Georgia"/>
                <a:cs typeface="Georgia"/>
              </a:rPr>
              <a:t>0.65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F3F8E-FC7C-4FDD-BD53-B02B15A3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PROBABILITY FLOOR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77C5D-CB33-4C20-9F38-9A24E4F1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338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A pick below the floor routes to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574FC-5566-4CEC-9270-F6BD54F6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DE084-EABA-48F4-9860-FEF7F738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B86E00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B86E00"/>
                </a:solidFill>
                <a:latin typeface="Georgia"/>
                <a:ea typeface="Georgia"/>
                <a:cs typeface="Georgia"/>
              </a:rPr>
              <a:t>0.15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3F10D-9D11-4163-8AB4-C14193B1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 FLOOR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B30C7-0E7A-4251-A7BE-2B6A557B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A narrow top-two spread also routes to review</a:t>
            </a:r>
          </a:p>
        </p:txBody>
      </p:sp>
      <p:sp>
        <p:nvSpPr>
          <p:cNvPr id="20" name="LIVE TYPESAFE RUN-panel">
            <a:extLst xmlns:a="http://schemas.openxmlformats.org/drawingml/2006/main">
              <a:ext uri="{FF2B5EF4-FFF2-40B4-BE49-F238E27FC236}">
                <a16:creationId xmlns:a16="http://schemas.microsoft.com/office/drawing/2014/main" id="{B441B04D-3D47-429A-8017-3FD84BB4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57350"/>
            <a:ext cx="26289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21" name="LIVE TYPESAFE RUN-header">
            <a:extLst xmlns:a="http://schemas.openxmlformats.org/drawingml/2006/main">
              <a:ext uri="{FF2B5EF4-FFF2-40B4-BE49-F238E27FC236}">
                <a16:creationId xmlns:a16="http://schemas.microsoft.com/office/drawing/2014/main" id="{247C5A53-A860-4ABB-8837-48DAC7A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5735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8B0AA-15C3-450A-B927-8745D3C5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335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TYPESAFE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5A524-F479-4BA4-BBDD-6EC723C5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RESOLVED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E2CB2-675A-44D6-8A67-1EE7A455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43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jev-1.13.0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04934-3B76-4ED1-ABF0-28632001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384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REQUESTS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1DDF4-F68B-44B5-867D-C51BA891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D1161-A889-4744-99D7-3C7CFA8D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INPUT TOKENS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EBB9D-E2DC-481A-BBF1-FAA6C62C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0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4,326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6988C-D228-4C0B-A4B0-162EE969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053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API CONFIDENCE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BD294-2166-489D-9370-DEBCF23E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 × 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A6311-9FB6-4684-A7D2-C25A4639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1045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TypeSafe confidence is a distribution-derived metric, not the local model's top probability</a:t>
            </a:r>
          </a:p>
        </p:txBody>
      </p:sp>
    </p:spTree>
    <p:extLst>
      <p:ext uri="{BB962C8B-B14F-4D97-AF65-F5344CB8AC3E}">
        <p14:creationId xmlns:p14="http://schemas.microsoft.com/office/powerpoint/2010/main" val="18087555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93E1B4-2D4B-49A2-98A1-973CACD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5B26F169-9767-4B9D-A8F4-5522157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4ED59-1836-4086-A8AE-EA4CB887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01 · LEXICAL SENTIMENT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A0476-EC43-43DC-821F-46422B30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sentiment does the review express?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0225B-0464-4DAD-8EA9-79782E63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90C66-539D-4EC9-AD22-BAF50BBA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6EC1B-B2D2-440A-B755-1DB270C8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DA4D4-DA76-43D0-8E2B-6F1E99C2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{"review":"This is the best meal I have ever eaten. Absolutely wonderful."}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21664D62-192E-420B-90E5-17E58DC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512A6641-C04D-40ED-9F16-E1BBD7A3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EEF46-51E4-4DB0-A393-9CDC72E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03453AE5-6C37-4F44-937A-BA2954A6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F947E1CD-DCEB-406E-B95B-131F2B0A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36C35-3663-479E-9372-919E30D9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E7267-9B79-4726-978F-38F246AE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2F157-CDAD-4AED-87FF-93494C5D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0.9862</a:t>
            </a:r>
          </a:p>
        </p:txBody>
      </p:sp>
      <p:sp>
        <p:nvSpPr>
          <p:cNvPr id="17" name="track-positive">
            <a:extLst xmlns:a="http://schemas.openxmlformats.org/drawingml/2006/main">
              <a:ext uri="{FF2B5EF4-FFF2-40B4-BE49-F238E27FC236}">
                <a16:creationId xmlns:a16="http://schemas.microsoft.com/office/drawing/2014/main" id="{1061BC78-A089-4A18-B5BD-557059D7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positive">
            <a:extLst xmlns:a="http://schemas.openxmlformats.org/drawingml/2006/main">
              <a:ext uri="{FF2B5EF4-FFF2-40B4-BE49-F238E27FC236}">
                <a16:creationId xmlns:a16="http://schemas.microsoft.com/office/drawing/2014/main" id="{9A4F8015-C386-4F5E-A038-994F3723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56504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2F3B0-0833-4E84-A513-16CE071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1562A-0413-43F7-B4EC-F044E5AC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0.0138</a:t>
            </a:r>
          </a:p>
        </p:txBody>
      </p:sp>
      <p:sp>
        <p:nvSpPr>
          <p:cNvPr id="21" name="track-negative">
            <a:extLst xmlns:a="http://schemas.openxmlformats.org/drawingml/2006/main">
              <a:ext uri="{FF2B5EF4-FFF2-40B4-BE49-F238E27FC236}">
                <a16:creationId xmlns:a16="http://schemas.microsoft.com/office/drawing/2014/main" id="{885199C9-4100-473B-A762-9E16C93D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negative">
            <a:extLst xmlns:a="http://schemas.openxmlformats.org/drawingml/2006/main">
              <a:ext uri="{FF2B5EF4-FFF2-40B4-BE49-F238E27FC236}">
                <a16:creationId xmlns:a16="http://schemas.microsoft.com/office/drawing/2014/main" id="{8D46C88B-541D-4DAE-A14C-8489BD86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6410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3ED01-EC58-41C7-B271-0577075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FCB05-FF77-4C0D-8D4A-1961BE5D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positive">
            <a:extLst xmlns:a="http://schemas.openxmlformats.org/drawingml/2006/main">
              <a:ext uri="{FF2B5EF4-FFF2-40B4-BE49-F238E27FC236}">
                <a16:creationId xmlns:a16="http://schemas.microsoft.com/office/drawing/2014/main" id="{2B3B663D-DD50-46E6-96F8-7C43A46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positive">
            <a:extLst xmlns:a="http://schemas.openxmlformats.org/drawingml/2006/main">
              <a:ext uri="{FF2B5EF4-FFF2-40B4-BE49-F238E27FC236}">
                <a16:creationId xmlns:a16="http://schemas.microsoft.com/office/drawing/2014/main" id="{F6D8E236-53B4-4D1E-94C1-D77F3B2D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61AD3-CE9C-480A-AC3C-6BAD61A5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5DA30-DCA2-47BF-8B30-C52F97A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negative">
            <a:extLst xmlns:a="http://schemas.openxmlformats.org/drawingml/2006/main">
              <a:ext uri="{FF2B5EF4-FFF2-40B4-BE49-F238E27FC236}">
                <a16:creationId xmlns:a16="http://schemas.microsoft.com/office/drawing/2014/main" id="{0986C25E-0F5A-4210-A800-95424F02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negative">
            <a:extLst xmlns:a="http://schemas.openxmlformats.org/drawingml/2006/main">
              <a:ext uri="{FF2B5EF4-FFF2-40B4-BE49-F238E27FC236}">
                <a16:creationId xmlns:a16="http://schemas.microsoft.com/office/drawing/2014/main" id="{3784E3F2-2E8A-4F0B-B4AE-D17A722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B0710C-246B-4D68-A50C-DAA1FCE8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27D1E-09C3-450A-B86C-90EEFC07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D164F-B17A-4CE3-96E1-D15E320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3A5C23-1B33-4805-B941-E45C6FA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661503-B3B5-4643-B055-6A907DB5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D36660-8EDF-434F-BE82-37A13B68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0.9862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77873-AE2F-41E4-A0A9-106FCDDE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3DD369-39BA-45AF-BE08-5761E0A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0.9723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C2A5F5-7863-444D-BA9D-B82EE75A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61E5D3-6E7B-45D0-8FE0-E966823A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2E24CC-07A3-43F5-A656-8B6CE9AE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67D885-EE60-43D6-AD2F-6D00D27D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188237-818F-43D9-82E3-A28CF836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B97E87-B2C6-4FBD-AF14-E4A28BC9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9B2102-AC1C-4D6B-BFA1-2CB67E0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D3637B-E931-491A-89A4-D5308D28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873E7A-C68A-4254-9F61-665C38A1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0892C8-67A6-471D-886E-94C23ADA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D2DB70-3CCE-4043-93E7-9066039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positive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7ABFE8-D5AE-43BC-B82E-C5942957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77C834-4BB9-4FD9-A921-1220EF1A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 of 12  ·  id: sentiment_obvious</a:t>
            </a:r>
          </a:p>
        </p:txBody>
      </p:sp>
    </p:spTree>
    <p:extLst>
      <p:ext uri="{BB962C8B-B14F-4D97-AF65-F5344CB8AC3E}">
        <p14:creationId xmlns:p14="http://schemas.microsoft.com/office/powerpoint/2010/main" val="7626476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DE80B2-0F7C-4E9D-835F-AE2BD54C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BC69FF6C-2493-46B5-8027-B7C2B1EE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24D3C-678F-4E6B-95FA-29FBC067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02 · ARITHMETIC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6D99A-F22D-4128-915C-A751FDC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is the value of the expression?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9CBE4-A754-4524-AB5E-98782E4F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C3DB6-344A-4054-9C65-D68F01D2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150A2-E56A-4388-874A-CDEE37F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027E5-D8A8-40E1-9C3D-5111EA9F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{"expression":"2 + 2"}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CAAF22E5-3B5E-4FD9-AE8D-0DC94B7D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74D2FDEC-1F5F-4281-B7B0-3458BBC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EC52A-52A0-4E87-881C-666DA89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2A1D8B5B-7ABA-4548-8B67-062598D5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FFFE1D80-27A6-42EF-90C4-D393D289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DA8A4-52A0-4633-8EE4-52C29B4F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E7C25-D68C-420E-8D18-99ED0A2B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DD86A-C8B6-4814-9E61-02DD9C5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0.3854</a:t>
            </a:r>
          </a:p>
        </p:txBody>
      </p:sp>
      <p:sp>
        <p:nvSpPr>
          <p:cNvPr id="17" name="track-four">
            <a:extLst xmlns:a="http://schemas.openxmlformats.org/drawingml/2006/main">
              <a:ext uri="{FF2B5EF4-FFF2-40B4-BE49-F238E27FC236}">
                <a16:creationId xmlns:a16="http://schemas.microsoft.com/office/drawing/2014/main" id="{B694C824-A1FC-4689-B139-BC6ACE11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four">
            <a:extLst xmlns:a="http://schemas.openxmlformats.org/drawingml/2006/main">
              <a:ext uri="{FF2B5EF4-FFF2-40B4-BE49-F238E27FC236}">
                <a16:creationId xmlns:a16="http://schemas.microsoft.com/office/drawing/2014/main" id="{EBFDE464-0C87-45ED-8583-44C6F63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178405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EE614-5052-4D20-9715-92D2687C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twelve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E30BC-C2FB-4985-B055-C33F91B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0.3121</a:t>
            </a:r>
          </a:p>
        </p:txBody>
      </p:sp>
      <p:sp>
        <p:nvSpPr>
          <p:cNvPr id="21" name="track-twelve">
            <a:extLst xmlns:a="http://schemas.openxmlformats.org/drawingml/2006/main">
              <a:ext uri="{FF2B5EF4-FFF2-40B4-BE49-F238E27FC236}">
                <a16:creationId xmlns:a16="http://schemas.microsoft.com/office/drawing/2014/main" id="{F595D485-27C8-47FA-9BBA-3CA0274A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twelve">
            <a:extLst xmlns:a="http://schemas.openxmlformats.org/drawingml/2006/main">
              <a:ext uri="{FF2B5EF4-FFF2-40B4-BE49-F238E27FC236}">
                <a16:creationId xmlns:a16="http://schemas.microsoft.com/office/drawing/2014/main" id="{73D80C83-DDE2-47BF-ABE1-42A6DFBF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44477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43030-0F1E-46F9-8FAE-5697AB76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seven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83F74-3BA6-4F0D-ACAC-06DEA7F8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0.3025</a:t>
            </a:r>
          </a:p>
        </p:txBody>
      </p:sp>
      <p:sp>
        <p:nvSpPr>
          <p:cNvPr id="25" name="track-seven">
            <a:extLst xmlns:a="http://schemas.openxmlformats.org/drawingml/2006/main">
              <a:ext uri="{FF2B5EF4-FFF2-40B4-BE49-F238E27FC236}">
                <a16:creationId xmlns:a16="http://schemas.microsoft.com/office/drawing/2014/main" id="{FA16B725-DD67-41E5-B07D-F5BB9EF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even">
            <a:extLst xmlns:a="http://schemas.openxmlformats.org/drawingml/2006/main">
              <a:ext uri="{FF2B5EF4-FFF2-40B4-BE49-F238E27FC236}">
                <a16:creationId xmlns:a16="http://schemas.microsoft.com/office/drawing/2014/main" id="{04E87EE4-72D9-4728-9EBF-0787C5EC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4003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F0E50-0E88-4F2A-B06F-DED9107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1B69A-9DCD-4A0E-AC97-7FBBE13C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four">
            <a:extLst xmlns:a="http://schemas.openxmlformats.org/drawingml/2006/main">
              <a:ext uri="{FF2B5EF4-FFF2-40B4-BE49-F238E27FC236}">
                <a16:creationId xmlns:a16="http://schemas.microsoft.com/office/drawing/2014/main" id="{A44A1C93-57D6-4524-9A64-20D0D46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four">
            <a:extLst xmlns:a="http://schemas.openxmlformats.org/drawingml/2006/main">
              <a:ext uri="{FF2B5EF4-FFF2-40B4-BE49-F238E27FC236}">
                <a16:creationId xmlns:a16="http://schemas.microsoft.com/office/drawing/2014/main" id="{8133F185-EA8B-44D3-B3BE-7859247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9F20CA-B868-47DA-8019-EDC9F1E0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twelve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4F19C-AAB3-4876-B598-3AF8D681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twelve">
            <a:extLst xmlns:a="http://schemas.openxmlformats.org/drawingml/2006/main">
              <a:ext uri="{FF2B5EF4-FFF2-40B4-BE49-F238E27FC236}">
                <a16:creationId xmlns:a16="http://schemas.microsoft.com/office/drawing/2014/main" id="{49A6779A-71FF-4BA7-8FF9-BF58B45C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twelve">
            <a:extLst xmlns:a="http://schemas.openxmlformats.org/drawingml/2006/main">
              <a:ext uri="{FF2B5EF4-FFF2-40B4-BE49-F238E27FC236}">
                <a16:creationId xmlns:a16="http://schemas.microsoft.com/office/drawing/2014/main" id="{2888A079-1113-4922-AE22-FEA261CF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A39C9-2128-4CC4-8C52-669511B1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seven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87DE86-FC24-45EF-BB46-42E753F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seven">
            <a:extLst xmlns:a="http://schemas.openxmlformats.org/drawingml/2006/main">
              <a:ext uri="{FF2B5EF4-FFF2-40B4-BE49-F238E27FC236}">
                <a16:creationId xmlns:a16="http://schemas.microsoft.com/office/drawing/2014/main" id="{9F9C0E74-3726-4F76-9B39-17B52FF3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seven">
            <a:extLst xmlns:a="http://schemas.openxmlformats.org/drawingml/2006/main">
              <a:ext uri="{FF2B5EF4-FFF2-40B4-BE49-F238E27FC236}">
                <a16:creationId xmlns:a16="http://schemas.microsoft.com/office/drawing/2014/main" id="{29C30372-990F-4FE1-846E-959EF202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D0B697-95A8-4A4A-8695-839F64CB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3CFF2B-32D7-4C94-9ECE-275231BF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5BC3A3-F167-40C1-A13A-4954871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9FC6E2-079A-4C64-B2CA-22820C49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51C831-9C19-4198-B9A4-86271CEA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8B91A2-FB16-49D9-B49F-4B68D14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0.3854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07BD00-6FE3-40FD-9426-FE129E7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27F7AA-F44C-46D4-8873-857959BE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0.0733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86ACAC-FD3B-4C10-ADA3-1EA456BD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6B9E2B-519F-4FE7-8C09-59C0C344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F3B834-8F75-4C0F-9066-E9B27119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6B5F80-3705-4348-AE81-C829705B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four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CA8983-E8DA-493F-81AC-3E48B464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B5BFEA-1147-4B23-B8F6-444E2738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AFA468-A758-475B-8531-E4EBF4EB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227214-906D-4B42-B592-09A07D81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D1809E-CE7F-49B0-94BA-15A48E11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93C2CC-FD70-4D03-85D7-687141F8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70C649-B6FC-4A89-B542-8A5159C3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four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236286-A73D-4BE6-9528-6E67A8C4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634EBB-2FEE-49C4-AD59-55B49A3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2 of 12  ·  id: arithmetic</a:t>
            </a:r>
          </a:p>
        </p:txBody>
      </p:sp>
    </p:spTree>
    <p:extLst>
      <p:ext uri="{BB962C8B-B14F-4D97-AF65-F5344CB8AC3E}">
        <p14:creationId xmlns:p14="http://schemas.microsoft.com/office/powerpoint/2010/main" val="4514702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94C94F3C-B607-4809-8E18-E9D0442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9DD3B2C7-2CB8-4DE9-8F7F-113FF50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033D8-086F-4E45-8938-A6863790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03 · WORLD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DAFCF-5242-4E94-89F1-7DB2C49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is the capital city of this country?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CA68F-7A6A-468E-9C02-2AAADE9F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EEDF5-D190-4B48-9958-A9C58AC2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C1B02-DBE9-44C3-B7EC-D8542762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1E589-18B4-4C06-BC4C-168A040D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{"country":"France"}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1C3AC291-09F9-44B1-A89D-BCEE4BA0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9BF7FB9B-732E-4DAD-99A2-4C2EA472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95A88-BA41-42CC-A072-FEB76749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A92E4977-97C5-49CB-B41E-83950904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87430A96-1FBF-45D0-9C8F-F88A0C73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C84D7-91FD-460E-85CC-6880DA34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6CC98-9E6B-4AE8-92C7-4AB92435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F21A5-0698-44A6-A24B-8EB3BB12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0.4442</a:t>
            </a:r>
          </a:p>
        </p:txBody>
      </p:sp>
      <p:sp>
        <p:nvSpPr>
          <p:cNvPr id="17" name="track-paris">
            <a:extLst xmlns:a="http://schemas.openxmlformats.org/drawingml/2006/main">
              <a:ext uri="{FF2B5EF4-FFF2-40B4-BE49-F238E27FC236}">
                <a16:creationId xmlns:a16="http://schemas.microsoft.com/office/drawing/2014/main" id="{8BA8AD6F-C396-456E-817A-701FAEB1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paris">
            <a:extLst xmlns:a="http://schemas.openxmlformats.org/drawingml/2006/main">
              <a:ext uri="{FF2B5EF4-FFF2-40B4-BE49-F238E27FC236}">
                <a16:creationId xmlns:a16="http://schemas.microsoft.com/office/drawing/2014/main" id="{C732B917-89D7-4C15-9314-4C0B530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0562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A1422-DC43-4793-B621-9DEE33E1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tokyo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EBF6B-B8C1-4E14-A8C7-287A988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0.3001</a:t>
            </a:r>
          </a:p>
        </p:txBody>
      </p:sp>
      <p:sp>
        <p:nvSpPr>
          <p:cNvPr id="21" name="track-tokyo">
            <a:extLst xmlns:a="http://schemas.openxmlformats.org/drawingml/2006/main">
              <a:ext uri="{FF2B5EF4-FFF2-40B4-BE49-F238E27FC236}">
                <a16:creationId xmlns:a16="http://schemas.microsoft.com/office/drawing/2014/main" id="{12ED6729-522A-4DAB-9A26-E4D4D9EA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tokyo">
            <a:extLst xmlns:a="http://schemas.openxmlformats.org/drawingml/2006/main">
              <a:ext uri="{FF2B5EF4-FFF2-40B4-BE49-F238E27FC236}">
                <a16:creationId xmlns:a16="http://schemas.microsoft.com/office/drawing/2014/main" id="{CF441603-86D1-410B-9272-669E5B8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38926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9B027-7D5B-4FFB-B2E4-7878D000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berlin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1A8BC-93A8-459F-86E0-5459D5A3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0.2557</a:t>
            </a:r>
          </a:p>
        </p:txBody>
      </p:sp>
      <p:sp>
        <p:nvSpPr>
          <p:cNvPr id="25" name="track-berlin">
            <a:extLst xmlns:a="http://schemas.openxmlformats.org/drawingml/2006/main">
              <a:ext uri="{FF2B5EF4-FFF2-40B4-BE49-F238E27FC236}">
                <a16:creationId xmlns:a16="http://schemas.microsoft.com/office/drawing/2014/main" id="{584BA607-8079-4642-A51C-4E7BA409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berlin">
            <a:extLst xmlns:a="http://schemas.openxmlformats.org/drawingml/2006/main">
              <a:ext uri="{FF2B5EF4-FFF2-40B4-BE49-F238E27FC236}">
                <a16:creationId xmlns:a16="http://schemas.microsoft.com/office/drawing/2014/main" id="{F4B41B1D-F5CE-4583-B07A-717FADB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1836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07C6C-FFED-41F2-B0F2-99EFA0D5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0C7FD-9720-4237-AC4A-A24CED7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paris">
            <a:extLst xmlns:a="http://schemas.openxmlformats.org/drawingml/2006/main">
              <a:ext uri="{FF2B5EF4-FFF2-40B4-BE49-F238E27FC236}">
                <a16:creationId xmlns:a16="http://schemas.microsoft.com/office/drawing/2014/main" id="{693A1968-D420-4629-B6A4-E2EA390C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paris">
            <a:extLst xmlns:a="http://schemas.openxmlformats.org/drawingml/2006/main">
              <a:ext uri="{FF2B5EF4-FFF2-40B4-BE49-F238E27FC236}">
                <a16:creationId xmlns:a16="http://schemas.microsoft.com/office/drawing/2014/main" id="{3EA32F21-FDAA-4D5D-8D34-F3808E2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D2C82-3A5A-4A44-881C-68A782E7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tokyo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90D39-03BC-491E-91F7-6EA8CB7B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tokyo">
            <a:extLst xmlns:a="http://schemas.openxmlformats.org/drawingml/2006/main">
              <a:ext uri="{FF2B5EF4-FFF2-40B4-BE49-F238E27FC236}">
                <a16:creationId xmlns:a16="http://schemas.microsoft.com/office/drawing/2014/main" id="{AE3F9AB5-B320-4D92-A198-3CF74802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tokyo">
            <a:extLst xmlns:a="http://schemas.openxmlformats.org/drawingml/2006/main">
              <a:ext uri="{FF2B5EF4-FFF2-40B4-BE49-F238E27FC236}">
                <a16:creationId xmlns:a16="http://schemas.microsoft.com/office/drawing/2014/main" id="{F16B75AC-910E-4C43-8953-C0BCA948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48468B-8923-47DD-8C13-5C66E856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berlin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DD840A-5CBD-4C8D-BBAB-F37272F7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berlin">
            <a:extLst xmlns:a="http://schemas.openxmlformats.org/drawingml/2006/main">
              <a:ext uri="{FF2B5EF4-FFF2-40B4-BE49-F238E27FC236}">
                <a16:creationId xmlns:a16="http://schemas.microsoft.com/office/drawing/2014/main" id="{4B35BAB5-6D29-4D12-A153-15683C67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berlin">
            <a:extLst xmlns:a="http://schemas.openxmlformats.org/drawingml/2006/main">
              <a:ext uri="{FF2B5EF4-FFF2-40B4-BE49-F238E27FC236}">
                <a16:creationId xmlns:a16="http://schemas.microsoft.com/office/drawing/2014/main" id="{9BC625F0-1FFD-427A-9F2B-9FDA1976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0E57DF-2DD8-46CE-8591-C65C1BA5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3D9361-C529-4BDD-B757-8DFC82E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750B64-1631-4EA8-BA6E-E38EAF7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20BF68-646F-4509-9BA3-FBEF01BE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563C85-AC05-41D3-84F5-750FB7C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EC99FE-725C-4219-9841-ED6EFD5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0.4442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C218EB-9EA8-4352-8E61-B0B6C07F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2A7F63-0D73-4C8E-9776-E40AB9F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0.1441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EB7C77-4955-46AC-A2B6-184774C2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9DF3BF-8F2A-4863-9442-9260123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E335CC-561A-4083-9F48-B22A79EB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23CAB0-494A-4B8D-917E-2146FFD0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paris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7B94EE-892E-4CBE-85AD-3186070B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659EE4-6E1B-441F-8B5E-615C9D5F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B747A6-806C-434E-B222-93CA8D6E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440272-60A0-4B0E-B715-D20772AC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190304-744D-4D17-98E3-4233C8E8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7FEBBC-67B6-4CAB-AFEB-9DB7CFD0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3E0BFF-A44E-4EF9-937F-753338D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paris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F0D3E2-BE65-410D-98E3-CEA50CB6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04CF6E-342A-46A4-8D02-89923F17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3 of 12  ·  id: geography_capital</a:t>
            </a:r>
          </a:p>
        </p:txBody>
      </p:sp>
    </p:spTree>
    <p:extLst>
      <p:ext uri="{BB962C8B-B14F-4D97-AF65-F5344CB8AC3E}">
        <p14:creationId xmlns:p14="http://schemas.microsoft.com/office/powerpoint/2010/main" val="14133170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C7CFF05E-EF81-4EDC-8845-C9C94BD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AD95C4C-5BC1-4FEE-8171-F4CD335E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37308-66FB-4567-9627-51603BA0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04 · TAXONOMY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2A36D-7BC4-4268-8F3D-5F8C5C55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kind of animal is described?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00CEF-D54F-415A-9E4D-355BDC89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085E1-A4DC-4480-811E-05528A8E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89E83-8F9B-4E36-93B2-080A3BDA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7AD3F-C0D5-4F29-8358-3E19F825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{"animal":"a dog with four legs that barks and wags its tail"}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A20B59D2-0BCC-4AF4-9457-D60F4A9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318C327C-0726-493D-9A18-9A28F52F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757F7-E27C-4220-95EA-218DCA7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FE9223F7-CFB2-4DFB-BC74-60E5BB0E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6EA7F14D-4CBE-41F0-B3EF-A706FC0B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BB529-2BE9-40C6-909A-0AA2E8E4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CA3D3-4036-4A7C-9A3A-A91DD6E5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CF19D-F48F-4707-9CF2-4EB631E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0.6424</a:t>
            </a:r>
          </a:p>
        </p:txBody>
      </p:sp>
      <p:sp>
        <p:nvSpPr>
          <p:cNvPr id="17" name="track-mammal">
            <a:extLst xmlns:a="http://schemas.openxmlformats.org/drawingml/2006/main">
              <a:ext uri="{FF2B5EF4-FFF2-40B4-BE49-F238E27FC236}">
                <a16:creationId xmlns:a16="http://schemas.microsoft.com/office/drawing/2014/main" id="{E8829CEE-CB05-4F38-85BC-2C74DD13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mammal">
            <a:extLst xmlns:a="http://schemas.openxmlformats.org/drawingml/2006/main">
              <a:ext uri="{FF2B5EF4-FFF2-40B4-BE49-F238E27FC236}">
                <a16:creationId xmlns:a16="http://schemas.microsoft.com/office/drawing/2014/main" id="{8B6E9ACD-AB94-499D-8DAB-C8E5BD1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97374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F0AAD-6C4D-4C47-A6AE-5380ACF8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A13E7-DE39-410C-9692-E2F49703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0.2086</a:t>
            </a:r>
          </a:p>
        </p:txBody>
      </p:sp>
      <p:sp>
        <p:nvSpPr>
          <p:cNvPr id="21" name="track-fish">
            <a:extLst xmlns:a="http://schemas.openxmlformats.org/drawingml/2006/main">
              <a:ext uri="{FF2B5EF4-FFF2-40B4-BE49-F238E27FC236}">
                <a16:creationId xmlns:a16="http://schemas.microsoft.com/office/drawing/2014/main" id="{417D3A28-E55F-4226-BFA9-3EC63EA7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fish">
            <a:extLst xmlns:a="http://schemas.openxmlformats.org/drawingml/2006/main">
              <a:ext uri="{FF2B5EF4-FFF2-40B4-BE49-F238E27FC236}">
                <a16:creationId xmlns:a16="http://schemas.microsoft.com/office/drawing/2014/main" id="{56176AED-C229-44F6-8F54-41582E2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96543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2CB38-74C3-4DA2-B85A-C1B2D1ED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insect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A56E4-F901-4B3F-817F-1715611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0.1490</a:t>
            </a:r>
          </a:p>
        </p:txBody>
      </p:sp>
      <p:sp>
        <p:nvSpPr>
          <p:cNvPr id="25" name="track-insect">
            <a:extLst xmlns:a="http://schemas.openxmlformats.org/drawingml/2006/main">
              <a:ext uri="{FF2B5EF4-FFF2-40B4-BE49-F238E27FC236}">
                <a16:creationId xmlns:a16="http://schemas.microsoft.com/office/drawing/2014/main" id="{AE89F61B-23E8-4B64-A588-0A48CF3B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insect">
            <a:extLst xmlns:a="http://schemas.openxmlformats.org/drawingml/2006/main">
              <a:ext uri="{FF2B5EF4-FFF2-40B4-BE49-F238E27FC236}">
                <a16:creationId xmlns:a16="http://schemas.microsoft.com/office/drawing/2014/main" id="{C1767E66-00DC-490C-A387-CAC4F03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68996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CEB23-A855-4562-ABFA-34C477C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E2302-1CC3-40A7-9C9E-F7FA91DD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mammal">
            <a:extLst xmlns:a="http://schemas.openxmlformats.org/drawingml/2006/main">
              <a:ext uri="{FF2B5EF4-FFF2-40B4-BE49-F238E27FC236}">
                <a16:creationId xmlns:a16="http://schemas.microsoft.com/office/drawing/2014/main" id="{EF0DBF23-88FB-4ED3-A0BD-16E23A74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mammal">
            <a:extLst xmlns:a="http://schemas.openxmlformats.org/drawingml/2006/main">
              <a:ext uri="{FF2B5EF4-FFF2-40B4-BE49-F238E27FC236}">
                <a16:creationId xmlns:a16="http://schemas.microsoft.com/office/drawing/2014/main" id="{B793D70D-BD87-44C5-BE7B-FC1AD100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52450-2220-45B3-A7D8-F9C1834F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fish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BC40A6-D47A-4B77-B5DB-1A756942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fish">
            <a:extLst xmlns:a="http://schemas.openxmlformats.org/drawingml/2006/main">
              <a:ext uri="{FF2B5EF4-FFF2-40B4-BE49-F238E27FC236}">
                <a16:creationId xmlns:a16="http://schemas.microsoft.com/office/drawing/2014/main" id="{EA194E73-3BC4-402D-8CF5-E38EC61C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fish">
            <a:extLst xmlns:a="http://schemas.openxmlformats.org/drawingml/2006/main">
              <a:ext uri="{FF2B5EF4-FFF2-40B4-BE49-F238E27FC236}">
                <a16:creationId xmlns:a16="http://schemas.microsoft.com/office/drawing/2014/main" id="{273213EA-E79E-4F24-BF03-7C37D06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75A2F2-B927-4F89-B6C1-787DB3F6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insect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9BA740-9024-4F6C-9426-C23B617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insect">
            <a:extLst xmlns:a="http://schemas.openxmlformats.org/drawingml/2006/main">
              <a:ext uri="{FF2B5EF4-FFF2-40B4-BE49-F238E27FC236}">
                <a16:creationId xmlns:a16="http://schemas.microsoft.com/office/drawing/2014/main" id="{E6F3A91A-C593-4B0A-8F44-675D8EC6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insect">
            <a:extLst xmlns:a="http://schemas.openxmlformats.org/drawingml/2006/main">
              <a:ext uri="{FF2B5EF4-FFF2-40B4-BE49-F238E27FC236}">
                <a16:creationId xmlns:a16="http://schemas.microsoft.com/office/drawing/2014/main" id="{2413972D-D388-4F1B-8AE1-82399833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E261EB-D179-4781-9B18-2FBE62CE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D947A2-DACB-499E-9DC9-B26CFD5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9D0710-7E4D-4417-87EA-7CC977EF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AFEC66-6A36-4AC0-BCF7-C9DFA0A4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810456-DAB2-43C9-B6CA-745B21DB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BE4596-60F6-4754-A580-583C0BA2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0.6424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A64634-119F-4FEC-B252-CA3B9789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BB3748-AB64-4051-84E3-F1216F5B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0.4338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E6C9B9-9188-40FD-915D-A91FCC32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1B96EB-FA1A-44E8-B43E-5DEEEB87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E68087-459D-49F3-9B28-557F426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DADA5C-A658-42CB-BB17-C4FF3BE9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mammal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57D81E-0BF4-47F5-9143-C145E3C3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4F59BF-E2C5-47A4-92C0-3E8ADC5D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F83C27-3789-4D44-8B3D-D24933B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C73522-03F9-4156-84E6-868DA34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9BE8A2-670C-4593-B08A-91841186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AD79D6-BB0D-4D5F-B9DE-3A3600C7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E38780-9D60-4B00-AB6A-0A419369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mammal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AFDB21-2048-4159-8242-4D2C8B3B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B95426-C4F9-45C6-9810-0AC50DBC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4 of 12  ·  id: animal_taxonomy</a:t>
            </a:r>
          </a:p>
        </p:txBody>
      </p:sp>
    </p:spTree>
    <p:extLst>
      <p:ext uri="{BB962C8B-B14F-4D97-AF65-F5344CB8AC3E}">
        <p14:creationId xmlns:p14="http://schemas.microsoft.com/office/powerpoint/2010/main" val="14784284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CFA4B6D9-BF2C-48F5-8651-725E4195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52635611-DB8C-47F0-914F-F5C5B27B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9E0D4-EC30-49FB-872A-9D40FDF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05 · NEGATION HANDLING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D69B1-2B1B-416E-AFCD-92BD0770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is the current state of the server?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B1338-C3CB-4EB5-86E6-A0978CE1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47FB1-F4C2-4D2A-AC17-E2D3FE92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A11C6-97A3-43C6-9DA6-9A9A74A0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A79F4-3B12-448B-852B-0D5662E9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{"statement":"The server is not running and has been completely shut down."}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1BD62073-9111-4722-88FF-96C2C00E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075B246E-C0CC-4AFF-9922-17A8057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3323C-2D80-4D7B-B7D5-09311EE3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20E78A8B-02BC-4DBA-BB99-42B45C4A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533C691E-9665-4738-91CA-52F3CC9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1EFA6-5691-4A55-89BA-A4041DE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F3286-E4BE-40D5-9F72-BD98CCE9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5B09-CB45-4E66-81BC-50135D25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0.7969</a:t>
            </a:r>
          </a:p>
        </p:txBody>
      </p:sp>
      <p:sp>
        <p:nvSpPr>
          <p:cNvPr id="17" name="track-stopped">
            <a:extLst xmlns:a="http://schemas.openxmlformats.org/drawingml/2006/main">
              <a:ext uri="{FF2B5EF4-FFF2-40B4-BE49-F238E27FC236}">
                <a16:creationId xmlns:a16="http://schemas.microsoft.com/office/drawing/2014/main" id="{9C831731-A85D-45E5-9F45-B721120F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stopped">
            <a:extLst xmlns:a="http://schemas.openxmlformats.org/drawingml/2006/main">
              <a:ext uri="{FF2B5EF4-FFF2-40B4-BE49-F238E27FC236}">
                <a16:creationId xmlns:a16="http://schemas.microsoft.com/office/drawing/2014/main" id="{D0BD3FCA-369A-4A54-93E8-C27286D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6890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54BBE-17B8-4166-BB33-741519DB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running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72516-18F2-422A-84D3-06CFFF4A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0.2031</a:t>
            </a:r>
          </a:p>
        </p:txBody>
      </p:sp>
      <p:sp>
        <p:nvSpPr>
          <p:cNvPr id="21" name="track-running">
            <a:extLst xmlns:a="http://schemas.openxmlformats.org/drawingml/2006/main">
              <a:ext uri="{FF2B5EF4-FFF2-40B4-BE49-F238E27FC236}">
                <a16:creationId xmlns:a16="http://schemas.microsoft.com/office/drawing/2014/main" id="{D5C3EF8E-3242-4DF4-8A11-6D6CD3C1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running">
            <a:extLst xmlns:a="http://schemas.openxmlformats.org/drawingml/2006/main">
              <a:ext uri="{FF2B5EF4-FFF2-40B4-BE49-F238E27FC236}">
                <a16:creationId xmlns:a16="http://schemas.microsoft.com/office/drawing/2014/main" id="{F62E631D-6981-415F-B7B2-D079036C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94006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18FF0-1746-4E1D-B2A7-B2ED784F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EB3B9-C0BE-4BE0-8410-CF96240E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stopped">
            <a:extLst xmlns:a="http://schemas.openxmlformats.org/drawingml/2006/main">
              <a:ext uri="{FF2B5EF4-FFF2-40B4-BE49-F238E27FC236}">
                <a16:creationId xmlns:a16="http://schemas.microsoft.com/office/drawing/2014/main" id="{91D6A851-9342-4B8C-8B97-06BC28B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topped">
            <a:extLst xmlns:a="http://schemas.openxmlformats.org/drawingml/2006/main">
              <a:ext uri="{FF2B5EF4-FFF2-40B4-BE49-F238E27FC236}">
                <a16:creationId xmlns:a16="http://schemas.microsoft.com/office/drawing/2014/main" id="{92FC746B-D205-4C8E-82C3-B569334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1E4C4-91E7-46DE-82C3-67C20338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running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B43C18-01B6-4A7B-AB26-C7E0966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running">
            <a:extLst xmlns:a="http://schemas.openxmlformats.org/drawingml/2006/main">
              <a:ext uri="{FF2B5EF4-FFF2-40B4-BE49-F238E27FC236}">
                <a16:creationId xmlns:a16="http://schemas.microsoft.com/office/drawing/2014/main" id="{23731B33-FB31-49FB-8489-6166665C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running">
            <a:extLst xmlns:a="http://schemas.openxmlformats.org/drawingml/2006/main">
              <a:ext uri="{FF2B5EF4-FFF2-40B4-BE49-F238E27FC236}">
                <a16:creationId xmlns:a16="http://schemas.microsoft.com/office/drawing/2014/main" id="{8AFA22E0-8AEA-4E5E-8A87-B6AAEA6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68881-8641-4939-82EE-31321DD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7BABE-2E38-4599-900F-9B8AC513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255F5-9015-4205-957F-1464CFAC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C1F8C7-4914-4841-8899-ACAD438C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7E9BAC-7BC7-4AB1-ADC1-379664E7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E1D069-19A1-472E-893D-CDCB0EC7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0.7969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9BC10B-35A7-44E5-88F6-2C46B67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93845C-7924-4FAD-A884-95948828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0.5939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417F06-1A3A-4843-8C53-B79984A1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F48E88-561B-4652-8D88-43AF2C1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0CCE96-1694-4CED-B309-8114C471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64C5BB-001C-4BE7-BE0B-46768F2C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stopped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8DFE90-B315-49FB-8E9A-8C607AB2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8F356F-BE84-4840-B105-6C27E2C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513DF2-6B0C-448E-AF43-5D5D14C1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E3139B-CA1C-4630-9D7E-0013AC1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014F93-6D8E-417F-9B50-AB90923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26B81E-699C-4DE7-8BBA-841C7713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22141D-72C6-4F3F-9983-9DA62427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stopped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C5CF8B-DCBE-49BB-8E1B-1B1AD504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F30E5F-C3A4-45CB-9AA9-4851FE3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5 of 12  ·  id: explicit_negation</a:t>
            </a:r>
          </a:p>
        </p:txBody>
      </p:sp>
    </p:spTree>
    <p:extLst>
      <p:ext uri="{BB962C8B-B14F-4D97-AF65-F5344CB8AC3E}">
        <p14:creationId xmlns:p14="http://schemas.microsoft.com/office/powerpoint/2010/main" val="17553543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9DC5CC-33D7-4375-A24C-6A76C95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CD98E13A-1F38-4D4E-8DB9-5675D51C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43CE8-5BD8-490B-893B-A8B6D9C4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06 · TEMPORAL ORDERING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542A9-0688-4C9C-88C6-8E78DDE6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Which event happened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093A0-F532-46BA-976E-3EDBD014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82E8B-E426-4F4C-A9E6-9747212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F020A-9292-45D3-ADC1-24971093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33F8C-B608-4E36-94D8-8B196F2E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{"events":"The package was ordered on Monday and delivered on Friday of the same week."}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28E13F80-110C-46BB-B2DD-9C14C29D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E8B4C9B6-5BA1-41AF-A84B-E0A7B5F8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C1F23-24F0-4AA0-950C-2DB0C1FC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A0D6813C-79EF-43D6-8E5D-D32D7C76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55F95C9A-E18B-4CDA-ABBA-D38BD9E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F2AD9-736D-4FBC-B7E9-989AF8AB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AE993-8015-4FEA-82A0-98C67993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D1C0F-0211-40F9-BE9B-AE6CCC23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0.7870</a:t>
            </a:r>
          </a:p>
        </p:txBody>
      </p:sp>
      <p:sp>
        <p:nvSpPr>
          <p:cNvPr id="17" name="track-ordering">
            <a:extLst xmlns:a="http://schemas.openxmlformats.org/drawingml/2006/main">
              <a:ext uri="{FF2B5EF4-FFF2-40B4-BE49-F238E27FC236}">
                <a16:creationId xmlns:a16="http://schemas.microsoft.com/office/drawing/2014/main" id="{356F79A3-1B11-4B91-8FA3-41728C95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ordering">
            <a:extLst xmlns:a="http://schemas.openxmlformats.org/drawingml/2006/main">
              <a:ext uri="{FF2B5EF4-FFF2-40B4-BE49-F238E27FC236}">
                <a16:creationId xmlns:a16="http://schemas.microsoft.com/office/drawing/2014/main" id="{CD4A863C-246E-47AE-84FE-C51FD017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6429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D0C18-1AB3-4C56-8394-E597C9DA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D8C19-F998-4A11-BFFA-296D3288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0.2130</a:t>
            </a:r>
          </a:p>
        </p:txBody>
      </p:sp>
      <p:sp>
        <p:nvSpPr>
          <p:cNvPr id="21" name="track-delivery">
            <a:extLst xmlns:a="http://schemas.openxmlformats.org/drawingml/2006/main">
              <a:ext uri="{FF2B5EF4-FFF2-40B4-BE49-F238E27FC236}">
                <a16:creationId xmlns:a16="http://schemas.microsoft.com/office/drawing/2014/main" id="{C4D9FC15-9DB2-46AB-8F1E-30FA1848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delivery">
            <a:extLst xmlns:a="http://schemas.openxmlformats.org/drawingml/2006/main">
              <a:ext uri="{FF2B5EF4-FFF2-40B4-BE49-F238E27FC236}">
                <a16:creationId xmlns:a16="http://schemas.microsoft.com/office/drawing/2014/main" id="{0E89719E-1449-4F1A-A421-08FAD3C8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9862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AA563-9168-44E6-BCB1-25FA20EB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DC111-1A0D-470B-BEA5-7BF07195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ordering">
            <a:extLst xmlns:a="http://schemas.openxmlformats.org/drawingml/2006/main">
              <a:ext uri="{FF2B5EF4-FFF2-40B4-BE49-F238E27FC236}">
                <a16:creationId xmlns:a16="http://schemas.microsoft.com/office/drawing/2014/main" id="{06CCFF1F-6E0D-47FB-A57C-27AC70C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ordering">
            <a:extLst xmlns:a="http://schemas.openxmlformats.org/drawingml/2006/main">
              <a:ext uri="{FF2B5EF4-FFF2-40B4-BE49-F238E27FC236}">
                <a16:creationId xmlns:a16="http://schemas.microsoft.com/office/drawing/2014/main" id="{EFCED161-8C06-43E8-9688-A870EC46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1D1E1-03E7-4493-8D64-83FCA9E8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delivery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BE8E8-4751-4F2E-82BD-6E70B264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delivery">
            <a:extLst xmlns:a="http://schemas.openxmlformats.org/drawingml/2006/main">
              <a:ext uri="{FF2B5EF4-FFF2-40B4-BE49-F238E27FC236}">
                <a16:creationId xmlns:a16="http://schemas.microsoft.com/office/drawing/2014/main" id="{E812E8FD-DFCF-4A35-8F59-836509E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delivery">
            <a:extLst xmlns:a="http://schemas.openxmlformats.org/drawingml/2006/main">
              <a:ext uri="{FF2B5EF4-FFF2-40B4-BE49-F238E27FC236}">
                <a16:creationId xmlns:a16="http://schemas.microsoft.com/office/drawing/2014/main" id="{3DB23A4A-BF62-4038-900F-32533D3B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9AE65-3DEF-4021-9E80-0B0AE1F3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B8CE4-C2CA-40AB-8618-857A9EE6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94BF2-AAD1-4977-BD57-D65305FF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9AB930-2B9C-4135-BAC4-3AE4B8D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9CDE66-360D-412A-9A39-E1C7EA3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49CC1-0753-4537-91F6-DC83F517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0.7870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8CC725-2C91-4DCC-8CD9-1A29584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FE41CA-5AB7-4083-BFE5-8573B66E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0.5739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BF19FF-FE9C-400F-B0DB-17AF7A67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C68FC6-04FC-42FE-A67C-F6706D02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2FB8F7-BE50-48D6-9935-767C7D5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0D2B80-BD14-4AC8-8118-EF33584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ordering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552660-C4DE-4BF5-A6FA-EB90688E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3E223F-0778-4FDE-901C-116335D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CDBBE5-0255-4CCA-82C8-70DFB5C5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E50C50-AA34-4FE0-B508-B40D74AF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50EBF0-6311-4CB6-8EB9-E50B20E4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5E7728-4E25-4080-AF7F-484C05A4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9B576D-844A-442C-942C-993306C0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ordering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2F8C12-AC09-49A3-8CD6-EF06DA16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E13568-BFA8-4549-8B6C-143DC7C0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6 of 12  ·  id: temporal_order</a:t>
            </a:r>
          </a:p>
        </p:txBody>
      </p:sp>
    </p:spTree>
    <p:extLst>
      <p:ext uri="{BB962C8B-B14F-4D97-AF65-F5344CB8AC3E}">
        <p14:creationId xmlns:p14="http://schemas.microsoft.com/office/powerpoint/2010/main" val="1279117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F7CBB2-4FCB-43CF-9213-B24247C8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837984FD-B56C-47DA-B1A3-A4077B0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0703F-60CD-43E1-A6A6-83AADBB5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07 · UNIT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14F2E-3703-4333-A420-968194E0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Which distance is larger?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98A44-249B-408B-AC7D-D63BC1EB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4D33A-97BE-4413-89BC-3C32D703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95DCD-84A9-4C07-B1B6-57273565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36EED-1F50-480B-81E2-D2603987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{"comparison":"one kilometre versus one centimetre"}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63CFF6E4-34CD-4B94-872B-DE2DC213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F81171CA-0AA4-4B67-9D7D-F223944B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17D9B-325D-4F6C-B824-23EE8B50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7064C4AA-E2E6-4A8B-A6F2-89D14A6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0D0CA12C-222D-49A8-9070-042B15EC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EFE8D-9105-4BA9-84A8-50DDF0F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05AC4-6445-4B97-8DDA-F312F0E7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54BE8-2EFA-469B-835D-83F6384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0.6142</a:t>
            </a:r>
          </a:p>
        </p:txBody>
      </p:sp>
      <p:sp>
        <p:nvSpPr>
          <p:cNvPr id="17" name="track-kilometre">
            <a:extLst xmlns:a="http://schemas.openxmlformats.org/drawingml/2006/main">
              <a:ext uri="{FF2B5EF4-FFF2-40B4-BE49-F238E27FC236}">
                <a16:creationId xmlns:a16="http://schemas.microsoft.com/office/drawing/2014/main" id="{4056E15B-4A3D-47F6-9F57-FFFDF19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kilometre">
            <a:extLst xmlns:a="http://schemas.openxmlformats.org/drawingml/2006/main">
              <a:ext uri="{FF2B5EF4-FFF2-40B4-BE49-F238E27FC236}">
                <a16:creationId xmlns:a16="http://schemas.microsoft.com/office/drawing/2014/main" id="{EA3B375B-452B-4315-8FD7-E323BC59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8430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0BF70-2429-4DEA-973F-0515610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centimetre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83DB0-78FA-43FF-8DD8-91B672BF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0.3858</a:t>
            </a:r>
          </a:p>
        </p:txBody>
      </p:sp>
      <p:sp>
        <p:nvSpPr>
          <p:cNvPr id="21" name="track-centimetre">
            <a:extLst xmlns:a="http://schemas.openxmlformats.org/drawingml/2006/main">
              <a:ext uri="{FF2B5EF4-FFF2-40B4-BE49-F238E27FC236}">
                <a16:creationId xmlns:a16="http://schemas.microsoft.com/office/drawing/2014/main" id="{0FCD5EED-F93B-4AFE-B3F1-6300C6C9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centimetre">
            <a:extLst xmlns:a="http://schemas.openxmlformats.org/drawingml/2006/main">
              <a:ext uri="{FF2B5EF4-FFF2-40B4-BE49-F238E27FC236}">
                <a16:creationId xmlns:a16="http://schemas.microsoft.com/office/drawing/2014/main" id="{C5E2C26E-208B-4456-9A4E-0753107A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78609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F6FDF-FE0B-4C6D-9CE3-0A8DFAC9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01CB3-D0D6-4398-9F1A-F48976EA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kilometre">
            <a:extLst xmlns:a="http://schemas.openxmlformats.org/drawingml/2006/main">
              <a:ext uri="{FF2B5EF4-FFF2-40B4-BE49-F238E27FC236}">
                <a16:creationId xmlns:a16="http://schemas.microsoft.com/office/drawing/2014/main" id="{5FACDB72-8C10-4DD1-84B8-F2094D9D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kilometre">
            <a:extLst xmlns:a="http://schemas.openxmlformats.org/drawingml/2006/main">
              <a:ext uri="{FF2B5EF4-FFF2-40B4-BE49-F238E27FC236}">
                <a16:creationId xmlns:a16="http://schemas.microsoft.com/office/drawing/2014/main" id="{EBDAAB42-5A05-4CD9-83D9-155D204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E554C-1D32-4004-AFF1-7A175ED1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centimetre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FFD83-98A7-453B-A78E-36666AD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centimetre">
            <a:extLst xmlns:a="http://schemas.openxmlformats.org/drawingml/2006/main">
              <a:ext uri="{FF2B5EF4-FFF2-40B4-BE49-F238E27FC236}">
                <a16:creationId xmlns:a16="http://schemas.microsoft.com/office/drawing/2014/main" id="{A7F9C2B9-044A-45FB-A868-B96AB902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centimetre">
            <a:extLst xmlns:a="http://schemas.openxmlformats.org/drawingml/2006/main">
              <a:ext uri="{FF2B5EF4-FFF2-40B4-BE49-F238E27FC236}">
                <a16:creationId xmlns:a16="http://schemas.microsoft.com/office/drawing/2014/main" id="{1916FEB8-0FD9-4FD2-BCAD-C095A098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2AF26D-B240-49FB-A0F8-B8EA5F3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077AE-73BE-4C47-815F-7CBB01C5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42E0D-CC70-4003-953C-C6114149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A52A6-56C2-433E-998E-AD02B4FA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D90BE6-CB3A-497D-A10D-EB906403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38D2DB-4797-4707-9857-047D7B2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0.6142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7BB8AE-ECCB-44F0-AA2A-9ACDCADF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3EFDB9-0A4B-4764-AC5B-96B1C85A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0.2283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837804-4264-4E34-B2DD-24ADC210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12B3F6-B250-4F53-9A4A-AAAED59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AD73E7-8F27-49C5-B20E-3A1D6CB9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D9887C-CFFB-4AB8-8EAA-85495ADB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kilometre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D59214-BA95-424A-8B74-81A663FA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66E3EF-A736-4C13-BB81-20B72BD8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F5620D-2E59-40B2-9A5F-DCA67398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29904C-6108-4AD9-A51B-8EB5D1B6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4ED5FD-D296-4A9E-8275-20B464BB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D5C7FE-FD8E-4684-9322-08F8024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8F2C69-16CE-4D24-9A51-5F3FC05A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kilometre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A5BAF0-B773-42F0-A801-445F0E2B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25993F-09EF-4239-B7DD-80743AC1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7 of 12  ·  id: unit_magnitude</a:t>
            </a:r>
          </a:p>
        </p:txBody>
      </p:sp>
    </p:spTree>
    <p:extLst>
      <p:ext uri="{BB962C8B-B14F-4D97-AF65-F5344CB8AC3E}">
        <p14:creationId xmlns:p14="http://schemas.microsoft.com/office/powerpoint/2010/main" val="13870885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37F60B-4D38-43D7-94C2-E77328BE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B0F4A468-6980-40DE-9473-D99C2344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394BF-3B78-4086-AFFA-3DE8E1E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08 · INTENT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95298-BAD2-4341-9D34-F6F3D05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How should this email be classified?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13626-C3E9-40CA-8341-9C25E70F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F6618-0993-4626-9CA6-2C7CCEAF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D31FF-B175-4AE7-9432-ABAFD446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E7951-2129-4434-839A-C4F83C96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{"email":"CONGRATULATIONS!!! You have WON $10,000,000. Send your bank details and a $500 fee to claim now!!!"}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4F12D415-B969-4751-BEEF-DCD2DC35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C27CF0B2-9CED-4BE2-93C9-1999456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722D5-97A1-45A4-A604-B8EE5456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9B5DB297-AA77-4EC4-9FB9-1509B217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84A7C2BD-8B1B-4CDD-B247-0283F5D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8AC6C-90BF-4C6C-9B7A-BFD324C9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CF5EC-EEC4-4F5F-BE38-2651B53C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00092-066F-46D2-8E23-89F1977B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0.7420</a:t>
            </a:r>
          </a:p>
        </p:txBody>
      </p:sp>
      <p:sp>
        <p:nvSpPr>
          <p:cNvPr id="17" name="track-spam">
            <a:extLst xmlns:a="http://schemas.openxmlformats.org/drawingml/2006/main">
              <a:ext uri="{FF2B5EF4-FFF2-40B4-BE49-F238E27FC236}">
                <a16:creationId xmlns:a16="http://schemas.microsoft.com/office/drawing/2014/main" id="{636600B7-5E4D-4ED4-AAF9-9B154FCC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spam">
            <a:extLst xmlns:a="http://schemas.openxmlformats.org/drawingml/2006/main">
              <a:ext uri="{FF2B5EF4-FFF2-40B4-BE49-F238E27FC236}">
                <a16:creationId xmlns:a16="http://schemas.microsoft.com/office/drawing/2014/main" id="{FCF738AE-6B35-46AE-93F8-F4B50D4E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43505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AEDF6-8DCD-43C8-8249-8FEE504E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legitimate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B1791-8AF1-48EA-8DBD-BC541BF7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0.2580</a:t>
            </a:r>
          </a:p>
        </p:txBody>
      </p:sp>
      <p:sp>
        <p:nvSpPr>
          <p:cNvPr id="21" name="track-legitimate">
            <a:extLst xmlns:a="http://schemas.openxmlformats.org/drawingml/2006/main">
              <a:ext uri="{FF2B5EF4-FFF2-40B4-BE49-F238E27FC236}">
                <a16:creationId xmlns:a16="http://schemas.microsoft.com/office/drawing/2014/main" id="{F648FAB0-F020-44C0-963A-74197C9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legitimate">
            <a:extLst xmlns:a="http://schemas.openxmlformats.org/drawingml/2006/main">
              <a:ext uri="{FF2B5EF4-FFF2-40B4-BE49-F238E27FC236}">
                <a16:creationId xmlns:a16="http://schemas.microsoft.com/office/drawing/2014/main" id="{5C5C065D-1507-4402-BF96-13DC9616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19409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0927F-2583-4EDC-B42A-32316705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19850-475B-4CAC-84F9-4ACE0C1C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spam">
            <a:extLst xmlns:a="http://schemas.openxmlformats.org/drawingml/2006/main">
              <a:ext uri="{FF2B5EF4-FFF2-40B4-BE49-F238E27FC236}">
                <a16:creationId xmlns:a16="http://schemas.microsoft.com/office/drawing/2014/main" id="{BF531238-A2F2-4804-8452-0A953BE5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pam">
            <a:extLst xmlns:a="http://schemas.openxmlformats.org/drawingml/2006/main">
              <a:ext uri="{FF2B5EF4-FFF2-40B4-BE49-F238E27FC236}">
                <a16:creationId xmlns:a16="http://schemas.microsoft.com/office/drawing/2014/main" id="{F9EDE705-D398-4716-A914-7625E84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B2002-5CCB-443C-AAEF-D3E4E8BD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legitimate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7ABAE-4C62-4C28-8EEE-C35F7237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legitimate">
            <a:extLst xmlns:a="http://schemas.openxmlformats.org/drawingml/2006/main">
              <a:ext uri="{FF2B5EF4-FFF2-40B4-BE49-F238E27FC236}">
                <a16:creationId xmlns:a16="http://schemas.microsoft.com/office/drawing/2014/main" id="{A8AD2437-0652-4738-80AF-FFDD0ED9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legitimate">
            <a:extLst xmlns:a="http://schemas.openxmlformats.org/drawingml/2006/main">
              <a:ext uri="{FF2B5EF4-FFF2-40B4-BE49-F238E27FC236}">
                <a16:creationId xmlns:a16="http://schemas.microsoft.com/office/drawing/2014/main" id="{14E346B2-9957-4957-855A-9B4AACE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FFF35-CC20-412B-BE0D-D01BF48B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50932D-5FF8-483F-A640-ABF3865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146FB5-5350-4D9B-88BC-B47E361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818CCA-92C1-424C-B12E-8EB4E1F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696C5B-D9BE-4B6B-86F4-11FF1F6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A5A969-A2FA-487E-9826-764A1167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0.7420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744C49-6BFD-4DEE-ACDB-E3974C28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2D987-02A3-4437-8973-0C450C28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0.4841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5FD716-8951-4AAB-A98D-FD005236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3C73E9-FA8E-42C6-BC58-70C6F2E8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2ACBC8-AE6D-4169-8BA5-86B93711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BF8CD7-FAE8-4F02-A1B7-F6B964F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spam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4670C8-4FA9-4C8E-B6CB-9BFEEEA2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49C05D-D3CE-4EFE-A7A6-F8DC9E8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7BBA40-914C-4871-8A7F-B7523127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D5EEAE-EBE5-4EBC-9E95-C18870D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472BE7-2E45-4848-86E9-4E38068F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D15C26-D6F7-4C80-B7ED-6BFE718C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FEAD8E-DDC5-446F-A701-27E090B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spam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DE72B1-3BE8-485A-85BA-EC0D593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F4137D-4A7A-4FB1-B64A-DE3462C3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8 of 12  ·  id: spam_intent</a:t>
            </a:r>
          </a:p>
        </p:txBody>
      </p:sp>
    </p:spTree>
    <p:extLst>
      <p:ext uri="{BB962C8B-B14F-4D97-AF65-F5344CB8AC3E}">
        <p14:creationId xmlns:p14="http://schemas.microsoft.com/office/powerpoint/2010/main" val="18078623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FC278E7F-913A-4FAE-A764-E2125C54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B3AD0569-D92A-4EC1-899F-843783CB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C487F-833D-415A-AD55-39538D4C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09 · LANGUAGE IDENTIFICATION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2C5C4-26BE-480A-ABAB-605AF75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In which language is the text written?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469CA-8C03-47D9-9120-ED659933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8528-DA2B-4D2C-9FC3-90FBA619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7A4EA-C820-42D8-993F-16651489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C0602-FC09-4FB8-85BF-0E647E83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{"text":"Bonjour, je m'appelle Marie et j'habite a Paris."}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397775F8-C618-4340-9171-B10094A3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BE5965C1-4282-4BB4-80C7-D19D0426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2014F-B262-4EA9-A06C-653CECF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6C241B66-ED51-4B63-A195-1FDF994D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5B06DE2A-1AA6-4FDD-B901-6C134E8F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83F1D-696D-4327-9958-F155AE2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2516F-1134-4C08-8A9A-C01C78A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67A49-33D5-4960-BB45-26BF1F7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0.5975</a:t>
            </a:r>
          </a:p>
        </p:txBody>
      </p:sp>
      <p:sp>
        <p:nvSpPr>
          <p:cNvPr id="17" name="track-french">
            <a:extLst xmlns:a="http://schemas.openxmlformats.org/drawingml/2006/main">
              <a:ext uri="{FF2B5EF4-FFF2-40B4-BE49-F238E27FC236}">
                <a16:creationId xmlns:a16="http://schemas.microsoft.com/office/drawing/2014/main" id="{4524D086-65CE-4B6C-A601-99970544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french">
            <a:extLst xmlns:a="http://schemas.openxmlformats.org/drawingml/2006/main">
              <a:ext uri="{FF2B5EF4-FFF2-40B4-BE49-F238E27FC236}">
                <a16:creationId xmlns:a16="http://schemas.microsoft.com/office/drawing/2014/main" id="{EF0BCFA3-BB67-44C9-A1B7-6CAB5CC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7659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DA946-0DAA-4850-A516-51014EFA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D5EC8-E4A4-428D-8449-176667E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0.2336</a:t>
            </a:r>
          </a:p>
        </p:txBody>
      </p:sp>
      <p:sp>
        <p:nvSpPr>
          <p:cNvPr id="21" name="track-german">
            <a:extLst xmlns:a="http://schemas.openxmlformats.org/drawingml/2006/main">
              <a:ext uri="{FF2B5EF4-FFF2-40B4-BE49-F238E27FC236}">
                <a16:creationId xmlns:a16="http://schemas.microsoft.com/office/drawing/2014/main" id="{1F1CB11D-E2ED-48CC-868B-019AE50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german">
            <a:extLst xmlns:a="http://schemas.openxmlformats.org/drawingml/2006/main">
              <a:ext uri="{FF2B5EF4-FFF2-40B4-BE49-F238E27FC236}">
                <a16:creationId xmlns:a16="http://schemas.microsoft.com/office/drawing/2014/main" id="{4968E67A-5CB9-4BC1-8D4F-291FEB5A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0815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02A3E-48ED-4BCD-8E6B-63BE370C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japanese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20712-BA4E-40E9-9EB0-8B7FE62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0.1689</a:t>
            </a:r>
          </a:p>
        </p:txBody>
      </p:sp>
      <p:sp>
        <p:nvSpPr>
          <p:cNvPr id="25" name="track-japanese">
            <a:extLst xmlns:a="http://schemas.openxmlformats.org/drawingml/2006/main">
              <a:ext uri="{FF2B5EF4-FFF2-40B4-BE49-F238E27FC236}">
                <a16:creationId xmlns:a16="http://schemas.microsoft.com/office/drawing/2014/main" id="{53AB5DCF-217D-4306-8005-C0175CC1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japanese">
            <a:extLst xmlns:a="http://schemas.openxmlformats.org/drawingml/2006/main">
              <a:ext uri="{FF2B5EF4-FFF2-40B4-BE49-F238E27FC236}">
                <a16:creationId xmlns:a16="http://schemas.microsoft.com/office/drawing/2014/main" id="{1479455E-6437-43F6-9E07-C0734DD8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78168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838AB-F862-46A4-900E-867587B9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55C69-1DA6-4114-B91D-754EE695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french">
            <a:extLst xmlns:a="http://schemas.openxmlformats.org/drawingml/2006/main">
              <a:ext uri="{FF2B5EF4-FFF2-40B4-BE49-F238E27FC236}">
                <a16:creationId xmlns:a16="http://schemas.microsoft.com/office/drawing/2014/main" id="{B0BC1E5B-7FFB-45DA-8BBD-97F11509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french">
            <a:extLst xmlns:a="http://schemas.openxmlformats.org/drawingml/2006/main">
              <a:ext uri="{FF2B5EF4-FFF2-40B4-BE49-F238E27FC236}">
                <a16:creationId xmlns:a16="http://schemas.microsoft.com/office/drawing/2014/main" id="{BD26E6FB-FC49-4809-8B36-A1B1F26F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41466-6D6A-488F-8B9C-945899F9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japanese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26B30-D933-4E37-8A55-42951B72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japanese">
            <a:extLst xmlns:a="http://schemas.openxmlformats.org/drawingml/2006/main">
              <a:ext uri="{FF2B5EF4-FFF2-40B4-BE49-F238E27FC236}">
                <a16:creationId xmlns:a16="http://schemas.microsoft.com/office/drawing/2014/main" id="{5ADC6F10-9BF1-480B-B8EC-791C1BAB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japanese">
            <a:extLst xmlns:a="http://schemas.openxmlformats.org/drawingml/2006/main">
              <a:ext uri="{FF2B5EF4-FFF2-40B4-BE49-F238E27FC236}">
                <a16:creationId xmlns:a16="http://schemas.microsoft.com/office/drawing/2014/main" id="{B13FBBB9-A2AC-4665-A1A3-09BE2F4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84264D-0385-444B-96D1-F4419393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B93E23-BF90-4211-B77A-18C0E8F3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german">
            <a:extLst xmlns:a="http://schemas.openxmlformats.org/drawingml/2006/main">
              <a:ext uri="{FF2B5EF4-FFF2-40B4-BE49-F238E27FC236}">
                <a16:creationId xmlns:a16="http://schemas.microsoft.com/office/drawing/2014/main" id="{49AE13D5-3AB6-470E-9DC5-3A19B7BD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german">
            <a:extLst xmlns:a="http://schemas.openxmlformats.org/drawingml/2006/main">
              <a:ext uri="{FF2B5EF4-FFF2-40B4-BE49-F238E27FC236}">
                <a16:creationId xmlns:a16="http://schemas.microsoft.com/office/drawing/2014/main" id="{831E8FAE-8118-429D-A560-B6A0288D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16A31-59D6-4689-B467-EDD7CB4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9424E-0D16-4807-B2E2-418F0DB9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22AAD3-7D9B-4A26-B6AE-0A81F32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00D7E7-28B0-4DE4-9E46-CFD47E92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D868A4-427A-453B-B5E4-8637A35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0779DE-C7F1-45C1-9E26-DC14599E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0.5975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8AD14A-877E-405F-BF01-AB0E8F3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EF0B76-A099-40E7-A6F1-4CF2BDA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0.3639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0168CD-E5E8-4C38-907F-0C335FC5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012E94-B54D-4FDB-836D-47D1FD6A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7FF1CB-13FA-4153-8274-E6164E10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C3B6C4-2677-4DC9-B0A3-280478D2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DC5813-2A6B-4EF9-8351-4510D1B4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6ED3C2-43E6-4DAB-82AB-DB6D462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4288CA-C7C4-480E-9EE9-8A1494CE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3615D4-FF97-403B-9977-B21D2DC3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942409-9B23-427F-91F5-2D13E0E2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2648C0-72A9-491E-835E-3DCACD00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2A9CBC-8633-4736-8FC0-DA3FC428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french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1880D3-468C-4EB3-BB09-41D9FEF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AFBE68-B756-4151-B9C7-8940047D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9 of 12  ·  id: language_id</a:t>
            </a:r>
          </a:p>
        </p:txBody>
      </p:sp>
    </p:spTree>
    <p:extLst>
      <p:ext uri="{BB962C8B-B14F-4D97-AF65-F5344CB8AC3E}">
        <p14:creationId xmlns:p14="http://schemas.microsoft.com/office/powerpoint/2010/main" val="14721630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28A683C4-6616-4AC2-B1E6-93008724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FBCBB6E4-7F2C-4825-BF16-AA123676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5E572-2161-4CF4-9CF1-86A63044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10 · PHYSICAL REASONING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C37DD-74DB-4A17-A5A1-59D5C642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will the object do in water?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047CE-3722-4D25-A8AD-A8160139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12577-C0BA-48B3-9AE8-E5C52B3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AF1F4-FECC-4F77-AE73-94167130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37763-6375-4FDF-AB54-5BB86A19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{"object":"a solid block of iron dropped into a bathtub of water"}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81025420-A28B-46DD-BF3A-84E156CA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0782BDAF-74EF-4A57-83D9-675978A7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9F8E3-5BB3-44F3-A7D7-1DE8A7C6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190282E1-E860-4B8B-876B-F99405D1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3910F1B4-6E44-4585-B7B8-E58DBA4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796E8-191E-4471-AFDD-D80615F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8383A-DA2D-4204-AD56-E03CF6FC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87BBF-4DA8-45B6-A060-7943044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0.5293</a:t>
            </a:r>
          </a:p>
        </p:txBody>
      </p:sp>
      <p:sp>
        <p:nvSpPr>
          <p:cNvPr id="17" name="track-sink">
            <a:extLst xmlns:a="http://schemas.openxmlformats.org/drawingml/2006/main">
              <a:ext uri="{FF2B5EF4-FFF2-40B4-BE49-F238E27FC236}">
                <a16:creationId xmlns:a16="http://schemas.microsoft.com/office/drawing/2014/main" id="{BBEE2A12-E9F8-496A-B035-DF7C154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sink">
            <a:extLst xmlns:a="http://schemas.openxmlformats.org/drawingml/2006/main">
              <a:ext uri="{FF2B5EF4-FFF2-40B4-BE49-F238E27FC236}">
                <a16:creationId xmlns:a16="http://schemas.microsoft.com/office/drawing/2014/main" id="{D79D17A2-FE2E-45FB-956D-F2CDF0AD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4500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216F2-516A-4F54-9477-E5FC951A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float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E59F5-96BA-4707-9F97-ADB44965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0.4707</a:t>
            </a:r>
          </a:p>
        </p:txBody>
      </p:sp>
      <p:sp>
        <p:nvSpPr>
          <p:cNvPr id="21" name="track-float">
            <a:extLst xmlns:a="http://schemas.openxmlformats.org/drawingml/2006/main">
              <a:ext uri="{FF2B5EF4-FFF2-40B4-BE49-F238E27FC236}">
                <a16:creationId xmlns:a16="http://schemas.microsoft.com/office/drawing/2014/main" id="{AE4828FE-E6D5-4CC3-96BC-9384CA13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float">
            <a:extLst xmlns:a="http://schemas.openxmlformats.org/drawingml/2006/main">
              <a:ext uri="{FF2B5EF4-FFF2-40B4-BE49-F238E27FC236}">
                <a16:creationId xmlns:a16="http://schemas.microsoft.com/office/drawing/2014/main" id="{82191F1F-4E2A-4F76-AC45-11119BE3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217911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8F355-4FF5-4FB0-9E38-DC1E8BFD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7EC27-DC48-4ED6-8B82-54A41A7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sink">
            <a:extLst xmlns:a="http://schemas.openxmlformats.org/drawingml/2006/main">
              <a:ext uri="{FF2B5EF4-FFF2-40B4-BE49-F238E27FC236}">
                <a16:creationId xmlns:a16="http://schemas.microsoft.com/office/drawing/2014/main" id="{88DDBBAC-017D-4DBB-B622-1333F30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ink">
            <a:extLst xmlns:a="http://schemas.openxmlformats.org/drawingml/2006/main">
              <a:ext uri="{FF2B5EF4-FFF2-40B4-BE49-F238E27FC236}">
                <a16:creationId xmlns:a16="http://schemas.microsoft.com/office/drawing/2014/main" id="{F6E768C3-56E5-403D-9A81-360037BE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ED81D-94F3-4F8E-AF0A-CBD51EBB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float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91271-C284-4B88-B573-B3E8B2C6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float">
            <a:extLst xmlns:a="http://schemas.openxmlformats.org/drawingml/2006/main">
              <a:ext uri="{FF2B5EF4-FFF2-40B4-BE49-F238E27FC236}">
                <a16:creationId xmlns:a16="http://schemas.microsoft.com/office/drawing/2014/main" id="{BE4F4DF2-D739-484A-96A1-E0B30F4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float">
            <a:extLst xmlns:a="http://schemas.openxmlformats.org/drawingml/2006/main">
              <a:ext uri="{FF2B5EF4-FFF2-40B4-BE49-F238E27FC236}">
                <a16:creationId xmlns:a16="http://schemas.microsoft.com/office/drawing/2014/main" id="{E2920042-D39A-42A8-9121-311992E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A7BC95-5719-400A-A935-9365C382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EE0F3-CDD7-49E7-BBC9-53A6DACC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DE5EA2-F117-4257-B2A4-DF49103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E124CB-9983-48B9-A672-D9D4040B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E6DA25-82AF-4185-B8EA-ED226F5A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153226-C7E1-407D-A199-1E5719E0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0.5293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AC4254-F10C-4AFB-9818-FF8F99AF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4AEA29-A0F8-4219-B0AF-5BCD965A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0.0585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E182BC-D2EE-457D-ABF5-172450B4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FC05A5-3263-4154-BA05-234BBA1F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6B7815-859A-4822-B94D-77AEE7F0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BA66FA-66C9-40A1-946E-7D4E9EA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sink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658C32-56A3-4F12-86BE-B20A0040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9A294B-38A7-41A5-A072-B8DF051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661A40-BA53-4A3D-BC6A-33E4DBAF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EA5C14-0FBD-4C89-9A92-23D86D5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D7FAB8-BC2D-4AB9-96EE-3DF7367A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878669-B08A-4F99-82BD-C2E272D8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90A081-A673-4C11-93DA-AA9AA556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sink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BC8973-1A52-4FC7-8D31-60D4322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47674E-E35E-43DA-90B2-C1C10251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10 of 12  ·  id: physical_property</a:t>
            </a:r>
          </a:p>
        </p:txBody>
      </p:sp>
    </p:spTree>
    <p:extLst>
      <p:ext uri="{BB962C8B-B14F-4D97-AF65-F5344CB8AC3E}">
        <p14:creationId xmlns:p14="http://schemas.microsoft.com/office/powerpoint/2010/main" val="60147564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ackground">
            <a:extLst xmlns:a="http://schemas.openxmlformats.org/drawingml/2006/main">
              <a:ext uri="{FF2B5EF4-FFF2-40B4-BE49-F238E27FC236}">
                <a16:creationId xmlns:a16="http://schemas.microsoft.com/office/drawing/2014/main" id="{F9F5C687-BCF2-49AD-B9D9-0F09941A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FE7D33D-6550-4F7E-998F-A905A0F3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99B18-0CD2-4F10-BEBA-3259B2AD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11 · CODE RECOGNITION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767EB-948F-4209-B4DE-26BF72FB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334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Which programming language is this snippet written in?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E2C44-6FB2-47FA-9D6B-211E389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98246-0C4E-4A94-B641-0D5930E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8AEB5-5368-4DA5-B348-9EAA6A55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DBB79-9B7A-4B05-B753-C6B0D250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{"snippet":"def greet(name):     print(f'Hello, {name}')"}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114D6BA4-1632-4C38-AF2E-0A3C85B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C5D9B427-2976-48A8-8249-4567172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E081C-54F4-4CFE-8E08-014DC12B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14E80CD4-4326-4510-A79C-4408B3B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1DE7ECF7-E4C7-4655-BB27-0D40760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5C06C-4C56-4AEC-9233-518E60FC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98E6D-C0D1-433C-A92D-B3A9CEE3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846E3-B4D3-4E66-8114-1E3E97DE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0.5412</a:t>
            </a:r>
          </a:p>
        </p:txBody>
      </p:sp>
      <p:sp>
        <p:nvSpPr>
          <p:cNvPr id="17" name="track-python">
            <a:extLst xmlns:a="http://schemas.openxmlformats.org/drawingml/2006/main">
              <a:ext uri="{FF2B5EF4-FFF2-40B4-BE49-F238E27FC236}">
                <a16:creationId xmlns:a16="http://schemas.microsoft.com/office/drawing/2014/main" id="{074B46DB-F6F4-4E0F-BFB8-2E20B63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python">
            <a:extLst xmlns:a="http://schemas.openxmlformats.org/drawingml/2006/main">
              <a:ext uri="{FF2B5EF4-FFF2-40B4-BE49-F238E27FC236}">
                <a16:creationId xmlns:a16="http://schemas.microsoft.com/office/drawing/2014/main" id="{1E81C3EB-52A8-42E8-81F9-1551584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250517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F636F-28E8-46FA-8178-960EE1E6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478BA-BA43-45FA-9B67-2A4447BF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0.2852</a:t>
            </a:r>
          </a:p>
        </p:txBody>
      </p:sp>
      <p:sp>
        <p:nvSpPr>
          <p:cNvPr id="21" name="track-java">
            <a:extLst xmlns:a="http://schemas.openxmlformats.org/drawingml/2006/main">
              <a:ext uri="{FF2B5EF4-FFF2-40B4-BE49-F238E27FC236}">
                <a16:creationId xmlns:a16="http://schemas.microsoft.com/office/drawing/2014/main" id="{BDDA7E2D-1BF7-45C4-A533-8C855A7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java">
            <a:extLst xmlns:a="http://schemas.openxmlformats.org/drawingml/2006/main">
              <a:ext uri="{FF2B5EF4-FFF2-40B4-BE49-F238E27FC236}">
                <a16:creationId xmlns:a16="http://schemas.microsoft.com/office/drawing/2014/main" id="{0752FD36-8587-4B49-8B09-1CCE225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32013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6416E-8A3B-442F-A872-05EEF5CE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C20C6-2804-4F7F-AB6A-CB0ADCD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0.1736</a:t>
            </a:r>
          </a:p>
        </p:txBody>
      </p:sp>
      <p:sp>
        <p:nvSpPr>
          <p:cNvPr id="25" name="track-sql">
            <a:extLst xmlns:a="http://schemas.openxmlformats.org/drawingml/2006/main">
              <a:ext uri="{FF2B5EF4-FFF2-40B4-BE49-F238E27FC236}">
                <a16:creationId xmlns:a16="http://schemas.microsoft.com/office/drawing/2014/main" id="{43F5B80D-DCD2-42E9-AD81-2480076E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sql">
            <a:extLst xmlns:a="http://schemas.openxmlformats.org/drawingml/2006/main">
              <a:ext uri="{FF2B5EF4-FFF2-40B4-BE49-F238E27FC236}">
                <a16:creationId xmlns:a16="http://schemas.microsoft.com/office/drawing/2014/main" id="{A0BF2AE3-55A7-4E3B-848B-647828CC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8038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952E5-B34E-4666-8A3C-652404CF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1BE59-446F-4782-8C8A-E040B6E4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9" name="track-python">
            <a:extLst xmlns:a="http://schemas.openxmlformats.org/drawingml/2006/main">
              <a:ext uri="{FF2B5EF4-FFF2-40B4-BE49-F238E27FC236}">
                <a16:creationId xmlns:a16="http://schemas.microsoft.com/office/drawing/2014/main" id="{778CA736-91DD-4A31-AE23-3B26A50A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python">
            <a:extLst xmlns:a="http://schemas.openxmlformats.org/drawingml/2006/main">
              <a:ext uri="{FF2B5EF4-FFF2-40B4-BE49-F238E27FC236}">
                <a16:creationId xmlns:a16="http://schemas.microsoft.com/office/drawing/2014/main" id="{DCB5D08B-6D1F-41EF-9287-10F4751F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27B01-DF8F-401B-9BCC-1D5056D9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24A6A-5EC0-4677-A2D6-2EBB9651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3623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3" name="track-java">
            <a:extLst xmlns:a="http://schemas.openxmlformats.org/drawingml/2006/main">
              <a:ext uri="{FF2B5EF4-FFF2-40B4-BE49-F238E27FC236}">
                <a16:creationId xmlns:a16="http://schemas.microsoft.com/office/drawing/2014/main" id="{C02A18DA-97D6-4416-A334-0413C944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4" name="bar-java">
            <a:extLst xmlns:a="http://schemas.openxmlformats.org/drawingml/2006/main">
              <a:ext uri="{FF2B5EF4-FFF2-40B4-BE49-F238E27FC236}">
                <a16:creationId xmlns:a16="http://schemas.microsoft.com/office/drawing/2014/main" id="{88038C7A-EC84-48EA-A655-B2979439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AF67A-BD0F-4D0C-90EC-476F3322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7DA06C-7190-446B-9685-B13F4945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40290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37" name="track-sql">
            <a:extLst xmlns:a="http://schemas.openxmlformats.org/drawingml/2006/main">
              <a:ext uri="{FF2B5EF4-FFF2-40B4-BE49-F238E27FC236}">
                <a16:creationId xmlns:a16="http://schemas.microsoft.com/office/drawing/2014/main" id="{A44B5559-87B7-4C37-80D5-B9E11EEE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bar-sql">
            <a:extLst xmlns:a="http://schemas.openxmlformats.org/drawingml/2006/main">
              <a:ext uri="{FF2B5EF4-FFF2-40B4-BE49-F238E27FC236}">
                <a16:creationId xmlns:a16="http://schemas.microsoft.com/office/drawing/2014/main" id="{3ECA0971-EE61-4EAC-B81D-3EA75DFF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982D8E-7878-4FCB-A3DA-319CA8D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503FAC-ACD4-4931-8A0D-FF43D2F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A109D4-1398-4EAA-870A-0A0A1ABB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5FDC65-8A72-4CFA-9F44-659139E4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5481DE-6206-404A-B1AF-A1837EB2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ED5A82-692B-41E6-A6DB-D00A13D1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0.5412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7D3EC4-9278-46EA-B71A-4DFBB0F5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C7101A-5364-4E9A-BAC6-02C688D1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0.2560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CE9E90-9E1B-4564-B8A9-48EE33F2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915408-0FB3-4BAF-B247-FB7AA67A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750488-5C1D-4FDD-9AF6-B11A0460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689B95-76E1-4432-82BD-F41A6D14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361AA8-A315-4B21-973E-0CDD1AA7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0F49DE-4C37-4302-80C8-C5DF9C31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05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07115A-FC43-439E-881D-707AABC9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0EE401-2290-478F-BA65-F9D01836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86BFD-7405-4F93-B965-6D017C59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67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BFF26D-7193-4103-B351-D0BA60DB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0C496C-5792-4D08-B704-B669A342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python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38F17E-F361-434B-92CA-3D17B35A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F5F803-D322-451B-AEB7-97998887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11 of 12  ·  id: code_language</a:t>
            </a:r>
          </a:p>
        </p:txBody>
      </p:sp>
    </p:spTree>
    <p:extLst>
      <p:ext uri="{BB962C8B-B14F-4D97-AF65-F5344CB8AC3E}">
        <p14:creationId xmlns:p14="http://schemas.microsoft.com/office/powerpoint/2010/main" val="18818050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F38314-7646-4289-BC74-0D8D0942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11C97D22-1AB0-4B5C-A6FE-7FFB7EB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B4AC5-B60B-437E-A7E1-50B5EE0D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12 · SEVERITY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E6F71-A305-4C52-A0AA-4948313A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What priority should this ticket receive?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23508-2822-4439-AF15-2919C75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7200"/>
            <a:ext cx="16764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9EF3A-31E5-40B8-ADAF-00506788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E02C6-D243-4DB7-B9E3-D21153DF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5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28027-B177-47ED-8A4A-47403EEB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1015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STATE  {"ticket":"Production database is completely down. All customers are unable to log in. Revenue impact ongoing."}</a:t>
            </a:r>
          </a:p>
        </p:txBody>
      </p:sp>
      <p:sp>
        <p:nvSpPr>
          <p:cNvPr id="9" name="MODERNBERT NLI-panel">
            <a:extLst xmlns:a="http://schemas.openxmlformats.org/drawingml/2006/main">
              <a:ext uri="{FF2B5EF4-FFF2-40B4-BE49-F238E27FC236}">
                <a16:creationId xmlns:a16="http://schemas.microsoft.com/office/drawing/2014/main" id="{B29F7C7B-FB10-47BD-8845-3E1A0E43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0" name="MODERNBERT NLI-header">
            <a:extLst xmlns:a="http://schemas.openxmlformats.org/drawingml/2006/main">
              <a:ext uri="{FF2B5EF4-FFF2-40B4-BE49-F238E27FC236}">
                <a16:creationId xmlns:a16="http://schemas.microsoft.com/office/drawing/2014/main" id="{45DFF090-049F-4C8A-A821-D380B66A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2CEEB-3A30-40B7-864E-088CEA91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 NLI</a:t>
            </a:r>
          </a:p>
        </p:txBody>
      </p:sp>
      <p:sp>
        <p:nvSpPr>
          <p:cNvPr id="12" name="TYPESAFE JEV-panel">
            <a:extLst xmlns:a="http://schemas.openxmlformats.org/drawingml/2006/main">
              <a:ext uri="{FF2B5EF4-FFF2-40B4-BE49-F238E27FC236}">
                <a16:creationId xmlns:a16="http://schemas.microsoft.com/office/drawing/2014/main" id="{FFF1BEBA-7361-43A4-A2A3-7C024588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13" name="TYPESAFE JEV-header">
            <a:extLst xmlns:a="http://schemas.openxmlformats.org/drawingml/2006/main">
              <a:ext uri="{FF2B5EF4-FFF2-40B4-BE49-F238E27FC236}">
                <a16:creationId xmlns:a16="http://schemas.microsoft.com/office/drawing/2014/main" id="{FF2812A5-2E1E-427D-9670-800CBE36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964CE-EA56-4648-B311-1869D51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TYPESAFE JEV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D2579-5A03-40FA-9871-BF64A89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CC949-EF6D-4D40-9827-2F3FBF75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0.7106</a:t>
            </a:r>
          </a:p>
        </p:txBody>
      </p:sp>
      <p:sp>
        <p:nvSpPr>
          <p:cNvPr id="17" name="track-critical">
            <a:extLst xmlns:a="http://schemas.openxmlformats.org/drawingml/2006/main">
              <a:ext uri="{FF2B5EF4-FFF2-40B4-BE49-F238E27FC236}">
                <a16:creationId xmlns:a16="http://schemas.microsoft.com/office/drawing/2014/main" id="{17AD9AC9-2475-4AD5-9F31-D64F0C61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8" name="bar-critical">
            <a:extLst xmlns:a="http://schemas.openxmlformats.org/drawingml/2006/main">
              <a:ext uri="{FF2B5EF4-FFF2-40B4-BE49-F238E27FC236}">
                <a16:creationId xmlns:a16="http://schemas.microsoft.com/office/drawing/2014/main" id="{4DF31B09-454B-4FFF-A730-F9405FC0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328960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60954-085C-45DF-9D07-9563FD05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3572-E2BF-4C33-AA88-418C706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0.2894</a:t>
            </a:r>
          </a:p>
        </p:txBody>
      </p:sp>
      <p:sp>
        <p:nvSpPr>
          <p:cNvPr id="21" name="track-low">
            <a:extLst xmlns:a="http://schemas.openxmlformats.org/drawingml/2006/main">
              <a:ext uri="{FF2B5EF4-FFF2-40B4-BE49-F238E27FC236}">
                <a16:creationId xmlns:a16="http://schemas.microsoft.com/office/drawing/2014/main" id="{67406103-2CAF-4789-97B4-47B1F2E8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2" name="bar-low">
            <a:extLst xmlns:a="http://schemas.openxmlformats.org/drawingml/2006/main">
              <a:ext uri="{FF2B5EF4-FFF2-40B4-BE49-F238E27FC236}">
                <a16:creationId xmlns:a16="http://schemas.microsoft.com/office/drawing/2014/main" id="{E8E55F98-4357-4B8F-A7E8-5F984AB8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33954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7C394-663D-4C85-93D0-5D90CDE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F5831-4F57-432F-ACB1-5C4E4E21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269557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25" name="track-critical">
            <a:extLst xmlns:a="http://schemas.openxmlformats.org/drawingml/2006/main">
              <a:ext uri="{FF2B5EF4-FFF2-40B4-BE49-F238E27FC236}">
                <a16:creationId xmlns:a16="http://schemas.microsoft.com/office/drawing/2014/main" id="{405487E0-138E-4407-AAA7-405947A9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6" name="bar-critical">
            <a:extLst xmlns:a="http://schemas.openxmlformats.org/drawingml/2006/main">
              <a:ext uri="{FF2B5EF4-FFF2-40B4-BE49-F238E27FC236}">
                <a16:creationId xmlns:a16="http://schemas.microsoft.com/office/drawing/2014/main" id="{6836F33B-495E-4066-8BE6-16141B76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4ADB5-FBB5-4338-BBC6-3D23096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7774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704E3-65D4-40F5-B30A-73F776D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39" y="3476625"/>
            <a:ext cx="157391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0.0000</a:t>
            </a:r>
          </a:p>
        </p:txBody>
      </p:sp>
      <p:sp>
        <p:nvSpPr>
          <p:cNvPr id="29" name="track-low">
            <a:extLst xmlns:a="http://schemas.openxmlformats.org/drawingml/2006/main">
              <a:ext uri="{FF2B5EF4-FFF2-40B4-BE49-F238E27FC236}">
                <a16:creationId xmlns:a16="http://schemas.microsoft.com/office/drawing/2014/main" id="{383939D9-14EF-46D0-AA99-CEE6203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462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0" name="bar-low">
            <a:extLst xmlns:a="http://schemas.openxmlformats.org/drawingml/2006/main">
              <a:ext uri="{FF2B5EF4-FFF2-40B4-BE49-F238E27FC236}">
                <a16:creationId xmlns:a16="http://schemas.microsoft.com/office/drawing/2014/main" id="{50B27347-83B5-4273-8DE6-5A4B6102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>
              <a:alpha val="43922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0A1B42-AC72-4C25-AF7F-C3F4526E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7019A6-3506-45E2-8F0E-ECF236D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C7CF08-CCA8-46C0-BB5B-EAB6A61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C4930C-0C2D-4200-923C-7DCDA644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6D330F-6AB4-401E-BFCB-320AD59D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A26C9F-ADB2-46CB-942B-97A6C667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0.7106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F3DD7F-004B-42D4-9370-B2349DCD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3AB30-39EF-4AB2-9835-F9CE628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0.4213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6FE2AD-2374-4450-AA38-C3F8BE01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421411-2CB1-4A09-B24B-01C05447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03A063-C4D5-44B1-B5A8-9A5FE4D9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PICKED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0EC254-1217-4C21-BA60-5034D011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73DF0F-3C76-4671-BFE9-E9831E66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TOP 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5284BB-E4D9-435B-80A4-0371F58F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CEDD8E-299D-4D23-8C4E-73DD0CC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MARGIN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2C2D2C-2E88-422F-AB8D-2E67330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1.0000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825F4F-4D06-4DB5-8F98-74893CF4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29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33C469-D562-4FC9-9263-5850E6A3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E7A4B"/>
                </a:solidFill>
                <a:latin typeface="Calibri"/>
                <a:ea typeface="Calibri"/>
                <a:cs typeface="Calibri"/>
              </a:rPr>
              <a:t>clear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1360F3-5690-4F88-AEEF-76363AB6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Expected: critical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B2ADEA-D23F-4719-921C-FD41B0B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TypeSafe API confidence: 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CA1BA2-E49A-4CBD-A2F8-07F9E242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045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0A2B4"/>
                </a:solidFill>
                <a:latin typeface="Calibri"/>
                <a:ea typeface="Calibri"/>
                <a:cs typeface="Calibri"/>
              </a:rPr>
              <a:t>case 12 of 12  ·  id: urgency_triage</a:t>
            </a:r>
          </a:p>
        </p:txBody>
      </p:sp>
    </p:spTree>
    <p:extLst>
      <p:ext uri="{BB962C8B-B14F-4D97-AF65-F5344CB8AC3E}">
        <p14:creationId xmlns:p14="http://schemas.microsoft.com/office/powerpoint/2010/main" val="15571504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ckground">
            <a:extLst xmlns:a="http://schemas.openxmlformats.org/drawingml/2006/main">
              <a:ext uri="{FF2B5EF4-FFF2-40B4-BE49-F238E27FC236}">
                <a16:creationId xmlns:a16="http://schemas.microsoft.com/office/drawing/2014/main" id="{26C0EC6E-06D5-4B18-85CC-439AF5AA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BEF7B90-5450-4310-B27E-0FE90051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9ABAB-69FB-4BF3-9DEF-53A7BAD2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All twelve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40246-B370-4AFA-8C5D-710614B6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Both scorers ranked every expected answer first. The gate separates them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81050" y="1466850"/>
          <a:ext xmlns:a="http://schemas.openxmlformats.org/drawingml/2006/main" cx="10458450" cy="4533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1009650"/>
                <a:gridCol w="1104900"/>
                <a:gridCol w="762000"/>
                <a:gridCol w="876300"/>
                <a:gridCol w="1200150"/>
                <a:gridCol w="704850"/>
                <a:gridCol w="87630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Reasoning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Local pick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Local p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Local gate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TypeSafe pick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TS p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TS gate</a:t>
                      </a:r>
                    </a:p>
                  </a:txBody>
                  <a:tcPr marL="76200" marR="57150" marT="38100" marB="38100" anchor="ctr">
                    <a:solidFill>
                      <a:srgbClr val="21295C"/>
                    </a:solidFill>
                  </a:tcPr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lexical sentiment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0.9862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arithmetic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four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four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0.3854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four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world knowledge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paris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paris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0.4442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paris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taxonomy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mammal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mammal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0.6424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mammal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negation handling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stopped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stopped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0.7969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stopped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temporal 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0.7870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ordering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unit comparison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kilometre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kilometre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0.6142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kilometre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intent classification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0.7420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language identification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french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french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0.5975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french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physical reasoning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sink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sink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0.5293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sink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code recognition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0.5412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B86E00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  <a:tr h="34956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severity triage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critical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critical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0.7106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15AC0"/>
                          </a:solidFill>
                          <a:latin typeface="Calibri"/>
                          <a:ea typeface="Calibri"/>
                          <a:cs typeface="Calibri"/>
                        </a:rPr>
                        <a:t>critical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7620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7A4B"/>
                          </a:solidFill>
                          <a:latin typeface="Calibri"/>
                          <a:ea typeface="Calibri"/>
                          <a:cs typeface="Calibri"/>
                        </a:rPr>
                        <a:t>clear</a:t>
                      </a:r>
                    </a:p>
                  </a:txBody>
                  <a:tcPr marL="76200" marR="57150" marT="28575" marB="2857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DA615-227C-41F9-9B00-21B089F0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982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ModernBERT: 12/12 correct, 5/12 clear  ·  TypeSafe: 12/12 correct, 12/12 clear</a:t>
            </a:r>
          </a:p>
        </p:txBody>
      </p:sp>
    </p:spTree>
    <p:extLst>
      <p:ext uri="{BB962C8B-B14F-4D97-AF65-F5344CB8AC3E}">
        <p14:creationId xmlns:p14="http://schemas.microsoft.com/office/powerpoint/2010/main" val="99975543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7255D4-F93B-4C55-A4C8-FC876AAD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4C9ED944-8482-4500-809A-6389193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5E2FD-A177-4A46-AA5F-D9480323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Accuracy tied, gate clearance differed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2AFF4-F8B0-4CBF-9747-171618B4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Percentage of the 12 obvious-answer cases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81050" y="1524000"/>
          <a:ext xmlns:a="http://schemas.openxmlformats.org/drawingml/2006/main" cx="7524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647b31ec4f42f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978FC-A4EF-4A49-BD68-4FCCAFC0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A8010-D075-49EB-BD5F-46D74961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Both scorers ranked every expected answer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3334F-4F2E-4A80-9865-DE75E679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051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C8117-6CA8-4CCA-AB51-E84AAF09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815AC0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815AC0"/>
                </a:solidFill>
                <a:latin typeface="Georgia"/>
                <a:ea typeface="Georgia"/>
                <a:cs typeface="Georgia"/>
              </a:rPr>
              <a:t>+7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D10F1-63A4-4C7A-A9A1-4B91624D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814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TypeSafe cleared the same gate on seven more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A835F-3F0A-430C-9687-4ADBF595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Gate: top probability ≥ 0.65 and top-two margin ≥ 0.15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7A3C9-0841-4D3D-8EF9-EFAF090A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00800"/>
            <a:ext cx="1045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93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Gate clearance is abstention behavior, not a second accuracy measure</a:t>
            </a:r>
          </a:p>
        </p:txBody>
      </p:sp>
    </p:spTree>
    <p:extLst>
      <p:ext uri="{BB962C8B-B14F-4D97-AF65-F5344CB8AC3E}">
        <p14:creationId xmlns:p14="http://schemas.microsoft.com/office/powerpoint/2010/main" val="46996763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ackground">
            <a:extLst xmlns:a="http://schemas.openxmlformats.org/drawingml/2006/main">
              <a:ext uri="{FF2B5EF4-FFF2-40B4-BE49-F238E27FC236}">
                <a16:creationId xmlns:a16="http://schemas.microsoft.com/office/drawing/2014/main" id="{D3009667-145C-48DD-A916-3D30A8AD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68E27028-7BF3-4352-9CFF-D184E354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EA84C-73D7-4C8F-8747-76A8E093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the comparison shows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F05E2-564A-486A-A0B8-BCDA596C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665FF-9009-437B-BEB9-A1AFB7E4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12635-FD49-4E1F-8F28-4FFD2C6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954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Accuracy ties on this easy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F33A8-3CB6-4EC6-81B1-531B03F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669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Both scorers selected all 12 expected answers.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7569A-F03B-43FF-88FF-FAFAAA12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87E4B-3E27-44D0-A0C9-BE4AFF97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9ABC6-5616-4F11-B5A0-3625E41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193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The shared gate separates them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A9BA9-E185-44AC-AE4E-CA9DFF9C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TypeSafe cleared 12 of 12. ModernBERT cleared 5 and routed 7 to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C96AE-18A8-40F1-A927-BC5DC150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2C365-AA16-475C-9C83-8FC87E87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6F28B-8A5F-4C20-9B88-8EF85EC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433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Arithmetic exposes the local model's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A447A-7505-4B9D-ADB3-E9B81CC1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ModernBERT gave 2 + 2 a 0.3854 top probability. TypeSafe returned 1.0000.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2C7C4-E825-45FF-81DA-B3BC5234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E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90CD9-F55D-4EF5-87B6-64810EEA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948D8-3DB1-4D5C-A09B-70AE894C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672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This set cannot test calibration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23E90-5A1A-4E41-B2BE-52B83D86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38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Raw TypeSafe JSON returned exact 1.0 / 0.0 distributions on all 12 items. Harder and ambiguous examples are needed before setting production thresholds.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0A4B7-C4A2-4FDA-B8A6-4DB6D8E8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31241-4528-4DDA-BE9E-1D56F5CA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Next benchmark: add ambiguous, incomplete, adversarial, and domain-specific questions, then tune thresholds against observed error costs</a:t>
            </a:r>
          </a:p>
        </p:txBody>
      </p:sp>
    </p:spTree>
    <p:extLst>
      <p:ext uri="{BB962C8B-B14F-4D97-AF65-F5344CB8AC3E}">
        <p14:creationId xmlns:p14="http://schemas.microsoft.com/office/powerpoint/2010/main" val="21129965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ackground">
            <a:extLst xmlns:a="http://schemas.openxmlformats.org/drawingml/2006/main">
              <a:ext uri="{FF2B5EF4-FFF2-40B4-BE49-F238E27FC236}">
                <a16:creationId xmlns:a16="http://schemas.microsoft.com/office/drawing/2014/main" id="{F54E1C97-058E-4185-8287-01B9B890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26765152-7DD8-4943-99B3-D393DF33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4C121-8095-47AE-992F-3710E4AE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Other zero-shot classifiers worth benchmarking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3DE8F-A03C-4CE3-9246-2AEF300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8107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Candidates for the next experiment, not results from this benchmark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81050" y="1581150"/>
          <a:ext xmlns:a="http://schemas.openxmlformats.org/drawingml/2006/main" cx="1045845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3257550"/>
                <a:gridCol w="2333625"/>
                <a:gridCol w="2771775"/>
              </a:tblGrid>
              <a:tr h="438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Candidate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test it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Best fit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Watchout</a:t>
                      </a:r>
                    </a:p>
                  </a:txBody>
                  <a:tcPr marL="95250" marR="95250" marT="57150" marB="57150" anchor="ctr">
                    <a:solidFill>
                      <a:srgbClr val="21295C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DeBERTa v3 large</a:t>
                      </a:r>
                    </a:p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zero-shot v2.0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Closest NLI comparison from the same zero-shot model series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English accuracy baseline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Slower and more memory-intensive than ModernBERT</a:t>
                      </a:r>
                    </a:p>
                  </a:txBody>
                  <a:tcPr marL="95250" marR="95250" marT="76200" marB="76200" anchor="ctr"/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BART large MNLI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Established NLI zero-shot baseline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Compatibility and historical baseline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Older encoder-decoder architecture</a:t>
                      </a:r>
                    </a:p>
                  </a:txBody>
                  <a:tcPr marL="95250" marR="95250" marT="76200" marB="76200" anchor="ctr"/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mDeBERTa v3 base</a:t>
                      </a:r>
                    </a:p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MNLI / XNLI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Multilingual NLI checkpoint with a standard Transformers pipeline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Decisions across 16 languages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Validate performance language by language</a:t>
                      </a:r>
                    </a:p>
                  </a:txBody>
                  <a:tcPr marL="95250" marR="95250" marT="76200" marB="76200" anchor="ctr"/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GLiClass small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Scores labels in one forward path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Many labels or latency-sensitive classification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A1F2B"/>
                          </a:solidFill>
                          <a:latin typeface="Calibri"/>
                          <a:ea typeface="Calibri"/>
                          <a:cs typeface="Calibri"/>
                        </a:rPr>
                        <a:t>Different package and scoring semantics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F4BB3-56D9-4BAA-BA99-49CBC716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45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Recommended next run: DeBERTa v3 large first, then GLiClass to test a different latency and label-scaling tradeoff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22DDB-30C7-461D-A8B6-ECDBA0D2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38875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Keep the same 12 cases, then add ambiguous, adversarial, and domain-specific examples before comparing calibration</a:t>
            </a:r>
          </a:p>
        </p:txBody>
      </p:sp>
    </p:spTree>
    <p:extLst>
      <p:ext uri="{BB962C8B-B14F-4D97-AF65-F5344CB8AC3E}">
        <p14:creationId xmlns:p14="http://schemas.microsoft.com/office/powerpoint/2010/main" val="117950477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DF2E4D-A68E-4B85-9004-9A0BF2D8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DFD70A-CEEB-490E-8D5E-E4DDE9FB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BB5696-E939-48E2-A1D7-1BC1D48A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A1 · Building the premise / hypothesis pairs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C64C4A-BD64-4E2A-813A-FBBC5653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poc/zero_shot_decision_poc.py — _build_comparisons()  ·  this is the entire "prompt"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6C643CF-370D-46C4-B527-3E1F943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3799632-1D8E-4559-8111-D292D3D8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premise — identical for every option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9E80670-CAF1-4255-81D8-1BE92E7C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BE298A-692B-4D67-966B-E464175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The state is serialised ONCE and reused for every option, so the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only thing that varies across candidates is the hypothesis.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state_text = json.dumps(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request.state,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sort_keys=True,        # deterministic -&gt; reproducible scores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ensure_ascii=False,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separators=(",", ":"),  # compact: fewer tokens per pair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premise = 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f"State evidence:\n{state_text}\n\n"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f"Decision question:\n{decision.question}"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A882D0-3FB8-41CB-BDFA-D2C2E77C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Sorting keys makes the premise deterministic: the same state always produces the same string, so scores are reproducible run to run.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BE290B4-F539-4625-B269-49AC263E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B07920-0A68-4A8C-B637-3B05D29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hypothesis — one per candidate option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2648A8A-EF1E-411F-9BF0-CF01D12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6117A1E-0308-4966-BDBB-A04E5BBF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candidate in decision.candidates: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noun = "option" if decision.kind == "choice" else "score level"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comparisons.append(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Comparison(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decision_id=decision.identifier,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candidate_id=candidate.identifier,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premise=premise,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Asserted as TRUE on purpose: the NLI head is asked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'does the premise entail this claim?' -- so each option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is phrased as a positive statement to be tested.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hypothesis=(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f"The correct {noun} is '{candidate.identifier}'. 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f"Definition: {candidate.description}"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),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numeric_value=candidate.numeric_value,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2E1F97D-22C4-48D5-BE7B-143E13D2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The option DESCRIPTION carries the semantics, not the id. A bare label like 'positive' gives the NLI head almost nothing to entail against.</a:t>
            </a:r>
          </a:p>
        </p:txBody>
      </p:sp>
    </p:spTree>
    <p:extLst>
      <p:ext uri="{BB962C8B-B14F-4D97-AF65-F5344CB8AC3E}">
        <p14:creationId xmlns:p14="http://schemas.microsoft.com/office/powerpoint/2010/main" val="19651433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6C43A9-1139-4068-A27D-6286EB90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9A9701-A02B-4D4A-84D0-E617FFC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58039C-942F-44B0-8F0A-E731448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A2 · The forward pass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11EA0CE-BDBC-4C80-8C19-E698CE12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poc/zero_shot_decision_poc.py — TransformersNliScorer.score()  ·  no text generation anywhere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32939E-74A8-4E8B-815C-38A0AB6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27A62D-02FD-4A6C-9086-6DC778C3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batched inference over all pairs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F5247B-86E8-415C-AB27-1950DB19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C0F177-3DB6-4835-8D17-7BB9859D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start in range(0, len(comparisons), self._batch_size):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chunk = comparisons[start:start + self._batch_size]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Premises and hypotheses are passed as TWO lists -- the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tokenizer joins each pair with [SEP], which is the input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format an NLI cross-encoder is trained on.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encoded = self._tokenizer(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[c.premise for c in chunk],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[c.hypothesis for c in chunk],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padding=True, truncation=True, return_tensors="pt",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encoded = {k: v.to(self._device) for k, v in encoded.items()}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with self._torch.inference_mode():   # no autograd graph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logits = self._model(**encoded).logits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probabilities = self._torch.softmax(logits, dim=-1)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584EB44-6CAC-4BAC-B2E6-2475D553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All pairs for a decision go through together, so cost scales with batches rather than with options. inference_mode() disables autograd bookkeeping — measurably faster and lower-memory than no_grad().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AC873C7-8AE6-404A-B4DD-DA631186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39CAD9-8607-4C08-8D15-DBD27D62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reading the entailment channel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FD97C2-2BB0-47F5-AD13-108E5D4D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35098FA-A746-4527-8394-68EAAF1B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row_logits, row_probabilities in zip(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logits, probabilities, strict=True   # length mismatch = bug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evidence.append(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NliEvidence(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Index comes from config.label2id, NOT a constant: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        # label order differs between NLI checkpoints.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entailment_logit=float(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row_logits[self._entailment_index].item()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),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entailment_probability=float(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row_probabilities[self._entailment_index].item()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),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Device selection: cuda -&gt; mps (Apple GPU) -&gt; cpu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return evidence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4A428EF-3C99-49F0-A4D0-FF9A0CB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_entailment_index is resolved from config.label2id rather than hardcoded, so a model with reversed label order still works. Both the logit and the per-pair probability are kept.</a:t>
            </a:r>
          </a:p>
        </p:txBody>
      </p:sp>
    </p:spTree>
    <p:extLst>
      <p:ext uri="{BB962C8B-B14F-4D97-AF65-F5344CB8AC3E}">
        <p14:creationId xmlns:p14="http://schemas.microsoft.com/office/powerpoint/2010/main" val="1707069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14DB4E-03BE-4AF1-A571-0D0817FD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DD03493-F940-4A6B-AA18-808789CA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8FAF5F-E242-4574-AAA4-9200F0F1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A3 · From logits to a decision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40D4AC-1FE0-44D0-BF99-215C153D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poc/zero_shot_decision_poc.py — softmax across options, then the abstention gate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07AD05-F893-4282-B4AA-CE9C3723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A29871-C93B-4CD1-A312-8D4219BA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cross-option softmax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0C74B61-EE89-4B8D-B163-01BA6DD1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EEFD31C-FEB3-4F90-A531-E8352B42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def _softmax(logits: Sequence[float]) -&gt; list[float]: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Subtract the max before exp() -- standard guard against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    # overflow on large positive logits.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maximum = max(logits)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exponentials = [math.exp(logit - maximum) for logit in logits]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total = sum(exponentials)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[value / total for value in exponentials]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NOTE: applied ACROSS the options of one decision, not across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the model's own entailment/not_entailment axis. That is what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turns N independent entailment scores into one distribution.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5747E7-6CFC-4AFA-8F89-4B77C4B5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This is what makes confidence depend on option COUNT: mass is shared across candidates, so a 3-way 0.44 and a 2-way 0.79 can be equally strong evidence.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DB1DD2-6520-44B2-A064-558E264B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19379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816BF8-293B-4735-AA5D-15B9D2EE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35608"/>
            <a:ext cx="4919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 abstention gate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FB12050-2D83-46C2-B72B-E3352F9A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19072"/>
            <a:ext cx="519379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DF3212-32FD-46A8-8B82-48D137C0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847088"/>
            <a:ext cx="4864607" cy="39044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A correct-but-unconfident pick is still not safe to act on,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so the answer is withheld unless BOTH gates clear.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top_probability = probabilities[0]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top_two_margin = probabilities[0] - probabilities[1]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review_required = 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top_probability &lt; decision.minimum_probability   # 0.65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or top_two_margin &lt; decision.minimum_margin      # 0.15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'answer' is None when gated; 'recommended_option' always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holds the top-ranked candidate, so the caller can show a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7FB08A"/>
                </a:solidFill>
                <a:latin typeface="Consolas"/>
                <a:ea typeface="Consolas"/>
                <a:cs typeface="Consolas"/>
              </a:rPr>
              <a:t># suggestion to a reviewer without it reading as a decision.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return {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"answer": None if review_required else best.candidate_id,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"recommended_option": best.candidate_id,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"review_required": review_required,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8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821FE80-D67E-4934-A9A9-C122C78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52744"/>
            <a:ext cx="5193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1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Two independent conditions. Confidence alone would pass a 0.66 vs 0.34 coin flip; margin alone would pass 0.20 vs 0.05. Requiring both is what makes 'no answer' a deliberate outcome rather than a failure.</a:t>
            </a:r>
          </a:p>
        </p:txBody>
      </p:sp>
    </p:spTree>
    <p:extLst>
      <p:ext uri="{BB962C8B-B14F-4D97-AF65-F5344CB8AC3E}">
        <p14:creationId xmlns:p14="http://schemas.microsoft.com/office/powerpoint/2010/main" val="50536544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ackground">
            <a:extLst xmlns:a="http://schemas.openxmlformats.org/drawingml/2006/main">
              <a:ext uri="{FF2B5EF4-FFF2-40B4-BE49-F238E27FC236}">
                <a16:creationId xmlns:a16="http://schemas.microsoft.com/office/drawing/2014/main" id="{06BF5696-CFC5-4398-BD2E-9A4E6BDF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046DD46F-AE8F-4909-AC04-94C751FA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53468-EFA9-4035-98F2-528EFC35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A4 · ModernBERT pipeline + Mermaid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95BCB-5678-4BDD-9C4D-861E6A5A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One decision, N options → N premise/hypothesis pairs → one batched forward pass → cross-option softmax →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C8A41-9716-4EC9-9D86-AEB4346E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5A8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D1A65-97A3-43F2-B20E-716F659A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state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BA3F5-7D27-4ED9-8413-B8E84BAB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581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the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14223-A92D-454E-A30A-B3ACCE6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5A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AFC0D-8A69-4399-80F5-17A3A7A3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CF9BA-E7BC-490E-9DDA-DA8B7D39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581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what to decide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D5411-6888-4AA8-978C-7B1E219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5A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5963A-60CF-4920-8409-3ABBABF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option descriptions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03613-87F7-4DAA-B341-D5D916F7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581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788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one per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21F48-9C39-427B-BC3A-A5E18865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859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D220C-44D4-47C3-913E-70B5659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52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PAIR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5DE3B-FEB2-43F0-AEA0-67188B94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premise = state + question</a:t>
            </a:r>
          </a:p>
          <a:p xmlns:a="http://schemas.openxmlformats.org/drawingml/2006/main">
            <a:pPr algn="ctr"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hypothesis = one per 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3D2ED-943A-447C-8016-19BE287F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50037-3678-4137-B08D-19FD375B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52625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ModernBERT-large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0D077-9701-4A41-AB8B-DFCF03A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6695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zeroshot-v2.0</a:t>
            </a:r>
          </a:p>
          <a:p xmlns:a="http://schemas.openxmlformats.org/drawingml/2006/main">
            <a:pPr algn="ctr"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NLI entailment head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757A6-4840-46B3-8452-D45555AE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685925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F82D6-2409-45D0-B4DF-03C0E9B9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526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SOFTMAX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87F41-6F7C-4BDC-B881-4F8A6D0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669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across options</a:t>
            </a:r>
          </a:p>
          <a:p xmlns:a="http://schemas.openxmlformats.org/drawingml/2006/main">
            <a:pPr algn="ctr">
              <a:def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Σ p = 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BA50E-9EBD-45B2-90EA-7B8F906E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056E9-2A6A-449A-B357-0529A465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90FE6-3401-4549-ABCA-5D127797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7CD105-BF13-438A-B19A-7543F764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478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25FBE7-3D20-4A3D-8804-F01B7054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85925"/>
            <a:ext cx="1143000" cy="1257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6E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263DA-383C-41F5-B477-7619829A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002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A145F1-D204-48CC-85E7-1364D68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2383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 ≥ .65</a:t>
            </a:r>
          </a:p>
          <a:p xmlns:a="http://schemas.openxmlformats.org/drawingml/2006/main">
            <a:pPr algn="ctr">
              <a:def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Δ ≥ .15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E6715-7558-4877-885B-2BC8CBBD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5811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1046AF-CB69-4246-B46F-96C4DADA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6954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/ 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8C2D3-9AFB-4FCD-829A-5FC92346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574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E0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54D84-C3AF-49AB-AE79-EB8999F8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/ 12</a:t>
            </a:r>
          </a:p>
        </p:txBody>
      </p:sp>
      <p:sp>
        <p:nvSpPr>
          <p:cNvPr id="34" name="mermaid-source-panel">
            <a:extLst xmlns:a="http://schemas.openxmlformats.org/drawingml/2006/main">
              <a:ext uri="{FF2B5EF4-FFF2-40B4-BE49-F238E27FC236}">
                <a16:creationId xmlns:a16="http://schemas.microsoft.com/office/drawing/2014/main" id="{89AB16BB-B0C7-4F15-B5E0-DCD54DD4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72580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1B64C2-E480-4AD7-9C6D-41BE0042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EQUIVALENT MERMAID SOURCE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A74E0C-9396-4C08-B44D-C1189FE6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68580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flowchart LR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A[state JSON] --&gt; P[premise]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Q[question] --&gt; P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O[option descriptions] --&gt; H[hypothesis × N]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P --&gt; T[tokenizer + premise/hypothesis pairs]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H --&gt; 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T --&gt; M[ModernBERT-large / NLI head]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M --&gt; L[entailment logit / one per option]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L --&gt; S[softmax across options]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S --&gt; G{top p ≥ 0.65 AND margin ≥ 0.15?}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G -- yes --&gt; R[answer returned]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788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G -- no --&gt; V[abstain → human review]</a:t>
            </a:r>
          </a:p>
        </p:txBody>
      </p:sp>
      <p:sp>
        <p:nvSpPr>
          <p:cNvPr id="37" name="WHY THIS IS SAFE-panel">
            <a:extLst xmlns:a="http://schemas.openxmlformats.org/drawingml/2006/main">
              <a:ext uri="{FF2B5EF4-FFF2-40B4-BE49-F238E27FC236}">
                <a16:creationId xmlns:a16="http://schemas.microsoft.com/office/drawing/2014/main" id="{B273EE28-DD9A-461D-9974-52327EE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8956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38" name="WHY THIS IS SAFE-header">
            <a:extLst xmlns:a="http://schemas.openxmlformats.org/drawingml/2006/main">
              <a:ext uri="{FF2B5EF4-FFF2-40B4-BE49-F238E27FC236}">
                <a16:creationId xmlns:a16="http://schemas.microsoft.com/office/drawing/2014/main" id="{5C25ECEC-79F6-4DBD-9C0F-43117D67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3221B-C9F4-489C-A33B-CDE9E6C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THIS IS SAFE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597F9-9463-4A31-9DC3-92530C92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No generation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C795D-2479-443C-BBD5-CCE4F07B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model only scores offered options.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2B67CA-F41C-4225-BF8A-B7192B3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One distribution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8B0116-28BC-4CD6-9FD8-97AB32F2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Softmax is applied across candidates.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7D485E-C671-4DE4-83D4-84051DA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Explicit abstention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FD2043-D99B-4F60-8504-2431E91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29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Both probability and margin must clear.</a:t>
            </a:r>
          </a:p>
        </p:txBody>
      </p:sp>
    </p:spTree>
    <p:extLst>
      <p:ext uri="{BB962C8B-B14F-4D97-AF65-F5344CB8AC3E}">
        <p14:creationId xmlns:p14="http://schemas.microsoft.com/office/powerpoint/2010/main" val="25257489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348688A-44C5-4479-ADC2-33F27913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32AC8A3A-79EA-41C2-BB4F-41295CDF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ABF90-5811-4D47-AA3E-D522D21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B1 · Calling the TypeSafe System One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2AE1E-D853-4004-92E1-D2B906E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One POST per benchmark case because each question has a different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5FF4E-9A6C-40A5-AAC5-3905D3DD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70675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826BF-41F1-4B9E-913E-19B533D9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668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CURL + REQUEST BODY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A6D9-93EF-408E-A07E-3677E9BB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9775"/>
            <a:ext cx="66294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export TYPESAFE_API_KEY='…'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curl -sS https://api.typesafe.ai/v1/systemone \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-H "Authorization: Bearer $TYPESAFE_API_KEY" \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-H "Content-Type: application/json" \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--data-binary @request.json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# request.json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"model": "jev-latest",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"state": {"expression": "2 + 2"},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"questions":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"arithmetic":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"type": "choice",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"instructions": "What is the value of 2 + 2?",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"criteria":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"seven": "The answer is seven.",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"four": "The answer is four.",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"twelve": "The answer is twelve."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BENCHMARK INTEGRATION-panel">
            <a:extLst xmlns:a="http://schemas.openxmlformats.org/drawingml/2006/main">
              <a:ext uri="{FF2B5EF4-FFF2-40B4-BE49-F238E27FC236}">
                <a16:creationId xmlns:a16="http://schemas.microsoft.com/office/drawing/2014/main" id="{5BE9641E-67C2-4FD5-B5C9-5DB943C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95425"/>
            <a:ext cx="30861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6"/>
            </a:solidFill>
            <a:prstDash val="solid"/>
          </a:ln>
        </p:spPr>
      </p:sp>
      <p:sp>
        <p:nvSpPr>
          <p:cNvPr id="9" name="BENCHMARK INTEGRATION-header">
            <a:extLst xmlns:a="http://schemas.openxmlformats.org/drawingml/2006/main">
              <a:ext uri="{FF2B5EF4-FFF2-40B4-BE49-F238E27FC236}">
                <a16:creationId xmlns:a16="http://schemas.microsoft.com/office/drawing/2014/main" id="{2933506B-8620-4405-97C6-6242DE22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95425"/>
            <a:ext cx="3086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6372D-2B92-4857-9373-A8B015C8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BENCHMARK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C6086-10CD-4C4C-B909-D46B47A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2B338-4D9A-485C-8CE6-11BB1E5D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/v1/systemone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72B62-0E8F-4B6F-BD69-F9FBDE14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RESOLVED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337C0-DC4C-4D78-86A5-4C1B5CF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384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jev-1.13.0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87491-BA6F-4C10-A12B-EDCE0A59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052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825" b="1" i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QUESTION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AD8F9-A5AC-4A07-9D60-A202273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43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choice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0F117-A423-4BC5-8D6F-DEB64D20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481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option descriptions are sent as criteria, preserving the same semantic labels used by ModernBERT.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69593-3880-41E7-8426-CBDC961F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D8C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7DF4C-34DF-4512-AFA8-72D0219B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76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defRPr>
            </a:pPr>
            <a:r>
              <a: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rPr>
              <a:t>python3 poc/typesafe_decision_poc.py</a:t>
            </a:r>
          </a:p>
          <a:p xmlns:a="http://schemas.openxmlformats.org/drawingml/2006/main">
            <a:pPr algn="l">
              <a:def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defRPr>
            </a:pPr>
            <a:r>
              <a:rPr sz="788" b="1" i="0">
                <a:solidFill>
                  <a:srgbClr val="815AC0"/>
                </a:solidFill>
                <a:latin typeface="Consolas"/>
                <a:ea typeface="Consolas"/>
                <a:cs typeface="Consolas"/>
              </a:rPr>
              <a:t>  --output … --raw-output 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B7104-E42A-47F2-94E7-C0206D2A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5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1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13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Authorization header only—the saved audit file never contains the API key</a:t>
            </a:r>
          </a:p>
        </p:txBody>
      </p:sp>
    </p:spTree>
    <p:extLst>
      <p:ext uri="{BB962C8B-B14F-4D97-AF65-F5344CB8AC3E}">
        <p14:creationId xmlns:p14="http://schemas.microsoft.com/office/powerpoint/2010/main" val="142484383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ckground">
            <a:extLst xmlns:a="http://schemas.openxmlformats.org/drawingml/2006/main">
              <a:ext uri="{FF2B5EF4-FFF2-40B4-BE49-F238E27FC236}">
                <a16:creationId xmlns:a16="http://schemas.microsoft.com/office/drawing/2014/main" id="{7C429785-FCE3-42E0-A4C0-4C1DDE3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2" name="brand-spine">
            <a:extLst xmlns:a="http://schemas.openxmlformats.org/drawingml/2006/main">
              <a:ext uri="{FF2B5EF4-FFF2-40B4-BE49-F238E27FC236}">
                <a16:creationId xmlns:a16="http://schemas.microsoft.com/office/drawing/2014/main" id="{74545D07-D600-4CBF-90CC-0DC4C8EC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DF9CA-7923-4A7E-BE28-4A6FBAC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Appendix B2 · What the TypeSafe 1.0000 means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22B70-26BE-4641-9547-2DE4D5ED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202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It was returned by the API—not created by the 0.65 / 0.15 decision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C83F1-9565-4FC5-8FCD-1D64E430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52578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6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5CC2B-D5D0-436A-87AB-ECF95B55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8FC7DC"/>
                </a:solidFill>
                <a:latin typeface="Calibri"/>
                <a:ea typeface="Calibri"/>
                <a:cs typeface="Calibri"/>
              </a:rPr>
              <a:t>EXACT RAW RESPONSE · arithmetic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82B6A-B3F4-4AF9-9BBC-D59D8A1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48387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"model": "jev-1.13.0",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"answers":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"arithmetic":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"type": "choice",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"choice": "four",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"confidence": 1,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"probabilities":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"twelve": 0,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"four": 1,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  "seven": 0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"usage": {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"input_tokens": 357,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  "output_tokens": 42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defRPr>
            </a:pPr>
            <a:r>
              <a:rPr sz="863" b="0" i="0">
                <a:solidFill>
                  <a:srgbClr val="E8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9E752-C62D-4366-8047-4F5D6192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95425"/>
            <a:ext cx="4876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815A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2B21B-A79A-4940-B4FA-1E0035B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95425"/>
            <a:ext cx="85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5A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B974E-43F3-4F6B-82DA-3283F1D2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57350"/>
            <a:ext cx="432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15AC0"/>
                </a:solidFill>
                <a:latin typeface="Calibri"/>
                <a:ea typeface="Calibri"/>
                <a:cs typeface="Calibri"/>
              </a:rPr>
              <a:t>RETURNED BY TYPESAFE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3E0EE-6CCE-431D-A608-C153879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4324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probabilities: four = 1.0; alternatives = 0.0</a:t>
            </a:r>
          </a:p>
          <a:p xmlns:a="http://schemas.openxmlformats.org/drawingml/2006/main">
            <a:pPr algn="l"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confidence: 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9A0E8-BA9F-453E-A74F-3E449C84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4876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9525">
            <a:solidFill>
              <a:srgbClr val="065A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0EF68-7015-4023-A851-1AC1F960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85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6F958-572C-4F6A-89EE-8231FBF2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38475"/>
            <a:ext cx="432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COMPUTED LOCALLY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C98AC-15F3-4FAE-BDE5-330C101F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24225"/>
            <a:ext cx="4324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margin = top₁ − top₂ = 1.0 − 0.0 = 1.0</a:t>
            </a:r>
          </a:p>
          <a:p xmlns:a="http://schemas.openxmlformats.org/drawingml/2006/main">
            <a:pPr algn="l"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review = top p &lt; .65 OR margin &lt; .15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8AD3A-FC39-420A-9192-C0F91783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57675"/>
            <a:ext cx="4876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86E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54538-AB38-4CFA-BF50-7D4EC901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57675"/>
            <a:ext cx="85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E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84E91-3290-4E5A-83F2-C3AB2CBB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9600"/>
            <a:ext cx="432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B86E00"/>
                </a:solidFill>
                <a:latin typeface="Calibri"/>
                <a:ea typeface="Calibri"/>
                <a:cs typeface="Calibri"/>
              </a:rPr>
              <a:t>DOCUMENTATION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9273C-F4DD-424D-8593-36C04F44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05350"/>
            <a:ext cx="4324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defRPr>
            </a:pPr>
            <a:r>
              <a:rPr sz="1088" b="0" i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The API documents probabilities and a distribution-derived confidence. It does not return a margin field or specify internal clipping / numeric precision.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B6020-635C-4AAF-9DCB-A0C6A008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38800"/>
            <a:ext cx="48768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744C9-4785-4B33-BB37-A70A598C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34050"/>
            <a:ext cx="457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 RESULT  12 / 12 exact one-hot distributions; no client rounding or thresholding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737C8-3B01-49F9-A6A9-DBE401B9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5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1" i="1">
                <a:solidFill>
                  <a:srgbClr val="065A82"/>
                </a:solidFill>
                <a:latin typeface="Calibri"/>
                <a:ea typeface="Calibri"/>
                <a:cs typeface="Calibri"/>
              </a:defRPr>
            </a:pPr>
            <a:r>
              <a:rPr sz="1013" b="1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Conclusion: report the literal API response, but do not treat this easy, saturated set as evidence of real-world calibration</a:t>
            </a:r>
          </a:p>
        </p:txBody>
      </p:sp>
    </p:spTree>
    <p:extLst>
      <p:ext uri="{BB962C8B-B14F-4D97-AF65-F5344CB8AC3E}">
        <p14:creationId xmlns:p14="http://schemas.microsoft.com/office/powerpoint/2010/main" val="17891436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2026-09-18T03:56:46.0110000Z</dcterms:created>
  <dcterms:modified xsi:type="dcterms:W3CDTF">2026-09-18T03:56:46.0110000Z</dcterms:modified>
</coreProperties>
</file>