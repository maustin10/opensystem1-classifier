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15b87e2d01405c" /><Relationship Type="http://schemas.openxmlformats.org/officeDocument/2006/relationships/extended-properties" Target="/docProps/app.xml" Id="Rac4a14079cdb4e25" /><Relationship Type="http://schemas.openxmlformats.org/officeDocument/2006/relationships/officeDocument" Target="/ppt/presentation.xml" Id="Rccedef49f1c24c7d" /></Relationships>
</file>

<file path=ppt/presentation.xml><?xml version="1.0" encoding="utf-8"?>
<p:presentation xmlns:p="http://schemas.openxmlformats.org/presentationml/2006/main">
  <p:sldMasterIdLst>
    <p:sldMasterId xmlns:r="http://schemas.openxmlformats.org/officeDocument/2006/relationships" id="2147483648" r:id="Rec00b4c647d7474b"/>
  </p:sldMasterIdLst>
  <p:notesMasterIdLst>
    <p:notesMasterId xmlns:r="http://schemas.openxmlformats.org/officeDocument/2006/relationships" r:id="Rb64c7a9e5ec44acd"/>
  </p:notesMasterIdLst>
  <p:sldIdLst>
    <p:sldId xmlns:r="http://schemas.openxmlformats.org/officeDocument/2006/relationships" id="256" r:id="Rfcaf31ba22a7406b"/>
    <p:sldId xmlns:r="http://schemas.openxmlformats.org/officeDocument/2006/relationships" id="257" r:id="R12457aadb27f4f67"/>
    <p:sldId xmlns:r="http://schemas.openxmlformats.org/officeDocument/2006/relationships" id="258" r:id="R870a97232032438b"/>
    <p:sldId xmlns:r="http://schemas.openxmlformats.org/officeDocument/2006/relationships" id="259" r:id="Rd8469736074549fa"/>
    <p:sldId xmlns:r="http://schemas.openxmlformats.org/officeDocument/2006/relationships" id="260" r:id="R2747f7df28084547"/>
    <p:sldId xmlns:r="http://schemas.openxmlformats.org/officeDocument/2006/relationships" id="261" r:id="R3facd6641a7848a3"/>
    <p:sldId xmlns:r="http://schemas.openxmlformats.org/officeDocument/2006/relationships" id="262" r:id="R0c78cbf613704dbd"/>
    <p:sldId xmlns:r="http://schemas.openxmlformats.org/officeDocument/2006/relationships" id="263" r:id="R065e4773ad844374"/>
    <p:sldId xmlns:r="http://schemas.openxmlformats.org/officeDocument/2006/relationships" id="264" r:id="R0c01c57dc1ae4591"/>
    <p:sldId xmlns:r="http://schemas.openxmlformats.org/officeDocument/2006/relationships" id="265" r:id="R112f76c494884819"/>
    <p:sldId xmlns:r="http://schemas.openxmlformats.org/officeDocument/2006/relationships" id="266" r:id="Rfe57098ed5c1439f"/>
    <p:sldId xmlns:r="http://schemas.openxmlformats.org/officeDocument/2006/relationships" id="267" r:id="R7ba5d2a61cc548ef"/>
    <p:sldId xmlns:r="http://schemas.openxmlformats.org/officeDocument/2006/relationships" id="268" r:id="R8205d7aae11a47f4"/>
    <p:sldId xmlns:r="http://schemas.openxmlformats.org/officeDocument/2006/relationships" id="269" r:id="R1040b4af397445f5"/>
    <p:sldId xmlns:r="http://schemas.openxmlformats.org/officeDocument/2006/relationships" id="270" r:id="Re3776142b69a400c"/>
    <p:sldId xmlns:r="http://schemas.openxmlformats.org/officeDocument/2006/relationships" id="271" r:id="R7288bd0b5f3c4c74"/>
    <p:sldId xmlns:r="http://schemas.openxmlformats.org/officeDocument/2006/relationships" id="272" r:id="Rd9148f8c7c3a4462"/>
    <p:sldId xmlns:r="http://schemas.openxmlformats.org/officeDocument/2006/relationships" id="273" r:id="R5010555c881f4dc2"/>
    <p:sldId xmlns:r="http://schemas.openxmlformats.org/officeDocument/2006/relationships" id="274" r:id="R29aba57066f14926"/>
    <p:sldId xmlns:r="http://schemas.openxmlformats.org/officeDocument/2006/relationships" id="275" r:id="R7e0851940ae24ad6"/>
    <p:sldId xmlns:r="http://schemas.openxmlformats.org/officeDocument/2006/relationships" id="276" r:id="R1c8987c4381c4f12"/>
    <p:sldId xmlns:r="http://schemas.openxmlformats.org/officeDocument/2006/relationships" id="277" r:id="R3ac35138290d44f0"/>
    <p:sldId xmlns:r="http://schemas.openxmlformats.org/officeDocument/2006/relationships" id="278" r:id="Ra9b4ea0057654978"/>
    <p:sldId xmlns:r="http://schemas.openxmlformats.org/officeDocument/2006/relationships" id="279" r:id="R36765253935a4829"/>
    <p:sldId xmlns:r="http://schemas.openxmlformats.org/officeDocument/2006/relationships" id="280" r:id="R06cf5d27b6a64f11"/>
    <p:sldId xmlns:r="http://schemas.openxmlformats.org/officeDocument/2006/relationships" id="281" r:id="R9bf832672ef447cc"/>
    <p:sldId xmlns:r="http://schemas.openxmlformats.org/officeDocument/2006/relationships" id="282" r:id="Rfec69ed5ce4f4302"/>
    <p:sldId xmlns:r="http://schemas.openxmlformats.org/officeDocument/2006/relationships" id="283" r:id="R0fee9d802bb6412f"/>
    <p:sldId xmlns:r="http://schemas.openxmlformats.org/officeDocument/2006/relationships" id="284" r:id="R10515766362c4d24"/>
    <p:sldId xmlns:r="http://schemas.openxmlformats.org/officeDocument/2006/relationships" id="285" r:id="Rda155cc622fd44d3"/>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c1773cfa2c4483f" /><Relationship Type="http://schemas.openxmlformats.org/officeDocument/2006/relationships/slideMaster" Target="/ppt/slideMasters/slideMaster1.xml" Id="Rec00b4c647d7474b" /><Relationship Type="http://schemas.openxmlformats.org/officeDocument/2006/relationships/notesMaster" Target="/ppt/notesMasters/notesMaster1.xml" Id="Rb64c7a9e5ec44acd" /><Relationship Type="http://schemas.openxmlformats.org/officeDocument/2006/relationships/presProps" Target="/ppt/presProps.xml" Id="R703469583ba342f7" /><Relationship Type="http://schemas.openxmlformats.org/officeDocument/2006/relationships/viewProps" Target="/ppt/viewProps.xml" Id="R45ab15adf46e412f" /><Relationship Type="http://schemas.openxmlformats.org/officeDocument/2006/relationships/tableStyles" Target="/ppt/tableStyles.xml" Id="Rc3c5b24933fc45ec" /><Relationship Type="http://schemas.openxmlformats.org/officeDocument/2006/relationships/slide" Target="/ppt/slides/slide1.xml" Id="Rfcaf31ba22a7406b" /><Relationship Type="http://schemas.openxmlformats.org/officeDocument/2006/relationships/slide" Target="/ppt/slides/slide2.xml" Id="R12457aadb27f4f67" /><Relationship Type="http://schemas.openxmlformats.org/officeDocument/2006/relationships/slide" Target="/ppt/slides/slide3.xml" Id="R870a97232032438b" /><Relationship Type="http://schemas.openxmlformats.org/officeDocument/2006/relationships/slide" Target="/ppt/slides/slide4.xml" Id="Rd8469736074549fa" /><Relationship Type="http://schemas.openxmlformats.org/officeDocument/2006/relationships/slide" Target="/ppt/slides/slide5.xml" Id="R2747f7df28084547" /><Relationship Type="http://schemas.openxmlformats.org/officeDocument/2006/relationships/slide" Target="/ppt/slides/slide6.xml" Id="R3facd6641a7848a3" /><Relationship Type="http://schemas.openxmlformats.org/officeDocument/2006/relationships/slide" Target="/ppt/slides/slide7.xml" Id="R0c78cbf613704dbd" /><Relationship Type="http://schemas.openxmlformats.org/officeDocument/2006/relationships/slide" Target="/ppt/slides/slide8.xml" Id="R065e4773ad844374" /><Relationship Type="http://schemas.openxmlformats.org/officeDocument/2006/relationships/slide" Target="/ppt/slides/slide9.xml" Id="R0c01c57dc1ae4591" /><Relationship Type="http://schemas.openxmlformats.org/officeDocument/2006/relationships/slide" Target="/ppt/slides/slide10.xml" Id="R112f76c494884819" /><Relationship Type="http://schemas.openxmlformats.org/officeDocument/2006/relationships/slide" Target="/ppt/slides/slide11.xml" Id="Rfe57098ed5c1439f" /><Relationship Type="http://schemas.openxmlformats.org/officeDocument/2006/relationships/slide" Target="/ppt/slides/slide12.xml" Id="R7ba5d2a61cc548ef" /><Relationship Type="http://schemas.openxmlformats.org/officeDocument/2006/relationships/slide" Target="/ppt/slides/slide13.xml" Id="R8205d7aae11a47f4" /><Relationship Type="http://schemas.openxmlformats.org/officeDocument/2006/relationships/slide" Target="/ppt/slides/slide14.xml" Id="R1040b4af397445f5" /><Relationship Type="http://schemas.openxmlformats.org/officeDocument/2006/relationships/slide" Target="/ppt/slides/slide15.xml" Id="Re3776142b69a400c" /><Relationship Type="http://schemas.openxmlformats.org/officeDocument/2006/relationships/slide" Target="/ppt/slides/slide16.xml" Id="R7288bd0b5f3c4c74" /><Relationship Type="http://schemas.openxmlformats.org/officeDocument/2006/relationships/slide" Target="/ppt/slides/slide17.xml" Id="Rd9148f8c7c3a4462" /><Relationship Type="http://schemas.openxmlformats.org/officeDocument/2006/relationships/slide" Target="/ppt/slides/slide18.xml" Id="R5010555c881f4dc2" /><Relationship Type="http://schemas.openxmlformats.org/officeDocument/2006/relationships/slide" Target="/ppt/slides/slide19.xml" Id="R29aba57066f14926" /><Relationship Type="http://schemas.openxmlformats.org/officeDocument/2006/relationships/slide" Target="/ppt/slides/slide20.xml" Id="R7e0851940ae24ad6" /><Relationship Type="http://schemas.openxmlformats.org/officeDocument/2006/relationships/slide" Target="/ppt/slides/slide21.xml" Id="R1c8987c4381c4f12" /><Relationship Type="http://schemas.openxmlformats.org/officeDocument/2006/relationships/slide" Target="/ppt/slides/slide22.xml" Id="R3ac35138290d44f0" /><Relationship Type="http://schemas.openxmlformats.org/officeDocument/2006/relationships/slide" Target="/ppt/slides/slide23.xml" Id="Ra9b4ea0057654978" /><Relationship Type="http://schemas.openxmlformats.org/officeDocument/2006/relationships/slide" Target="/ppt/slides/slide24.xml" Id="R36765253935a4829" /><Relationship Type="http://schemas.openxmlformats.org/officeDocument/2006/relationships/slide" Target="/ppt/slides/slide25.xml" Id="R06cf5d27b6a64f11" /><Relationship Type="http://schemas.openxmlformats.org/officeDocument/2006/relationships/slide" Target="/ppt/slides/slide26.xml" Id="R9bf832672ef447cc" /><Relationship Type="http://schemas.openxmlformats.org/officeDocument/2006/relationships/slide" Target="/ppt/slides/slide27.xml" Id="Rfec69ed5ce4f4302" /><Relationship Type="http://schemas.openxmlformats.org/officeDocument/2006/relationships/slide" Target="/ppt/slides/slide28.xml" Id="R0fee9d802bb6412f" /><Relationship Type="http://schemas.openxmlformats.org/officeDocument/2006/relationships/slide" Target="/ppt/slides/slide29.xml" Id="R10515766362c4d24" /><Relationship Type="http://schemas.openxmlformats.org/officeDocument/2006/relationships/slide" Target="/ppt/slides/slide30.xml" Id="Rda155cc622fd44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04203eddbe41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d816f9df36421f" /><Relationship Type="http://schemas.openxmlformats.org/officeDocument/2006/relationships/notesMaster" Target="/ppt/notesMasters/notesMaster1.xml" Id="R5e8286538a5e44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b5e13ee7c04fa5" /><Relationship Type="http://schemas.openxmlformats.org/officeDocument/2006/relationships/notesMaster" Target="/ppt/notesMasters/notesMaster1.xml" Id="Rdffed15e78ed49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ebc44e049f4650" /><Relationship Type="http://schemas.openxmlformats.org/officeDocument/2006/relationships/notesMaster" Target="/ppt/notesMasters/notesMaster1.xml" Id="R18e143e7a4d548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87043be4aa45da" /><Relationship Type="http://schemas.openxmlformats.org/officeDocument/2006/relationships/notesMaster" Target="/ppt/notesMasters/notesMaster1.xml" Id="Rcd0e66b74c4c48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d4102613324bcc" /><Relationship Type="http://schemas.openxmlformats.org/officeDocument/2006/relationships/notesMaster" Target="/ppt/notesMasters/notesMaster1.xml" Id="R61c301aa454442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f03612dd3c4960" /><Relationship Type="http://schemas.openxmlformats.org/officeDocument/2006/relationships/notesMaster" Target="/ppt/notesMasters/notesMaster1.xml" Id="R9bf164b05c1f4f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0f035caa934392" /><Relationship Type="http://schemas.openxmlformats.org/officeDocument/2006/relationships/notesMaster" Target="/ppt/notesMasters/notesMaster1.xml" Id="Rd646e130d0574d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76ca06d23c4438" /><Relationship Type="http://schemas.openxmlformats.org/officeDocument/2006/relationships/notesMaster" Target="/ppt/notesMasters/notesMaster1.xml" Id="R863a0859e7d24e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43894ea9264107" /><Relationship Type="http://schemas.openxmlformats.org/officeDocument/2006/relationships/notesMaster" Target="/ppt/notesMasters/notesMaster1.xml" Id="Rbb70bf3fb56146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f394fe56f2406e" /><Relationship Type="http://schemas.openxmlformats.org/officeDocument/2006/relationships/notesMaster" Target="/ppt/notesMasters/notesMaster1.xml" Id="R28e6d639a7db4d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3e372e32af4140" /><Relationship Type="http://schemas.openxmlformats.org/officeDocument/2006/relationships/notesMaster" Target="/ppt/notesMasters/notesMaster1.xml" Id="R7377cc812d6b4a0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cec30c52034c7a" /><Relationship Type="http://schemas.openxmlformats.org/officeDocument/2006/relationships/notesMaster" Target="/ppt/notesMasters/notesMaster1.xml" Id="Rc41f98f292e84d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eda0a2bfb547ee" /><Relationship Type="http://schemas.openxmlformats.org/officeDocument/2006/relationships/notesMaster" Target="/ppt/notesMasters/notesMaster1.xml" Id="Ref9d12ec1e9845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439f3e76f54c95" /><Relationship Type="http://schemas.openxmlformats.org/officeDocument/2006/relationships/notesMaster" Target="/ppt/notesMasters/notesMaster1.xml" Id="R64d577767b2f44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5557250e6042d9" /><Relationship Type="http://schemas.openxmlformats.org/officeDocument/2006/relationships/notesMaster" Target="/ppt/notesMasters/notesMaster1.xml" Id="Rd2f013588b1040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ff7793bfed4613" /><Relationship Type="http://schemas.openxmlformats.org/officeDocument/2006/relationships/notesMaster" Target="/ppt/notesMasters/notesMaster1.xml" Id="R3827b84798c64d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92497a4e88f446f" /><Relationship Type="http://schemas.openxmlformats.org/officeDocument/2006/relationships/notesMaster" Target="/ppt/notesMasters/notesMaster1.xml" Id="R9ec4b05051cd46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43bd8046174ade" /><Relationship Type="http://schemas.openxmlformats.org/officeDocument/2006/relationships/notesMaster" Target="/ppt/notesMasters/notesMaster1.xml" Id="Rd0e72d752c7747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9bdc62d14144024" /><Relationship Type="http://schemas.openxmlformats.org/officeDocument/2006/relationships/notesMaster" Target="/ppt/notesMasters/notesMaster1.xml" Id="R97e588ddabdd495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5016093bb54875" /><Relationship Type="http://schemas.openxmlformats.org/officeDocument/2006/relationships/notesMaster" Target="/ppt/notesMasters/notesMaster1.xml" Id="Ra578a2de8eec402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22412153004918" /><Relationship Type="http://schemas.openxmlformats.org/officeDocument/2006/relationships/notesMaster" Target="/ppt/notesMasters/notesMaster1.xml" Id="Rd05909079a2e485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31823da33944c9" /><Relationship Type="http://schemas.openxmlformats.org/officeDocument/2006/relationships/notesMaster" Target="/ppt/notesMasters/notesMaster1.xml" Id="R2e6d84f88e394fb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92c95d286e9433b" /><Relationship Type="http://schemas.openxmlformats.org/officeDocument/2006/relationships/notesMaster" Target="/ppt/notesMasters/notesMaster1.xml" Id="Rbf734245e6f44b6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efcc5af43084ec1" /><Relationship Type="http://schemas.openxmlformats.org/officeDocument/2006/relationships/notesMaster" Target="/ppt/notesMasters/notesMaster1.xml" Id="Ra35834641ed148a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1a7bd2797f5476f" /><Relationship Type="http://schemas.openxmlformats.org/officeDocument/2006/relationships/notesMaster" Target="/ppt/notesMasters/notesMaster1.xml" Id="R4dd964f814f644e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c3aeaed58f3433f" /><Relationship Type="http://schemas.openxmlformats.org/officeDocument/2006/relationships/notesMaster" Target="/ppt/notesMasters/notesMaster1.xml" Id="R272dce4fb53044e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cb59c1580dd4a58" /><Relationship Type="http://schemas.openxmlformats.org/officeDocument/2006/relationships/notesMaster" Target="/ppt/notesMasters/notesMaster1.xml" Id="Rf19b349efa8645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38c5a9426d94593" /><Relationship Type="http://schemas.openxmlformats.org/officeDocument/2006/relationships/notesMaster" Target="/ppt/notesMasters/notesMaster1.xml" Id="Rcd782b19b81c440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c0776e02714425a" /><Relationship Type="http://schemas.openxmlformats.org/officeDocument/2006/relationships/notesMaster" Target="/ppt/notesMasters/notesMaster1.xml" Id="R5bd1769a96734e4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9049117dd564a1b" /><Relationship Type="http://schemas.openxmlformats.org/officeDocument/2006/relationships/notesMaster" Target="/ppt/notesMasters/notesMaster1.xml" Id="R484cb425ee3345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and framing requested by Mark Austin. Results come from the committed benchmark JSON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results/benchmark-results.json and results/typesafe-benchmark-results.json. Clearance is P(chosen) minus P(correct). Margin is the average of P(chosen) minus P(next-best).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results/bfcl-routing-modernbert-results.json and results/bfcl-routing-typesafe-results.json. Clearance is P(chosen) minus P(correct). Margin is the average of P(chosen) minus P(next-best). This derived subset is not an official BFCL leaderboard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figures are computed from the four committed result files. Clearance is the average probability distance from the chosen answer to the labeled correct answer. Margin is the average probability distance from the chosen answer to the next-best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TypeSafe API reference: https://docs.typesafe.ai/api</a:t>
            </a:r>
          </a:p>
          <a:p xmlns:a="http://schemas.openxmlformats.org/drawingml/2006/main">
            <a:r>
              <a:t>TypeSafe models: https://docs.typesafe.ai/models</a:t>
            </a:r>
          </a:p>
          <a:p xmlns:a="http://schemas.openxmlformats.org/drawingml/2006/main">
            <a:r>
              <a:t>TypeSafe confidence: https://docs.typesafe.ai/confidence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tool routing subset is derived from BFCL V4 at commit 6ea57973c7a6097fd7c5915698c54c17c5b1b6c8. Clearance is lower-is-better. Average margin is higher-is-better.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derived subset maps BFCL's Multiple Function category to tool selection and its Irrelevance category to tool-vs-no-tool classification.</a:t>
            </a:r>
          </a:p>
          <a:p xmlns:a="http://schemas.openxmlformats.org/drawingml/2006/main">
            <a:r>
              <a:t>Official BFCL documentation: https://github.com/ShishirPatil/gorilla/blob/main/berkeley-function-call-leaderboard/bfcl_eval/data/README.md</a:t>
            </a:r>
          </a:p>
          <a:p xmlns:a="http://schemas.openxmlformats.org/drawingml/2006/main">
            <a:r>
              <a:t>Stage 2 is intentionally not scored here because neither classifier generates argument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ModernBERT pipeline restored from the original deck's How it works slide.</a:t>
            </a:r>
          </a:p>
          <a:p xmlns:a="http://schemas.openxmlformats.org/drawingml/2006/main">
            <a:r>
              <a:t>The answer/review counts are the local ModernBERT results: 5 clear, 7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positive</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four</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paris</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mammal</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stopped</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ordering</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kilometre</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spam</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french</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sink</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python</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critical</a:t>
            </a:r>
          </a:p>
          <a:p xmlns:a="http://schemas.openxmlformats.org/drawingml/2006/main">
            <a:r>
              <a:t>Local result source: results/benchmark-results.json</a:t>
            </a:r>
          </a:p>
          <a:p xmlns:a="http://schemas.openxmlformats.org/drawingml/2006/main">
            <a:r>
              <a:t>TypeSafe result source: results/typesafe-benchmark-results.json</a:t>
            </a:r>
          </a:p>
          <a:p xmlns:a="http://schemas.openxmlformats.org/drawingml/2006/main">
            <a:r>
              <a:t>TypeSafe model: jev-1.13.0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results/bfcl-routing-modernbert-results.json and results/bfcl-routing-typesafe-results.json.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results/bfcl-routing-modernbert-results.json and results/bfcl-routing-typesafe-results.json.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retained from the original local NLI benchmark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retained from the original local NLI benchmark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retained from the original local NLI benchmark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reference: https://docs.typesafe.ai/api</a:t>
            </a:r>
          </a:p>
          <a:p xmlns:a="http://schemas.openxmlformats.org/drawingml/2006/main">
            <a:r>
              <a:t>Implementation: poc/typesafe_decision_poc.py</a:t>
            </a:r>
          </a:p>
          <a:p xmlns:a="http://schemas.openxmlformats.org/drawingml/2006/main">
            <a:r>
              <a:t>Raw audit artifact: results/typesafe-benchmark-raw-responses.json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fields: https://docs.typesafe.ai/api</a:t>
            </a:r>
          </a:p>
          <a:p xmlns:a="http://schemas.openxmlformats.org/drawingml/2006/main">
            <a:r>
              <a:t>Confidence semantics: https://docs.typesafe.ai/confidence</a:t>
            </a:r>
          </a:p>
          <a:p xmlns:a="http://schemas.openxmlformats.org/drawingml/2006/main">
            <a:r>
              <a:t>The top-two margin is computed by poc/typesafe_decision_poc.py and is not a TypeSafe response field.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TypeSafe API reference: https://docs.typesafe.ai/api</a:t>
            </a:r>
          </a:p>
          <a:p xmlns:a="http://schemas.openxmlformats.org/drawingml/2006/main">
            <a:r>
              <a:t>Local implementation: poc/zero_shot_decision_poc.py</a:t>
            </a:r>
          </a:p>
          <a:p xmlns:a="http://schemas.openxmlformats.org/drawingml/2006/main">
            <a:r>
              <a:t>Hosted implementation: poc/typesafe_decision_poc.py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DeBERTa: https://huggingface.co/MoritzLaurer/deberta-v3-large-zeroshot-v2.0</a:t>
            </a:r>
          </a:p>
          <a:p xmlns:a="http://schemas.openxmlformats.org/drawingml/2006/main">
            <a:r>
              <a:t>BART MNLI: https://huggingface.co/facebook/bart-large-mnli</a:t>
            </a:r>
          </a:p>
          <a:p xmlns:a="http://schemas.openxmlformats.org/drawingml/2006/main">
            <a:r>
              <a:t>mDeBERTa MNLI/XNLI: https://huggingface.co/MoritzLaurer/mDeBERTa-v3-base-mnli-xnli</a:t>
            </a:r>
          </a:p>
          <a:p xmlns:a="http://schemas.openxmlformats.org/drawingml/2006/main">
            <a:r>
              <a:t>GLiClass: https://huggingface.co/knowledgator/gliclass-small-v1.0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e3ab30311145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634457635e4c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ae953af68142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f3946934cc4f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744248800641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4e91f4d754405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339e60a0d4547a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f5245f80cb24e8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be3327d03a640f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81402f314c742b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cc8426fb15f4d2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D66CB87-7839-4999-B810-E254A0FFAAD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9EDB80F3-05B2-4BB4-A7DF-53F0456695BD}"/>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C4AD16F1-C356-4B67-9E91-175CB8A1F3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BD0E38C-A733-4E80-8C85-7A23920E77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374A130-541A-4EA1-B2CB-C5021500C7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23C786-B584-4D52-B814-72EA5BAA7C4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D1C2366-105F-4731-AA89-AD9000DAEC5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E700BB2-5D44-4859-BCE4-197FD7151C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112D79D-5D04-4CFD-A070-7C93AE7265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4B8B404-5377-4759-92FD-37E42C63BE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DA5D131-37D0-408E-A475-C6F93B98CA69}"/>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A289A4F-843C-455E-A3D3-D0C8050E6508}"/>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BF0BC917-E232-4F50-B9C5-63E1B9309A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8A18060-06D5-4DD1-A184-E0A19CCF51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97ED477-46D0-4CFD-B5A5-E3152B0400C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6BFA27-2D35-4FA0-AC69-8D64A2CD9E8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322C971-0653-488A-908A-E364DC318DC2}"/>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3009DF51-1A7B-4AE2-B13A-68DFFFF2D9B2}"/>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55A93C7D-2C18-4E37-9EE0-3FE705E2EB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91B5373-15F3-4E0B-BEB6-E39B90DA0D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6F0F994-D3C3-431A-9990-D7DF5150CD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C297475-9AE2-4696-ACE0-C4940B61C94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24951ED-BB51-4115-9DA6-80736075FC0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FE8112B-036E-44E0-901F-D03D772DC85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CD15129B-6D61-418C-8A8E-774F9C8E57D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467B08F-3726-478D-853C-1536441B5AE7}"/>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8986771-6797-4F93-B20B-351703CF0A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C5607CA6-8301-4044-98C0-D0B84297668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48AE57-A462-43C7-A38F-5463E158E1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E2EC8A-561A-40FF-9F65-ADD155A3E16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55189605-55D8-4116-B31D-E2B8162EE7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3A12225E-17EC-4649-BEBA-51192673FF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DCF487C-8EAE-4B70-8F4F-3FF8E6F1A3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D7D0C6F-EC07-4B2B-B10B-63B4BA6500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41C56F9D-C25C-4EE1-AC72-192ACF6389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45E9EA73-035E-438C-ABDA-91BC9C05FA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1F32D4-AF6E-4890-830F-799C2E09861C}"/>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9FC26A7-604C-4A82-9D48-F9B71BF3C94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D681412-D1B7-44F8-AB07-5807F3439E6D}"/>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5C8A4C4-BEDA-4991-9EC2-D5FF2B593FC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FB5BEAB-1449-46DD-9845-8B665AAA6F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B8756DE-F16E-46E9-9601-C1476DD276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07361B-7CB6-4456-AFA1-FB1B922D9F47}"/>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3F005BC2-A64E-4C5F-B047-4D8BF856E386}"/>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806CB6B-89B2-4A54-A8F6-B3BF164E70C2}"/>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33221C1-9F53-43FC-AC82-DFA3768B49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DDB6FAEE-F408-4099-B04D-AAF55317C63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3E34922-6BD5-4427-B90C-F99F085A03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2EC675-67AD-4861-81EB-218D5BB9DE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8CB407D-FCC6-4F9F-8CFD-0BBAA2E8F69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741CA4B-5F12-468C-82AC-224A01D492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540112B-4DA3-4F0E-A4DD-F05ECC3809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E39638D-CEBE-4141-99A4-AB4251DE2E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99B01BA-1118-4E43-9883-3C42492E036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868C025-8055-4A5E-B7DC-E73C8954D22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A880E44-8B13-4A37-ADEF-3E2DCF7A0C7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586AFC5-D975-46B2-A2FF-80ED34B45E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680275D-42F0-4642-B0B8-B77FFF7E4B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d63806ee374704" /><Relationship Type="http://schemas.openxmlformats.org/officeDocument/2006/relationships/slideLayout" Target="/ppt/slideLayouts/slideLayout1.xml" Id="Rc8e5082f65784906" /><Relationship Type="http://schemas.openxmlformats.org/officeDocument/2006/relationships/slideLayout" Target="/ppt/slideLayouts/slideLayout2.xml" Id="Rb6729869a91a4edd" /><Relationship Type="http://schemas.openxmlformats.org/officeDocument/2006/relationships/slideLayout" Target="/ppt/slideLayouts/slideLayout3.xml" Id="Rac1af680b85d4241" /><Relationship Type="http://schemas.openxmlformats.org/officeDocument/2006/relationships/slideLayout" Target="/ppt/slideLayouts/slideLayout4.xml" Id="Rf55e627e4b594ebd" /><Relationship Type="http://schemas.openxmlformats.org/officeDocument/2006/relationships/slideLayout" Target="/ppt/slideLayouts/slideLayout5.xml" Id="Rea65233da53b45a2" /><Relationship Type="http://schemas.openxmlformats.org/officeDocument/2006/relationships/slideLayout" Target="/ppt/slideLayouts/slideLayout6.xml" Id="R10c08138c1794e5b" /><Relationship Type="http://schemas.openxmlformats.org/officeDocument/2006/relationships/slideLayout" Target="/ppt/slideLayouts/slideLayout7.xml" Id="R516b24e9f60a46e2" /><Relationship Type="http://schemas.openxmlformats.org/officeDocument/2006/relationships/slideLayout" Target="/ppt/slideLayouts/slideLayout8.xml" Id="Re5ad7d1232d84b9c" /><Relationship Type="http://schemas.openxmlformats.org/officeDocument/2006/relationships/slideLayout" Target="/ppt/slideLayouts/slideLayout9.xml" Id="R812c9315009b4691" /><Relationship Type="http://schemas.openxmlformats.org/officeDocument/2006/relationships/slideLayout" Target="/ppt/slideLayouts/slideLayout10.xml" Id="Refdf4d5839504380" /><Relationship Type="http://schemas.openxmlformats.org/officeDocument/2006/relationships/slideLayout" Target="/ppt/slideLayouts/slideLayout11.xml" Id="R957c44d2d1424e8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B5A021B-FC36-4D96-B589-EEA0E600435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4DB28A3-C3A0-4D12-911A-13BB16DF1D1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760F59-8B62-444D-B267-1373AFA20423}"/>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E2DA1D4-99A2-46AF-8C59-A1014F4EBEC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C3DAE3-75C8-4149-A87E-2543C207153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e5082f65784906"/>
    <p:sldLayoutId xmlns:r="http://schemas.openxmlformats.org/officeDocument/2006/relationships" id="2147483650" r:id="Rb6729869a91a4edd"/>
    <p:sldLayoutId xmlns:r="http://schemas.openxmlformats.org/officeDocument/2006/relationships" id="2147483651" r:id="Rac1af680b85d4241"/>
    <p:sldLayoutId xmlns:r="http://schemas.openxmlformats.org/officeDocument/2006/relationships" id="2147483652" r:id="Rf55e627e4b594ebd"/>
    <p:sldLayoutId xmlns:r="http://schemas.openxmlformats.org/officeDocument/2006/relationships" id="2147483653" r:id="Rea65233da53b45a2"/>
    <p:sldLayoutId xmlns:r="http://schemas.openxmlformats.org/officeDocument/2006/relationships" id="2147483654" r:id="R10c08138c1794e5b"/>
    <p:sldLayoutId xmlns:r="http://schemas.openxmlformats.org/officeDocument/2006/relationships" id="2147483655" r:id="R516b24e9f60a46e2"/>
    <p:sldLayoutId xmlns:r="http://schemas.openxmlformats.org/officeDocument/2006/relationships" id="2147483656" r:id="Re5ad7d1232d84b9c"/>
    <p:sldLayoutId xmlns:r="http://schemas.openxmlformats.org/officeDocument/2006/relationships" id="2147483657" r:id="R812c9315009b4691"/>
    <p:sldLayoutId xmlns:r="http://schemas.openxmlformats.org/officeDocument/2006/relationships" id="2147483658" r:id="Refdf4d5839504380"/>
    <p:sldLayoutId xmlns:r="http://schemas.openxmlformats.org/officeDocument/2006/relationships" id="2147483659" r:id="R957c44d2d1424e85"/>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e238d3f740b14f16" /><Relationship Type="http://schemas.openxmlformats.org/officeDocument/2006/relationships/notesSlide" Target="/ppt/notesSlides/notesSlide1.xml" Id="R24fdb5f4bb4246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2f3eaee5c74f12" /><Relationship Type="http://schemas.openxmlformats.org/officeDocument/2006/relationships/chart" Target="/ppt/slides/charts/chart1.xml" Id="Re26522ce187d4fb2" /><Relationship Type="http://schemas.openxmlformats.org/officeDocument/2006/relationships/chart" Target="/ppt/slides/charts/chart2.xml" Id="Rc03d787a3b194aaf" /><Relationship Type="http://schemas.openxmlformats.org/officeDocument/2006/relationships/notesSlide" Target="/ppt/notesSlides/notesSlide2.xml" Id="R0fc38caf88424f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630f11892f4796" /><Relationship Type="http://schemas.openxmlformats.org/officeDocument/2006/relationships/chart" Target="/ppt/slides/charts/chart3.xml" Id="R6a8482f0eca64841" /><Relationship Type="http://schemas.openxmlformats.org/officeDocument/2006/relationships/chart" Target="/ppt/slides/charts/chart4.xml" Id="R334e9bacfa144efb" /><Relationship Type="http://schemas.openxmlformats.org/officeDocument/2006/relationships/notesSlide" Target="/ppt/notesSlides/notesSlide3.xml" Id="R5dfa7337260b45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f28263e0b31741ad" /><Relationship Type="http://schemas.openxmlformats.org/officeDocument/2006/relationships/notesSlide" Target="/ppt/notesSlides/notesSlide4.xml" Id="Rc19bf0b4f8d441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0178f2cf0fa846e5" /><Relationship Type="http://schemas.openxmlformats.org/officeDocument/2006/relationships/notesSlide" Target="/ppt/notesSlides/notesSlide5.xml" Id="R52e635eac79546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d7f4780109d04866" /><Relationship Type="http://schemas.openxmlformats.org/officeDocument/2006/relationships/notesSlide" Target="/ppt/notesSlides/notesSlide6.xml" Id="Re47e82f17b6d42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5e92169de340c6" /><Relationship Type="http://schemas.openxmlformats.org/officeDocument/2006/relationships/notesSlide" Target="/ppt/notesSlides/notesSlide7.xml" Id="R86730ef562cf4f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59f63013da4a76" /><Relationship Type="http://schemas.openxmlformats.org/officeDocument/2006/relationships/notesSlide" Target="/ppt/notesSlides/notesSlide8.xml" Id="Rd79f7c9a0e644f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6ad0c7368004cc9" /><Relationship Type="http://schemas.openxmlformats.org/officeDocument/2006/relationships/notesSlide" Target="/ppt/notesSlides/notesSlide9.xml" Id="R46a0c71cb96842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eded364833dc4689" /><Relationship Type="http://schemas.openxmlformats.org/officeDocument/2006/relationships/notesSlide" Target="/ppt/notesSlides/notesSlide10.xml" Id="Rbc01bca0d29845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5ffcd0fbc8d14aed" /><Relationship Type="http://schemas.openxmlformats.org/officeDocument/2006/relationships/notesSlide" Target="/ppt/notesSlides/notesSlide11.xml" Id="R74ccff2c1c4845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9748c3eefdcc47e2" /><Relationship Type="http://schemas.openxmlformats.org/officeDocument/2006/relationships/notesSlide" Target="/ppt/notesSlides/notesSlide12.xml" Id="Rdf0836b71b7d40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70043e9227564ba8" /><Relationship Type="http://schemas.openxmlformats.org/officeDocument/2006/relationships/notesSlide" Target="/ppt/notesSlides/notesSlide13.xml" Id="R6dbb3cf41d444d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5c184ec68a554407" /><Relationship Type="http://schemas.openxmlformats.org/officeDocument/2006/relationships/notesSlide" Target="/ppt/notesSlides/notesSlide14.xml" Id="R5db8334ffa3f42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0fba2e5ed32d44f9" /><Relationship Type="http://schemas.openxmlformats.org/officeDocument/2006/relationships/notesSlide" Target="/ppt/notesSlides/notesSlide15.xml" Id="Rae31fae001d248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7467ea2fe65942d0" /><Relationship Type="http://schemas.openxmlformats.org/officeDocument/2006/relationships/notesSlide" Target="/ppt/notesSlides/notesSlide16.xml" Id="R6a3ea3aae9aa483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c683cbd28cb94bfd" /><Relationship Type="http://schemas.openxmlformats.org/officeDocument/2006/relationships/notesSlide" Target="/ppt/notesSlides/notesSlide17.xml" Id="R9245994979a441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c82f71bc85da49ba" /><Relationship Type="http://schemas.openxmlformats.org/officeDocument/2006/relationships/notesSlide" Target="/ppt/notesSlides/notesSlide18.xml" Id="Rede0c542efe642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a45525bdabcd4e0b" /><Relationship Type="http://schemas.openxmlformats.org/officeDocument/2006/relationships/notesSlide" Target="/ppt/notesSlides/notesSlide19.xml" Id="R8ba46b841c0a4f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7431f03021bc4ba8" /><Relationship Type="http://schemas.openxmlformats.org/officeDocument/2006/relationships/notesSlide" Target="/ppt/notesSlides/notesSlide20.xml" Id="R3ee187be37924c1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0c22d2ee00774419" /><Relationship Type="http://schemas.openxmlformats.org/officeDocument/2006/relationships/notesSlide" Target="/ppt/notesSlides/notesSlide21.xml" Id="Rb6db2a842d8a42c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401096f9f7f4709" /><Relationship Type="http://schemas.openxmlformats.org/officeDocument/2006/relationships/notesSlide" Target="/ppt/notesSlides/notesSlide22.xml" Id="R8557da02621d46a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e038c1d499e4e8f" /><Relationship Type="http://schemas.openxmlformats.org/officeDocument/2006/relationships/notesSlide" Target="/ppt/notesSlides/notesSlide23.xml" Id="R2e0cae69c4a443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fde0029c331a442f" /><Relationship Type="http://schemas.openxmlformats.org/officeDocument/2006/relationships/notesSlide" Target="/ppt/notesSlides/notesSlide24.xml" Id="R45611cbd79d34d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29aa2d2ce046485e" /><Relationship Type="http://schemas.openxmlformats.org/officeDocument/2006/relationships/notesSlide" Target="/ppt/notesSlides/notesSlide25.xml" Id="R99eb5fdf4746454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9d1eb5b6168d459c" /><Relationship Type="http://schemas.openxmlformats.org/officeDocument/2006/relationships/notesSlide" Target="/ppt/notesSlides/notesSlide26.xml" Id="R0010f9880f664b8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9f527c52d6f45b4" /><Relationship Type="http://schemas.openxmlformats.org/officeDocument/2006/relationships/notesSlide" Target="/ppt/notesSlides/notesSlide27.xml" Id="R628d685fd16d439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1155f8896664077" /><Relationship Type="http://schemas.openxmlformats.org/officeDocument/2006/relationships/notesSlide" Target="/ppt/notesSlides/notesSlide28.xml" Id="Ra68fdd2f37574f6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e5fb154fa694b26" /><Relationship Type="http://schemas.openxmlformats.org/officeDocument/2006/relationships/notesSlide" Target="/ppt/notesSlides/notesSlide29.xml" Id="Rea603c6b5ccc4ed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f07e0d30b784179" /><Relationship Type="http://schemas.openxmlformats.org/officeDocument/2006/relationships/notesSlide" Target="/ppt/notesSlides/notesSlide30.xml" Id="R29b205706eb34ff3" /></Relationships>
</file>

<file path=ppt/slides/charts/chart1.xml><?xml version="1.0" encoding="utf-8"?>
<c:chartSpace xmlns:c="http://schemas.openxmlformats.org/drawingml/2006/chart">
  <c:lang val="en-US"/>
  <c:chart>
    <c:plotArea>
      <c:barChart>
        <c:barDir val="col"/>
        <c:grouping val="clustered"/>
        <c:varyColors val="0"/>
        <c:ser>
          <c:idx val="0"/>
          <c:order val="0"/>
          <c:tx>
            <c:v>ModernBERT NLI</c:v>
          </c:tx>
          <c:spPr>
            <a:solidFill xmlns:a="http://schemas.openxmlformats.org/drawingml/2006/main">
              <a:srgbClr val="065A82"/>
            </a:solidFill>
            <a:ln xmlns:a="http://schemas.openxmlformats.org/drawingml/2006/main" w="9525">
              <a:solidFill>
                <a:srgbClr val="065A82"/>
              </a:solidFill>
              <a:prstDash val="solid"/>
            </a:ln>
          </c:spPr>
          <c:cat>
            <c:strLit>
              <c:ptCount val="1"/>
              <c:pt idx="0">
                <c:v>Accuracy</c:v>
              </c:pt>
            </c:strLit>
          </c:cat>
          <c:val>
            <c:numLit>
              <c:formatCode>0%</c:formatCode>
              <c:ptCount val="1"/>
              <c:pt idx="0">
                <c:v>1</c:v>
              </c:pt>
            </c:numLit>
          </c:val>
        </c:ser>
        <c:ser>
          <c:idx val="1"/>
          <c:order val="1"/>
          <c:tx>
            <c:v>TypeSafe.ai JEV</c:v>
          </c:tx>
          <c:spPr>
            <a:solidFill xmlns:a="http://schemas.openxmlformats.org/drawingml/2006/main">
              <a:srgbClr val="815AC0"/>
            </a:solidFill>
            <a:ln xmlns:a="http://schemas.openxmlformats.org/drawingml/2006/main" w="9525">
              <a:solidFill>
                <a:srgbClr val="815AC0"/>
              </a:solidFill>
              <a:prstDash val="solid"/>
            </a:ln>
          </c:spPr>
          <c:cat>
            <c:strLit>
              <c:ptCount val="1"/>
              <c:pt idx="0">
                <c:v>Accuracy</c:v>
              </c:pt>
            </c:strLit>
          </c:cat>
          <c:val>
            <c:numLit>
              <c:formatCode>0%</c:formatCode>
              <c:ptCount val="1"/>
              <c:pt idx="0">
                <c:v>1</c:v>
              </c:pt>
            </c:numLit>
          </c:val>
        </c:ser>
        <c:dLbls>
          <c:txPr>
            <a:bodyPr xmlns:a="http://schemas.openxmlformats.org/drawingml/2006/main" anchorCtr="1"/>
            <a:lstStyle xmlns:a="http://schemas.openxmlformats.org/drawingml/2006/main"/>
            <a:p xmlns:a="http://schemas.openxmlformats.org/drawingml/2006/main">
              <a:pPr>
                <a:defRPr sz="975" b="1">
                  <a:solidFill>
                    <a:srgbClr val="1A1F2B"/>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E6"/>
            </a:solidFill>
            <a:prstDash val="solid"/>
          </a:ln>
        </c:spPr>
        <c:txPr>
          <a:bodyPr xmlns:a="http://schemas.openxmlformats.org/drawingml/2006/main" anchorCtr="1"/>
          <a:lstStyle xmlns:a="http://schemas.openxmlformats.org/drawingml/2006/main"/>
          <a:p xmlns:a="http://schemas.openxmlformats.org/drawingml/2006/main">
            <a:pPr>
              <a:defRPr sz="938">
                <a:solidFill>
                  <a:srgbClr val="1A1F2B"/>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9525">
              <a:solidFill>
                <a:srgbClr val="D5DFE6"/>
              </a:solidFill>
              <a:prstDash val="solid"/>
            </a:ln>
          </c:spPr>
        </c:majorGridlines>
        <c:numFmt formatCode="0%"/>
        <c:majorTickMark val="none"/>
        <c:minorTickMark val="none"/>
        <c:spPr>
          <a:ln xmlns:a="http://schemas.openxmlformats.org/drawingml/2006/main" w="9525">
            <a:solidFill>
              <a:srgbClr val="D5DFE6"/>
            </a:solidFill>
            <a:prstDash val="solid"/>
          </a:ln>
        </c:spPr>
        <c:txPr>
          <a:bodyPr xmlns:a="http://schemas.openxmlformats.org/drawingml/2006/main" anchorCtr="1"/>
          <a:lstStyle xmlns:a="http://schemas.openxmlformats.org/drawingml/2006/main"/>
          <a:p xmlns:a="http://schemas.openxmlformats.org/drawingml/2006/main">
            <a:pPr>
              <a:defRPr sz="863">
                <a:solidFill>
                  <a:srgbClr val="6B7A8C"/>
                </a:solidFill>
                <a:latin typeface="Calibri"/>
                <a:ea typeface="Calibri"/>
                <a:cs typeface="Calibri"/>
              </a:defRPr>
            </a:pPr>
          </a:p>
        </c:txPr>
        <c:crossAx val="48650112"/>
        <c:crossBetween val="between"/>
        <c:majorUnit val="0.2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38">
              <a:solidFill>
                <a:srgbClr val="1A1F2B"/>
              </a:solidFill>
              <a:latin typeface="Calibri"/>
              <a:ea typeface="Calibri"/>
              <a:cs typeface="Calibri"/>
            </a:defRPr>
          </a:pPr>
        </a:p>
      </c:txPr>
    </c:legend>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ModernBERT NLI</c:v>
          </c:tx>
          <c:spPr>
            <a:solidFill xmlns:a="http://schemas.openxmlformats.org/drawingml/2006/main">
              <a:srgbClr val="065A82"/>
            </a:solidFill>
            <a:ln xmlns:a="http://schemas.openxmlformats.org/drawingml/2006/main" w="9525">
              <a:solidFill>
                <a:srgbClr val="065A82"/>
              </a:solidFill>
              <a:prstDash val="solid"/>
            </a:ln>
          </c:spPr>
          <c:cat>
            <c:strLit>
              <c:ptCount val="4"/>
              <c:pt idx="0">
                <c:v>Correct (0)</c:v>
              </c:pt>
              <c:pt idx="1">
                <c:v>Wrong &lt;10</c:v>
              </c:pt>
              <c:pt idx="2">
                <c:v>Wrong 10–40</c:v>
              </c:pt>
              <c:pt idx="3">
                <c:v>Wrong 40+</c:v>
              </c:pt>
            </c:strLit>
          </c:cat>
          <c:val>
            <c:numLit>
              <c:formatCode>0</c:formatCode>
              <c:ptCount val="4"/>
              <c:pt idx="0">
                <c:v>12</c:v>
              </c:pt>
              <c:pt idx="1">
                <c:v>0</c:v>
              </c:pt>
              <c:pt idx="2">
                <c:v>0</c:v>
              </c:pt>
              <c:pt idx="3">
                <c:v>0</c:v>
              </c:pt>
            </c:numLit>
          </c:val>
        </c:ser>
        <c:ser>
          <c:idx val="1"/>
          <c:order val="1"/>
          <c:tx>
            <c:v>TypeSafe.ai JEV</c:v>
          </c:tx>
          <c:spPr>
            <a:solidFill xmlns:a="http://schemas.openxmlformats.org/drawingml/2006/main">
              <a:srgbClr val="815AC0"/>
            </a:solidFill>
            <a:ln xmlns:a="http://schemas.openxmlformats.org/drawingml/2006/main" w="9525">
              <a:solidFill>
                <a:srgbClr val="815AC0"/>
              </a:solidFill>
              <a:prstDash val="solid"/>
            </a:ln>
          </c:spPr>
          <c:cat>
            <c:strLit>
              <c:ptCount val="4"/>
              <c:pt idx="0">
                <c:v>Correct (0)</c:v>
              </c:pt>
              <c:pt idx="1">
                <c:v>Wrong &lt;10</c:v>
              </c:pt>
              <c:pt idx="2">
                <c:v>Wrong 10–40</c:v>
              </c:pt>
              <c:pt idx="3">
                <c:v>Wrong 40+</c:v>
              </c:pt>
            </c:strLit>
          </c:cat>
          <c:val>
            <c:numLit>
              <c:formatCode>0</c:formatCode>
              <c:ptCount val="4"/>
              <c:pt idx="0">
                <c:v>12</c:v>
              </c:pt>
              <c:pt idx="1">
                <c:v>0</c:v>
              </c:pt>
              <c:pt idx="2">
                <c:v>0</c:v>
              </c:pt>
              <c:pt idx="3">
                <c:v>0</c:v>
              </c:pt>
            </c:numLit>
          </c:val>
        </c:ser>
        <c:dLbls>
          <c:txPr>
            <a:bodyPr xmlns:a="http://schemas.openxmlformats.org/drawingml/2006/main" anchorCtr="1"/>
            <a:lstStyle xmlns:a="http://schemas.openxmlformats.org/drawingml/2006/main"/>
            <a:p xmlns:a="http://schemas.openxmlformats.org/drawingml/2006/main">
              <a:pPr>
                <a:defRPr sz="825" b="1">
                  <a:solidFill>
                    <a:srgbClr val="1A1F2B"/>
                  </a:solidFill>
                  <a:latin typeface="Calibri"/>
                  <a:ea typeface="Calibri"/>
                  <a:cs typeface="Calibri"/>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FE6"/>
            </a:solidFill>
            <a:prstDash val="solid"/>
          </a:ln>
        </c:spPr>
        <c:txPr>
          <a:bodyPr xmlns:a="http://schemas.openxmlformats.org/drawingml/2006/main" anchorCtr="1"/>
          <a:lstStyle xmlns:a="http://schemas.openxmlformats.org/drawingml/2006/main"/>
          <a:p xmlns:a="http://schemas.openxmlformats.org/drawingml/2006/main">
            <a:pPr>
              <a:defRPr sz="788">
                <a:solidFill>
                  <a:srgbClr val="1A1F2B"/>
                </a:solidFill>
                <a:latin typeface="Calibri"/>
                <a:ea typeface="Calibri"/>
                <a:cs typeface="Calibri"/>
              </a:defRPr>
            </a:pPr>
          </a:p>
        </c:txPr>
        <c:crossAx val="48672768"/>
      </c:catAx>
      <c:valAx>
        <c:axId val="48672768"/>
        <c:scaling>
          <c:orientation val="minMax"/>
          <c:max val="12"/>
          <c:min val="0"/>
        </c:scaling>
        <c:delete val="0"/>
        <c:axPos val="l"/>
        <c:majorGridlines>
          <c:spPr>
            <a:ln xmlns:a="http://schemas.openxmlformats.org/drawingml/2006/main" w="9525">
              <a:solidFill>
                <a:srgbClr val="D5DFE6"/>
              </a:solidFill>
              <a:prstDash val="solid"/>
            </a:ln>
          </c:spPr>
        </c:majorGridlines>
        <c:numFmt formatCode="0"/>
        <c:majorTickMark val="none"/>
        <c:minorTickMark val="none"/>
        <c:spPr>
          <a:ln xmlns:a="http://schemas.openxmlformats.org/drawingml/2006/main" w="9525">
            <a:solidFill>
              <a:srgbClr val="D5DFE6"/>
            </a:solidFill>
            <a:prstDash val="solid"/>
          </a:ln>
        </c:spPr>
        <c:txPr>
          <a:bodyPr xmlns:a="http://schemas.openxmlformats.org/drawingml/2006/main" anchorCtr="1"/>
          <a:lstStyle xmlns:a="http://schemas.openxmlformats.org/drawingml/2006/main"/>
          <a:p xmlns:a="http://schemas.openxmlformats.org/drawingml/2006/main">
            <a:pPr>
              <a:defRPr sz="863">
                <a:solidFill>
                  <a:srgbClr val="6B7A8C"/>
                </a:solidFill>
                <a:latin typeface="Calibri"/>
                <a:ea typeface="Calibri"/>
                <a:cs typeface="Calibri"/>
              </a:defRPr>
            </a:pPr>
          </a:p>
        </c:txPr>
        <c:crossAx val="48650112"/>
        <c:crossBetween val="between"/>
        <c:majorUnit val="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38">
              <a:solidFill>
                <a:srgbClr val="1A1F2B"/>
              </a:solidFill>
              <a:latin typeface="Calibri"/>
              <a:ea typeface="Calibri"/>
              <a:cs typeface="Calibri"/>
            </a:defRPr>
          </a:pPr>
        </a:p>
      </c:txPr>
    </c:legend>
    <c:plotVisOnly val="1"/>
  </c:chart>
  <c:spPr>
    <a:noFill xmlns:a="http://schemas.openxmlformats.org/drawingml/2006/main"/>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ModernBERT NLI</c:v>
          </c:tx>
          <c:spPr>
            <a:solidFill xmlns:a="http://schemas.openxmlformats.org/drawingml/2006/main">
              <a:srgbClr val="065A82"/>
            </a:solidFill>
            <a:ln xmlns:a="http://schemas.openxmlformats.org/drawingml/2006/main" w="9525">
              <a:solidFill>
                <a:srgbClr val="065A82"/>
              </a:solidFill>
              <a:prstDash val="solid"/>
            </a:ln>
          </c:spPr>
          <c:cat>
            <c:strLit>
              <c:ptCount val="3"/>
              <c:pt idx="0">
                <c:v>Overall</c:v>
              </c:pt>
              <c:pt idx="1">
                <c:v>Tool selection</c:v>
              </c:pt>
              <c:pt idx="2">
                <c:v>No-tool recall</c:v>
              </c:pt>
            </c:strLit>
          </c:cat>
          <c:val>
            <c:numLit>
              <c:formatCode>0%</c:formatCode>
              <c:ptCount val="3"/>
              <c:pt idx="0">
                <c:v>0.766667</c:v>
              </c:pt>
              <c:pt idx="1">
                <c:v>0.85</c:v>
              </c:pt>
              <c:pt idx="2">
                <c:v>0.6</c:v>
              </c:pt>
            </c:numLit>
          </c:val>
        </c:ser>
        <c:ser>
          <c:idx val="1"/>
          <c:order val="1"/>
          <c:tx>
            <c:v>TypeSafe.ai JEV</c:v>
          </c:tx>
          <c:spPr>
            <a:solidFill xmlns:a="http://schemas.openxmlformats.org/drawingml/2006/main">
              <a:srgbClr val="815AC0"/>
            </a:solidFill>
            <a:ln xmlns:a="http://schemas.openxmlformats.org/drawingml/2006/main" w="9525">
              <a:solidFill>
                <a:srgbClr val="815AC0"/>
              </a:solidFill>
              <a:prstDash val="solid"/>
            </a:ln>
          </c:spPr>
          <c:cat>
            <c:strLit>
              <c:ptCount val="3"/>
              <c:pt idx="0">
                <c:v>Overall</c:v>
              </c:pt>
              <c:pt idx="1">
                <c:v>Tool selection</c:v>
              </c:pt>
              <c:pt idx="2">
                <c:v>No-tool recall</c:v>
              </c:pt>
            </c:strLit>
          </c:cat>
          <c:val>
            <c:numLit>
              <c:formatCode>0%</c:formatCode>
              <c:ptCount val="3"/>
              <c:pt idx="0">
                <c:v>0.966667</c:v>
              </c:pt>
              <c:pt idx="1">
                <c:v>1</c:v>
              </c:pt>
              <c:pt idx="2">
                <c:v>0.9</c:v>
              </c:pt>
            </c:numLit>
          </c:val>
        </c:ser>
        <c:dLbls>
          <c:txPr>
            <a:bodyPr xmlns:a="http://schemas.openxmlformats.org/drawingml/2006/main" anchorCtr="1"/>
            <a:lstStyle xmlns:a="http://schemas.openxmlformats.org/drawingml/2006/main"/>
            <a:p xmlns:a="http://schemas.openxmlformats.org/drawingml/2006/main">
              <a:pPr>
                <a:defRPr sz="975" b="1">
                  <a:solidFill>
                    <a:srgbClr val="1A1F2B"/>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E6"/>
            </a:solidFill>
            <a:prstDash val="solid"/>
          </a:ln>
        </c:spPr>
        <c:txPr>
          <a:bodyPr xmlns:a="http://schemas.openxmlformats.org/drawingml/2006/main" anchorCtr="1"/>
          <a:lstStyle xmlns:a="http://schemas.openxmlformats.org/drawingml/2006/main"/>
          <a:p xmlns:a="http://schemas.openxmlformats.org/drawingml/2006/main">
            <a:pPr>
              <a:defRPr sz="938">
                <a:solidFill>
                  <a:srgbClr val="1A1F2B"/>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9525">
              <a:solidFill>
                <a:srgbClr val="D5DFE6"/>
              </a:solidFill>
              <a:prstDash val="solid"/>
            </a:ln>
          </c:spPr>
        </c:majorGridlines>
        <c:numFmt formatCode="0%"/>
        <c:majorTickMark val="none"/>
        <c:minorTickMark val="none"/>
        <c:spPr>
          <a:ln xmlns:a="http://schemas.openxmlformats.org/drawingml/2006/main" w="9525">
            <a:solidFill>
              <a:srgbClr val="D5DFE6"/>
            </a:solidFill>
            <a:prstDash val="solid"/>
          </a:ln>
        </c:spPr>
        <c:txPr>
          <a:bodyPr xmlns:a="http://schemas.openxmlformats.org/drawingml/2006/main" anchorCtr="1"/>
          <a:lstStyle xmlns:a="http://schemas.openxmlformats.org/drawingml/2006/main"/>
          <a:p xmlns:a="http://schemas.openxmlformats.org/drawingml/2006/main">
            <a:pPr>
              <a:defRPr sz="863">
                <a:solidFill>
                  <a:srgbClr val="6B7A8C"/>
                </a:solidFill>
                <a:latin typeface="Calibri"/>
                <a:ea typeface="Calibri"/>
                <a:cs typeface="Calibri"/>
              </a:defRPr>
            </a:pPr>
          </a:p>
        </c:txPr>
        <c:crossAx val="48650112"/>
        <c:crossBetween val="between"/>
        <c:majorUnit val="0.2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38">
              <a:solidFill>
                <a:srgbClr val="1A1F2B"/>
              </a:solidFill>
              <a:latin typeface="Calibri"/>
              <a:ea typeface="Calibri"/>
              <a:cs typeface="Calibri"/>
            </a:defRPr>
          </a:pPr>
        </a:p>
      </c:txPr>
    </c:legend>
    <c:plotVisOnly val="1"/>
  </c:chart>
  <c:spPr>
    <a:noFill xmlns:a="http://schemas.openxmlformats.org/drawingml/2006/main"/>
    <a:ln xmlns:a="http://schemas.openxmlformats.org/drawingml/2006/main" w="0">
      <a:noFill/>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ModernBERT NLI</c:v>
          </c:tx>
          <c:spPr>
            <a:solidFill xmlns:a="http://schemas.openxmlformats.org/drawingml/2006/main">
              <a:srgbClr val="065A82"/>
            </a:solidFill>
            <a:ln xmlns:a="http://schemas.openxmlformats.org/drawingml/2006/main" w="9525">
              <a:solidFill>
                <a:srgbClr val="065A82"/>
              </a:solidFill>
              <a:prstDash val="solid"/>
            </a:ln>
          </c:spPr>
          <c:cat>
            <c:strLit>
              <c:ptCount val="4"/>
              <c:pt idx="0">
                <c:v>Correct (0)</c:v>
              </c:pt>
              <c:pt idx="1">
                <c:v>Wrong &lt;10</c:v>
              </c:pt>
              <c:pt idx="2">
                <c:v>Wrong 10–40</c:v>
              </c:pt>
              <c:pt idx="3">
                <c:v>Wrong 40+</c:v>
              </c:pt>
            </c:strLit>
          </c:cat>
          <c:val>
            <c:numLit>
              <c:formatCode>0</c:formatCode>
              <c:ptCount val="4"/>
              <c:pt idx="0">
                <c:v>23</c:v>
              </c:pt>
              <c:pt idx="1">
                <c:v>7</c:v>
              </c:pt>
              <c:pt idx="2">
                <c:v>0</c:v>
              </c:pt>
              <c:pt idx="3">
                <c:v>0</c:v>
              </c:pt>
            </c:numLit>
          </c:val>
        </c:ser>
        <c:ser>
          <c:idx val="1"/>
          <c:order val="1"/>
          <c:tx>
            <c:v>TypeSafe.ai JEV</c:v>
          </c:tx>
          <c:spPr>
            <a:solidFill xmlns:a="http://schemas.openxmlformats.org/drawingml/2006/main">
              <a:srgbClr val="815AC0"/>
            </a:solidFill>
            <a:ln xmlns:a="http://schemas.openxmlformats.org/drawingml/2006/main" w="9525">
              <a:solidFill>
                <a:srgbClr val="815AC0"/>
              </a:solidFill>
              <a:prstDash val="solid"/>
            </a:ln>
          </c:spPr>
          <c:cat>
            <c:strLit>
              <c:ptCount val="4"/>
              <c:pt idx="0">
                <c:v>Correct (0)</c:v>
              </c:pt>
              <c:pt idx="1">
                <c:v>Wrong &lt;10</c:v>
              </c:pt>
              <c:pt idx="2">
                <c:v>Wrong 10–40</c:v>
              </c:pt>
              <c:pt idx="3">
                <c:v>Wrong 40+</c:v>
              </c:pt>
            </c:strLit>
          </c:cat>
          <c:val>
            <c:numLit>
              <c:formatCode>0</c:formatCode>
              <c:ptCount val="4"/>
              <c:pt idx="0">
                <c:v>29</c:v>
              </c:pt>
              <c:pt idx="1">
                <c:v>0</c:v>
              </c:pt>
              <c:pt idx="2">
                <c:v>0</c:v>
              </c:pt>
              <c:pt idx="3">
                <c:v>1</c:v>
              </c:pt>
            </c:numLit>
          </c:val>
        </c:ser>
        <c:dLbls>
          <c:txPr>
            <a:bodyPr xmlns:a="http://schemas.openxmlformats.org/drawingml/2006/main" anchorCtr="1"/>
            <a:lstStyle xmlns:a="http://schemas.openxmlformats.org/drawingml/2006/main"/>
            <a:p xmlns:a="http://schemas.openxmlformats.org/drawingml/2006/main">
              <a:pPr>
                <a:defRPr sz="825" b="1">
                  <a:solidFill>
                    <a:srgbClr val="1A1F2B"/>
                  </a:solidFill>
                  <a:latin typeface="Calibri"/>
                  <a:ea typeface="Calibri"/>
                  <a:cs typeface="Calibri"/>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FE6"/>
            </a:solidFill>
            <a:prstDash val="solid"/>
          </a:ln>
        </c:spPr>
        <c:txPr>
          <a:bodyPr xmlns:a="http://schemas.openxmlformats.org/drawingml/2006/main" anchorCtr="1"/>
          <a:lstStyle xmlns:a="http://schemas.openxmlformats.org/drawingml/2006/main"/>
          <a:p xmlns:a="http://schemas.openxmlformats.org/drawingml/2006/main">
            <a:pPr>
              <a:defRPr sz="788">
                <a:solidFill>
                  <a:srgbClr val="1A1F2B"/>
                </a:solidFill>
                <a:latin typeface="Calibri"/>
                <a:ea typeface="Calibri"/>
                <a:cs typeface="Calibri"/>
              </a:defRPr>
            </a:pPr>
          </a:p>
        </c:txPr>
        <c:crossAx val="48672768"/>
      </c:catAx>
      <c:valAx>
        <c:axId val="48672768"/>
        <c:scaling>
          <c:orientation val="minMax"/>
          <c:max val="30"/>
          <c:min val="0"/>
        </c:scaling>
        <c:delete val="0"/>
        <c:axPos val="l"/>
        <c:majorGridlines>
          <c:spPr>
            <a:ln xmlns:a="http://schemas.openxmlformats.org/drawingml/2006/main" w="9525">
              <a:solidFill>
                <a:srgbClr val="D5DFE6"/>
              </a:solidFill>
              <a:prstDash val="solid"/>
            </a:ln>
          </c:spPr>
        </c:majorGridlines>
        <c:numFmt formatCode="0"/>
        <c:majorTickMark val="none"/>
        <c:minorTickMark val="none"/>
        <c:spPr>
          <a:ln xmlns:a="http://schemas.openxmlformats.org/drawingml/2006/main" w="9525">
            <a:solidFill>
              <a:srgbClr val="D5DFE6"/>
            </a:solidFill>
            <a:prstDash val="solid"/>
          </a:ln>
        </c:spPr>
        <c:txPr>
          <a:bodyPr xmlns:a="http://schemas.openxmlformats.org/drawingml/2006/main" anchorCtr="1"/>
          <a:lstStyle xmlns:a="http://schemas.openxmlformats.org/drawingml/2006/main"/>
          <a:p xmlns:a="http://schemas.openxmlformats.org/drawingml/2006/main">
            <a:pPr>
              <a:defRPr sz="863">
                <a:solidFill>
                  <a:srgbClr val="6B7A8C"/>
                </a:solidFill>
                <a:latin typeface="Calibri"/>
                <a:ea typeface="Calibri"/>
                <a:cs typeface="Calibri"/>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38">
              <a:solidFill>
                <a:srgbClr val="1A1F2B"/>
              </a:solidFill>
              <a:latin typeface="Calibri"/>
              <a:ea typeface="Calibri"/>
              <a:cs typeface="Calibri"/>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 name="background">
            <a:extLst xmlns:a="http://schemas.openxmlformats.org/drawingml/2006/main">
              <a:ext uri="{FF2B5EF4-FFF2-40B4-BE49-F238E27FC236}">
                <a16:creationId xmlns:a16="http://schemas.microsoft.com/office/drawing/2014/main" id="{6DDAEAE4-2CB0-42F5-A83C-D6BB979B1C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1295C"/>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EAE2B9D2-F2E8-43CA-B187-F897D6317361}"/>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0A8DAF-122F-40C6-AB8A-9DD4085E640F}"/>
              </a:ext>
            </a:extLst>
          </p:cNvPr>
          <p:cNvSpPr>
            <a:spLocks xmlns:a="http://schemas.openxmlformats.org/drawingml/2006/main" noGrp="1"/>
          </p:cNvSpPr>
          <p:nvPr/>
        </p:nvSpPr>
        <p:spPr>
          <a:xfrm xmlns:a="http://schemas.openxmlformats.org/drawingml/2006/main">
            <a:off x="914400" y="9715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i="0">
                <a:solidFill>
                  <a:srgbClr val="8FC7DC"/>
                </a:solidFill>
                <a:latin typeface="Calibri"/>
                <a:ea typeface="Calibri"/>
                <a:cs typeface="Calibri"/>
              </a:defRPr>
            </a:pPr>
            <a:r>
              <a:rPr sz="1275" b="1" i="0">
                <a:solidFill>
                  <a:srgbClr val="8FC7DC"/>
                </a:solidFill>
                <a:latin typeface="Calibri"/>
                <a:ea typeface="Calibri"/>
                <a:cs typeface="Calibri"/>
              </a:rPr>
              <a:t>OPENSYSTEM1 CLASSIFIER BENCHMARK</a:t>
            </a:r>
          </a:p>
        </p:txBody>
      </p:sp>
      <p:sp>
        <p:nvSpPr>
          <p:cNvPr id="4" name="">
            <a:extLst xmlns:a="http://schemas.openxmlformats.org/drawingml/2006/main">
              <a:ext uri="{FF2B5EF4-FFF2-40B4-BE49-F238E27FC236}">
                <a16:creationId xmlns:a16="http://schemas.microsoft.com/office/drawing/2014/main" id="{DB260D88-02EE-4B9B-9577-F393D7ECDF30}"/>
              </a:ext>
            </a:extLst>
          </p:cNvPr>
          <p:cNvSpPr>
            <a:spLocks xmlns:a="http://schemas.openxmlformats.org/drawingml/2006/main" noGrp="1"/>
          </p:cNvSpPr>
          <p:nvPr/>
        </p:nvSpPr>
        <p:spPr>
          <a:xfrm xmlns:a="http://schemas.openxmlformats.org/drawingml/2006/main">
            <a:off x="914400" y="1571625"/>
            <a:ext cx="10287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150" b="1" i="0">
                <a:solidFill>
                  <a:srgbClr val="FFFFFF"/>
                </a:solidFill>
                <a:latin typeface="Georgia"/>
                <a:ea typeface="Georgia"/>
                <a:cs typeface="Georgia"/>
              </a:defRPr>
            </a:pPr>
            <a:r>
              <a:rPr sz="3150" b="1" i="0">
                <a:solidFill>
                  <a:srgbClr val="FFFFFF"/>
                </a:solidFill>
                <a:latin typeface="Georgia"/>
                <a:ea typeface="Georgia"/>
                <a:cs typeface="Georgia"/>
              </a:rPr>
              <a:t>Smoke Test Comparison of TypeSafe.ai</a:t>
            </a:r>
          </a:p>
          <a:p xmlns:a="http://schemas.openxmlformats.org/drawingml/2006/main">
            <a:pPr algn="l">
              <a:lnSpc>
                <a:spcPct val="96000"/>
              </a:lnSpc>
              <a:buNone/>
              <a:defRPr sz="3150" b="1" i="0">
                <a:solidFill>
                  <a:srgbClr val="FFFFFF"/>
                </a:solidFill>
                <a:latin typeface="Georgia"/>
                <a:ea typeface="Georgia"/>
                <a:cs typeface="Georgia"/>
              </a:defRPr>
            </a:pPr>
            <a:r>
              <a:rPr sz="3150" b="1" i="0">
                <a:solidFill>
                  <a:srgbClr val="FFFFFF"/>
                </a:solidFill>
                <a:latin typeface="Georgia"/>
                <a:ea typeface="Georgia"/>
                <a:cs typeface="Georgia"/>
              </a:rPr>
              <a:t>"System1" Classifier vs. Traditional</a:t>
            </a:r>
          </a:p>
          <a:p xmlns:a="http://schemas.openxmlformats.org/drawingml/2006/main">
            <a:pPr algn="l">
              <a:lnSpc>
                <a:spcPct val="96000"/>
              </a:lnSpc>
              <a:buNone/>
              <a:defRPr sz="3150" b="1" i="0">
                <a:solidFill>
                  <a:srgbClr val="FFFFFF"/>
                </a:solidFill>
                <a:latin typeface="Georgia"/>
                <a:ea typeface="Georgia"/>
                <a:cs typeface="Georgia"/>
              </a:defRPr>
            </a:pPr>
            <a:r>
              <a:rPr sz="3150" b="1" i="0">
                <a:solidFill>
                  <a:srgbClr val="FFFFFF"/>
                </a:solidFill>
                <a:latin typeface="Georgia"/>
                <a:ea typeface="Georgia"/>
                <a:cs typeface="Georgia"/>
              </a:rPr>
              <a:t>OpenSystem1 ModernBERT classifier</a:t>
            </a:r>
          </a:p>
        </p:txBody>
      </p:sp>
      <p:sp>
        <p:nvSpPr>
          <p:cNvPr id="5" name="">
            <a:extLst xmlns:a="http://schemas.openxmlformats.org/drawingml/2006/main">
              <a:ext uri="{FF2B5EF4-FFF2-40B4-BE49-F238E27FC236}">
                <a16:creationId xmlns:a16="http://schemas.microsoft.com/office/drawing/2014/main" id="{613FF2E4-5361-490D-AFA3-5AA7A5AF7170}"/>
              </a:ext>
            </a:extLst>
          </p:cNvPr>
          <p:cNvSpPr>
            <a:spLocks xmlns:a="http://schemas.openxmlformats.org/drawingml/2006/main" noGrp="1"/>
          </p:cNvSpPr>
          <p:nvPr/>
        </p:nvSpPr>
        <p:spPr>
          <a:xfrm xmlns:a="http://schemas.openxmlformats.org/drawingml/2006/main">
            <a:off x="914400" y="4524375"/>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1">
                <a:solidFill>
                  <a:srgbClr val="C2D6E2"/>
                </a:solidFill>
                <a:latin typeface="Calibri"/>
                <a:ea typeface="Calibri"/>
                <a:cs typeface="Calibri"/>
              </a:defRPr>
            </a:pPr>
            <a:r>
              <a:rPr sz="1500" b="0" i="1">
                <a:solidFill>
                  <a:srgbClr val="C2D6E2"/>
                </a:solidFill>
                <a:latin typeface="Calibri"/>
                <a:ea typeface="Calibri"/>
                <a:cs typeface="Calibri"/>
              </a:rPr>
              <a:t>Simple multiple-choice classification and tool calling</a:t>
            </a:r>
          </a:p>
        </p:txBody>
      </p:sp>
      <p:sp>
        <p:nvSpPr>
          <p:cNvPr id="6" name="">
            <a:extLst xmlns:a="http://schemas.openxmlformats.org/drawingml/2006/main">
              <a:ext uri="{FF2B5EF4-FFF2-40B4-BE49-F238E27FC236}">
                <a16:creationId xmlns:a16="http://schemas.microsoft.com/office/drawing/2014/main" id="{81D9B9E0-4218-48BE-ACDD-79B7488E9E63}"/>
              </a:ext>
            </a:extLst>
          </p:cNvPr>
          <p:cNvSpPr>
            <a:spLocks xmlns:a="http://schemas.openxmlformats.org/drawingml/2006/main" noGrp="1"/>
          </p:cNvSpPr>
          <p:nvPr/>
        </p:nvSpPr>
        <p:spPr>
          <a:xfrm xmlns:a="http://schemas.openxmlformats.org/drawingml/2006/main">
            <a:off x="914400" y="5238750"/>
            <a:ext cx="9429750" cy="1905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C47DA9-48D4-4C37-9CA8-BD9B70FDEA0B}"/>
              </a:ext>
            </a:extLst>
          </p:cNvPr>
          <p:cNvSpPr>
            <a:spLocks xmlns:a="http://schemas.openxmlformats.org/drawingml/2006/main" noGrp="1"/>
          </p:cNvSpPr>
          <p:nvPr/>
        </p:nvSpPr>
        <p:spPr>
          <a:xfrm xmlns:a="http://schemas.openxmlformats.org/drawingml/2006/main">
            <a:off x="914400" y="552450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1C7293"/>
                </a:solidFill>
                <a:latin typeface="Calibri"/>
                <a:ea typeface="Calibri"/>
                <a:cs typeface="Calibri"/>
              </a:defRPr>
            </a:pPr>
            <a:r>
              <a:rPr sz="1350" b="1" i="0">
                <a:solidFill>
                  <a:srgbClr val="1C7293"/>
                </a:solidFill>
                <a:latin typeface="Calibri"/>
                <a:ea typeface="Calibri"/>
                <a:cs typeface="Calibri"/>
              </a:rPr>
              <a:t>12 simple choices</a:t>
            </a:r>
          </a:p>
        </p:txBody>
      </p:sp>
      <p:sp>
        <p:nvSpPr>
          <p:cNvPr id="8" name="">
            <a:extLst xmlns:a="http://schemas.openxmlformats.org/drawingml/2006/main">
              <a:ext uri="{FF2B5EF4-FFF2-40B4-BE49-F238E27FC236}">
                <a16:creationId xmlns:a16="http://schemas.microsoft.com/office/drawing/2014/main" id="{D5481093-F809-4C03-898A-AD14D35B210A}"/>
              </a:ext>
            </a:extLst>
          </p:cNvPr>
          <p:cNvSpPr>
            <a:spLocks xmlns:a="http://schemas.openxmlformats.org/drawingml/2006/main" noGrp="1"/>
          </p:cNvSpPr>
          <p:nvPr/>
        </p:nvSpPr>
        <p:spPr>
          <a:xfrm xmlns:a="http://schemas.openxmlformats.org/drawingml/2006/main">
            <a:off x="3714750" y="552450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D8CBEF"/>
                </a:solidFill>
                <a:latin typeface="Calibri"/>
                <a:ea typeface="Calibri"/>
                <a:cs typeface="Calibri"/>
              </a:defRPr>
            </a:pPr>
            <a:r>
              <a:rPr sz="1350" b="1" i="0">
                <a:solidFill>
                  <a:srgbClr val="D8CBEF"/>
                </a:solidFill>
                <a:latin typeface="Calibri"/>
                <a:ea typeface="Calibri"/>
                <a:cs typeface="Calibri"/>
              </a:rPr>
              <a:t>30 tool routes</a:t>
            </a:r>
          </a:p>
        </p:txBody>
      </p:sp>
      <p:sp>
        <p:nvSpPr>
          <p:cNvPr id="9" name="">
            <a:extLst xmlns:a="http://schemas.openxmlformats.org/drawingml/2006/main">
              <a:ext uri="{FF2B5EF4-FFF2-40B4-BE49-F238E27FC236}">
                <a16:creationId xmlns:a16="http://schemas.microsoft.com/office/drawing/2014/main" id="{BCB148B4-F136-4755-804F-CB211C28F8DE}"/>
              </a:ext>
            </a:extLst>
          </p:cNvPr>
          <p:cNvSpPr>
            <a:spLocks xmlns:a="http://schemas.openxmlformats.org/drawingml/2006/main" noGrp="1"/>
          </p:cNvSpPr>
          <p:nvPr/>
        </p:nvSpPr>
        <p:spPr>
          <a:xfrm xmlns:a="http://schemas.openxmlformats.org/drawingml/2006/main">
            <a:off x="8239125" y="6191250"/>
            <a:ext cx="300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1" i="0">
                <a:solidFill>
                  <a:srgbClr val="C2D6E2"/>
                </a:solidFill>
                <a:latin typeface="Calibri"/>
                <a:ea typeface="Calibri"/>
                <a:cs typeface="Calibri"/>
              </a:defRPr>
            </a:pPr>
            <a:r>
              <a:rPr sz="1125" b="1" i="0">
                <a:solidFill>
                  <a:srgbClr val="C2D6E2"/>
                </a:solidFill>
                <a:latin typeface="Calibri"/>
                <a:ea typeface="Calibri"/>
                <a:cs typeface="Calibri"/>
              </a:rPr>
              <a:t>Prepared by Mark Austin</a:t>
            </a:r>
          </a:p>
        </p:txBody>
      </p:sp>
    </p:spTree>
    <p:extLst>
      <p:ext uri="{BB962C8B-B14F-4D97-AF65-F5344CB8AC3E}">
        <p14:creationId xmlns:p14="http://schemas.microsoft.com/office/powerpoint/2010/main" val="49578802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background">
            <a:extLst xmlns:a="http://schemas.openxmlformats.org/drawingml/2006/main">
              <a:ext uri="{FF2B5EF4-FFF2-40B4-BE49-F238E27FC236}">
                <a16:creationId xmlns:a16="http://schemas.microsoft.com/office/drawing/2014/main" id="{BD63A68F-14C8-40F3-B085-255EEF7EC4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796286BD-D397-4863-AA6B-2573A53BD484}"/>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2C4312-D1A8-4A50-9D2F-DA0E2F79BAE6}"/>
              </a:ext>
            </a:extLst>
          </p:cNvPr>
          <p:cNvSpPr>
            <a:spLocks xmlns:a="http://schemas.openxmlformats.org/drawingml/2006/main" noGrp="1"/>
          </p:cNvSpPr>
          <p:nvPr/>
        </p:nvSpPr>
        <p:spPr>
          <a:xfrm xmlns:a="http://schemas.openxmlformats.org/drawingml/2006/main">
            <a:off x="781050" y="381000"/>
            <a:ext cx="1045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21295C"/>
                </a:solidFill>
                <a:latin typeface="Georgia"/>
                <a:ea typeface="Georgia"/>
                <a:cs typeface="Georgia"/>
              </a:defRPr>
            </a:pPr>
            <a:r>
              <a:rPr sz="2850" b="1" i="0">
                <a:solidFill>
                  <a:srgbClr val="21295C"/>
                </a:solidFill>
                <a:latin typeface="Georgia"/>
                <a:ea typeface="Georgia"/>
                <a:cs typeface="Georgia"/>
              </a:rPr>
              <a:t>Simple multiple-choice classification</a:t>
            </a:r>
          </a:p>
        </p:txBody>
      </p:sp>
      <p:sp>
        <p:nvSpPr>
          <p:cNvPr id="4" name="">
            <a:extLst xmlns:a="http://schemas.openxmlformats.org/drawingml/2006/main">
              <a:ext uri="{FF2B5EF4-FFF2-40B4-BE49-F238E27FC236}">
                <a16:creationId xmlns:a16="http://schemas.microsoft.com/office/drawing/2014/main" id="{4419F626-3B0B-4E1B-AD4E-9E3F32991FCE}"/>
              </a:ext>
            </a:extLst>
          </p:cNvPr>
          <p:cNvSpPr>
            <a:spLocks xmlns:a="http://schemas.openxmlformats.org/drawingml/2006/main" noGrp="1"/>
          </p:cNvSpPr>
          <p:nvPr/>
        </p:nvSpPr>
        <p:spPr>
          <a:xfrm xmlns:a="http://schemas.openxmlformats.org/drawingml/2006/main">
            <a:off x="781050" y="91440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1">
                <a:solidFill>
                  <a:srgbClr val="6B7A8C"/>
                </a:solidFill>
                <a:latin typeface="Calibri"/>
                <a:ea typeface="Calibri"/>
                <a:cs typeface="Calibri"/>
              </a:defRPr>
            </a:pPr>
            <a:r>
              <a:rPr sz="1275" b="0" i="1">
                <a:solidFill>
                  <a:srgbClr val="6B7A8C"/>
                </a:solidFill>
                <a:latin typeface="Calibri"/>
                <a:ea typeface="Calibri"/>
                <a:cs typeface="Calibri"/>
              </a:rPr>
              <a:t>12 obvious-answer cases with identical choices</a:t>
            </a:r>
          </a:p>
        </p:txBody>
      </p:sp>
      <p:sp>
        <p:nvSpPr>
          <p:cNvPr id="5" name="">
            <a:extLst xmlns:a="http://schemas.openxmlformats.org/drawingml/2006/main">
              <a:ext uri="{FF2B5EF4-FFF2-40B4-BE49-F238E27FC236}">
                <a16:creationId xmlns:a16="http://schemas.microsoft.com/office/drawing/2014/main" id="{E1DD2BD6-9A93-415C-AEEF-37F87253C0BA}"/>
              </a:ext>
            </a:extLst>
          </p:cNvPr>
          <p:cNvSpPr>
            <a:spLocks xmlns:a="http://schemas.openxmlformats.org/drawingml/2006/main" noGrp="1"/>
          </p:cNvSpPr>
          <p:nvPr/>
        </p:nvSpPr>
        <p:spPr>
          <a:xfrm xmlns:a="http://schemas.openxmlformats.org/drawingml/2006/main">
            <a:off x="781050" y="1362075"/>
            <a:ext cx="452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i="0">
                <a:solidFill>
                  <a:srgbClr val="065A82"/>
                </a:solidFill>
                <a:latin typeface="Calibri"/>
                <a:ea typeface="Calibri"/>
                <a:cs typeface="Calibri"/>
              </a:defRPr>
            </a:pPr>
            <a:r>
              <a:rPr sz="975" b="1" i="0">
                <a:solidFill>
                  <a:srgbClr val="065A82"/>
                </a:solidFill>
                <a:latin typeface="Calibri"/>
                <a:ea typeface="Calibri"/>
                <a:cs typeface="Calibri"/>
              </a:rPr>
              <a:t>CLASSIFICATION ACCURACY</a:t>
            </a:r>
          </a:p>
        </p:txBody>
      </p:sp>
      <p:graphicFrame>
        <p:nvGraphicFramePr>
          <p:cNvPr id="18" name="Chart"/>
          <p:cNvGraphicFramePr/>
          <p:nvPr/>
        </p:nvGraphicFramePr>
        <p:xfrm>
          <a:off xmlns:a="http://schemas.openxmlformats.org/drawingml/2006/main" x="666750" y="1628775"/>
          <a:ext xmlns:a="http://schemas.openxmlformats.org/drawingml/2006/main" cx="4810125" cy="3857625"/>
        </p:xfrm>
        <a:graphic xmlns:a="http://schemas.openxmlformats.org/drawingml/2006/main">
          <a:graphicData uri="http://schemas.openxmlformats.org/drawingml/2006/chart">
            <c:chart xmlns:r="http://schemas.openxmlformats.org/officeDocument/2006/relationships" xmlns:c="http://schemas.openxmlformats.org/drawingml/2006/chart" r:id="Re26522ce187d4fb2"/>
          </a:graphicData>
        </a:graphic>
      </p:graphicFrame>
      <p:sp>
        <p:nvSpPr>
          <p:cNvPr id="7" name="">
            <a:extLst xmlns:a="http://schemas.openxmlformats.org/drawingml/2006/main">
              <a:ext uri="{FF2B5EF4-FFF2-40B4-BE49-F238E27FC236}">
                <a16:creationId xmlns:a16="http://schemas.microsoft.com/office/drawing/2014/main" id="{80AE6408-ED4A-4195-897D-AE9D8D51BC03}"/>
              </a:ext>
            </a:extLst>
          </p:cNvPr>
          <p:cNvSpPr>
            <a:spLocks xmlns:a="http://schemas.openxmlformats.org/drawingml/2006/main" noGrp="1"/>
          </p:cNvSpPr>
          <p:nvPr/>
        </p:nvSpPr>
        <p:spPr>
          <a:xfrm xmlns:a="http://schemas.openxmlformats.org/drawingml/2006/main">
            <a:off x="5953125" y="1362075"/>
            <a:ext cx="528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i="0">
                <a:solidFill>
                  <a:srgbClr val="B86E00"/>
                </a:solidFill>
                <a:latin typeface="Calibri"/>
                <a:ea typeface="Calibri"/>
                <a:cs typeface="Calibri"/>
              </a:defRPr>
            </a:pPr>
            <a:r>
              <a:rPr sz="975" b="1" i="0">
                <a:solidFill>
                  <a:srgbClr val="B86E00"/>
                </a:solidFill>
                <a:latin typeface="Calibri"/>
                <a:ea typeface="Calibri"/>
                <a:cs typeface="Calibri"/>
              </a:rPr>
              <a:t>CLEARANCE TO CORRECT ANSWER (CASE COUNT)</a:t>
            </a:r>
          </a:p>
        </p:txBody>
      </p:sp>
      <p:graphicFrame>
        <p:nvGraphicFramePr>
          <p:cNvPr id="20" name="Chart"/>
          <p:cNvGraphicFramePr/>
          <p:nvPr/>
        </p:nvGraphicFramePr>
        <p:xfrm>
          <a:off xmlns:a="http://schemas.openxmlformats.org/drawingml/2006/main" x="5791200" y="1628775"/>
          <a:ext xmlns:a="http://schemas.openxmlformats.org/drawingml/2006/main" cx="5638800" cy="3857625"/>
        </p:xfrm>
        <a:graphic xmlns:a="http://schemas.openxmlformats.org/drawingml/2006/main">
          <a:graphicData uri="http://schemas.openxmlformats.org/drawingml/2006/chart">
            <c:chart xmlns:r="http://schemas.openxmlformats.org/officeDocument/2006/relationships" xmlns:c="http://schemas.openxmlformats.org/drawingml/2006/chart" r:id="Rc03d787a3b194aaf"/>
          </a:graphicData>
        </a:graphic>
      </p:graphicFrame>
      <p:sp>
        <p:nvSpPr>
          <p:cNvPr id="9" name="">
            <a:extLst xmlns:a="http://schemas.openxmlformats.org/drawingml/2006/main">
              <a:ext uri="{FF2B5EF4-FFF2-40B4-BE49-F238E27FC236}">
                <a16:creationId xmlns:a16="http://schemas.microsoft.com/office/drawing/2014/main" id="{4DA202FA-62E7-4129-ADB0-673579D47F6A}"/>
              </a:ext>
            </a:extLst>
          </p:cNvPr>
          <p:cNvSpPr>
            <a:spLocks xmlns:a="http://schemas.openxmlformats.org/drawingml/2006/main" noGrp="1"/>
          </p:cNvSpPr>
          <p:nvPr/>
        </p:nvSpPr>
        <p:spPr>
          <a:xfrm xmlns:a="http://schemas.openxmlformats.org/drawingml/2006/main">
            <a:off x="5953125" y="5543550"/>
            <a:ext cx="5286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38" b="1" i="0">
                <a:solidFill>
                  <a:srgbClr val="065A82"/>
                </a:solidFill>
                <a:latin typeface="Calibri"/>
                <a:ea typeface="Calibri"/>
                <a:cs typeface="Calibri"/>
              </a:defRPr>
            </a:pPr>
            <a:r>
              <a:rPr sz="938" b="1" i="0">
                <a:solidFill>
                  <a:srgbClr val="065A82"/>
                </a:solidFill>
                <a:latin typeface="Calibri"/>
                <a:ea typeface="Calibri"/>
                <a:cs typeface="Calibri"/>
              </a:rPr>
              <a:t>Average margin     ModernBERT 38.4%     TypeSafe.ai JEV 100.0%</a:t>
            </a:r>
          </a:p>
        </p:txBody>
      </p:sp>
      <p:sp>
        <p:nvSpPr>
          <p:cNvPr id="10" name="">
            <a:extLst xmlns:a="http://schemas.openxmlformats.org/drawingml/2006/main">
              <a:ext uri="{FF2B5EF4-FFF2-40B4-BE49-F238E27FC236}">
                <a16:creationId xmlns:a16="http://schemas.microsoft.com/office/drawing/2014/main" id="{8BD73C18-ADB8-4C59-B720-DED9A7DE2C60}"/>
              </a:ext>
            </a:extLst>
          </p:cNvPr>
          <p:cNvSpPr>
            <a:spLocks xmlns:a="http://schemas.openxmlformats.org/drawingml/2006/main" noGrp="1"/>
          </p:cNvSpPr>
          <p:nvPr/>
        </p:nvSpPr>
        <p:spPr>
          <a:xfrm xmlns:a="http://schemas.openxmlformats.org/drawingml/2006/main">
            <a:off x="781050" y="5810250"/>
            <a:ext cx="10458450" cy="428625"/>
          </a:xfrm>
          <a:prstGeom xmlns:a="http://schemas.openxmlformats.org/drawingml/2006/main" prst="rect">
            <a:avLst/>
          </a:prstGeom>
          <a:solidFill xmlns:a="http://schemas.openxmlformats.org/drawingml/2006/main">
            <a:srgbClr val="21295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DB35BA6-D6CF-4072-8936-2CABD80ED0B2}"/>
              </a:ext>
            </a:extLst>
          </p:cNvPr>
          <p:cNvSpPr>
            <a:spLocks xmlns:a="http://schemas.openxmlformats.org/drawingml/2006/main" noGrp="1"/>
          </p:cNvSpPr>
          <p:nvPr/>
        </p:nvSpPr>
        <p:spPr>
          <a:xfrm xmlns:a="http://schemas.openxmlformats.org/drawingml/2006/main">
            <a:off x="971550" y="5915025"/>
            <a:ext cx="10077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8" b="1" i="0">
                <a:solidFill>
                  <a:srgbClr val="FFFFFF"/>
                </a:solidFill>
                <a:latin typeface="Calibri"/>
                <a:ea typeface="Calibri"/>
                <a:cs typeface="Calibri"/>
              </a:defRPr>
            </a:pPr>
            <a:r>
              <a:rPr sz="1088" b="1" i="0">
                <a:solidFill>
                  <a:srgbClr val="FFFFFF"/>
                </a:solidFill>
                <a:latin typeface="Calibri"/>
                <a:ea typeface="Calibri"/>
                <a:cs typeface="Calibri"/>
              </a:rPr>
              <a:t>Clearance = P(chosen answer) − P(correct answer). Correct choices have zero clearance.</a:t>
            </a:r>
          </a:p>
        </p:txBody>
      </p:sp>
      <p:sp>
        <p:nvSpPr>
          <p:cNvPr id="12" name="">
            <a:extLst xmlns:a="http://schemas.openxmlformats.org/drawingml/2006/main">
              <a:ext uri="{FF2B5EF4-FFF2-40B4-BE49-F238E27FC236}">
                <a16:creationId xmlns:a16="http://schemas.microsoft.com/office/drawing/2014/main" id="{F5A1659B-7E44-4037-B8E2-B09E4ADDD464}"/>
              </a:ext>
            </a:extLst>
          </p:cNvPr>
          <p:cNvSpPr>
            <a:spLocks xmlns:a="http://schemas.openxmlformats.org/drawingml/2006/main" noGrp="1"/>
          </p:cNvSpPr>
          <p:nvPr/>
        </p:nvSpPr>
        <p:spPr>
          <a:xfrm xmlns:a="http://schemas.openxmlformats.org/drawingml/2006/main">
            <a:off x="781050" y="6400800"/>
            <a:ext cx="10458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38" b="0" i="1">
                <a:solidFill>
                  <a:srgbClr val="6B7A8C"/>
                </a:solidFill>
                <a:latin typeface="Calibri"/>
                <a:ea typeface="Calibri"/>
                <a:cs typeface="Calibri"/>
              </a:defRPr>
            </a:pPr>
            <a:r>
              <a:rPr sz="938" b="0" i="1">
                <a:solidFill>
                  <a:srgbClr val="6B7A8C"/>
                </a:solidFill>
                <a:latin typeface="Calibri"/>
                <a:ea typeface="Calibri"/>
                <a:cs typeface="Calibri"/>
              </a:rPr>
              <a:t>Margin = average of P(chosen answer) − P(next-best answer). Lower clearance and higher margin are better.</a:t>
            </a:r>
          </a:p>
        </p:txBody>
      </p:sp>
    </p:spTree>
    <p:extLst>
      <p:ext uri="{BB962C8B-B14F-4D97-AF65-F5344CB8AC3E}">
        <p14:creationId xmlns:p14="http://schemas.microsoft.com/office/powerpoint/2010/main" val="46996763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background">
            <a:extLst xmlns:a="http://schemas.openxmlformats.org/drawingml/2006/main">
              <a:ext uri="{FF2B5EF4-FFF2-40B4-BE49-F238E27FC236}">
                <a16:creationId xmlns:a16="http://schemas.microsoft.com/office/drawing/2014/main" id="{B98C2BAA-F09A-4A2C-AD92-E202A246C9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7B41C2F4-704B-4F10-970B-9B7F8708CB75}"/>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91CC01A-283C-496A-BFD1-04EAB8AEADB4}"/>
              </a:ext>
            </a:extLst>
          </p:cNvPr>
          <p:cNvSpPr>
            <a:spLocks xmlns:a="http://schemas.openxmlformats.org/drawingml/2006/main" noGrp="1"/>
          </p:cNvSpPr>
          <p:nvPr/>
        </p:nvSpPr>
        <p:spPr>
          <a:xfrm xmlns:a="http://schemas.openxmlformats.org/drawingml/2006/main">
            <a:off x="781050" y="381000"/>
            <a:ext cx="1045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21295C"/>
                </a:solidFill>
                <a:latin typeface="Georgia"/>
                <a:ea typeface="Georgia"/>
                <a:cs typeface="Georgia"/>
              </a:defRPr>
            </a:pPr>
            <a:r>
              <a:rPr sz="2850" b="1" i="0">
                <a:solidFill>
                  <a:srgbClr val="21295C"/>
                </a:solidFill>
                <a:latin typeface="Georgia"/>
                <a:ea typeface="Georgia"/>
                <a:cs typeface="Georgia"/>
              </a:rPr>
              <a:t>Tool calling test</a:t>
            </a:r>
          </a:p>
        </p:txBody>
      </p:sp>
      <p:sp>
        <p:nvSpPr>
          <p:cNvPr id="4" name="">
            <a:extLst xmlns:a="http://schemas.openxmlformats.org/drawingml/2006/main">
              <a:ext uri="{FF2B5EF4-FFF2-40B4-BE49-F238E27FC236}">
                <a16:creationId xmlns:a16="http://schemas.microsoft.com/office/drawing/2014/main" id="{60312720-B673-4EA1-8001-4720B2857B5F}"/>
              </a:ext>
            </a:extLst>
          </p:cNvPr>
          <p:cNvSpPr>
            <a:spLocks xmlns:a="http://schemas.openxmlformats.org/drawingml/2006/main" noGrp="1"/>
          </p:cNvSpPr>
          <p:nvPr/>
        </p:nvSpPr>
        <p:spPr>
          <a:xfrm xmlns:a="http://schemas.openxmlformats.org/drawingml/2006/main">
            <a:off x="781050" y="91440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1">
                <a:solidFill>
                  <a:srgbClr val="6B7A8C"/>
                </a:solidFill>
                <a:latin typeface="Calibri"/>
                <a:ea typeface="Calibri"/>
                <a:cs typeface="Calibri"/>
              </a:defRPr>
            </a:pPr>
            <a:r>
              <a:rPr sz="1275" b="0" i="1">
                <a:solidFill>
                  <a:srgbClr val="6B7A8C"/>
                </a:solidFill>
                <a:latin typeface="Calibri"/>
                <a:ea typeface="Calibri"/>
                <a:cs typeface="Calibri"/>
              </a:rPr>
              <a:t>30 BFCL-derived cases covering tool selection and no-tool detection</a:t>
            </a:r>
          </a:p>
        </p:txBody>
      </p:sp>
      <p:sp>
        <p:nvSpPr>
          <p:cNvPr id="5" name="">
            <a:extLst xmlns:a="http://schemas.openxmlformats.org/drawingml/2006/main">
              <a:ext uri="{FF2B5EF4-FFF2-40B4-BE49-F238E27FC236}">
                <a16:creationId xmlns:a16="http://schemas.microsoft.com/office/drawing/2014/main" id="{6F523A5D-591A-4499-A070-9D7C4D87A268}"/>
              </a:ext>
            </a:extLst>
          </p:cNvPr>
          <p:cNvSpPr>
            <a:spLocks xmlns:a="http://schemas.openxmlformats.org/drawingml/2006/main" noGrp="1"/>
          </p:cNvSpPr>
          <p:nvPr/>
        </p:nvSpPr>
        <p:spPr>
          <a:xfrm xmlns:a="http://schemas.openxmlformats.org/drawingml/2006/main">
            <a:off x="781050" y="1362075"/>
            <a:ext cx="452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i="0">
                <a:solidFill>
                  <a:srgbClr val="065A82"/>
                </a:solidFill>
                <a:latin typeface="Calibri"/>
                <a:ea typeface="Calibri"/>
                <a:cs typeface="Calibri"/>
              </a:defRPr>
            </a:pPr>
            <a:r>
              <a:rPr sz="975" b="1" i="0">
                <a:solidFill>
                  <a:srgbClr val="065A82"/>
                </a:solidFill>
                <a:latin typeface="Calibri"/>
                <a:ea typeface="Calibri"/>
                <a:cs typeface="Calibri"/>
              </a:rPr>
              <a:t>CLASSIFICATION ACCURACY</a:t>
            </a:r>
          </a:p>
        </p:txBody>
      </p:sp>
      <p:graphicFrame>
        <p:nvGraphicFramePr>
          <p:cNvPr id="18" name="Chart"/>
          <p:cNvGraphicFramePr/>
          <p:nvPr/>
        </p:nvGraphicFramePr>
        <p:xfrm>
          <a:off xmlns:a="http://schemas.openxmlformats.org/drawingml/2006/main" x="666750" y="1628775"/>
          <a:ext xmlns:a="http://schemas.openxmlformats.org/drawingml/2006/main" cx="4810125" cy="3857625"/>
        </p:xfrm>
        <a:graphic xmlns:a="http://schemas.openxmlformats.org/drawingml/2006/main">
          <a:graphicData uri="http://schemas.openxmlformats.org/drawingml/2006/chart">
            <c:chart xmlns:r="http://schemas.openxmlformats.org/officeDocument/2006/relationships" xmlns:c="http://schemas.openxmlformats.org/drawingml/2006/chart" r:id="R6a8482f0eca64841"/>
          </a:graphicData>
        </a:graphic>
      </p:graphicFrame>
      <p:sp>
        <p:nvSpPr>
          <p:cNvPr id="7" name="">
            <a:extLst xmlns:a="http://schemas.openxmlformats.org/drawingml/2006/main">
              <a:ext uri="{FF2B5EF4-FFF2-40B4-BE49-F238E27FC236}">
                <a16:creationId xmlns:a16="http://schemas.microsoft.com/office/drawing/2014/main" id="{29DE6B0D-4D7C-412F-A7E9-7C43C291CB2E}"/>
              </a:ext>
            </a:extLst>
          </p:cNvPr>
          <p:cNvSpPr>
            <a:spLocks xmlns:a="http://schemas.openxmlformats.org/drawingml/2006/main" noGrp="1"/>
          </p:cNvSpPr>
          <p:nvPr/>
        </p:nvSpPr>
        <p:spPr>
          <a:xfrm xmlns:a="http://schemas.openxmlformats.org/drawingml/2006/main">
            <a:off x="5953125" y="1362075"/>
            <a:ext cx="528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i="0">
                <a:solidFill>
                  <a:srgbClr val="B86E00"/>
                </a:solidFill>
                <a:latin typeface="Calibri"/>
                <a:ea typeface="Calibri"/>
                <a:cs typeface="Calibri"/>
              </a:defRPr>
            </a:pPr>
            <a:r>
              <a:rPr sz="975" b="1" i="0">
                <a:solidFill>
                  <a:srgbClr val="B86E00"/>
                </a:solidFill>
                <a:latin typeface="Calibri"/>
                <a:ea typeface="Calibri"/>
                <a:cs typeface="Calibri"/>
              </a:rPr>
              <a:t>CLEARANCE TO CORRECT ANSWER (CASE COUNT)</a:t>
            </a:r>
          </a:p>
        </p:txBody>
      </p:sp>
      <p:graphicFrame>
        <p:nvGraphicFramePr>
          <p:cNvPr id="20" name="Chart"/>
          <p:cNvGraphicFramePr/>
          <p:nvPr/>
        </p:nvGraphicFramePr>
        <p:xfrm>
          <a:off xmlns:a="http://schemas.openxmlformats.org/drawingml/2006/main" x="5791200" y="1628775"/>
          <a:ext xmlns:a="http://schemas.openxmlformats.org/drawingml/2006/main" cx="5638800" cy="3857625"/>
        </p:xfrm>
        <a:graphic xmlns:a="http://schemas.openxmlformats.org/drawingml/2006/main">
          <a:graphicData uri="http://schemas.openxmlformats.org/drawingml/2006/chart">
            <c:chart xmlns:r="http://schemas.openxmlformats.org/officeDocument/2006/relationships" xmlns:c="http://schemas.openxmlformats.org/drawingml/2006/chart" r:id="R334e9bacfa144efb"/>
          </a:graphicData>
        </a:graphic>
      </p:graphicFrame>
      <p:sp>
        <p:nvSpPr>
          <p:cNvPr id="9" name="">
            <a:extLst xmlns:a="http://schemas.openxmlformats.org/drawingml/2006/main">
              <a:ext uri="{FF2B5EF4-FFF2-40B4-BE49-F238E27FC236}">
                <a16:creationId xmlns:a16="http://schemas.microsoft.com/office/drawing/2014/main" id="{126DD052-2539-4606-89A5-D8D4E7B5F83A}"/>
              </a:ext>
            </a:extLst>
          </p:cNvPr>
          <p:cNvSpPr>
            <a:spLocks xmlns:a="http://schemas.openxmlformats.org/drawingml/2006/main" noGrp="1"/>
          </p:cNvSpPr>
          <p:nvPr/>
        </p:nvSpPr>
        <p:spPr>
          <a:xfrm xmlns:a="http://schemas.openxmlformats.org/drawingml/2006/main">
            <a:off x="5953125" y="5543550"/>
            <a:ext cx="5286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38" b="1" i="0">
                <a:solidFill>
                  <a:srgbClr val="065A82"/>
                </a:solidFill>
                <a:latin typeface="Calibri"/>
                <a:ea typeface="Calibri"/>
                <a:cs typeface="Calibri"/>
              </a:defRPr>
            </a:pPr>
            <a:r>
              <a:rPr sz="938" b="1" i="0">
                <a:solidFill>
                  <a:srgbClr val="065A82"/>
                </a:solidFill>
                <a:latin typeface="Calibri"/>
                <a:ea typeface="Calibri"/>
                <a:cs typeface="Calibri"/>
              </a:rPr>
              <a:t>Average margin     ModernBERT 8.7%     TypeSafe.ai JEV 95.4%</a:t>
            </a:r>
          </a:p>
        </p:txBody>
      </p:sp>
      <p:sp>
        <p:nvSpPr>
          <p:cNvPr id="10" name="">
            <a:extLst xmlns:a="http://schemas.openxmlformats.org/drawingml/2006/main">
              <a:ext uri="{FF2B5EF4-FFF2-40B4-BE49-F238E27FC236}">
                <a16:creationId xmlns:a16="http://schemas.microsoft.com/office/drawing/2014/main" id="{E2521E41-CFB4-4AFC-99CD-BF376929D4E8}"/>
              </a:ext>
            </a:extLst>
          </p:cNvPr>
          <p:cNvSpPr>
            <a:spLocks xmlns:a="http://schemas.openxmlformats.org/drawingml/2006/main" noGrp="1"/>
          </p:cNvSpPr>
          <p:nvPr/>
        </p:nvSpPr>
        <p:spPr>
          <a:xfrm xmlns:a="http://schemas.openxmlformats.org/drawingml/2006/main">
            <a:off x="781050" y="5810250"/>
            <a:ext cx="10458450" cy="428625"/>
          </a:xfrm>
          <a:prstGeom xmlns:a="http://schemas.openxmlformats.org/drawingml/2006/main" prst="rect">
            <a:avLst/>
          </a:prstGeom>
          <a:solidFill xmlns:a="http://schemas.openxmlformats.org/drawingml/2006/main">
            <a:srgbClr val="21295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778FCE4-8C81-4862-BBFB-81BE7235007A}"/>
              </a:ext>
            </a:extLst>
          </p:cNvPr>
          <p:cNvSpPr>
            <a:spLocks xmlns:a="http://schemas.openxmlformats.org/drawingml/2006/main" noGrp="1"/>
          </p:cNvSpPr>
          <p:nvPr/>
        </p:nvSpPr>
        <p:spPr>
          <a:xfrm xmlns:a="http://schemas.openxmlformats.org/drawingml/2006/main">
            <a:off x="971550" y="5915025"/>
            <a:ext cx="10077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8" b="1" i="0">
                <a:solidFill>
                  <a:srgbClr val="FFFFFF"/>
                </a:solidFill>
                <a:latin typeface="Calibri"/>
                <a:ea typeface="Calibri"/>
                <a:cs typeface="Calibri"/>
              </a:defRPr>
            </a:pPr>
            <a:r>
              <a:rPr sz="1088" b="1" i="0">
                <a:solidFill>
                  <a:srgbClr val="FFFFFF"/>
                </a:solidFill>
                <a:latin typeface="Calibri"/>
                <a:ea typeface="Calibri"/>
                <a:cs typeface="Calibri"/>
              </a:rPr>
              <a:t>Clearance = P(chosen answer) − P(correct answer). Correct choices have zero clearance.</a:t>
            </a:r>
          </a:p>
        </p:txBody>
      </p:sp>
      <p:sp>
        <p:nvSpPr>
          <p:cNvPr id="12" name="">
            <a:extLst xmlns:a="http://schemas.openxmlformats.org/drawingml/2006/main">
              <a:ext uri="{FF2B5EF4-FFF2-40B4-BE49-F238E27FC236}">
                <a16:creationId xmlns:a16="http://schemas.microsoft.com/office/drawing/2014/main" id="{8FE7643A-EA43-472B-8E45-D381651E6D77}"/>
              </a:ext>
            </a:extLst>
          </p:cNvPr>
          <p:cNvSpPr>
            <a:spLocks xmlns:a="http://schemas.openxmlformats.org/drawingml/2006/main" noGrp="1"/>
          </p:cNvSpPr>
          <p:nvPr/>
        </p:nvSpPr>
        <p:spPr>
          <a:xfrm xmlns:a="http://schemas.openxmlformats.org/drawingml/2006/main">
            <a:off x="781050" y="6400800"/>
            <a:ext cx="10458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38" b="0" i="1">
                <a:solidFill>
                  <a:srgbClr val="6B7A8C"/>
                </a:solidFill>
                <a:latin typeface="Calibri"/>
                <a:ea typeface="Calibri"/>
                <a:cs typeface="Calibri"/>
              </a:defRPr>
            </a:pPr>
            <a:r>
              <a:rPr sz="938" b="0" i="1">
                <a:solidFill>
                  <a:srgbClr val="6B7A8C"/>
                </a:solidFill>
                <a:latin typeface="Calibri"/>
                <a:ea typeface="Calibri"/>
                <a:cs typeface="Calibri"/>
              </a:rPr>
              <a:t>Margin = average of P(chosen answer) − P(next-best answer). Lower clearance and higher margin are better.</a:t>
            </a:r>
          </a:p>
        </p:txBody>
      </p:sp>
    </p:spTree>
    <p:extLst>
      <p:ext uri="{BB962C8B-B14F-4D97-AF65-F5344CB8AC3E}">
        <p14:creationId xmlns:p14="http://schemas.microsoft.com/office/powerpoint/2010/main" val="67842040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 name="background">
            <a:extLst xmlns:a="http://schemas.openxmlformats.org/drawingml/2006/main">
              <a:ext uri="{FF2B5EF4-FFF2-40B4-BE49-F238E27FC236}">
                <a16:creationId xmlns:a16="http://schemas.microsoft.com/office/drawing/2014/main" id="{FADB3331-9C6B-4693-AA3F-0F4ACD035E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A254AE53-1DFE-49A2-9889-29782CEA96C6}"/>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40B2B3-2AD7-4C49-8323-E023E0051A20}"/>
              </a:ext>
            </a:extLst>
          </p:cNvPr>
          <p:cNvSpPr>
            <a:spLocks xmlns:a="http://schemas.openxmlformats.org/drawingml/2006/main" noGrp="1"/>
          </p:cNvSpPr>
          <p:nvPr/>
        </p:nvSpPr>
        <p:spPr>
          <a:xfrm xmlns:a="http://schemas.openxmlformats.org/drawingml/2006/main">
            <a:off x="781050" y="400050"/>
            <a:ext cx="1045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21295C"/>
                </a:solidFill>
                <a:latin typeface="Georgia"/>
                <a:ea typeface="Georgia"/>
                <a:cs typeface="Georgia"/>
              </a:defRPr>
            </a:pPr>
            <a:r>
              <a:rPr sz="2850" b="1" i="0">
                <a:solidFill>
                  <a:srgbClr val="21295C"/>
                </a:solidFill>
                <a:latin typeface="Georgia"/>
                <a:ea typeface="Georgia"/>
                <a:cs typeface="Georgia"/>
              </a:rPr>
              <a:t>Correct score, clearance, and margin by use case</a:t>
            </a:r>
          </a:p>
        </p:txBody>
      </p:sp>
      <p:sp>
        <p:nvSpPr>
          <p:cNvPr id="4" name="">
            <a:extLst xmlns:a="http://schemas.openxmlformats.org/drawingml/2006/main">
              <a:ext uri="{FF2B5EF4-FFF2-40B4-BE49-F238E27FC236}">
                <a16:creationId xmlns:a16="http://schemas.microsoft.com/office/drawing/2014/main" id="{1BE94C05-9111-4CB5-9C1C-E0DED5565F99}"/>
              </a:ext>
            </a:extLst>
          </p:cNvPr>
          <p:cNvSpPr>
            <a:spLocks xmlns:a="http://schemas.openxmlformats.org/drawingml/2006/main" noGrp="1"/>
          </p:cNvSpPr>
          <p:nvPr/>
        </p:nvSpPr>
        <p:spPr>
          <a:xfrm xmlns:a="http://schemas.openxmlformats.org/drawingml/2006/main">
            <a:off x="781050" y="9334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1">
                <a:solidFill>
                  <a:srgbClr val="6B7A8C"/>
                </a:solidFill>
                <a:latin typeface="Calibri"/>
                <a:ea typeface="Calibri"/>
                <a:cs typeface="Calibri"/>
              </a:defRPr>
            </a:pPr>
            <a:r>
              <a:rPr sz="1275" b="0" i="1">
                <a:solidFill>
                  <a:srgbClr val="6B7A8C"/>
                </a:solidFill>
                <a:latin typeface="Calibri"/>
                <a:ea typeface="Calibri"/>
                <a:cs typeface="Calibri"/>
              </a:rPr>
              <a:t>Each model column reports correct answers, average clearance, and average top-two margin.</a:t>
            </a:r>
          </a:p>
        </p:txBody>
      </p:sp>
      <p:graphicFrame>
        <p:nvGraphicFramePr>
          <p:cNvPr id="16" name=""/>
          <p:cNvGraphicFramePr/>
          <p:nvPr/>
        </p:nvGraphicFramePr>
        <p:xfrm>
          <a:off xmlns:a="http://schemas.openxmlformats.org/drawingml/2006/main" x="781050" y="1504950"/>
          <a:ext xmlns:a="http://schemas.openxmlformats.org/drawingml/2006/main" cx="10458450" cy="3219450"/>
        </p:xfrm>
        <a:graphic xmlns:a="http://schemas.openxmlformats.org/drawingml/2006/main">
          <a:graphicData uri="http://schemas.openxmlformats.org/drawingml/2006/table">
            <a:tbl>
              <a:tblPr firstRow="1" bandRow="1"/>
              <a:tblGrid>
                <a:gridCol w="2571750"/>
                <a:gridCol w="571500"/>
                <a:gridCol w="3657600"/>
                <a:gridCol w="3657600"/>
              </a:tblGrid>
              <a:tr h="552450">
                <a:tc>
                  <a:txBody>
                    <a:bodyPr/>
                    <a:lstStyle/>
                    <a:p>
                      <a:r>
                        <a:rPr sz="863" b="1">
                          <a:solidFill>
                            <a:srgbClr val="FFFFFF"/>
                          </a:solidFill>
                          <a:latin typeface="Calibri"/>
                          <a:ea typeface="Calibri"/>
                          <a:cs typeface="Calibri"/>
                        </a:rPr>
                        <a:t>Use case</a:t>
                      </a:r>
                    </a:p>
                  </a:txBody>
                  <a:tcPr marL="76200" marR="57150" marT="38100" marB="38100" anchor="ctr">
                    <a:solidFill>
                      <a:srgbClr val="21295C"/>
                    </a:solidFill>
                  </a:tcPr>
                </a:tc>
                <a:tc>
                  <a:txBody>
                    <a:bodyPr/>
                    <a:lstStyle/>
                    <a:p>
                      <a:r>
                        <a:rPr sz="863" b="1">
                          <a:solidFill>
                            <a:srgbClr val="FFFFFF"/>
                          </a:solidFill>
                          <a:latin typeface="Calibri"/>
                          <a:ea typeface="Calibri"/>
                          <a:cs typeface="Calibri"/>
                        </a:rPr>
                        <a:t>n</a:t>
                      </a:r>
                    </a:p>
                  </a:txBody>
                  <a:tcPr marL="76200" marR="57150" marT="38100" marB="38100" anchor="ctr">
                    <a:solidFill>
                      <a:srgbClr val="21295C"/>
                    </a:solidFill>
                  </a:tcPr>
                </a:tc>
                <a:tc>
                  <a:txBody>
                    <a:bodyPr/>
                    <a:lstStyle/>
                    <a:p>
                      <a:r>
                        <a:rPr sz="863" b="1">
                          <a:solidFill>
                            <a:srgbClr val="FFFFFF"/>
                          </a:solidFill>
                          <a:latin typeface="Calibri"/>
                          <a:ea typeface="Calibri"/>
                          <a:cs typeface="Calibri"/>
                        </a:rPr>
                        <a:t>ModernBERT</a:t>
                      </a:r>
                    </a:p>
                    <a:p>
                      <a:r>
                        <a:rPr sz="863" b="1">
                          <a:solidFill>
                            <a:srgbClr val="FFFFFF"/>
                          </a:solidFill>
                          <a:latin typeface="Calibri"/>
                          <a:ea typeface="Calibri"/>
                          <a:cs typeface="Calibri"/>
                        </a:rPr>
                        <a:t>correct / clearance / margin</a:t>
                      </a:r>
                    </a:p>
                  </a:txBody>
                  <a:tcPr marL="76200" marR="57150" marT="38100" marB="38100" anchor="ctr">
                    <a:solidFill>
                      <a:srgbClr val="21295C"/>
                    </a:solidFill>
                  </a:tcPr>
                </a:tc>
                <a:tc>
                  <a:txBody>
                    <a:bodyPr/>
                    <a:lstStyle/>
                    <a:p>
                      <a:r>
                        <a:rPr sz="863" b="1">
                          <a:solidFill>
                            <a:srgbClr val="FFFFFF"/>
                          </a:solidFill>
                          <a:latin typeface="Calibri"/>
                          <a:ea typeface="Calibri"/>
                          <a:cs typeface="Calibri"/>
                        </a:rPr>
                        <a:t>TypeSafe.ai JEV</a:t>
                      </a:r>
                    </a:p>
                    <a:p>
                      <a:r>
                        <a:rPr sz="863" b="1">
                          <a:solidFill>
                            <a:srgbClr val="FFFFFF"/>
                          </a:solidFill>
                          <a:latin typeface="Calibri"/>
                          <a:ea typeface="Calibri"/>
                          <a:cs typeface="Calibri"/>
                        </a:rPr>
                        <a:t>correct / clearance / margin</a:t>
                      </a:r>
                    </a:p>
                  </a:txBody>
                  <a:tcPr marL="76200" marR="57150" marT="38100" marB="38100" anchor="ctr">
                    <a:solidFill>
                      <a:srgbClr val="21295C"/>
                    </a:solidFill>
                  </a:tcPr>
                </a:tc>
              </a:tr>
              <a:tr h="647700">
                <a:tc>
                  <a:txBody>
                    <a:bodyPr/>
                    <a:lstStyle/>
                    <a:p>
                      <a:r>
                        <a:rPr sz="975">
                          <a:solidFill>
                            <a:srgbClr val="1A1F2B"/>
                          </a:solidFill>
                          <a:latin typeface="Calibri"/>
                          <a:ea typeface="Calibri"/>
                          <a:cs typeface="Calibri"/>
                        </a:rPr>
                        <a:t>Simple multiple choice</a:t>
                      </a:r>
                    </a:p>
                  </a:txBody>
                  <a:tcPr marL="76200" marR="57150" marT="38100" marB="38100" anchor="ctr"/>
                </a:tc>
                <a:tc>
                  <a:txBody>
                    <a:bodyPr/>
                    <a:lstStyle/>
                    <a:p>
                      <a:r>
                        <a:rPr sz="975">
                          <a:solidFill>
                            <a:srgbClr val="1A1F2B"/>
                          </a:solidFill>
                          <a:latin typeface="Calibri"/>
                          <a:ea typeface="Calibri"/>
                          <a:cs typeface="Calibri"/>
                        </a:rPr>
                        <a:t>12</a:t>
                      </a:r>
                    </a:p>
                  </a:txBody>
                  <a:tcPr marL="76200" marR="57150" marT="38100" marB="38100" anchor="ctr"/>
                </a:tc>
                <a:tc>
                  <a:txBody>
                    <a:bodyPr/>
                    <a:lstStyle/>
                    <a:p>
                      <a:r>
                        <a:rPr sz="975">
                          <a:solidFill>
                            <a:srgbClr val="065A82"/>
                          </a:solidFill>
                          <a:latin typeface="Calibri"/>
                          <a:ea typeface="Calibri"/>
                          <a:cs typeface="Calibri"/>
                        </a:rPr>
                        <a:t>12/12 (100%)     0.0%     38.4%</a:t>
                      </a:r>
                    </a:p>
                  </a:txBody>
                  <a:tcPr marL="76200" marR="57150" marT="38100" marB="38100" anchor="ctr"/>
                </a:tc>
                <a:tc>
                  <a:txBody>
                    <a:bodyPr/>
                    <a:lstStyle/>
                    <a:p>
                      <a:r>
                        <a:rPr sz="975">
                          <a:solidFill>
                            <a:srgbClr val="815AC0"/>
                          </a:solidFill>
                          <a:latin typeface="Calibri"/>
                          <a:ea typeface="Calibri"/>
                          <a:cs typeface="Calibri"/>
                        </a:rPr>
                        <a:t>12/12 (100%)     0.0%     100.0%</a:t>
                      </a:r>
                    </a:p>
                  </a:txBody>
                  <a:tcPr marL="76200" marR="57150" marT="38100" marB="38100" anchor="ctr"/>
                </a:tc>
              </a:tr>
              <a:tr h="647700">
                <a:tc>
                  <a:txBody>
                    <a:bodyPr/>
                    <a:lstStyle/>
                    <a:p>
                      <a:r>
                        <a:rPr sz="975">
                          <a:solidFill>
                            <a:srgbClr val="1A1F2B"/>
                          </a:solidFill>
                          <a:latin typeface="Calibri"/>
                          <a:ea typeface="Calibri"/>
                          <a:cs typeface="Calibri"/>
                        </a:rPr>
                        <a:t>Tool selection</a:t>
                      </a:r>
                    </a:p>
                  </a:txBody>
                  <a:tcPr marL="76200" marR="57150" marT="38100" marB="38100" anchor="ctr"/>
                </a:tc>
                <a:tc>
                  <a:txBody>
                    <a:bodyPr/>
                    <a:lstStyle/>
                    <a:p>
                      <a:r>
                        <a:rPr sz="975">
                          <a:solidFill>
                            <a:srgbClr val="1A1F2B"/>
                          </a:solidFill>
                          <a:latin typeface="Calibri"/>
                          <a:ea typeface="Calibri"/>
                          <a:cs typeface="Calibri"/>
                        </a:rPr>
                        <a:t>20</a:t>
                      </a:r>
                    </a:p>
                  </a:txBody>
                  <a:tcPr marL="76200" marR="57150" marT="38100" marB="38100" anchor="ctr"/>
                </a:tc>
                <a:tc>
                  <a:txBody>
                    <a:bodyPr/>
                    <a:lstStyle/>
                    <a:p>
                      <a:r>
                        <a:rPr sz="975">
                          <a:solidFill>
                            <a:srgbClr val="065A82"/>
                          </a:solidFill>
                          <a:latin typeface="Calibri"/>
                          <a:ea typeface="Calibri"/>
                          <a:cs typeface="Calibri"/>
                        </a:rPr>
                        <a:t>17/20 (85.0%)     0.2%     9.4%</a:t>
                      </a:r>
                    </a:p>
                  </a:txBody>
                  <a:tcPr marL="76200" marR="57150" marT="38100" marB="38100" anchor="ctr"/>
                </a:tc>
                <a:tc>
                  <a:txBody>
                    <a:bodyPr/>
                    <a:lstStyle/>
                    <a:p>
                      <a:r>
                        <a:rPr sz="975">
                          <a:solidFill>
                            <a:srgbClr val="815AC0"/>
                          </a:solidFill>
                          <a:latin typeface="Calibri"/>
                          <a:ea typeface="Calibri"/>
                          <a:cs typeface="Calibri"/>
                        </a:rPr>
                        <a:t>20/20 (100%)     0.0%     96.7%</a:t>
                      </a:r>
                    </a:p>
                  </a:txBody>
                  <a:tcPr marL="76200" marR="57150" marT="38100" marB="38100" anchor="ctr"/>
                </a:tc>
              </a:tr>
              <a:tr h="647700">
                <a:tc>
                  <a:txBody>
                    <a:bodyPr/>
                    <a:lstStyle/>
                    <a:p>
                      <a:r>
                        <a:rPr sz="975">
                          <a:solidFill>
                            <a:srgbClr val="1A1F2B"/>
                          </a:solidFill>
                          <a:latin typeface="Calibri"/>
                          <a:ea typeface="Calibri"/>
                          <a:cs typeface="Calibri"/>
                        </a:rPr>
                        <a:t>No-tool detection</a:t>
                      </a:r>
                    </a:p>
                  </a:txBody>
                  <a:tcPr marL="76200" marR="57150" marT="38100" marB="38100" anchor="ctr"/>
                </a:tc>
                <a:tc>
                  <a:txBody>
                    <a:bodyPr/>
                    <a:lstStyle/>
                    <a:p>
                      <a:r>
                        <a:rPr sz="975">
                          <a:solidFill>
                            <a:srgbClr val="1A1F2B"/>
                          </a:solidFill>
                          <a:latin typeface="Calibri"/>
                          <a:ea typeface="Calibri"/>
                          <a:cs typeface="Calibri"/>
                        </a:rPr>
                        <a:t>10</a:t>
                      </a:r>
                    </a:p>
                  </a:txBody>
                  <a:tcPr marL="76200" marR="57150" marT="38100" marB="38100" anchor="ctr"/>
                </a:tc>
                <a:tc>
                  <a:txBody>
                    <a:bodyPr/>
                    <a:lstStyle/>
                    <a:p>
                      <a:r>
                        <a:rPr sz="975">
                          <a:solidFill>
                            <a:srgbClr val="065A82"/>
                          </a:solidFill>
                          <a:latin typeface="Calibri"/>
                          <a:ea typeface="Calibri"/>
                          <a:cs typeface="Calibri"/>
                        </a:rPr>
                        <a:t>6/10 (60.0%)     1.4%     7.1%</a:t>
                      </a:r>
                    </a:p>
                  </a:txBody>
                  <a:tcPr marL="76200" marR="57150" marT="38100" marB="38100" anchor="ctr"/>
                </a:tc>
                <a:tc>
                  <a:txBody>
                    <a:bodyPr/>
                    <a:lstStyle/>
                    <a:p>
                      <a:r>
                        <a:rPr sz="975">
                          <a:solidFill>
                            <a:srgbClr val="815AC0"/>
                          </a:solidFill>
                          <a:latin typeface="Calibri"/>
                          <a:ea typeface="Calibri"/>
                          <a:cs typeface="Calibri"/>
                        </a:rPr>
                        <a:t>9/10 (90.0%)     4.4%     92.8%</a:t>
                      </a:r>
                    </a:p>
                  </a:txBody>
                  <a:tcPr marL="76200" marR="57150" marT="38100" marB="38100" anchor="ctr"/>
                </a:tc>
              </a:tr>
              <a:tr h="647700">
                <a:tc>
                  <a:txBody>
                    <a:bodyPr/>
                    <a:lstStyle/>
                    <a:p>
                      <a:r>
                        <a:rPr sz="975">
                          <a:solidFill>
                            <a:srgbClr val="1A1F2B"/>
                          </a:solidFill>
                          <a:latin typeface="Calibri"/>
                          <a:ea typeface="Calibri"/>
                          <a:cs typeface="Calibri"/>
                        </a:rPr>
                        <a:t>All tool routes</a:t>
                      </a:r>
                    </a:p>
                  </a:txBody>
                  <a:tcPr marL="76200" marR="57150" marT="38100" marB="38100" anchor="ctr"/>
                </a:tc>
                <a:tc>
                  <a:txBody>
                    <a:bodyPr/>
                    <a:lstStyle/>
                    <a:p>
                      <a:r>
                        <a:rPr sz="975">
                          <a:solidFill>
                            <a:srgbClr val="1A1F2B"/>
                          </a:solidFill>
                          <a:latin typeface="Calibri"/>
                          <a:ea typeface="Calibri"/>
                          <a:cs typeface="Calibri"/>
                        </a:rPr>
                        <a:t>30</a:t>
                      </a:r>
                    </a:p>
                  </a:txBody>
                  <a:tcPr marL="76200" marR="57150" marT="38100" marB="38100" anchor="ctr"/>
                </a:tc>
                <a:tc>
                  <a:txBody>
                    <a:bodyPr/>
                    <a:lstStyle/>
                    <a:p>
                      <a:r>
                        <a:rPr sz="975">
                          <a:solidFill>
                            <a:srgbClr val="065A82"/>
                          </a:solidFill>
                          <a:latin typeface="Calibri"/>
                          <a:ea typeface="Calibri"/>
                          <a:cs typeface="Calibri"/>
                        </a:rPr>
                        <a:t>23/30 (76.7%)     0.6%     8.7%</a:t>
                      </a:r>
                    </a:p>
                  </a:txBody>
                  <a:tcPr marL="76200" marR="57150" marT="38100" marB="38100" anchor="ctr"/>
                </a:tc>
                <a:tc>
                  <a:txBody>
                    <a:bodyPr/>
                    <a:lstStyle/>
                    <a:p>
                      <a:r>
                        <a:rPr sz="975">
                          <a:solidFill>
                            <a:srgbClr val="815AC0"/>
                          </a:solidFill>
                          <a:latin typeface="Calibri"/>
                          <a:ea typeface="Calibri"/>
                          <a:cs typeface="Calibri"/>
                        </a:rPr>
                        <a:t>29/30 (96.7%)     1.5%     95.4%</a:t>
                      </a:r>
                    </a:p>
                  </a:txBody>
                  <a:tcPr marL="76200" marR="57150" marT="38100" marB="38100" anchor="ctr"/>
                </a:tc>
              </a:tr>
            </a:tbl>
          </a:graphicData>
        </a:graphic>
      </p:graphicFrame>
      <p:sp>
        <p:nvSpPr>
          <p:cNvPr id="6" name="">
            <a:extLst xmlns:a="http://schemas.openxmlformats.org/drawingml/2006/main">
              <a:ext uri="{FF2B5EF4-FFF2-40B4-BE49-F238E27FC236}">
                <a16:creationId xmlns:a16="http://schemas.microsoft.com/office/drawing/2014/main" id="{902AB1C8-2AE8-4AD5-8329-DD8486D4BC86}"/>
              </a:ext>
            </a:extLst>
          </p:cNvPr>
          <p:cNvSpPr>
            <a:spLocks xmlns:a="http://schemas.openxmlformats.org/drawingml/2006/main" noGrp="1"/>
          </p:cNvSpPr>
          <p:nvPr/>
        </p:nvSpPr>
        <p:spPr>
          <a:xfrm xmlns:a="http://schemas.openxmlformats.org/drawingml/2006/main">
            <a:off x="781050" y="5067300"/>
            <a:ext cx="10458450" cy="819150"/>
          </a:xfrm>
          <a:prstGeom xmlns:a="http://schemas.openxmlformats.org/drawingml/2006/main" prst="rect">
            <a:avLst/>
          </a:prstGeom>
          <a:solidFill xmlns:a="http://schemas.openxmlformats.org/drawingml/2006/main">
            <a:srgbClr val="E9F2F6"/>
          </a:solidFill>
          <a:ln xmlns:a="http://schemas.openxmlformats.org/drawingml/2006/main" w="9525">
            <a:solidFill>
              <a:srgbClr val="D5DFE6"/>
            </a:solidFill>
            <a:prstDash val="solid"/>
          </a:ln>
        </p:spPr>
      </p:sp>
      <p:sp>
        <p:nvSpPr>
          <p:cNvPr id="7" name="">
            <a:extLst xmlns:a="http://schemas.openxmlformats.org/drawingml/2006/main">
              <a:ext uri="{FF2B5EF4-FFF2-40B4-BE49-F238E27FC236}">
                <a16:creationId xmlns:a16="http://schemas.microsoft.com/office/drawing/2014/main" id="{35381988-C04F-4DD3-A01A-9A7C5795F1F6}"/>
              </a:ext>
            </a:extLst>
          </p:cNvPr>
          <p:cNvSpPr>
            <a:spLocks xmlns:a="http://schemas.openxmlformats.org/drawingml/2006/main" noGrp="1"/>
          </p:cNvSpPr>
          <p:nvPr/>
        </p:nvSpPr>
        <p:spPr>
          <a:xfrm xmlns:a="http://schemas.openxmlformats.org/drawingml/2006/main">
            <a:off x="1000125" y="5238750"/>
            <a:ext cx="1571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i="0">
                <a:solidFill>
                  <a:srgbClr val="065A82"/>
                </a:solidFill>
                <a:latin typeface="Calibri"/>
                <a:ea typeface="Calibri"/>
                <a:cs typeface="Calibri"/>
              </a:defRPr>
            </a:pPr>
            <a:r>
              <a:rPr sz="975" b="1" i="0">
                <a:solidFill>
                  <a:srgbClr val="065A82"/>
                </a:solidFill>
                <a:latin typeface="Calibri"/>
                <a:ea typeface="Calibri"/>
                <a:cs typeface="Calibri"/>
              </a:rPr>
              <a:t>Clearance</a:t>
            </a:r>
          </a:p>
        </p:txBody>
      </p:sp>
      <p:sp>
        <p:nvSpPr>
          <p:cNvPr id="8" name="">
            <a:extLst xmlns:a="http://schemas.openxmlformats.org/drawingml/2006/main">
              <a:ext uri="{FF2B5EF4-FFF2-40B4-BE49-F238E27FC236}">
                <a16:creationId xmlns:a16="http://schemas.microsoft.com/office/drawing/2014/main" id="{1880D704-D918-45F9-9CE1-81C440C8851B}"/>
              </a:ext>
            </a:extLst>
          </p:cNvPr>
          <p:cNvSpPr>
            <a:spLocks xmlns:a="http://schemas.openxmlformats.org/drawingml/2006/main" noGrp="1"/>
          </p:cNvSpPr>
          <p:nvPr/>
        </p:nvSpPr>
        <p:spPr>
          <a:xfrm xmlns:a="http://schemas.openxmlformats.org/drawingml/2006/main">
            <a:off x="2667000" y="52101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i="0">
                <a:solidFill>
                  <a:srgbClr val="1A1F2B"/>
                </a:solidFill>
                <a:latin typeface="Calibri"/>
                <a:ea typeface="Calibri"/>
                <a:cs typeface="Calibri"/>
              </a:defRPr>
            </a:pPr>
            <a:r>
              <a:rPr sz="1125" b="0" i="0">
                <a:solidFill>
                  <a:srgbClr val="1A1F2B"/>
                </a:solidFill>
                <a:latin typeface="Calibri"/>
                <a:ea typeface="Calibri"/>
                <a:cs typeface="Calibri"/>
              </a:rPr>
              <a:t>Average P(chosen) − P(correct). It is zero when the chosen answer is correct. Lower is better.</a:t>
            </a:r>
          </a:p>
        </p:txBody>
      </p:sp>
      <p:sp>
        <p:nvSpPr>
          <p:cNvPr id="9" name="">
            <a:extLst xmlns:a="http://schemas.openxmlformats.org/drawingml/2006/main">
              <a:ext uri="{FF2B5EF4-FFF2-40B4-BE49-F238E27FC236}">
                <a16:creationId xmlns:a16="http://schemas.microsoft.com/office/drawing/2014/main" id="{CD478011-C35F-440A-9B99-193374D959A5}"/>
              </a:ext>
            </a:extLst>
          </p:cNvPr>
          <p:cNvSpPr>
            <a:spLocks xmlns:a="http://schemas.openxmlformats.org/drawingml/2006/main" noGrp="1"/>
          </p:cNvSpPr>
          <p:nvPr/>
        </p:nvSpPr>
        <p:spPr>
          <a:xfrm xmlns:a="http://schemas.openxmlformats.org/drawingml/2006/main">
            <a:off x="1000125" y="5572125"/>
            <a:ext cx="1571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i="0">
                <a:solidFill>
                  <a:srgbClr val="B86E00"/>
                </a:solidFill>
                <a:latin typeface="Calibri"/>
                <a:ea typeface="Calibri"/>
                <a:cs typeface="Calibri"/>
              </a:defRPr>
            </a:pPr>
            <a:r>
              <a:rPr sz="975" b="1" i="0">
                <a:solidFill>
                  <a:srgbClr val="B86E00"/>
                </a:solidFill>
                <a:latin typeface="Calibri"/>
                <a:ea typeface="Calibri"/>
                <a:cs typeface="Calibri"/>
              </a:rPr>
              <a:t>Margin</a:t>
            </a:r>
          </a:p>
        </p:txBody>
      </p:sp>
      <p:sp>
        <p:nvSpPr>
          <p:cNvPr id="10" name="">
            <a:extLst xmlns:a="http://schemas.openxmlformats.org/drawingml/2006/main">
              <a:ext uri="{FF2B5EF4-FFF2-40B4-BE49-F238E27FC236}">
                <a16:creationId xmlns:a16="http://schemas.microsoft.com/office/drawing/2014/main" id="{91782294-6E10-4E6F-BBAA-4DEAF2721BC0}"/>
              </a:ext>
            </a:extLst>
          </p:cNvPr>
          <p:cNvSpPr>
            <a:spLocks xmlns:a="http://schemas.openxmlformats.org/drawingml/2006/main" noGrp="1"/>
          </p:cNvSpPr>
          <p:nvPr/>
        </p:nvSpPr>
        <p:spPr>
          <a:xfrm xmlns:a="http://schemas.openxmlformats.org/drawingml/2006/main">
            <a:off x="2667000" y="5543550"/>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i="0">
                <a:solidFill>
                  <a:srgbClr val="1A1F2B"/>
                </a:solidFill>
                <a:latin typeface="Calibri"/>
                <a:ea typeface="Calibri"/>
                <a:cs typeface="Calibri"/>
              </a:defRPr>
            </a:pPr>
            <a:r>
              <a:rPr sz="1125" b="0" i="0">
                <a:solidFill>
                  <a:srgbClr val="1A1F2B"/>
                </a:solidFill>
                <a:latin typeface="Calibri"/>
                <a:ea typeface="Calibri"/>
                <a:cs typeface="Calibri"/>
              </a:rPr>
              <a:t>Average P(chosen) − P(next best). Larger values mean a more separated winner.</a:t>
            </a:r>
          </a:p>
        </p:txBody>
      </p:sp>
      <p:sp>
        <p:nvSpPr>
          <p:cNvPr id="11" name="">
            <a:extLst xmlns:a="http://schemas.openxmlformats.org/drawingml/2006/main">
              <a:ext uri="{FF2B5EF4-FFF2-40B4-BE49-F238E27FC236}">
                <a16:creationId xmlns:a16="http://schemas.microsoft.com/office/drawing/2014/main" id="{AA88F374-5ECB-461B-9534-F6B69B64CC79}"/>
              </a:ext>
            </a:extLst>
          </p:cNvPr>
          <p:cNvSpPr>
            <a:spLocks xmlns:a="http://schemas.openxmlformats.org/drawingml/2006/main" noGrp="1"/>
          </p:cNvSpPr>
          <p:nvPr/>
        </p:nvSpPr>
        <p:spPr>
          <a:xfrm xmlns:a="http://schemas.openxmlformats.org/drawingml/2006/main">
            <a:off x="781050" y="6229350"/>
            <a:ext cx="10458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21295C"/>
                </a:solidFill>
                <a:latin typeface="Calibri"/>
                <a:ea typeface="Calibri"/>
                <a:cs typeface="Calibri"/>
              </a:defRPr>
            </a:pPr>
            <a:r>
              <a:rPr sz="975" b="1" i="0">
                <a:solidFill>
                  <a:srgbClr val="21295C"/>
                </a:solidFill>
                <a:latin typeface="Calibri"/>
                <a:ea typeface="Calibri"/>
                <a:cs typeface="Calibri"/>
              </a:rPr>
              <a:t>JEV's one wrong tool route had 72% on the chosen option and 28% on the correct option, a 44-point clearance.</a:t>
            </a:r>
          </a:p>
        </p:txBody>
      </p:sp>
    </p:spTree>
    <p:extLst>
      <p:ext uri="{BB962C8B-B14F-4D97-AF65-F5344CB8AC3E}">
        <p14:creationId xmlns:p14="http://schemas.microsoft.com/office/powerpoint/2010/main" val="211299657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9" name="background">
            <a:extLst xmlns:a="http://schemas.openxmlformats.org/drawingml/2006/main">
              <a:ext uri="{FF2B5EF4-FFF2-40B4-BE49-F238E27FC236}">
                <a16:creationId xmlns:a16="http://schemas.microsoft.com/office/drawing/2014/main" id="{63453C51-0795-4B75-9F84-5E78291057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08A22245-8960-4624-ACF8-4B3ABB60DFFC}"/>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0B4842-083F-477B-AC12-B155B136CA5B}"/>
              </a:ext>
            </a:extLst>
          </p:cNvPr>
          <p:cNvSpPr>
            <a:spLocks xmlns:a="http://schemas.openxmlformats.org/drawingml/2006/main" noGrp="1"/>
          </p:cNvSpPr>
          <p:nvPr/>
        </p:nvSpPr>
        <p:spPr>
          <a:xfrm xmlns:a="http://schemas.openxmlformats.org/drawingml/2006/main">
            <a:off x="781050" y="428625"/>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i="0">
                <a:solidFill>
                  <a:srgbClr val="21295C"/>
                </a:solidFill>
                <a:latin typeface="Georgia"/>
                <a:ea typeface="Georgia"/>
                <a:cs typeface="Georgia"/>
              </a:defRPr>
            </a:pPr>
            <a:r>
              <a:rPr sz="3150" b="1" i="0">
                <a:solidFill>
                  <a:srgbClr val="21295C"/>
                </a:solidFill>
                <a:latin typeface="Georgia"/>
                <a:ea typeface="Georgia"/>
                <a:cs typeface="Georgia"/>
              </a:rPr>
              <a:t>Two classifier paths</a:t>
            </a:r>
          </a:p>
        </p:txBody>
      </p:sp>
      <p:sp>
        <p:nvSpPr>
          <p:cNvPr id="4" name="">
            <a:extLst xmlns:a="http://schemas.openxmlformats.org/drawingml/2006/main">
              <a:ext uri="{FF2B5EF4-FFF2-40B4-BE49-F238E27FC236}">
                <a16:creationId xmlns:a16="http://schemas.microsoft.com/office/drawing/2014/main" id="{5F4A306A-FC17-497B-BCAF-59EEB9783202}"/>
              </a:ext>
            </a:extLst>
          </p:cNvPr>
          <p:cNvSpPr>
            <a:spLocks xmlns:a="http://schemas.openxmlformats.org/drawingml/2006/main" noGrp="1"/>
          </p:cNvSpPr>
          <p:nvPr/>
        </p:nvSpPr>
        <p:spPr>
          <a:xfrm xmlns:a="http://schemas.openxmlformats.org/drawingml/2006/main">
            <a:off x="781050" y="100012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i="1">
                <a:solidFill>
                  <a:srgbClr val="6B7A8C"/>
                </a:solidFill>
                <a:latin typeface="Calibri"/>
                <a:ea typeface="Calibri"/>
                <a:cs typeface="Calibri"/>
              </a:defRPr>
            </a:pPr>
            <a:r>
              <a:rPr sz="1350" b="0" i="1">
                <a:solidFill>
                  <a:srgbClr val="6B7A8C"/>
                </a:solidFill>
                <a:latin typeface="Calibri"/>
                <a:ea typeface="Calibri"/>
                <a:cs typeface="Calibri"/>
              </a:rPr>
              <a:t>Both paths receive the same state, question, and declared options</a:t>
            </a:r>
          </a:p>
        </p:txBody>
      </p:sp>
      <p:sp>
        <p:nvSpPr>
          <p:cNvPr id="5" name="LOCAL NLI-panel">
            <a:extLst xmlns:a="http://schemas.openxmlformats.org/drawingml/2006/main">
              <a:ext uri="{FF2B5EF4-FFF2-40B4-BE49-F238E27FC236}">
                <a16:creationId xmlns:a16="http://schemas.microsoft.com/office/drawing/2014/main" id="{A10E46AA-5DB6-4513-B5B8-EA90A79559C7}"/>
              </a:ext>
            </a:extLst>
          </p:cNvPr>
          <p:cNvSpPr>
            <a:spLocks xmlns:a="http://schemas.openxmlformats.org/drawingml/2006/main" noGrp="1"/>
          </p:cNvSpPr>
          <p:nvPr/>
        </p:nvSpPr>
        <p:spPr>
          <a:xfrm xmlns:a="http://schemas.openxmlformats.org/drawingml/2006/main">
            <a:off x="781050" y="1657350"/>
            <a:ext cx="5048250" cy="39814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6" name="LOCAL NLI-header">
            <a:extLst xmlns:a="http://schemas.openxmlformats.org/drawingml/2006/main">
              <a:ext uri="{FF2B5EF4-FFF2-40B4-BE49-F238E27FC236}">
                <a16:creationId xmlns:a16="http://schemas.microsoft.com/office/drawing/2014/main" id="{0543787D-ACFF-481E-A082-ADFDCCDFFCA0}"/>
              </a:ext>
            </a:extLst>
          </p:cNvPr>
          <p:cNvSpPr>
            <a:spLocks xmlns:a="http://schemas.openxmlformats.org/drawingml/2006/main" noGrp="1"/>
          </p:cNvSpPr>
          <p:nvPr/>
        </p:nvSpPr>
        <p:spPr>
          <a:xfrm xmlns:a="http://schemas.openxmlformats.org/drawingml/2006/main">
            <a:off x="781050" y="1657350"/>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E1427A-DDC3-46CA-8325-DFD8F4E06C73}"/>
              </a:ext>
            </a:extLst>
          </p:cNvPr>
          <p:cNvSpPr>
            <a:spLocks xmlns:a="http://schemas.openxmlformats.org/drawingml/2006/main" noGrp="1"/>
          </p:cNvSpPr>
          <p:nvPr/>
        </p:nvSpPr>
        <p:spPr>
          <a:xfrm xmlns:a="http://schemas.openxmlformats.org/drawingml/2006/main">
            <a:off x="933450" y="1733550"/>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LOCAL NLI</a:t>
            </a:r>
          </a:p>
        </p:txBody>
      </p:sp>
      <p:sp>
        <p:nvSpPr>
          <p:cNvPr id="8" name="">
            <a:extLst xmlns:a="http://schemas.openxmlformats.org/drawingml/2006/main">
              <a:ext uri="{FF2B5EF4-FFF2-40B4-BE49-F238E27FC236}">
                <a16:creationId xmlns:a16="http://schemas.microsoft.com/office/drawing/2014/main" id="{0E3D47EE-5E21-492C-B5BB-22A67BF1CB7D}"/>
              </a:ext>
            </a:extLst>
          </p:cNvPr>
          <p:cNvSpPr>
            <a:spLocks xmlns:a="http://schemas.openxmlformats.org/drawingml/2006/main" noGrp="1"/>
          </p:cNvSpPr>
          <p:nvPr/>
        </p:nvSpPr>
        <p:spPr>
          <a:xfrm xmlns:a="http://schemas.openxmlformats.org/drawingml/2006/main">
            <a:off x="1009650" y="22288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i="0">
                <a:solidFill>
                  <a:srgbClr val="065A82"/>
                </a:solidFill>
                <a:latin typeface="Calibri"/>
                <a:ea typeface="Calibri"/>
                <a:cs typeface="Calibri"/>
              </a:defRPr>
            </a:pPr>
            <a:r>
              <a:rPr sz="1575" b="1" i="0">
                <a:solidFill>
                  <a:srgbClr val="065A82"/>
                </a:solidFill>
                <a:latin typeface="Calibri"/>
                <a:ea typeface="Calibri"/>
                <a:cs typeface="Calibri"/>
              </a:rPr>
              <a:t>ModernBERT-large-zeroshot-v2.0</a:t>
            </a:r>
          </a:p>
        </p:txBody>
      </p:sp>
      <p:sp>
        <p:nvSpPr>
          <p:cNvPr id="9" name="">
            <a:extLst xmlns:a="http://schemas.openxmlformats.org/drawingml/2006/main">
              <a:ext uri="{FF2B5EF4-FFF2-40B4-BE49-F238E27FC236}">
                <a16:creationId xmlns:a16="http://schemas.microsoft.com/office/drawing/2014/main" id="{3C57AD0E-6A8A-431E-B9AE-D02EE578A9AE}"/>
              </a:ext>
            </a:extLst>
          </p:cNvPr>
          <p:cNvSpPr>
            <a:spLocks xmlns:a="http://schemas.openxmlformats.org/drawingml/2006/main" noGrp="1"/>
          </p:cNvSpPr>
          <p:nvPr/>
        </p:nvSpPr>
        <p:spPr>
          <a:xfrm xmlns:a="http://schemas.openxmlformats.org/drawingml/2006/main">
            <a:off x="1009650" y="2790825"/>
            <a:ext cx="76200" cy="4191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EFBAF47-2F70-49D5-B97F-B3145DC9DC1A}"/>
              </a:ext>
            </a:extLst>
          </p:cNvPr>
          <p:cNvSpPr>
            <a:spLocks xmlns:a="http://schemas.openxmlformats.org/drawingml/2006/main" noGrp="1"/>
          </p:cNvSpPr>
          <p:nvPr/>
        </p:nvSpPr>
        <p:spPr>
          <a:xfrm xmlns:a="http://schemas.openxmlformats.org/drawingml/2006/main">
            <a:off x="1257300" y="2762250"/>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065A82"/>
                </a:solidFill>
                <a:latin typeface="Calibri"/>
                <a:ea typeface="Calibri"/>
                <a:cs typeface="Calibri"/>
              </a:defRPr>
            </a:pPr>
            <a:r>
              <a:rPr sz="900" b="1" i="0">
                <a:solidFill>
                  <a:srgbClr val="065A82"/>
                </a:solidFill>
                <a:latin typeface="Calibri"/>
                <a:ea typeface="Calibri"/>
                <a:cs typeface="Calibri"/>
              </a:rPr>
              <a:t>INPUT</a:t>
            </a:r>
          </a:p>
        </p:txBody>
      </p:sp>
      <p:sp>
        <p:nvSpPr>
          <p:cNvPr id="11" name="">
            <a:extLst xmlns:a="http://schemas.openxmlformats.org/drawingml/2006/main">
              <a:ext uri="{FF2B5EF4-FFF2-40B4-BE49-F238E27FC236}">
                <a16:creationId xmlns:a16="http://schemas.microsoft.com/office/drawing/2014/main" id="{D517733B-2C45-4709-80BE-5C849C51D502}"/>
              </a:ext>
            </a:extLst>
          </p:cNvPr>
          <p:cNvSpPr>
            <a:spLocks xmlns:a="http://schemas.openxmlformats.org/drawingml/2006/main" noGrp="1"/>
          </p:cNvSpPr>
          <p:nvPr/>
        </p:nvSpPr>
        <p:spPr>
          <a:xfrm xmlns:a="http://schemas.openxmlformats.org/drawingml/2006/main">
            <a:off x="1257300" y="2971800"/>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i="0">
                <a:solidFill>
                  <a:srgbClr val="1A1F2B"/>
                </a:solidFill>
                <a:latin typeface="Calibri"/>
                <a:ea typeface="Calibri"/>
                <a:cs typeface="Calibri"/>
              </a:defRPr>
            </a:pPr>
            <a:r>
              <a:rPr sz="1200" b="0" i="0">
                <a:solidFill>
                  <a:srgbClr val="1A1F2B"/>
                </a:solidFill>
                <a:latin typeface="Calibri"/>
                <a:ea typeface="Calibri"/>
                <a:cs typeface="Calibri"/>
              </a:rPr>
              <a:t>State JSON plus the decision question</a:t>
            </a:r>
          </a:p>
        </p:txBody>
      </p:sp>
      <p:sp>
        <p:nvSpPr>
          <p:cNvPr id="12" name="">
            <a:extLst xmlns:a="http://schemas.openxmlformats.org/drawingml/2006/main">
              <a:ext uri="{FF2B5EF4-FFF2-40B4-BE49-F238E27FC236}">
                <a16:creationId xmlns:a16="http://schemas.microsoft.com/office/drawing/2014/main" id="{2E81E2B2-C534-44C6-B150-4F269B86A30D}"/>
              </a:ext>
            </a:extLst>
          </p:cNvPr>
          <p:cNvSpPr>
            <a:spLocks xmlns:a="http://schemas.openxmlformats.org/drawingml/2006/main" noGrp="1"/>
          </p:cNvSpPr>
          <p:nvPr/>
        </p:nvSpPr>
        <p:spPr>
          <a:xfrm xmlns:a="http://schemas.openxmlformats.org/drawingml/2006/main">
            <a:off x="1009650" y="3429000"/>
            <a:ext cx="76200" cy="4191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F39F9C-AA39-495B-8FB0-0D4130BB5139}"/>
              </a:ext>
            </a:extLst>
          </p:cNvPr>
          <p:cNvSpPr>
            <a:spLocks xmlns:a="http://schemas.openxmlformats.org/drawingml/2006/main" noGrp="1"/>
          </p:cNvSpPr>
          <p:nvPr/>
        </p:nvSpPr>
        <p:spPr>
          <a:xfrm xmlns:a="http://schemas.openxmlformats.org/drawingml/2006/main">
            <a:off x="1257300" y="3400425"/>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065A82"/>
                </a:solidFill>
                <a:latin typeface="Calibri"/>
                <a:ea typeface="Calibri"/>
                <a:cs typeface="Calibri"/>
              </a:defRPr>
            </a:pPr>
            <a:r>
              <a:rPr sz="900" b="1" i="0">
                <a:solidFill>
                  <a:srgbClr val="065A82"/>
                </a:solidFill>
                <a:latin typeface="Calibri"/>
                <a:ea typeface="Calibri"/>
                <a:cs typeface="Calibri"/>
              </a:rPr>
              <a:t>OPTIONS</a:t>
            </a:r>
          </a:p>
        </p:txBody>
      </p:sp>
      <p:sp>
        <p:nvSpPr>
          <p:cNvPr id="14" name="">
            <a:extLst xmlns:a="http://schemas.openxmlformats.org/drawingml/2006/main">
              <a:ext uri="{FF2B5EF4-FFF2-40B4-BE49-F238E27FC236}">
                <a16:creationId xmlns:a16="http://schemas.microsoft.com/office/drawing/2014/main" id="{A711F379-208C-424C-B0DB-334CFDEE5C52}"/>
              </a:ext>
            </a:extLst>
          </p:cNvPr>
          <p:cNvSpPr>
            <a:spLocks xmlns:a="http://schemas.openxmlformats.org/drawingml/2006/main" noGrp="1"/>
          </p:cNvSpPr>
          <p:nvPr/>
        </p:nvSpPr>
        <p:spPr>
          <a:xfrm xmlns:a="http://schemas.openxmlformats.org/drawingml/2006/main">
            <a:off x="1257300" y="3609975"/>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i="0">
                <a:solidFill>
                  <a:srgbClr val="1A1F2B"/>
                </a:solidFill>
                <a:latin typeface="Calibri"/>
                <a:ea typeface="Calibri"/>
                <a:cs typeface="Calibri"/>
              </a:defRPr>
            </a:pPr>
            <a:r>
              <a:rPr sz="1200" b="0" i="0">
                <a:solidFill>
                  <a:srgbClr val="1A1F2B"/>
                </a:solidFill>
                <a:latin typeface="Calibri"/>
                <a:ea typeface="Calibri"/>
                <a:cs typeface="Calibri"/>
              </a:rPr>
              <a:t>One premise and hypothesis pair per option</a:t>
            </a:r>
          </a:p>
        </p:txBody>
      </p:sp>
      <p:sp>
        <p:nvSpPr>
          <p:cNvPr id="15" name="">
            <a:extLst xmlns:a="http://schemas.openxmlformats.org/drawingml/2006/main">
              <a:ext uri="{FF2B5EF4-FFF2-40B4-BE49-F238E27FC236}">
                <a16:creationId xmlns:a16="http://schemas.microsoft.com/office/drawing/2014/main" id="{49557BAB-3BAB-4E41-982E-7E67B4E4C940}"/>
              </a:ext>
            </a:extLst>
          </p:cNvPr>
          <p:cNvSpPr>
            <a:spLocks xmlns:a="http://schemas.openxmlformats.org/drawingml/2006/main" noGrp="1"/>
          </p:cNvSpPr>
          <p:nvPr/>
        </p:nvSpPr>
        <p:spPr>
          <a:xfrm xmlns:a="http://schemas.openxmlformats.org/drawingml/2006/main">
            <a:off x="1009650" y="4067175"/>
            <a:ext cx="76200" cy="4191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32CB667-57CB-4B0B-8A23-0AABF81D1B44}"/>
              </a:ext>
            </a:extLst>
          </p:cNvPr>
          <p:cNvSpPr>
            <a:spLocks xmlns:a="http://schemas.openxmlformats.org/drawingml/2006/main" noGrp="1"/>
          </p:cNvSpPr>
          <p:nvPr/>
        </p:nvSpPr>
        <p:spPr>
          <a:xfrm xmlns:a="http://schemas.openxmlformats.org/drawingml/2006/main">
            <a:off x="1257300" y="4038600"/>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065A82"/>
                </a:solidFill>
                <a:latin typeface="Calibri"/>
                <a:ea typeface="Calibri"/>
                <a:cs typeface="Calibri"/>
              </a:defRPr>
            </a:pPr>
            <a:r>
              <a:rPr sz="900" b="1" i="0">
                <a:solidFill>
                  <a:srgbClr val="065A82"/>
                </a:solidFill>
                <a:latin typeface="Calibri"/>
                <a:ea typeface="Calibri"/>
                <a:cs typeface="Calibri"/>
              </a:rPr>
              <a:t>OUTPUT</a:t>
            </a:r>
          </a:p>
        </p:txBody>
      </p:sp>
      <p:sp>
        <p:nvSpPr>
          <p:cNvPr id="17" name="">
            <a:extLst xmlns:a="http://schemas.openxmlformats.org/drawingml/2006/main">
              <a:ext uri="{FF2B5EF4-FFF2-40B4-BE49-F238E27FC236}">
                <a16:creationId xmlns:a16="http://schemas.microsoft.com/office/drawing/2014/main" id="{C619AADA-39D0-4070-93BB-1AC2EB497939}"/>
              </a:ext>
            </a:extLst>
          </p:cNvPr>
          <p:cNvSpPr>
            <a:spLocks xmlns:a="http://schemas.openxmlformats.org/drawingml/2006/main" noGrp="1"/>
          </p:cNvSpPr>
          <p:nvPr/>
        </p:nvSpPr>
        <p:spPr>
          <a:xfrm xmlns:a="http://schemas.openxmlformats.org/drawingml/2006/main">
            <a:off x="1257300" y="4248150"/>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i="0">
                <a:solidFill>
                  <a:srgbClr val="1A1F2B"/>
                </a:solidFill>
                <a:latin typeface="Calibri"/>
                <a:ea typeface="Calibri"/>
                <a:cs typeface="Calibri"/>
              </a:defRPr>
            </a:pPr>
            <a:r>
              <a:rPr sz="1200" b="0" i="0">
                <a:solidFill>
                  <a:srgbClr val="1A1F2B"/>
                </a:solidFill>
                <a:latin typeface="Calibri"/>
                <a:ea typeface="Calibri"/>
                <a:cs typeface="Calibri"/>
              </a:rPr>
              <a:t>Cross-option softmax probabilities</a:t>
            </a:r>
          </a:p>
        </p:txBody>
      </p:sp>
      <p:sp>
        <p:nvSpPr>
          <p:cNvPr id="18" name="">
            <a:extLst xmlns:a="http://schemas.openxmlformats.org/drawingml/2006/main">
              <a:ext uri="{FF2B5EF4-FFF2-40B4-BE49-F238E27FC236}">
                <a16:creationId xmlns:a16="http://schemas.microsoft.com/office/drawing/2014/main" id="{149ADE07-2975-441B-995D-D57B1D464BC9}"/>
              </a:ext>
            </a:extLst>
          </p:cNvPr>
          <p:cNvSpPr>
            <a:spLocks xmlns:a="http://schemas.openxmlformats.org/drawingml/2006/main" noGrp="1"/>
          </p:cNvSpPr>
          <p:nvPr/>
        </p:nvSpPr>
        <p:spPr>
          <a:xfrm xmlns:a="http://schemas.openxmlformats.org/drawingml/2006/main">
            <a:off x="1009650" y="4705350"/>
            <a:ext cx="76200" cy="4191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0255C0B-BBA6-43EC-8141-648C2A475360}"/>
              </a:ext>
            </a:extLst>
          </p:cNvPr>
          <p:cNvSpPr>
            <a:spLocks xmlns:a="http://schemas.openxmlformats.org/drawingml/2006/main" noGrp="1"/>
          </p:cNvSpPr>
          <p:nvPr/>
        </p:nvSpPr>
        <p:spPr>
          <a:xfrm xmlns:a="http://schemas.openxmlformats.org/drawingml/2006/main">
            <a:off x="1257300" y="4676775"/>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065A82"/>
                </a:solidFill>
                <a:latin typeface="Calibri"/>
                <a:ea typeface="Calibri"/>
                <a:cs typeface="Calibri"/>
              </a:defRPr>
            </a:pPr>
            <a:r>
              <a:rPr sz="900" b="1" i="0">
                <a:solidFill>
                  <a:srgbClr val="065A82"/>
                </a:solidFill>
                <a:latin typeface="Calibri"/>
                <a:ea typeface="Calibri"/>
                <a:cs typeface="Calibri"/>
              </a:rPr>
              <a:t>EXECUTION</a:t>
            </a:r>
          </a:p>
        </p:txBody>
      </p:sp>
      <p:sp>
        <p:nvSpPr>
          <p:cNvPr id="20" name="">
            <a:extLst xmlns:a="http://schemas.openxmlformats.org/drawingml/2006/main">
              <a:ext uri="{FF2B5EF4-FFF2-40B4-BE49-F238E27FC236}">
                <a16:creationId xmlns:a16="http://schemas.microsoft.com/office/drawing/2014/main" id="{72A43906-54E4-487C-A9E6-AD16E8A168A4}"/>
              </a:ext>
            </a:extLst>
          </p:cNvPr>
          <p:cNvSpPr>
            <a:spLocks xmlns:a="http://schemas.openxmlformats.org/drawingml/2006/main" noGrp="1"/>
          </p:cNvSpPr>
          <p:nvPr/>
        </p:nvSpPr>
        <p:spPr>
          <a:xfrm xmlns:a="http://schemas.openxmlformats.org/drawingml/2006/main">
            <a:off x="1257300" y="4886325"/>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i="0">
                <a:solidFill>
                  <a:srgbClr val="1A1F2B"/>
                </a:solidFill>
                <a:latin typeface="Calibri"/>
                <a:ea typeface="Calibri"/>
                <a:cs typeface="Calibri"/>
              </a:defRPr>
            </a:pPr>
            <a:r>
              <a:rPr sz="1200" b="0" i="0">
                <a:solidFill>
                  <a:srgbClr val="1A1F2B"/>
                </a:solidFill>
                <a:latin typeface="Calibri"/>
                <a:ea typeface="Calibri"/>
                <a:cs typeface="Calibri"/>
              </a:rPr>
              <a:t>Local weights, offline inference</a:t>
            </a:r>
          </a:p>
        </p:txBody>
      </p:sp>
      <p:sp>
        <p:nvSpPr>
          <p:cNvPr id="21" name="TYPESAFE SYSTEM ONE-panel">
            <a:extLst xmlns:a="http://schemas.openxmlformats.org/drawingml/2006/main">
              <a:ext uri="{FF2B5EF4-FFF2-40B4-BE49-F238E27FC236}">
                <a16:creationId xmlns:a16="http://schemas.microsoft.com/office/drawing/2014/main" id="{1662921E-E13A-4996-A89E-BE1BB3360A93}"/>
              </a:ext>
            </a:extLst>
          </p:cNvPr>
          <p:cNvSpPr>
            <a:spLocks xmlns:a="http://schemas.openxmlformats.org/drawingml/2006/main" noGrp="1"/>
          </p:cNvSpPr>
          <p:nvPr/>
        </p:nvSpPr>
        <p:spPr>
          <a:xfrm xmlns:a="http://schemas.openxmlformats.org/drawingml/2006/main">
            <a:off x="6191250" y="1657350"/>
            <a:ext cx="5048250" cy="39814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22" name="TYPESAFE SYSTEM ONE-header">
            <a:extLst xmlns:a="http://schemas.openxmlformats.org/drawingml/2006/main">
              <a:ext uri="{FF2B5EF4-FFF2-40B4-BE49-F238E27FC236}">
                <a16:creationId xmlns:a16="http://schemas.microsoft.com/office/drawing/2014/main" id="{CEFDC651-76FA-4087-8AC4-9A439A7489DE}"/>
              </a:ext>
            </a:extLst>
          </p:cNvPr>
          <p:cNvSpPr>
            <a:spLocks xmlns:a="http://schemas.openxmlformats.org/drawingml/2006/main" noGrp="1"/>
          </p:cNvSpPr>
          <p:nvPr/>
        </p:nvSpPr>
        <p:spPr>
          <a:xfrm xmlns:a="http://schemas.openxmlformats.org/drawingml/2006/main">
            <a:off x="6191250" y="1657350"/>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0B18900-0974-4F6F-8C9D-85E3FEA6FAE3}"/>
              </a:ext>
            </a:extLst>
          </p:cNvPr>
          <p:cNvSpPr>
            <a:spLocks xmlns:a="http://schemas.openxmlformats.org/drawingml/2006/main" noGrp="1"/>
          </p:cNvSpPr>
          <p:nvPr/>
        </p:nvSpPr>
        <p:spPr>
          <a:xfrm xmlns:a="http://schemas.openxmlformats.org/drawingml/2006/main">
            <a:off x="6343650" y="1733550"/>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SYSTEM ONE</a:t>
            </a:r>
          </a:p>
        </p:txBody>
      </p:sp>
      <p:sp>
        <p:nvSpPr>
          <p:cNvPr id="24" name="">
            <a:extLst xmlns:a="http://schemas.openxmlformats.org/drawingml/2006/main">
              <a:ext uri="{FF2B5EF4-FFF2-40B4-BE49-F238E27FC236}">
                <a16:creationId xmlns:a16="http://schemas.microsoft.com/office/drawing/2014/main" id="{B03FFD3C-B02B-42FB-9BA9-814C50C472F0}"/>
              </a:ext>
            </a:extLst>
          </p:cNvPr>
          <p:cNvSpPr>
            <a:spLocks xmlns:a="http://schemas.openxmlformats.org/drawingml/2006/main" noGrp="1"/>
          </p:cNvSpPr>
          <p:nvPr/>
        </p:nvSpPr>
        <p:spPr>
          <a:xfrm xmlns:a="http://schemas.openxmlformats.org/drawingml/2006/main">
            <a:off x="6419850" y="22288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i="0">
                <a:solidFill>
                  <a:srgbClr val="815AC0"/>
                </a:solidFill>
                <a:latin typeface="Calibri"/>
                <a:ea typeface="Calibri"/>
                <a:cs typeface="Calibri"/>
              </a:defRPr>
            </a:pPr>
            <a:r>
              <a:rPr sz="1575" b="1" i="0">
                <a:solidFill>
                  <a:srgbClr val="815AC0"/>
                </a:solidFill>
                <a:latin typeface="Calibri"/>
                <a:ea typeface="Calibri"/>
                <a:cs typeface="Calibri"/>
              </a:rPr>
              <a:t>JEV 1.13.0</a:t>
            </a:r>
          </a:p>
        </p:txBody>
      </p:sp>
      <p:sp>
        <p:nvSpPr>
          <p:cNvPr id="25" name="">
            <a:extLst xmlns:a="http://schemas.openxmlformats.org/drawingml/2006/main">
              <a:ext uri="{FF2B5EF4-FFF2-40B4-BE49-F238E27FC236}">
                <a16:creationId xmlns:a16="http://schemas.microsoft.com/office/drawing/2014/main" id="{D9B69263-6DFE-4BF8-8260-29A443DDD821}"/>
              </a:ext>
            </a:extLst>
          </p:cNvPr>
          <p:cNvSpPr>
            <a:spLocks xmlns:a="http://schemas.openxmlformats.org/drawingml/2006/main" noGrp="1"/>
          </p:cNvSpPr>
          <p:nvPr/>
        </p:nvSpPr>
        <p:spPr>
          <a:xfrm xmlns:a="http://schemas.openxmlformats.org/drawingml/2006/main">
            <a:off x="6419850" y="2790825"/>
            <a:ext cx="76200" cy="4191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86EE411-0BDF-4F72-89AC-4DFA619ED00E}"/>
              </a:ext>
            </a:extLst>
          </p:cNvPr>
          <p:cNvSpPr>
            <a:spLocks xmlns:a="http://schemas.openxmlformats.org/drawingml/2006/main" noGrp="1"/>
          </p:cNvSpPr>
          <p:nvPr/>
        </p:nvSpPr>
        <p:spPr>
          <a:xfrm xmlns:a="http://schemas.openxmlformats.org/drawingml/2006/main">
            <a:off x="6667500" y="2762250"/>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815AC0"/>
                </a:solidFill>
                <a:latin typeface="Calibri"/>
                <a:ea typeface="Calibri"/>
                <a:cs typeface="Calibri"/>
              </a:defRPr>
            </a:pPr>
            <a:r>
              <a:rPr sz="900" b="1" i="0">
                <a:solidFill>
                  <a:srgbClr val="815AC0"/>
                </a:solidFill>
                <a:latin typeface="Calibri"/>
                <a:ea typeface="Calibri"/>
                <a:cs typeface="Calibri"/>
              </a:rPr>
              <a:t>INPUT</a:t>
            </a:r>
          </a:p>
        </p:txBody>
      </p:sp>
      <p:sp>
        <p:nvSpPr>
          <p:cNvPr id="27" name="">
            <a:extLst xmlns:a="http://schemas.openxmlformats.org/drawingml/2006/main">
              <a:ext uri="{FF2B5EF4-FFF2-40B4-BE49-F238E27FC236}">
                <a16:creationId xmlns:a16="http://schemas.microsoft.com/office/drawing/2014/main" id="{54474893-31D9-49FB-9680-D4F9255D58C9}"/>
              </a:ext>
            </a:extLst>
          </p:cNvPr>
          <p:cNvSpPr>
            <a:spLocks xmlns:a="http://schemas.openxmlformats.org/drawingml/2006/main" noGrp="1"/>
          </p:cNvSpPr>
          <p:nvPr/>
        </p:nvSpPr>
        <p:spPr>
          <a:xfrm xmlns:a="http://schemas.openxmlformats.org/drawingml/2006/main">
            <a:off x="6667500" y="2971800"/>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i="0">
                <a:solidFill>
                  <a:srgbClr val="1A1F2B"/>
                </a:solidFill>
                <a:latin typeface="Calibri"/>
                <a:ea typeface="Calibri"/>
                <a:cs typeface="Calibri"/>
              </a:defRPr>
            </a:pPr>
            <a:r>
              <a:rPr sz="1200" b="0" i="0">
                <a:solidFill>
                  <a:srgbClr val="1A1F2B"/>
                </a:solidFill>
                <a:latin typeface="Calibri"/>
                <a:ea typeface="Calibri"/>
                <a:cs typeface="Calibri"/>
              </a:rPr>
              <a:t>State plus one typed choice question</a:t>
            </a:r>
          </a:p>
        </p:txBody>
      </p:sp>
      <p:sp>
        <p:nvSpPr>
          <p:cNvPr id="28" name="">
            <a:extLst xmlns:a="http://schemas.openxmlformats.org/drawingml/2006/main">
              <a:ext uri="{FF2B5EF4-FFF2-40B4-BE49-F238E27FC236}">
                <a16:creationId xmlns:a16="http://schemas.microsoft.com/office/drawing/2014/main" id="{A80F0435-074B-4459-BCEF-A0CA30E33C28}"/>
              </a:ext>
            </a:extLst>
          </p:cNvPr>
          <p:cNvSpPr>
            <a:spLocks xmlns:a="http://schemas.openxmlformats.org/drawingml/2006/main" noGrp="1"/>
          </p:cNvSpPr>
          <p:nvPr/>
        </p:nvSpPr>
        <p:spPr>
          <a:xfrm xmlns:a="http://schemas.openxmlformats.org/drawingml/2006/main">
            <a:off x="6419850" y="3429000"/>
            <a:ext cx="76200" cy="4191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A419F93-0CAF-4E15-9446-6A5BD4AEE6D1}"/>
              </a:ext>
            </a:extLst>
          </p:cNvPr>
          <p:cNvSpPr>
            <a:spLocks xmlns:a="http://schemas.openxmlformats.org/drawingml/2006/main" noGrp="1"/>
          </p:cNvSpPr>
          <p:nvPr/>
        </p:nvSpPr>
        <p:spPr>
          <a:xfrm xmlns:a="http://schemas.openxmlformats.org/drawingml/2006/main">
            <a:off x="6667500" y="3400425"/>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815AC0"/>
                </a:solidFill>
                <a:latin typeface="Calibri"/>
                <a:ea typeface="Calibri"/>
                <a:cs typeface="Calibri"/>
              </a:defRPr>
            </a:pPr>
            <a:r>
              <a:rPr sz="900" b="1" i="0">
                <a:solidFill>
                  <a:srgbClr val="815AC0"/>
                </a:solidFill>
                <a:latin typeface="Calibri"/>
                <a:ea typeface="Calibri"/>
                <a:cs typeface="Calibri"/>
              </a:rPr>
              <a:t>OPTIONS</a:t>
            </a:r>
          </a:p>
        </p:txBody>
      </p:sp>
      <p:sp>
        <p:nvSpPr>
          <p:cNvPr id="30" name="">
            <a:extLst xmlns:a="http://schemas.openxmlformats.org/drawingml/2006/main">
              <a:ext uri="{FF2B5EF4-FFF2-40B4-BE49-F238E27FC236}">
                <a16:creationId xmlns:a16="http://schemas.microsoft.com/office/drawing/2014/main" id="{AE92F920-AEE1-4327-A767-2357F9DA317D}"/>
              </a:ext>
            </a:extLst>
          </p:cNvPr>
          <p:cNvSpPr>
            <a:spLocks xmlns:a="http://schemas.openxmlformats.org/drawingml/2006/main" noGrp="1"/>
          </p:cNvSpPr>
          <p:nvPr/>
        </p:nvSpPr>
        <p:spPr>
          <a:xfrm xmlns:a="http://schemas.openxmlformats.org/drawingml/2006/main">
            <a:off x="6667500" y="3609975"/>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i="0">
                <a:solidFill>
                  <a:srgbClr val="1A1F2B"/>
                </a:solidFill>
                <a:latin typeface="Calibri"/>
                <a:ea typeface="Calibri"/>
                <a:cs typeface="Calibri"/>
              </a:defRPr>
            </a:pPr>
            <a:r>
              <a:rPr sz="1200" b="0" i="0">
                <a:solidFill>
                  <a:srgbClr val="1A1F2B"/>
                </a:solidFill>
                <a:latin typeface="Calibri"/>
                <a:ea typeface="Calibri"/>
                <a:cs typeface="Calibri"/>
              </a:rPr>
              <a:t>Option descriptions sent as criteria</a:t>
            </a:r>
          </a:p>
        </p:txBody>
      </p:sp>
      <p:sp>
        <p:nvSpPr>
          <p:cNvPr id="31" name="">
            <a:extLst xmlns:a="http://schemas.openxmlformats.org/drawingml/2006/main">
              <a:ext uri="{FF2B5EF4-FFF2-40B4-BE49-F238E27FC236}">
                <a16:creationId xmlns:a16="http://schemas.microsoft.com/office/drawing/2014/main" id="{EDB66A76-170B-44A0-A30B-0E97C416D375}"/>
              </a:ext>
            </a:extLst>
          </p:cNvPr>
          <p:cNvSpPr>
            <a:spLocks xmlns:a="http://schemas.openxmlformats.org/drawingml/2006/main" noGrp="1"/>
          </p:cNvSpPr>
          <p:nvPr/>
        </p:nvSpPr>
        <p:spPr>
          <a:xfrm xmlns:a="http://schemas.openxmlformats.org/drawingml/2006/main">
            <a:off x="6419850" y="4067175"/>
            <a:ext cx="76200" cy="4191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0732C39-3EB9-49C6-8D32-FAECE81F89EB}"/>
              </a:ext>
            </a:extLst>
          </p:cNvPr>
          <p:cNvSpPr>
            <a:spLocks xmlns:a="http://schemas.openxmlformats.org/drawingml/2006/main" noGrp="1"/>
          </p:cNvSpPr>
          <p:nvPr/>
        </p:nvSpPr>
        <p:spPr>
          <a:xfrm xmlns:a="http://schemas.openxmlformats.org/drawingml/2006/main">
            <a:off x="6667500" y="4038600"/>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815AC0"/>
                </a:solidFill>
                <a:latin typeface="Calibri"/>
                <a:ea typeface="Calibri"/>
                <a:cs typeface="Calibri"/>
              </a:defRPr>
            </a:pPr>
            <a:r>
              <a:rPr sz="900" b="1" i="0">
                <a:solidFill>
                  <a:srgbClr val="815AC0"/>
                </a:solidFill>
                <a:latin typeface="Calibri"/>
                <a:ea typeface="Calibri"/>
                <a:cs typeface="Calibri"/>
              </a:rPr>
              <a:t>OUTPUT</a:t>
            </a:r>
          </a:p>
        </p:txBody>
      </p:sp>
      <p:sp>
        <p:nvSpPr>
          <p:cNvPr id="33" name="">
            <a:extLst xmlns:a="http://schemas.openxmlformats.org/drawingml/2006/main">
              <a:ext uri="{FF2B5EF4-FFF2-40B4-BE49-F238E27FC236}">
                <a16:creationId xmlns:a16="http://schemas.microsoft.com/office/drawing/2014/main" id="{2CE2B079-46D2-47D9-8BC8-D497CF4C7A2A}"/>
              </a:ext>
            </a:extLst>
          </p:cNvPr>
          <p:cNvSpPr>
            <a:spLocks xmlns:a="http://schemas.openxmlformats.org/drawingml/2006/main" noGrp="1"/>
          </p:cNvSpPr>
          <p:nvPr/>
        </p:nvSpPr>
        <p:spPr>
          <a:xfrm xmlns:a="http://schemas.openxmlformats.org/drawingml/2006/main">
            <a:off x="6667500" y="4248150"/>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i="0">
                <a:solidFill>
                  <a:srgbClr val="1A1F2B"/>
                </a:solidFill>
                <a:latin typeface="Calibri"/>
                <a:ea typeface="Calibri"/>
                <a:cs typeface="Calibri"/>
              </a:defRPr>
            </a:pPr>
            <a:r>
              <a:rPr sz="1200" b="0" i="0">
                <a:solidFill>
                  <a:srgbClr val="1A1F2B"/>
                </a:solidFill>
                <a:latin typeface="Calibri"/>
                <a:ea typeface="Calibri"/>
                <a:cs typeface="Calibri"/>
              </a:rPr>
              <a:t>Choice, full probabilities, and confidence</a:t>
            </a:r>
          </a:p>
        </p:txBody>
      </p:sp>
      <p:sp>
        <p:nvSpPr>
          <p:cNvPr id="34" name="">
            <a:extLst xmlns:a="http://schemas.openxmlformats.org/drawingml/2006/main">
              <a:ext uri="{FF2B5EF4-FFF2-40B4-BE49-F238E27FC236}">
                <a16:creationId xmlns:a16="http://schemas.microsoft.com/office/drawing/2014/main" id="{2EF5FD2F-26B9-4A8F-A351-8D7D2D7161E7}"/>
              </a:ext>
            </a:extLst>
          </p:cNvPr>
          <p:cNvSpPr>
            <a:spLocks xmlns:a="http://schemas.openxmlformats.org/drawingml/2006/main" noGrp="1"/>
          </p:cNvSpPr>
          <p:nvPr/>
        </p:nvSpPr>
        <p:spPr>
          <a:xfrm xmlns:a="http://schemas.openxmlformats.org/drawingml/2006/main">
            <a:off x="6419850" y="4705350"/>
            <a:ext cx="76200" cy="4191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AF449FA-C134-4871-9CDF-3C416D4EDC55}"/>
              </a:ext>
            </a:extLst>
          </p:cNvPr>
          <p:cNvSpPr>
            <a:spLocks xmlns:a="http://schemas.openxmlformats.org/drawingml/2006/main" noGrp="1"/>
          </p:cNvSpPr>
          <p:nvPr/>
        </p:nvSpPr>
        <p:spPr>
          <a:xfrm xmlns:a="http://schemas.openxmlformats.org/drawingml/2006/main">
            <a:off x="6667500" y="4676775"/>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815AC0"/>
                </a:solidFill>
                <a:latin typeface="Calibri"/>
                <a:ea typeface="Calibri"/>
                <a:cs typeface="Calibri"/>
              </a:defRPr>
            </a:pPr>
            <a:r>
              <a:rPr sz="900" b="1" i="0">
                <a:solidFill>
                  <a:srgbClr val="815AC0"/>
                </a:solidFill>
                <a:latin typeface="Calibri"/>
                <a:ea typeface="Calibri"/>
                <a:cs typeface="Calibri"/>
              </a:rPr>
              <a:t>EXECUTION</a:t>
            </a:r>
          </a:p>
        </p:txBody>
      </p:sp>
      <p:sp>
        <p:nvSpPr>
          <p:cNvPr id="36" name="">
            <a:extLst xmlns:a="http://schemas.openxmlformats.org/drawingml/2006/main">
              <a:ext uri="{FF2B5EF4-FFF2-40B4-BE49-F238E27FC236}">
                <a16:creationId xmlns:a16="http://schemas.microsoft.com/office/drawing/2014/main" id="{C955BE79-7829-4111-A4C7-70D28E15C4C4}"/>
              </a:ext>
            </a:extLst>
          </p:cNvPr>
          <p:cNvSpPr>
            <a:spLocks xmlns:a="http://schemas.openxmlformats.org/drawingml/2006/main" noGrp="1"/>
          </p:cNvSpPr>
          <p:nvPr/>
        </p:nvSpPr>
        <p:spPr>
          <a:xfrm xmlns:a="http://schemas.openxmlformats.org/drawingml/2006/main">
            <a:off x="6667500" y="4886325"/>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i="0">
                <a:solidFill>
                  <a:srgbClr val="1A1F2B"/>
                </a:solidFill>
                <a:latin typeface="Calibri"/>
                <a:ea typeface="Calibri"/>
                <a:cs typeface="Calibri"/>
              </a:defRPr>
            </a:pPr>
            <a:r>
              <a:rPr sz="1200" b="0" i="0">
                <a:solidFill>
                  <a:srgbClr val="1A1F2B"/>
                </a:solidFill>
                <a:latin typeface="Calibri"/>
                <a:ea typeface="Calibri"/>
                <a:cs typeface="Calibri"/>
              </a:rPr>
              <a:t>Hosted API, one request per unique state</a:t>
            </a:r>
          </a:p>
        </p:txBody>
      </p:sp>
      <p:sp>
        <p:nvSpPr>
          <p:cNvPr id="37" name="">
            <a:extLst xmlns:a="http://schemas.openxmlformats.org/drawingml/2006/main">
              <a:ext uri="{FF2B5EF4-FFF2-40B4-BE49-F238E27FC236}">
                <a16:creationId xmlns:a16="http://schemas.microsoft.com/office/drawing/2014/main" id="{AE94B8D9-366E-438B-AFCE-3F5B686C8D89}"/>
              </a:ext>
            </a:extLst>
          </p:cNvPr>
          <p:cNvSpPr>
            <a:spLocks xmlns:a="http://schemas.openxmlformats.org/drawingml/2006/main" noGrp="1"/>
          </p:cNvSpPr>
          <p:nvPr/>
        </p:nvSpPr>
        <p:spPr>
          <a:xfrm xmlns:a="http://schemas.openxmlformats.org/drawingml/2006/main">
            <a:off x="781050" y="5915025"/>
            <a:ext cx="10458450" cy="438150"/>
          </a:xfrm>
          <a:prstGeom xmlns:a="http://schemas.openxmlformats.org/drawingml/2006/main" prst="rect">
            <a:avLst/>
          </a:prstGeom>
          <a:solidFill xmlns:a="http://schemas.openxmlformats.org/drawingml/2006/main">
            <a:srgbClr val="21295C"/>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DCF22CE-B92D-42F9-BB01-E122FD09A511}"/>
              </a:ext>
            </a:extLst>
          </p:cNvPr>
          <p:cNvSpPr>
            <a:spLocks xmlns:a="http://schemas.openxmlformats.org/drawingml/2006/main" noGrp="1"/>
          </p:cNvSpPr>
          <p:nvPr/>
        </p:nvSpPr>
        <p:spPr>
          <a:xfrm xmlns:a="http://schemas.openxmlformats.org/drawingml/2006/main">
            <a:off x="971550" y="6019800"/>
            <a:ext cx="10077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i="0">
                <a:solidFill>
                  <a:srgbClr val="FFFFFF"/>
                </a:solidFill>
                <a:latin typeface="Calibri"/>
                <a:ea typeface="Calibri"/>
                <a:cs typeface="Calibri"/>
              </a:defRPr>
            </a:pPr>
            <a:r>
              <a:rPr sz="1200" b="1" i="0">
                <a:solidFill>
                  <a:srgbClr val="FFFFFF"/>
                </a:solidFill>
                <a:latin typeface="Calibri"/>
                <a:ea typeface="Calibri"/>
                <a:cs typeface="Calibri"/>
              </a:rPr>
              <a:t>Metrics: clearance to the correct answer and average top-two margin</a:t>
            </a:r>
          </a:p>
        </p:txBody>
      </p:sp>
    </p:spTree>
    <p:extLst>
      <p:ext uri="{BB962C8B-B14F-4D97-AF65-F5344CB8AC3E}">
        <p14:creationId xmlns:p14="http://schemas.microsoft.com/office/powerpoint/2010/main" val="150047834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9" name="background">
            <a:extLst xmlns:a="http://schemas.openxmlformats.org/drawingml/2006/main">
              <a:ext uri="{FF2B5EF4-FFF2-40B4-BE49-F238E27FC236}">
                <a16:creationId xmlns:a16="http://schemas.microsoft.com/office/drawing/2014/main" id="{F1D0879B-D2AA-4A1D-987A-973D936A2E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41237D8A-4A63-4895-BAAB-3A1F7506E733}"/>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E6CE133-0930-47C1-ADC7-6A45BCDAE647}"/>
              </a:ext>
            </a:extLst>
          </p:cNvPr>
          <p:cNvSpPr>
            <a:spLocks xmlns:a="http://schemas.openxmlformats.org/drawingml/2006/main" noGrp="1"/>
          </p:cNvSpPr>
          <p:nvPr/>
        </p:nvSpPr>
        <p:spPr>
          <a:xfrm xmlns:a="http://schemas.openxmlformats.org/drawingml/2006/main">
            <a:off x="781050" y="428625"/>
            <a:ext cx="1045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i="0">
                <a:solidFill>
                  <a:srgbClr val="21295C"/>
                </a:solidFill>
                <a:latin typeface="Georgia"/>
                <a:ea typeface="Georgia"/>
                <a:cs typeface="Georgia"/>
              </a:defRPr>
            </a:pPr>
            <a:r>
              <a:rPr sz="3000" b="1" i="0">
                <a:solidFill>
                  <a:srgbClr val="21295C"/>
                </a:solidFill>
                <a:latin typeface="Georgia"/>
                <a:ea typeface="Georgia"/>
                <a:cs typeface="Georgia"/>
              </a:rPr>
              <a:t>Smoke test protocol</a:t>
            </a:r>
          </a:p>
        </p:txBody>
      </p:sp>
      <p:sp>
        <p:nvSpPr>
          <p:cNvPr id="4" name="">
            <a:extLst xmlns:a="http://schemas.openxmlformats.org/drawingml/2006/main">
              <a:ext uri="{FF2B5EF4-FFF2-40B4-BE49-F238E27FC236}">
                <a16:creationId xmlns:a16="http://schemas.microsoft.com/office/drawing/2014/main" id="{3B79F64E-F69A-4FE2-849B-F737C22C72C0}"/>
              </a:ext>
            </a:extLst>
          </p:cNvPr>
          <p:cNvSpPr>
            <a:spLocks xmlns:a="http://schemas.openxmlformats.org/drawingml/2006/main" noGrp="1"/>
          </p:cNvSpPr>
          <p:nvPr/>
        </p:nvSpPr>
        <p:spPr>
          <a:xfrm xmlns:a="http://schemas.openxmlformats.org/drawingml/2006/main">
            <a:off x="781050" y="962025"/>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1">
                <a:solidFill>
                  <a:srgbClr val="6B7A8C"/>
                </a:solidFill>
                <a:latin typeface="Calibri"/>
                <a:ea typeface="Calibri"/>
                <a:cs typeface="Calibri"/>
              </a:defRPr>
            </a:pPr>
            <a:r>
              <a:rPr sz="1275" b="0" i="1">
                <a:solidFill>
                  <a:srgbClr val="6B7A8C"/>
                </a:solidFill>
                <a:latin typeface="Calibri"/>
                <a:ea typeface="Calibri"/>
                <a:cs typeface="Calibri"/>
              </a:rPr>
              <a:t>The decision task stays fixed while the scorer changes</a:t>
            </a:r>
          </a:p>
        </p:txBody>
      </p:sp>
      <p:sp>
        <p:nvSpPr>
          <p:cNvPr id="5" name="">
            <a:extLst xmlns:a="http://schemas.openxmlformats.org/drawingml/2006/main">
              <a:ext uri="{FF2B5EF4-FFF2-40B4-BE49-F238E27FC236}">
                <a16:creationId xmlns:a16="http://schemas.microsoft.com/office/drawing/2014/main" id="{1A8E7A49-0954-4FB9-84C4-076BF3FEA426}"/>
              </a:ext>
            </a:extLst>
          </p:cNvPr>
          <p:cNvSpPr>
            <a:spLocks xmlns:a="http://schemas.openxmlformats.org/drawingml/2006/main" noGrp="1"/>
          </p:cNvSpPr>
          <p:nvPr/>
        </p:nvSpPr>
        <p:spPr>
          <a:xfrm xmlns:a="http://schemas.openxmlformats.org/drawingml/2006/main">
            <a:off x="781050" y="1552575"/>
            <a:ext cx="4953000" cy="1962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6" name="">
            <a:extLst xmlns:a="http://schemas.openxmlformats.org/drawingml/2006/main">
              <a:ext uri="{FF2B5EF4-FFF2-40B4-BE49-F238E27FC236}">
                <a16:creationId xmlns:a16="http://schemas.microsoft.com/office/drawing/2014/main" id="{CFD29025-64AE-428B-866B-23C21520CC37}"/>
              </a:ext>
            </a:extLst>
          </p:cNvPr>
          <p:cNvSpPr>
            <a:spLocks xmlns:a="http://schemas.openxmlformats.org/drawingml/2006/main" noGrp="1"/>
          </p:cNvSpPr>
          <p:nvPr/>
        </p:nvSpPr>
        <p:spPr>
          <a:xfrm xmlns:a="http://schemas.openxmlformats.org/drawingml/2006/main">
            <a:off x="1009650" y="17907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i="0">
                <a:solidFill>
                  <a:srgbClr val="065A82"/>
                </a:solidFill>
                <a:latin typeface="Calibri"/>
                <a:ea typeface="Calibri"/>
                <a:cs typeface="Calibri"/>
              </a:defRPr>
            </a:pPr>
            <a:r>
              <a:rPr sz="975" b="1" i="0">
                <a:solidFill>
                  <a:srgbClr val="065A82"/>
                </a:solidFill>
                <a:latin typeface="Calibri"/>
                <a:ea typeface="Calibri"/>
                <a:cs typeface="Calibri"/>
              </a:rPr>
              <a:t>SIMPLE MULTIPLE-CHOICE CLASSIFICATION</a:t>
            </a:r>
          </a:p>
        </p:txBody>
      </p:sp>
      <p:sp>
        <p:nvSpPr>
          <p:cNvPr id="7" name="">
            <a:extLst xmlns:a="http://schemas.openxmlformats.org/drawingml/2006/main">
              <a:ext uri="{FF2B5EF4-FFF2-40B4-BE49-F238E27FC236}">
                <a16:creationId xmlns:a16="http://schemas.microsoft.com/office/drawing/2014/main" id="{6127D05A-7ABB-4E6F-9F2C-4B7DDE309F50}"/>
              </a:ext>
            </a:extLst>
          </p:cNvPr>
          <p:cNvSpPr>
            <a:spLocks xmlns:a="http://schemas.openxmlformats.org/drawingml/2006/main" noGrp="1"/>
          </p:cNvSpPr>
          <p:nvPr/>
        </p:nvSpPr>
        <p:spPr>
          <a:xfrm xmlns:a="http://schemas.openxmlformats.org/drawingml/2006/main">
            <a:off x="1009650" y="219075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21295C"/>
                </a:solidFill>
                <a:latin typeface="Calibri"/>
                <a:ea typeface="Calibri"/>
                <a:cs typeface="Calibri"/>
              </a:defRPr>
            </a:pPr>
            <a:r>
              <a:rPr sz="1725" b="1" i="0">
                <a:solidFill>
                  <a:srgbClr val="21295C"/>
                </a:solidFill>
                <a:latin typeface="Calibri"/>
                <a:ea typeface="Calibri"/>
                <a:cs typeface="Calibri"/>
              </a:rPr>
              <a:t>12 deliberately obvious questions</a:t>
            </a:r>
          </a:p>
        </p:txBody>
      </p:sp>
      <p:sp>
        <p:nvSpPr>
          <p:cNvPr id="8" name="">
            <a:extLst xmlns:a="http://schemas.openxmlformats.org/drawingml/2006/main">
              <a:ext uri="{FF2B5EF4-FFF2-40B4-BE49-F238E27FC236}">
                <a16:creationId xmlns:a16="http://schemas.microsoft.com/office/drawing/2014/main" id="{AD89A215-4293-4555-8A9A-B3A824439497}"/>
              </a:ext>
            </a:extLst>
          </p:cNvPr>
          <p:cNvSpPr>
            <a:spLocks xmlns:a="http://schemas.openxmlformats.org/drawingml/2006/main" noGrp="1"/>
          </p:cNvSpPr>
          <p:nvPr/>
        </p:nvSpPr>
        <p:spPr>
          <a:xfrm xmlns:a="http://schemas.openxmlformats.org/drawingml/2006/main">
            <a:off x="1009650" y="2686050"/>
            <a:ext cx="4362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1A1F2B"/>
                </a:solidFill>
                <a:latin typeface="Calibri"/>
                <a:ea typeface="Calibri"/>
                <a:cs typeface="Calibri"/>
              </a:defRPr>
            </a:pPr>
            <a:r>
              <a:rPr sz="1200" b="0" i="0">
                <a:solidFill>
                  <a:srgbClr val="1A1F2B"/>
                </a:solidFill>
                <a:latin typeface="Calibri"/>
                <a:ea typeface="Calibri"/>
                <a:cs typeface="Calibri"/>
              </a:rPr>
              <a:t>Measures typed option ranking and exposes confidence behavior before harder tests.</a:t>
            </a:r>
          </a:p>
        </p:txBody>
      </p:sp>
      <p:sp>
        <p:nvSpPr>
          <p:cNvPr id="9" name="">
            <a:extLst xmlns:a="http://schemas.openxmlformats.org/drawingml/2006/main">
              <a:ext uri="{FF2B5EF4-FFF2-40B4-BE49-F238E27FC236}">
                <a16:creationId xmlns:a16="http://schemas.microsoft.com/office/drawing/2014/main" id="{5919DB27-7110-4CD2-B284-A76064E36C6F}"/>
              </a:ext>
            </a:extLst>
          </p:cNvPr>
          <p:cNvSpPr>
            <a:spLocks xmlns:a="http://schemas.openxmlformats.org/drawingml/2006/main" noGrp="1"/>
          </p:cNvSpPr>
          <p:nvPr/>
        </p:nvSpPr>
        <p:spPr>
          <a:xfrm xmlns:a="http://schemas.openxmlformats.org/drawingml/2006/main">
            <a:off x="6286500" y="1552575"/>
            <a:ext cx="4953000" cy="1962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
            <a:extLst xmlns:a="http://schemas.openxmlformats.org/drawingml/2006/main">
              <a:ext uri="{FF2B5EF4-FFF2-40B4-BE49-F238E27FC236}">
                <a16:creationId xmlns:a16="http://schemas.microsoft.com/office/drawing/2014/main" id="{2BD8FBB7-FE21-4171-BE2F-A20C85FA2E27}"/>
              </a:ext>
            </a:extLst>
          </p:cNvPr>
          <p:cNvSpPr>
            <a:spLocks xmlns:a="http://schemas.openxmlformats.org/drawingml/2006/main" noGrp="1"/>
          </p:cNvSpPr>
          <p:nvPr/>
        </p:nvSpPr>
        <p:spPr>
          <a:xfrm xmlns:a="http://schemas.openxmlformats.org/drawingml/2006/main">
            <a:off x="6515100" y="17907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i="0">
                <a:solidFill>
                  <a:srgbClr val="815AC0"/>
                </a:solidFill>
                <a:latin typeface="Calibri"/>
                <a:ea typeface="Calibri"/>
                <a:cs typeface="Calibri"/>
              </a:defRPr>
            </a:pPr>
            <a:r>
              <a:rPr sz="975" b="1" i="0">
                <a:solidFill>
                  <a:srgbClr val="815AC0"/>
                </a:solidFill>
                <a:latin typeface="Calibri"/>
                <a:ea typeface="Calibri"/>
                <a:cs typeface="Calibri"/>
              </a:rPr>
              <a:t>TOOL CALLING TEST</a:t>
            </a:r>
          </a:p>
        </p:txBody>
      </p:sp>
      <p:sp>
        <p:nvSpPr>
          <p:cNvPr id="11" name="">
            <a:extLst xmlns:a="http://schemas.openxmlformats.org/drawingml/2006/main">
              <a:ext uri="{FF2B5EF4-FFF2-40B4-BE49-F238E27FC236}">
                <a16:creationId xmlns:a16="http://schemas.microsoft.com/office/drawing/2014/main" id="{3CCFCC43-C966-4CD1-A739-5FA345489F0A}"/>
              </a:ext>
            </a:extLst>
          </p:cNvPr>
          <p:cNvSpPr>
            <a:spLocks xmlns:a="http://schemas.openxmlformats.org/drawingml/2006/main" noGrp="1"/>
          </p:cNvSpPr>
          <p:nvPr/>
        </p:nvSpPr>
        <p:spPr>
          <a:xfrm xmlns:a="http://schemas.openxmlformats.org/drawingml/2006/main">
            <a:off x="6515100" y="219075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21295C"/>
                </a:solidFill>
                <a:latin typeface="Calibri"/>
                <a:ea typeface="Calibri"/>
                <a:cs typeface="Calibri"/>
              </a:defRPr>
            </a:pPr>
            <a:r>
              <a:rPr sz="1725" b="1" i="0">
                <a:solidFill>
                  <a:srgbClr val="21295C"/>
                </a:solidFill>
                <a:latin typeface="Calibri"/>
                <a:ea typeface="Calibri"/>
                <a:cs typeface="Calibri"/>
              </a:rPr>
              <a:t>30 BFCL-derived routes</a:t>
            </a:r>
          </a:p>
        </p:txBody>
      </p:sp>
      <p:sp>
        <p:nvSpPr>
          <p:cNvPr id="12" name="">
            <a:extLst xmlns:a="http://schemas.openxmlformats.org/drawingml/2006/main">
              <a:ext uri="{FF2B5EF4-FFF2-40B4-BE49-F238E27FC236}">
                <a16:creationId xmlns:a16="http://schemas.microsoft.com/office/drawing/2014/main" id="{9F9C2FD7-686C-4696-AD00-9D7970EB295B}"/>
              </a:ext>
            </a:extLst>
          </p:cNvPr>
          <p:cNvSpPr>
            <a:spLocks xmlns:a="http://schemas.openxmlformats.org/drawingml/2006/main" noGrp="1"/>
          </p:cNvSpPr>
          <p:nvPr/>
        </p:nvSpPr>
        <p:spPr>
          <a:xfrm xmlns:a="http://schemas.openxmlformats.org/drawingml/2006/main">
            <a:off x="6515100" y="2686050"/>
            <a:ext cx="4362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1A1F2B"/>
                </a:solidFill>
                <a:latin typeface="Calibri"/>
                <a:ea typeface="Calibri"/>
                <a:cs typeface="Calibri"/>
              </a:defRPr>
            </a:pPr>
            <a:r>
              <a:rPr sz="1200" b="0" i="0">
                <a:solidFill>
                  <a:srgbClr val="1A1F2B"/>
                </a:solidFill>
                <a:latin typeface="Calibri"/>
                <a:ea typeface="Calibri"/>
                <a:cs typeface="Calibri"/>
              </a:rPr>
              <a:t>Measures one-tool selection and no-tool detection. Argument extraction and execution remain out of scope.</a:t>
            </a:r>
          </a:p>
        </p:txBody>
      </p:sp>
      <p:sp>
        <p:nvSpPr>
          <p:cNvPr id="13" name="">
            <a:extLst xmlns:a="http://schemas.openxmlformats.org/drawingml/2006/main">
              <a:ext uri="{FF2B5EF4-FFF2-40B4-BE49-F238E27FC236}">
                <a16:creationId xmlns:a16="http://schemas.microsoft.com/office/drawing/2014/main" id="{130CD5DA-A7D3-4947-92F8-4ABE70BC0279}"/>
              </a:ext>
            </a:extLst>
          </p:cNvPr>
          <p:cNvSpPr>
            <a:spLocks xmlns:a="http://schemas.openxmlformats.org/drawingml/2006/main" noGrp="1"/>
          </p:cNvSpPr>
          <p:nvPr/>
        </p:nvSpPr>
        <p:spPr>
          <a:xfrm xmlns:a="http://schemas.openxmlformats.org/drawingml/2006/main">
            <a:off x="781050" y="39528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065A82"/>
                </a:solidFill>
                <a:latin typeface="Calibri"/>
                <a:ea typeface="Calibri"/>
                <a:cs typeface="Calibri"/>
              </a:defRPr>
            </a:pPr>
            <a:r>
              <a:rPr sz="1125" b="1" i="0">
                <a:solidFill>
                  <a:srgbClr val="065A82"/>
                </a:solidFill>
                <a:latin typeface="Calibri"/>
                <a:ea typeface="Calibri"/>
                <a:cs typeface="Calibri"/>
              </a:rPr>
              <a:t>Shared inputs</a:t>
            </a:r>
          </a:p>
        </p:txBody>
      </p:sp>
      <p:sp>
        <p:nvSpPr>
          <p:cNvPr id="14" name="">
            <a:extLst xmlns:a="http://schemas.openxmlformats.org/drawingml/2006/main">
              <a:ext uri="{FF2B5EF4-FFF2-40B4-BE49-F238E27FC236}">
                <a16:creationId xmlns:a16="http://schemas.microsoft.com/office/drawing/2014/main" id="{00AB8A13-5185-4742-84AF-18B39BDE2005}"/>
              </a:ext>
            </a:extLst>
          </p:cNvPr>
          <p:cNvSpPr>
            <a:spLocks xmlns:a="http://schemas.openxmlformats.org/drawingml/2006/main" noGrp="1"/>
          </p:cNvSpPr>
          <p:nvPr/>
        </p:nvSpPr>
        <p:spPr>
          <a:xfrm xmlns:a="http://schemas.openxmlformats.org/drawingml/2006/main">
            <a:off x="781050" y="4286250"/>
            <a:ext cx="1045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i="0">
                <a:solidFill>
                  <a:srgbClr val="1A1F2B"/>
                </a:solidFill>
                <a:latin typeface="Calibri"/>
                <a:ea typeface="Calibri"/>
                <a:cs typeface="Calibri"/>
              </a:defRPr>
            </a:pPr>
            <a:r>
              <a:rPr sz="1425" b="0" i="0">
                <a:solidFill>
                  <a:srgbClr val="1A1F2B"/>
                </a:solidFill>
                <a:latin typeface="Calibri"/>
                <a:ea typeface="Calibri"/>
                <a:cs typeface="Calibri"/>
              </a:rPr>
              <a:t>Same state, question, option descriptions, and expected answer for both classifiers</a:t>
            </a:r>
          </a:p>
        </p:txBody>
      </p:sp>
      <p:sp>
        <p:nvSpPr>
          <p:cNvPr id="15" name="">
            <a:extLst xmlns:a="http://schemas.openxmlformats.org/drawingml/2006/main">
              <a:ext uri="{FF2B5EF4-FFF2-40B4-BE49-F238E27FC236}">
                <a16:creationId xmlns:a16="http://schemas.microsoft.com/office/drawing/2014/main" id="{8890A2E4-7E11-4A19-B72C-BEF31B1D193A}"/>
              </a:ext>
            </a:extLst>
          </p:cNvPr>
          <p:cNvSpPr>
            <a:spLocks xmlns:a="http://schemas.openxmlformats.org/drawingml/2006/main" noGrp="1"/>
          </p:cNvSpPr>
          <p:nvPr/>
        </p:nvSpPr>
        <p:spPr>
          <a:xfrm xmlns:a="http://schemas.openxmlformats.org/drawingml/2006/main">
            <a:off x="781050" y="49530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065A82"/>
                </a:solidFill>
                <a:latin typeface="Calibri"/>
                <a:ea typeface="Calibri"/>
                <a:cs typeface="Calibri"/>
              </a:defRPr>
            </a:pPr>
            <a:r>
              <a:rPr sz="1125" b="1" i="0">
                <a:solidFill>
                  <a:srgbClr val="065A82"/>
                </a:solidFill>
                <a:latin typeface="Calibri"/>
                <a:ea typeface="Calibri"/>
                <a:cs typeface="Calibri"/>
              </a:rPr>
              <a:t>Shared scoring</a:t>
            </a:r>
          </a:p>
        </p:txBody>
      </p:sp>
      <p:sp>
        <p:nvSpPr>
          <p:cNvPr id="16" name="">
            <a:extLst xmlns:a="http://schemas.openxmlformats.org/drawingml/2006/main">
              <a:ext uri="{FF2B5EF4-FFF2-40B4-BE49-F238E27FC236}">
                <a16:creationId xmlns:a16="http://schemas.microsoft.com/office/drawing/2014/main" id="{906BE8B0-824F-4C9E-95CE-109ABCE0A010}"/>
              </a:ext>
            </a:extLst>
          </p:cNvPr>
          <p:cNvSpPr>
            <a:spLocks xmlns:a="http://schemas.openxmlformats.org/drawingml/2006/main" noGrp="1"/>
          </p:cNvSpPr>
          <p:nvPr/>
        </p:nvSpPr>
        <p:spPr>
          <a:xfrm xmlns:a="http://schemas.openxmlformats.org/drawingml/2006/main">
            <a:off x="781050" y="5286375"/>
            <a:ext cx="1045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i="0">
                <a:solidFill>
                  <a:srgbClr val="1A1F2B"/>
                </a:solidFill>
                <a:latin typeface="Calibri"/>
                <a:ea typeface="Calibri"/>
                <a:cs typeface="Calibri"/>
              </a:defRPr>
            </a:pPr>
            <a:r>
              <a:rPr sz="1425" b="0" i="0">
                <a:solidFill>
                  <a:srgbClr val="1A1F2B"/>
                </a:solidFill>
                <a:latin typeface="Calibri"/>
                <a:ea typeface="Calibri"/>
                <a:cs typeface="Calibri"/>
              </a:rPr>
              <a:t>Top-ranked accuracy, correct-answer clearance, and average top-two margin</a:t>
            </a:r>
          </a:p>
        </p:txBody>
      </p:sp>
      <p:sp>
        <p:nvSpPr>
          <p:cNvPr id="17" name="">
            <a:extLst xmlns:a="http://schemas.openxmlformats.org/drawingml/2006/main">
              <a:ext uri="{FF2B5EF4-FFF2-40B4-BE49-F238E27FC236}">
                <a16:creationId xmlns:a16="http://schemas.microsoft.com/office/drawing/2014/main" id="{01878025-048D-4E44-B26C-8B67E8A0B086}"/>
              </a:ext>
            </a:extLst>
          </p:cNvPr>
          <p:cNvSpPr>
            <a:spLocks xmlns:a="http://schemas.openxmlformats.org/drawingml/2006/main" noGrp="1"/>
          </p:cNvSpPr>
          <p:nvPr/>
        </p:nvSpPr>
        <p:spPr>
          <a:xfrm xmlns:a="http://schemas.openxmlformats.org/drawingml/2006/main">
            <a:off x="781050" y="5962650"/>
            <a:ext cx="10458450" cy="428625"/>
          </a:xfrm>
          <a:prstGeom xmlns:a="http://schemas.openxmlformats.org/drawingml/2006/main" prst="rect">
            <a:avLst/>
          </a:prstGeom>
          <a:solidFill xmlns:a="http://schemas.openxmlformats.org/drawingml/2006/main">
            <a:srgbClr val="21295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127B031-BAB0-4178-A02F-01C26F993134}"/>
              </a:ext>
            </a:extLst>
          </p:cNvPr>
          <p:cNvSpPr>
            <a:spLocks xmlns:a="http://schemas.openxmlformats.org/drawingml/2006/main" noGrp="1"/>
          </p:cNvSpPr>
          <p:nvPr/>
        </p:nvSpPr>
        <p:spPr>
          <a:xfrm xmlns:a="http://schemas.openxmlformats.org/drawingml/2006/main">
            <a:off x="971550" y="6076950"/>
            <a:ext cx="10077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i="0">
                <a:solidFill>
                  <a:srgbClr val="FFFFFF"/>
                </a:solidFill>
                <a:latin typeface="Calibri"/>
                <a:ea typeface="Calibri"/>
                <a:cs typeface="Calibri"/>
              </a:defRPr>
            </a:pPr>
            <a:r>
              <a:rPr sz="1200" b="1" i="0">
                <a:solidFill>
                  <a:srgbClr val="FFFFFF"/>
                </a:solidFill>
                <a:latin typeface="Calibri"/>
                <a:ea typeface="Calibri"/>
                <a:cs typeface="Calibri"/>
              </a:rPr>
              <a:t>Clearance: P(chosen) − P(correct)     Margin: average P(chosen) − P(next best)</a:t>
            </a:r>
          </a:p>
        </p:txBody>
      </p:sp>
    </p:spTree>
    <p:extLst>
      <p:ext uri="{BB962C8B-B14F-4D97-AF65-F5344CB8AC3E}">
        <p14:creationId xmlns:p14="http://schemas.microsoft.com/office/powerpoint/2010/main" val="180875554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0" name="background">
            <a:extLst xmlns:a="http://schemas.openxmlformats.org/drawingml/2006/main">
              <a:ext uri="{FF2B5EF4-FFF2-40B4-BE49-F238E27FC236}">
                <a16:creationId xmlns:a16="http://schemas.microsoft.com/office/drawing/2014/main" id="{051B1930-0A3F-487D-98CB-556991755B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86B77075-F77A-403D-AFC0-70D7BAFA694C}"/>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F24A8F-7BD1-43F1-9935-B4660376C8B8}"/>
              </a:ext>
            </a:extLst>
          </p:cNvPr>
          <p:cNvSpPr>
            <a:spLocks xmlns:a="http://schemas.openxmlformats.org/drawingml/2006/main" noGrp="1"/>
          </p:cNvSpPr>
          <p:nvPr/>
        </p:nvSpPr>
        <p:spPr>
          <a:xfrm xmlns:a="http://schemas.openxmlformats.org/drawingml/2006/main">
            <a:off x="781050" y="381000"/>
            <a:ext cx="10458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i="0">
                <a:solidFill>
                  <a:srgbClr val="21295C"/>
                </a:solidFill>
                <a:latin typeface="Georgia"/>
                <a:ea typeface="Georgia"/>
                <a:cs typeface="Georgia"/>
              </a:defRPr>
            </a:pPr>
            <a:r>
              <a:rPr sz="3000" b="1" i="0">
                <a:solidFill>
                  <a:srgbClr val="21295C"/>
                </a:solidFill>
                <a:latin typeface="Georgia"/>
                <a:ea typeface="Georgia"/>
                <a:cs typeface="Georgia"/>
              </a:rPr>
              <a:t>Tool calling architecture and scope</a:t>
            </a:r>
          </a:p>
        </p:txBody>
      </p:sp>
      <p:sp>
        <p:nvSpPr>
          <p:cNvPr id="4" name="">
            <a:extLst xmlns:a="http://schemas.openxmlformats.org/drawingml/2006/main">
              <a:ext uri="{FF2B5EF4-FFF2-40B4-BE49-F238E27FC236}">
                <a16:creationId xmlns:a16="http://schemas.microsoft.com/office/drawing/2014/main" id="{EBCE9887-EF2E-4A82-8DCE-2930AD84BDBA}"/>
              </a:ext>
            </a:extLst>
          </p:cNvPr>
          <p:cNvSpPr>
            <a:spLocks xmlns:a="http://schemas.openxmlformats.org/drawingml/2006/main" noGrp="1"/>
          </p:cNvSpPr>
          <p:nvPr/>
        </p:nvSpPr>
        <p:spPr>
          <a:xfrm xmlns:a="http://schemas.openxmlformats.org/drawingml/2006/main">
            <a:off x="781050" y="942975"/>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i="1">
                <a:solidFill>
                  <a:srgbClr val="6B7A8C"/>
                </a:solidFill>
                <a:latin typeface="Calibri"/>
                <a:ea typeface="Calibri"/>
                <a:cs typeface="Calibri"/>
              </a:defRPr>
            </a:pPr>
            <a:r>
              <a:rPr sz="1275" b="0" i="1">
                <a:solidFill>
                  <a:srgbClr val="6B7A8C"/>
                </a:solidFill>
                <a:latin typeface="Calibri"/>
                <a:ea typeface="Calibri"/>
                <a:cs typeface="Calibri"/>
              </a:rPr>
              <a:t>Routing is measured now. Argument extraction and execution remain separate stages.</a:t>
            </a:r>
          </a:p>
        </p:txBody>
      </p:sp>
      <p:sp>
        <p:nvSpPr>
          <p:cNvPr id="5" name="">
            <a:extLst xmlns:a="http://schemas.openxmlformats.org/drawingml/2006/main">
              <a:ext uri="{FF2B5EF4-FFF2-40B4-BE49-F238E27FC236}">
                <a16:creationId xmlns:a16="http://schemas.microsoft.com/office/drawing/2014/main" id="{8E9CC586-41E0-43E4-8DEA-4507A2651495}"/>
              </a:ext>
            </a:extLst>
          </p:cNvPr>
          <p:cNvSpPr>
            <a:spLocks xmlns:a="http://schemas.openxmlformats.org/drawingml/2006/main" noGrp="1"/>
          </p:cNvSpPr>
          <p:nvPr/>
        </p:nvSpPr>
        <p:spPr>
          <a:xfrm xmlns:a="http://schemas.openxmlformats.org/drawingml/2006/main">
            <a:off x="781050" y="1495425"/>
            <a:ext cx="2171700" cy="1085850"/>
          </a:xfrm>
          <a:prstGeom xmlns:a="http://schemas.openxmlformats.org/drawingml/2006/main" prst="rect">
            <a:avLst/>
          </a:prstGeom>
          <a:solidFill xmlns:a="http://schemas.openxmlformats.org/drawingml/2006/main">
            <a:srgbClr val="1E7A4B"/>
          </a:solidFill>
          <a:ln xmlns:a="http://schemas.openxmlformats.org/drawingml/2006/main" w="19050">
            <a:solidFill>
              <a:srgbClr val="1E7A4B"/>
            </a:solidFill>
            <a:prstDash val="solid"/>
          </a:ln>
        </p:spPr>
      </p:sp>
      <p:sp>
        <p:nvSpPr>
          <p:cNvPr id="6" name="">
            <a:extLst xmlns:a="http://schemas.openxmlformats.org/drawingml/2006/main">
              <a:ext uri="{FF2B5EF4-FFF2-40B4-BE49-F238E27FC236}">
                <a16:creationId xmlns:a16="http://schemas.microsoft.com/office/drawing/2014/main" id="{AF2AFCCF-64B3-4F4E-AB69-03812DA95FCD}"/>
              </a:ext>
            </a:extLst>
          </p:cNvPr>
          <p:cNvSpPr>
            <a:spLocks xmlns:a="http://schemas.openxmlformats.org/drawingml/2006/main" noGrp="1"/>
          </p:cNvSpPr>
          <p:nvPr/>
        </p:nvSpPr>
        <p:spPr>
          <a:xfrm xmlns:a="http://schemas.openxmlformats.org/drawingml/2006/main">
            <a:off x="914400" y="1628775"/>
            <a:ext cx="323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i="0">
                <a:solidFill>
                  <a:srgbClr val="FFFFFF"/>
                </a:solidFill>
                <a:latin typeface="Georgia"/>
                <a:ea typeface="Georgia"/>
                <a:cs typeface="Georgia"/>
              </a:defRPr>
            </a:pPr>
            <a:r>
              <a:rPr sz="1800" b="1" i="0">
                <a:solidFill>
                  <a:srgbClr val="FFFFFF"/>
                </a:solidFill>
                <a:latin typeface="Georgia"/>
                <a:ea typeface="Georgia"/>
                <a:cs typeface="Georgia"/>
              </a:rPr>
              <a:t>1</a:t>
            </a:r>
          </a:p>
        </p:txBody>
      </p:sp>
      <p:sp>
        <p:nvSpPr>
          <p:cNvPr id="7" name="">
            <a:extLst xmlns:a="http://schemas.openxmlformats.org/drawingml/2006/main">
              <a:ext uri="{FF2B5EF4-FFF2-40B4-BE49-F238E27FC236}">
                <a16:creationId xmlns:a16="http://schemas.microsoft.com/office/drawing/2014/main" id="{3AF71573-8F10-4AF4-979A-279DD80A21FE}"/>
              </a:ext>
            </a:extLst>
          </p:cNvPr>
          <p:cNvSpPr>
            <a:spLocks xmlns:a="http://schemas.openxmlformats.org/drawingml/2006/main" noGrp="1"/>
          </p:cNvSpPr>
          <p:nvPr/>
        </p:nvSpPr>
        <p:spPr>
          <a:xfrm xmlns:a="http://schemas.openxmlformats.org/drawingml/2006/main">
            <a:off x="1333500" y="16287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i="0">
                <a:solidFill>
                  <a:srgbClr val="FFFFFF"/>
                </a:solidFill>
                <a:latin typeface="Calibri"/>
                <a:ea typeface="Calibri"/>
                <a:cs typeface="Calibri"/>
              </a:defRPr>
            </a:pPr>
            <a:r>
              <a:rPr sz="1050" b="1" i="0">
                <a:solidFill>
                  <a:srgbClr val="FFFFFF"/>
                </a:solidFill>
                <a:latin typeface="Calibri"/>
                <a:ea typeface="Calibri"/>
                <a:cs typeface="Calibri"/>
              </a:rPr>
              <a:t>ROUTE</a:t>
            </a:r>
          </a:p>
        </p:txBody>
      </p:sp>
      <p:sp>
        <p:nvSpPr>
          <p:cNvPr id="8" name="">
            <a:extLst xmlns:a="http://schemas.openxmlformats.org/drawingml/2006/main">
              <a:ext uri="{FF2B5EF4-FFF2-40B4-BE49-F238E27FC236}">
                <a16:creationId xmlns:a16="http://schemas.microsoft.com/office/drawing/2014/main" id="{20F568FE-BF23-4293-AF87-004464F052A3}"/>
              </a:ext>
            </a:extLst>
          </p:cNvPr>
          <p:cNvSpPr>
            <a:spLocks xmlns:a="http://schemas.openxmlformats.org/drawingml/2006/main" noGrp="1"/>
          </p:cNvSpPr>
          <p:nvPr/>
        </p:nvSpPr>
        <p:spPr>
          <a:xfrm xmlns:a="http://schemas.openxmlformats.org/drawingml/2006/main">
            <a:off x="1333500" y="194310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i="0">
                <a:solidFill>
                  <a:srgbClr val="FFFFFF"/>
                </a:solidFill>
                <a:latin typeface="Calibri"/>
                <a:ea typeface="Calibri"/>
                <a:cs typeface="Calibri"/>
              </a:defRPr>
            </a:pPr>
            <a:r>
              <a:rPr sz="1050" b="0" i="0">
                <a:solidFill>
                  <a:srgbClr val="FFFFFF"/>
                </a:solidFill>
                <a:latin typeface="Calibri"/>
                <a:ea typeface="Calibri"/>
                <a:cs typeface="Calibri"/>
              </a:rPr>
              <a:t>Choose one declared tool</a:t>
            </a:r>
          </a:p>
          <a:p xmlns:a="http://schemas.openxmlformats.org/drawingml/2006/main">
            <a:pPr algn="l">
              <a:buNone/>
              <a:defRPr sz="1050" b="0" i="0">
                <a:solidFill>
                  <a:srgbClr val="FFFFFF"/>
                </a:solidFill>
                <a:latin typeface="Calibri"/>
                <a:ea typeface="Calibri"/>
                <a:cs typeface="Calibri"/>
              </a:defRPr>
            </a:pPr>
            <a:r>
              <a:rPr sz="1050" b="0" i="0">
                <a:solidFill>
                  <a:srgbClr val="FFFFFF"/>
                </a:solidFill>
                <a:latin typeface="Calibri"/>
                <a:ea typeface="Calibri"/>
                <a:cs typeface="Calibri"/>
              </a:rPr>
              <a:t>or choose no tool</a:t>
            </a:r>
          </a:p>
        </p:txBody>
      </p:sp>
      <p:sp>
        <p:nvSpPr>
          <p:cNvPr id="9" name="">
            <a:extLst xmlns:a="http://schemas.openxmlformats.org/drawingml/2006/main">
              <a:ext uri="{FF2B5EF4-FFF2-40B4-BE49-F238E27FC236}">
                <a16:creationId xmlns:a16="http://schemas.microsoft.com/office/drawing/2014/main" id="{F7EDB869-C8CE-4434-A1EF-972CCC9C6A6C}"/>
              </a:ext>
            </a:extLst>
          </p:cNvPr>
          <p:cNvSpPr>
            <a:spLocks xmlns:a="http://schemas.openxmlformats.org/drawingml/2006/main" noGrp="1"/>
          </p:cNvSpPr>
          <p:nvPr/>
        </p:nvSpPr>
        <p:spPr>
          <a:xfrm xmlns:a="http://schemas.openxmlformats.org/drawingml/2006/main">
            <a:off x="3009900" y="1809750"/>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00" b="1" i="0">
                <a:solidFill>
                  <a:srgbClr val="1C7293"/>
                </a:solidFill>
                <a:latin typeface="Calibri"/>
                <a:ea typeface="Calibri"/>
                <a:cs typeface="Calibri"/>
              </a:defRPr>
            </a:pPr>
            <a:r>
              <a:rPr sz="2100" b="1" i="0">
                <a:solidFill>
                  <a:srgbClr val="1C7293"/>
                </a:solidFill>
                <a:latin typeface="Calibri"/>
                <a:ea typeface="Calibri"/>
                <a:cs typeface="Calibri"/>
              </a:rPr>
              <a:t>→</a:t>
            </a:r>
          </a:p>
        </p:txBody>
      </p:sp>
      <p:sp>
        <p:nvSpPr>
          <p:cNvPr id="10" name="">
            <a:extLst xmlns:a="http://schemas.openxmlformats.org/drawingml/2006/main">
              <a:ext uri="{FF2B5EF4-FFF2-40B4-BE49-F238E27FC236}">
                <a16:creationId xmlns:a16="http://schemas.microsoft.com/office/drawing/2014/main" id="{72B8C137-CDD1-49D7-8AEC-9B5D2AD8A728}"/>
              </a:ext>
            </a:extLst>
          </p:cNvPr>
          <p:cNvSpPr>
            <a:spLocks xmlns:a="http://schemas.openxmlformats.org/drawingml/2006/main" noGrp="1"/>
          </p:cNvSpPr>
          <p:nvPr/>
        </p:nvSpPr>
        <p:spPr>
          <a:xfrm xmlns:a="http://schemas.openxmlformats.org/drawingml/2006/main">
            <a:off x="3333750" y="1495425"/>
            <a:ext cx="217170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D5DFE6"/>
            </a:solidFill>
            <a:prstDash val="solid"/>
          </a:ln>
        </p:spPr>
      </p:sp>
      <p:sp>
        <p:nvSpPr>
          <p:cNvPr id="11" name="">
            <a:extLst xmlns:a="http://schemas.openxmlformats.org/drawingml/2006/main">
              <a:ext uri="{FF2B5EF4-FFF2-40B4-BE49-F238E27FC236}">
                <a16:creationId xmlns:a16="http://schemas.microsoft.com/office/drawing/2014/main" id="{904C93BD-F56C-45C5-8B47-F1C22ED0356B}"/>
              </a:ext>
            </a:extLst>
          </p:cNvPr>
          <p:cNvSpPr>
            <a:spLocks xmlns:a="http://schemas.openxmlformats.org/drawingml/2006/main" noGrp="1"/>
          </p:cNvSpPr>
          <p:nvPr/>
        </p:nvSpPr>
        <p:spPr>
          <a:xfrm xmlns:a="http://schemas.openxmlformats.org/drawingml/2006/main">
            <a:off x="3467100" y="1628775"/>
            <a:ext cx="323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i="0">
                <a:solidFill>
                  <a:srgbClr val="6B7A8C"/>
                </a:solidFill>
                <a:latin typeface="Georgia"/>
                <a:ea typeface="Georgia"/>
                <a:cs typeface="Georgia"/>
              </a:defRPr>
            </a:pPr>
            <a:r>
              <a:rPr sz="1800" b="1" i="0">
                <a:solidFill>
                  <a:srgbClr val="6B7A8C"/>
                </a:solidFill>
                <a:latin typeface="Georgia"/>
                <a:ea typeface="Georgia"/>
                <a:cs typeface="Georgia"/>
              </a:rPr>
              <a:t>2</a:t>
            </a:r>
          </a:p>
        </p:txBody>
      </p:sp>
      <p:sp>
        <p:nvSpPr>
          <p:cNvPr id="12" name="">
            <a:extLst xmlns:a="http://schemas.openxmlformats.org/drawingml/2006/main">
              <a:ext uri="{FF2B5EF4-FFF2-40B4-BE49-F238E27FC236}">
                <a16:creationId xmlns:a16="http://schemas.microsoft.com/office/drawing/2014/main" id="{AC205C62-4A73-426D-9529-BB75D4F9C253}"/>
              </a:ext>
            </a:extLst>
          </p:cNvPr>
          <p:cNvSpPr>
            <a:spLocks xmlns:a="http://schemas.openxmlformats.org/drawingml/2006/main" noGrp="1"/>
          </p:cNvSpPr>
          <p:nvPr/>
        </p:nvSpPr>
        <p:spPr>
          <a:xfrm xmlns:a="http://schemas.openxmlformats.org/drawingml/2006/main">
            <a:off x="3886200" y="16287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i="0">
                <a:solidFill>
                  <a:srgbClr val="1A1F2B"/>
                </a:solidFill>
                <a:latin typeface="Calibri"/>
                <a:ea typeface="Calibri"/>
                <a:cs typeface="Calibri"/>
              </a:defRPr>
            </a:pPr>
            <a:r>
              <a:rPr sz="1050" b="1" i="0">
                <a:solidFill>
                  <a:srgbClr val="1A1F2B"/>
                </a:solidFill>
                <a:latin typeface="Calibri"/>
                <a:ea typeface="Calibri"/>
                <a:cs typeface="Calibri"/>
              </a:rPr>
              <a:t>EXTRACT</a:t>
            </a:r>
          </a:p>
        </p:txBody>
      </p:sp>
      <p:sp>
        <p:nvSpPr>
          <p:cNvPr id="13" name="">
            <a:extLst xmlns:a="http://schemas.openxmlformats.org/drawingml/2006/main">
              <a:ext uri="{FF2B5EF4-FFF2-40B4-BE49-F238E27FC236}">
                <a16:creationId xmlns:a16="http://schemas.microsoft.com/office/drawing/2014/main" id="{1AA748C8-B704-4758-A5EF-B8D304F2A80E}"/>
              </a:ext>
            </a:extLst>
          </p:cNvPr>
          <p:cNvSpPr>
            <a:spLocks xmlns:a="http://schemas.openxmlformats.org/drawingml/2006/main" noGrp="1"/>
          </p:cNvSpPr>
          <p:nvPr/>
        </p:nvSpPr>
        <p:spPr>
          <a:xfrm xmlns:a="http://schemas.openxmlformats.org/drawingml/2006/main">
            <a:off x="3886200" y="194310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i="0">
                <a:solidFill>
                  <a:srgbClr val="6B7A8C"/>
                </a:solidFill>
                <a:latin typeface="Calibri"/>
                <a:ea typeface="Calibri"/>
                <a:cs typeface="Calibri"/>
              </a:defRPr>
            </a:pPr>
            <a:r>
              <a:rPr sz="1050" b="0" i="0">
                <a:solidFill>
                  <a:srgbClr val="6B7A8C"/>
                </a:solidFill>
                <a:latin typeface="Calibri"/>
                <a:ea typeface="Calibri"/>
                <a:cs typeface="Calibri"/>
              </a:rPr>
              <a:t>Generate typed</a:t>
            </a:r>
          </a:p>
          <a:p xmlns:a="http://schemas.openxmlformats.org/drawingml/2006/main">
            <a:pPr algn="l">
              <a:buNone/>
              <a:defRPr sz="1050" b="0" i="0">
                <a:solidFill>
                  <a:srgbClr val="6B7A8C"/>
                </a:solidFill>
                <a:latin typeface="Calibri"/>
                <a:ea typeface="Calibri"/>
                <a:cs typeface="Calibri"/>
              </a:defRPr>
            </a:pPr>
            <a:r>
              <a:rPr sz="1050" b="0" i="0">
                <a:solidFill>
                  <a:srgbClr val="6B7A8C"/>
                </a:solidFill>
                <a:latin typeface="Calibri"/>
                <a:ea typeface="Calibri"/>
                <a:cs typeface="Calibri"/>
              </a:rPr>
              <a:t>argument values</a:t>
            </a:r>
          </a:p>
        </p:txBody>
      </p:sp>
      <p:sp>
        <p:nvSpPr>
          <p:cNvPr id="14" name="">
            <a:extLst xmlns:a="http://schemas.openxmlformats.org/drawingml/2006/main">
              <a:ext uri="{FF2B5EF4-FFF2-40B4-BE49-F238E27FC236}">
                <a16:creationId xmlns:a16="http://schemas.microsoft.com/office/drawing/2014/main" id="{51589187-BFA2-4F76-909C-CF2A96AD2ECA}"/>
              </a:ext>
            </a:extLst>
          </p:cNvPr>
          <p:cNvSpPr>
            <a:spLocks xmlns:a="http://schemas.openxmlformats.org/drawingml/2006/main" noGrp="1"/>
          </p:cNvSpPr>
          <p:nvPr/>
        </p:nvSpPr>
        <p:spPr>
          <a:xfrm xmlns:a="http://schemas.openxmlformats.org/drawingml/2006/main">
            <a:off x="5562600" y="1809750"/>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00" b="1" i="0">
                <a:solidFill>
                  <a:srgbClr val="1C7293"/>
                </a:solidFill>
                <a:latin typeface="Calibri"/>
                <a:ea typeface="Calibri"/>
                <a:cs typeface="Calibri"/>
              </a:defRPr>
            </a:pPr>
            <a:r>
              <a:rPr sz="2100" b="1" i="0">
                <a:solidFill>
                  <a:srgbClr val="1C7293"/>
                </a:solidFill>
                <a:latin typeface="Calibri"/>
                <a:ea typeface="Calibri"/>
                <a:cs typeface="Calibri"/>
              </a:rPr>
              <a:t>→</a:t>
            </a:r>
          </a:p>
        </p:txBody>
      </p:sp>
      <p:sp>
        <p:nvSpPr>
          <p:cNvPr id="15" name="">
            <a:extLst xmlns:a="http://schemas.openxmlformats.org/drawingml/2006/main">
              <a:ext uri="{FF2B5EF4-FFF2-40B4-BE49-F238E27FC236}">
                <a16:creationId xmlns:a16="http://schemas.microsoft.com/office/drawing/2014/main" id="{B5319A1E-7ED2-4330-916F-A274F139FCA5}"/>
              </a:ext>
            </a:extLst>
          </p:cNvPr>
          <p:cNvSpPr>
            <a:spLocks xmlns:a="http://schemas.openxmlformats.org/drawingml/2006/main" noGrp="1"/>
          </p:cNvSpPr>
          <p:nvPr/>
        </p:nvSpPr>
        <p:spPr>
          <a:xfrm xmlns:a="http://schemas.openxmlformats.org/drawingml/2006/main">
            <a:off x="5886450" y="1495425"/>
            <a:ext cx="217170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D5DFE6"/>
            </a:solidFill>
            <a:prstDash val="solid"/>
          </a:ln>
        </p:spPr>
      </p:sp>
      <p:sp>
        <p:nvSpPr>
          <p:cNvPr id="16" name="">
            <a:extLst xmlns:a="http://schemas.openxmlformats.org/drawingml/2006/main">
              <a:ext uri="{FF2B5EF4-FFF2-40B4-BE49-F238E27FC236}">
                <a16:creationId xmlns:a16="http://schemas.microsoft.com/office/drawing/2014/main" id="{BAE2C9D2-4C2C-433C-92A4-484101052A02}"/>
              </a:ext>
            </a:extLst>
          </p:cNvPr>
          <p:cNvSpPr>
            <a:spLocks xmlns:a="http://schemas.openxmlformats.org/drawingml/2006/main" noGrp="1"/>
          </p:cNvSpPr>
          <p:nvPr/>
        </p:nvSpPr>
        <p:spPr>
          <a:xfrm xmlns:a="http://schemas.openxmlformats.org/drawingml/2006/main">
            <a:off x="6019800" y="1628775"/>
            <a:ext cx="323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i="0">
                <a:solidFill>
                  <a:srgbClr val="6B7A8C"/>
                </a:solidFill>
                <a:latin typeface="Georgia"/>
                <a:ea typeface="Georgia"/>
                <a:cs typeface="Georgia"/>
              </a:defRPr>
            </a:pPr>
            <a:r>
              <a:rPr sz="1800" b="1" i="0">
                <a:solidFill>
                  <a:srgbClr val="6B7A8C"/>
                </a:solidFill>
                <a:latin typeface="Georgia"/>
                <a:ea typeface="Georgia"/>
                <a:cs typeface="Georgia"/>
              </a:rPr>
              <a:t>3</a:t>
            </a:r>
          </a:p>
        </p:txBody>
      </p:sp>
      <p:sp>
        <p:nvSpPr>
          <p:cNvPr id="17" name="">
            <a:extLst xmlns:a="http://schemas.openxmlformats.org/drawingml/2006/main">
              <a:ext uri="{FF2B5EF4-FFF2-40B4-BE49-F238E27FC236}">
                <a16:creationId xmlns:a16="http://schemas.microsoft.com/office/drawing/2014/main" id="{8B89C790-9BF4-4562-9769-7A72C084D6D6}"/>
              </a:ext>
            </a:extLst>
          </p:cNvPr>
          <p:cNvSpPr>
            <a:spLocks xmlns:a="http://schemas.openxmlformats.org/drawingml/2006/main" noGrp="1"/>
          </p:cNvSpPr>
          <p:nvPr/>
        </p:nvSpPr>
        <p:spPr>
          <a:xfrm xmlns:a="http://schemas.openxmlformats.org/drawingml/2006/main">
            <a:off x="6438900" y="16287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i="0">
                <a:solidFill>
                  <a:srgbClr val="1A1F2B"/>
                </a:solidFill>
                <a:latin typeface="Calibri"/>
                <a:ea typeface="Calibri"/>
                <a:cs typeface="Calibri"/>
              </a:defRPr>
            </a:pPr>
            <a:r>
              <a:rPr sz="1050" b="1" i="0">
                <a:solidFill>
                  <a:srgbClr val="1A1F2B"/>
                </a:solidFill>
                <a:latin typeface="Calibri"/>
                <a:ea typeface="Calibri"/>
                <a:cs typeface="Calibri"/>
              </a:rPr>
              <a:t>EXECUTE</a:t>
            </a:r>
          </a:p>
        </p:txBody>
      </p:sp>
      <p:sp>
        <p:nvSpPr>
          <p:cNvPr id="18" name="">
            <a:extLst xmlns:a="http://schemas.openxmlformats.org/drawingml/2006/main">
              <a:ext uri="{FF2B5EF4-FFF2-40B4-BE49-F238E27FC236}">
                <a16:creationId xmlns:a16="http://schemas.microsoft.com/office/drawing/2014/main" id="{B57C6EDF-1D99-4421-A759-4A319209BA39}"/>
              </a:ext>
            </a:extLst>
          </p:cNvPr>
          <p:cNvSpPr>
            <a:spLocks xmlns:a="http://schemas.openxmlformats.org/drawingml/2006/main" noGrp="1"/>
          </p:cNvSpPr>
          <p:nvPr/>
        </p:nvSpPr>
        <p:spPr>
          <a:xfrm xmlns:a="http://schemas.openxmlformats.org/drawingml/2006/main">
            <a:off x="6438900" y="194310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i="0">
                <a:solidFill>
                  <a:srgbClr val="6B7A8C"/>
                </a:solidFill>
                <a:latin typeface="Calibri"/>
                <a:ea typeface="Calibri"/>
                <a:cs typeface="Calibri"/>
              </a:defRPr>
            </a:pPr>
            <a:r>
              <a:rPr sz="1050" b="0" i="0">
                <a:solidFill>
                  <a:srgbClr val="6B7A8C"/>
                </a:solidFill>
                <a:latin typeface="Calibri"/>
                <a:ea typeface="Calibri"/>
                <a:cs typeface="Calibri"/>
              </a:rPr>
              <a:t>Run the call and</a:t>
            </a:r>
          </a:p>
          <a:p xmlns:a="http://schemas.openxmlformats.org/drawingml/2006/main">
            <a:pPr algn="l">
              <a:buNone/>
              <a:defRPr sz="1050" b="0" i="0">
                <a:solidFill>
                  <a:srgbClr val="6B7A8C"/>
                </a:solidFill>
                <a:latin typeface="Calibri"/>
                <a:ea typeface="Calibri"/>
                <a:cs typeface="Calibri"/>
              </a:defRPr>
            </a:pPr>
            <a:r>
              <a:rPr sz="1050" b="0" i="0">
                <a:solidFill>
                  <a:srgbClr val="6B7A8C"/>
                </a:solidFill>
                <a:latin typeface="Calibri"/>
                <a:ea typeface="Calibri"/>
                <a:cs typeface="Calibri"/>
              </a:rPr>
              <a:t>validate behavior</a:t>
            </a:r>
          </a:p>
        </p:txBody>
      </p:sp>
      <p:sp>
        <p:nvSpPr>
          <p:cNvPr id="19" name="">
            <a:extLst xmlns:a="http://schemas.openxmlformats.org/drawingml/2006/main">
              <a:ext uri="{FF2B5EF4-FFF2-40B4-BE49-F238E27FC236}">
                <a16:creationId xmlns:a16="http://schemas.microsoft.com/office/drawing/2014/main" id="{744E2447-BAC9-4FBC-83DA-77B8909100C7}"/>
              </a:ext>
            </a:extLst>
          </p:cNvPr>
          <p:cNvSpPr>
            <a:spLocks xmlns:a="http://schemas.openxmlformats.org/drawingml/2006/main" noGrp="1"/>
          </p:cNvSpPr>
          <p:nvPr/>
        </p:nvSpPr>
        <p:spPr>
          <a:xfrm xmlns:a="http://schemas.openxmlformats.org/drawingml/2006/main">
            <a:off x="781050" y="2686050"/>
            <a:ext cx="7277100" cy="323850"/>
          </a:xfrm>
          <a:prstGeom xmlns:a="http://schemas.openxmlformats.org/drawingml/2006/main" prst="rect">
            <a:avLst/>
          </a:prstGeom>
          <a:solidFill xmlns:a="http://schemas.openxmlformats.org/drawingml/2006/main">
            <a:srgbClr val="E9F2F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F63716F-0EEC-4C33-8F4F-2223403ECFA6}"/>
              </a:ext>
            </a:extLst>
          </p:cNvPr>
          <p:cNvSpPr>
            <a:spLocks xmlns:a="http://schemas.openxmlformats.org/drawingml/2006/main" noGrp="1"/>
          </p:cNvSpPr>
          <p:nvPr/>
        </p:nvSpPr>
        <p:spPr>
          <a:xfrm xmlns:a="http://schemas.openxmlformats.org/drawingml/2006/main">
            <a:off x="781050" y="2762250"/>
            <a:ext cx="2171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00" b="1" i="0">
                <a:solidFill>
                  <a:srgbClr val="1E7A4B"/>
                </a:solidFill>
                <a:latin typeface="Calibri"/>
                <a:ea typeface="Calibri"/>
                <a:cs typeface="Calibri"/>
              </a:defRPr>
            </a:pPr>
            <a:r>
              <a:rPr sz="900" b="1" i="0">
                <a:solidFill>
                  <a:srgbClr val="1E7A4B"/>
                </a:solidFill>
                <a:latin typeface="Calibri"/>
                <a:ea typeface="Calibri"/>
                <a:cs typeface="Calibri"/>
              </a:rPr>
              <a:t>Measured today</a:t>
            </a:r>
          </a:p>
        </p:txBody>
      </p:sp>
      <p:sp>
        <p:nvSpPr>
          <p:cNvPr id="21" name="">
            <a:extLst xmlns:a="http://schemas.openxmlformats.org/drawingml/2006/main">
              <a:ext uri="{FF2B5EF4-FFF2-40B4-BE49-F238E27FC236}">
                <a16:creationId xmlns:a16="http://schemas.microsoft.com/office/drawing/2014/main" id="{43377E87-2AB4-44FF-A4BF-52E860534F69}"/>
              </a:ext>
            </a:extLst>
          </p:cNvPr>
          <p:cNvSpPr>
            <a:spLocks xmlns:a="http://schemas.openxmlformats.org/drawingml/2006/main" noGrp="1"/>
          </p:cNvSpPr>
          <p:nvPr/>
        </p:nvSpPr>
        <p:spPr>
          <a:xfrm xmlns:a="http://schemas.openxmlformats.org/drawingml/2006/main">
            <a:off x="3333750" y="2762250"/>
            <a:ext cx="4724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00" b="1" i="0">
                <a:solidFill>
                  <a:srgbClr val="6B7A8C"/>
                </a:solidFill>
                <a:latin typeface="Calibri"/>
                <a:ea typeface="Calibri"/>
                <a:cs typeface="Calibri"/>
              </a:defRPr>
            </a:pPr>
            <a:r>
              <a:rPr sz="900" b="1" i="0">
                <a:solidFill>
                  <a:srgbClr val="6B7A8C"/>
                </a:solidFill>
                <a:latin typeface="Calibri"/>
                <a:ea typeface="Calibri"/>
                <a:cs typeface="Calibri"/>
              </a:rPr>
              <a:t>Out of scope for classifiers alone</a:t>
            </a:r>
          </a:p>
        </p:txBody>
      </p:sp>
      <p:sp>
        <p:nvSpPr>
          <p:cNvPr id="22" name="">
            <a:extLst xmlns:a="http://schemas.openxmlformats.org/drawingml/2006/main">
              <a:ext uri="{FF2B5EF4-FFF2-40B4-BE49-F238E27FC236}">
                <a16:creationId xmlns:a16="http://schemas.microsoft.com/office/drawing/2014/main" id="{D0CA5C34-3ADE-407D-9836-32917261BB06}"/>
              </a:ext>
            </a:extLst>
          </p:cNvPr>
          <p:cNvSpPr>
            <a:spLocks xmlns:a="http://schemas.openxmlformats.org/drawingml/2006/main" noGrp="1"/>
          </p:cNvSpPr>
          <p:nvPr/>
        </p:nvSpPr>
        <p:spPr>
          <a:xfrm xmlns:a="http://schemas.openxmlformats.org/drawingml/2006/main">
            <a:off x="781050" y="3295650"/>
            <a:ext cx="7277100" cy="2524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23" name="">
            <a:extLst xmlns:a="http://schemas.openxmlformats.org/drawingml/2006/main">
              <a:ext uri="{FF2B5EF4-FFF2-40B4-BE49-F238E27FC236}">
                <a16:creationId xmlns:a16="http://schemas.microsoft.com/office/drawing/2014/main" id="{F466422D-C25E-4ACD-BE24-0840393B2C24}"/>
              </a:ext>
            </a:extLst>
          </p:cNvPr>
          <p:cNvSpPr>
            <a:spLocks xmlns:a="http://schemas.openxmlformats.org/drawingml/2006/main" noGrp="1"/>
          </p:cNvSpPr>
          <p:nvPr/>
        </p:nvSpPr>
        <p:spPr>
          <a:xfrm xmlns:a="http://schemas.openxmlformats.org/drawingml/2006/main">
            <a:off x="781050" y="3295650"/>
            <a:ext cx="727710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5904D5A-0E19-448B-A327-9840FAD759B8}"/>
              </a:ext>
            </a:extLst>
          </p:cNvPr>
          <p:cNvSpPr>
            <a:spLocks xmlns:a="http://schemas.openxmlformats.org/drawingml/2006/main" noGrp="1"/>
          </p:cNvSpPr>
          <p:nvPr/>
        </p:nvSpPr>
        <p:spPr>
          <a:xfrm xmlns:a="http://schemas.openxmlformats.org/drawingml/2006/main">
            <a:off x="933450" y="3371850"/>
            <a:ext cx="6972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i="0">
                <a:solidFill>
                  <a:srgbClr val="FFFFFF"/>
                </a:solidFill>
                <a:latin typeface="Calibri"/>
                <a:ea typeface="Calibri"/>
                <a:cs typeface="Calibri"/>
              </a:defRPr>
            </a:pPr>
            <a:r>
              <a:rPr sz="1050" b="1" i="0">
                <a:solidFill>
                  <a:srgbClr val="FFFFFF"/>
                </a:solidFill>
                <a:latin typeface="Calibri"/>
                <a:ea typeface="Calibri"/>
                <a:cs typeface="Calibri"/>
              </a:rPr>
              <a:t>CATEGORY RESULTS</a:t>
            </a:r>
          </a:p>
        </p:txBody>
      </p:sp>
      <p:graphicFrame>
        <p:nvGraphicFramePr>
          <p:cNvPr id="66" name=""/>
          <p:cNvGraphicFramePr/>
          <p:nvPr/>
        </p:nvGraphicFramePr>
        <p:xfrm>
          <a:off xmlns:a="http://schemas.openxmlformats.org/drawingml/2006/main" x="990600" y="3848100"/>
          <a:ext xmlns:a="http://schemas.openxmlformats.org/drawingml/2006/main" cx="6858000" cy="1676400"/>
        </p:xfrm>
        <a:graphic xmlns:a="http://schemas.openxmlformats.org/drawingml/2006/main">
          <a:graphicData uri="http://schemas.openxmlformats.org/drawingml/2006/table">
            <a:tbl>
              <a:tblPr firstRow="1" bandRow="1"/>
              <a:tblGrid>
                <a:gridCol w="2686050"/>
                <a:gridCol w="762000"/>
                <a:gridCol w="1695450"/>
                <a:gridCol w="1714500"/>
              </a:tblGrid>
              <a:tr h="419100">
                <a:tc>
                  <a:txBody>
                    <a:bodyPr/>
                    <a:lstStyle/>
                    <a:p>
                      <a:r>
                        <a:rPr sz="900" b="1">
                          <a:solidFill>
                            <a:srgbClr val="FFFFFF"/>
                          </a:solidFill>
                          <a:latin typeface="Calibri"/>
                          <a:ea typeface="Calibri"/>
                          <a:cs typeface="Calibri"/>
                        </a:rPr>
                        <a:t>Category</a:t>
                      </a:r>
                    </a:p>
                  </a:txBody>
                  <a:tcPr marL="76200" marR="57150" marT="38100" marB="38100" anchor="ctr">
                    <a:solidFill>
                      <a:srgbClr val="21295C"/>
                    </a:solidFill>
                  </a:tcPr>
                </a:tc>
                <a:tc>
                  <a:txBody>
                    <a:bodyPr/>
                    <a:lstStyle/>
                    <a:p>
                      <a:r>
                        <a:rPr sz="900" b="1">
                          <a:solidFill>
                            <a:srgbClr val="FFFFFF"/>
                          </a:solidFill>
                          <a:latin typeface="Calibri"/>
                          <a:ea typeface="Calibri"/>
                          <a:cs typeface="Calibri"/>
                        </a:rPr>
                        <a:t>Cases</a:t>
                      </a:r>
                    </a:p>
                  </a:txBody>
                  <a:tcPr marL="76200" marR="57150" marT="38100" marB="38100" anchor="ctr">
                    <a:solidFill>
                      <a:srgbClr val="21295C"/>
                    </a:solidFill>
                  </a:tcPr>
                </a:tc>
                <a:tc>
                  <a:txBody>
                    <a:bodyPr/>
                    <a:lstStyle/>
                    <a:p>
                      <a:r>
                        <a:rPr sz="900" b="1">
                          <a:solidFill>
                            <a:srgbClr val="FFFFFF"/>
                          </a:solidFill>
                          <a:latin typeface="Calibri"/>
                          <a:ea typeface="Calibri"/>
                          <a:cs typeface="Calibri"/>
                        </a:rPr>
                        <a:t>ModernBERT</a:t>
                      </a:r>
                    </a:p>
                  </a:txBody>
                  <a:tcPr marL="76200" marR="57150" marT="38100" marB="38100" anchor="ctr">
                    <a:solidFill>
                      <a:srgbClr val="21295C"/>
                    </a:solidFill>
                  </a:tcPr>
                </a:tc>
                <a:tc>
                  <a:txBody>
                    <a:bodyPr/>
                    <a:lstStyle/>
                    <a:p>
                      <a:r>
                        <a:rPr sz="900" b="1">
                          <a:solidFill>
                            <a:srgbClr val="FFFFFF"/>
                          </a:solidFill>
                          <a:latin typeface="Calibri"/>
                          <a:ea typeface="Calibri"/>
                          <a:cs typeface="Calibri"/>
                        </a:rPr>
                        <a:t>TypeSafe.ai JEV</a:t>
                      </a:r>
                    </a:p>
                  </a:txBody>
                  <a:tcPr marL="76200" marR="57150" marT="38100" marB="38100" anchor="ctr">
                    <a:solidFill>
                      <a:srgbClr val="21295C"/>
                    </a:solidFill>
                  </a:tcPr>
                </a:tc>
              </a:tr>
              <a:tr h="419100">
                <a:tc>
                  <a:txBody>
                    <a:bodyPr/>
                    <a:lstStyle/>
                    <a:p>
                      <a:r>
                        <a:rPr sz="938">
                          <a:solidFill>
                            <a:srgbClr val="1A1F2B"/>
                          </a:solidFill>
                          <a:latin typeface="Calibri"/>
                          <a:ea typeface="Calibri"/>
                          <a:cs typeface="Calibri"/>
                        </a:rPr>
                        <a:t>Multiple-function selection</a:t>
                      </a:r>
                    </a:p>
                  </a:txBody>
                  <a:tcPr marL="76200" marR="57150" marT="38100" marB="38100" anchor="ctr"/>
                </a:tc>
                <a:tc>
                  <a:txBody>
                    <a:bodyPr/>
                    <a:lstStyle/>
                    <a:p>
                      <a:r>
                        <a:rPr sz="938">
                          <a:solidFill>
                            <a:srgbClr val="1A1F2B"/>
                          </a:solidFill>
                          <a:latin typeface="Calibri"/>
                          <a:ea typeface="Calibri"/>
                          <a:cs typeface="Calibri"/>
                        </a:rPr>
                        <a:t>20</a:t>
                      </a:r>
                    </a:p>
                  </a:txBody>
                  <a:tcPr marL="76200" marR="57150" marT="38100" marB="38100" anchor="ctr"/>
                </a:tc>
                <a:tc>
                  <a:txBody>
                    <a:bodyPr/>
                    <a:lstStyle/>
                    <a:p>
                      <a:r>
                        <a:rPr sz="938">
                          <a:solidFill>
                            <a:srgbClr val="065A82"/>
                          </a:solidFill>
                          <a:latin typeface="Calibri"/>
                          <a:ea typeface="Calibri"/>
                          <a:cs typeface="Calibri"/>
                        </a:rPr>
                        <a:t>17 / 20  (85%)</a:t>
                      </a:r>
                    </a:p>
                  </a:txBody>
                  <a:tcPr marL="76200" marR="57150" marT="38100" marB="38100" anchor="ctr"/>
                </a:tc>
                <a:tc>
                  <a:txBody>
                    <a:bodyPr/>
                    <a:lstStyle/>
                    <a:p>
                      <a:r>
                        <a:rPr sz="938">
                          <a:solidFill>
                            <a:srgbClr val="815AC0"/>
                          </a:solidFill>
                          <a:latin typeface="Calibri"/>
                          <a:ea typeface="Calibri"/>
                          <a:cs typeface="Calibri"/>
                        </a:rPr>
                        <a:t>20 / 20  (100%)</a:t>
                      </a:r>
                    </a:p>
                  </a:txBody>
                  <a:tcPr marL="76200" marR="57150" marT="38100" marB="38100" anchor="ctr"/>
                </a:tc>
              </a:tr>
              <a:tr h="419100">
                <a:tc>
                  <a:txBody>
                    <a:bodyPr/>
                    <a:lstStyle/>
                    <a:p>
                      <a:r>
                        <a:rPr sz="938">
                          <a:solidFill>
                            <a:srgbClr val="1A1F2B"/>
                          </a:solidFill>
                          <a:latin typeface="Calibri"/>
                          <a:ea typeface="Calibri"/>
                          <a:cs typeface="Calibri"/>
                        </a:rPr>
                        <a:t>No-tool detection</a:t>
                      </a:r>
                    </a:p>
                  </a:txBody>
                  <a:tcPr marL="76200" marR="57150" marT="38100" marB="38100" anchor="ctr"/>
                </a:tc>
                <a:tc>
                  <a:txBody>
                    <a:bodyPr/>
                    <a:lstStyle/>
                    <a:p>
                      <a:r>
                        <a:rPr sz="938">
                          <a:solidFill>
                            <a:srgbClr val="1A1F2B"/>
                          </a:solidFill>
                          <a:latin typeface="Calibri"/>
                          <a:ea typeface="Calibri"/>
                          <a:cs typeface="Calibri"/>
                        </a:rPr>
                        <a:t>10</a:t>
                      </a:r>
                    </a:p>
                  </a:txBody>
                  <a:tcPr marL="76200" marR="57150" marT="38100" marB="38100" anchor="ctr"/>
                </a:tc>
                <a:tc>
                  <a:txBody>
                    <a:bodyPr/>
                    <a:lstStyle/>
                    <a:p>
                      <a:r>
                        <a:rPr sz="938">
                          <a:solidFill>
                            <a:srgbClr val="065A82"/>
                          </a:solidFill>
                          <a:latin typeface="Calibri"/>
                          <a:ea typeface="Calibri"/>
                          <a:cs typeface="Calibri"/>
                        </a:rPr>
                        <a:t>6 / 10  (60%)</a:t>
                      </a:r>
                    </a:p>
                  </a:txBody>
                  <a:tcPr marL="76200" marR="57150" marT="38100" marB="38100" anchor="ctr"/>
                </a:tc>
                <a:tc>
                  <a:txBody>
                    <a:bodyPr/>
                    <a:lstStyle/>
                    <a:p>
                      <a:r>
                        <a:rPr sz="938">
                          <a:solidFill>
                            <a:srgbClr val="815AC0"/>
                          </a:solidFill>
                          <a:latin typeface="Calibri"/>
                          <a:ea typeface="Calibri"/>
                          <a:cs typeface="Calibri"/>
                        </a:rPr>
                        <a:t>9 / 10  (90%)</a:t>
                      </a:r>
                    </a:p>
                  </a:txBody>
                  <a:tcPr marL="76200" marR="57150" marT="38100" marB="38100" anchor="ctr"/>
                </a:tc>
              </a:tr>
              <a:tr h="419100">
                <a:tc>
                  <a:txBody>
                    <a:bodyPr/>
                    <a:lstStyle/>
                    <a:p>
                      <a:r>
                        <a:rPr sz="938">
                          <a:solidFill>
                            <a:srgbClr val="1A1F2B"/>
                          </a:solidFill>
                          <a:latin typeface="Calibri"/>
                          <a:ea typeface="Calibri"/>
                          <a:cs typeface="Calibri"/>
                        </a:rPr>
                        <a:t>Overall</a:t>
                      </a:r>
                    </a:p>
                  </a:txBody>
                  <a:tcPr marL="76200" marR="57150" marT="38100" marB="38100" anchor="ctr"/>
                </a:tc>
                <a:tc>
                  <a:txBody>
                    <a:bodyPr/>
                    <a:lstStyle/>
                    <a:p>
                      <a:r>
                        <a:rPr sz="938">
                          <a:solidFill>
                            <a:srgbClr val="1A1F2B"/>
                          </a:solidFill>
                          <a:latin typeface="Calibri"/>
                          <a:ea typeface="Calibri"/>
                          <a:cs typeface="Calibri"/>
                        </a:rPr>
                        <a:t>30</a:t>
                      </a:r>
                    </a:p>
                  </a:txBody>
                  <a:tcPr marL="76200" marR="57150" marT="38100" marB="38100" anchor="ctr"/>
                </a:tc>
                <a:tc>
                  <a:txBody>
                    <a:bodyPr/>
                    <a:lstStyle/>
                    <a:p>
                      <a:r>
                        <a:rPr sz="938">
                          <a:solidFill>
                            <a:srgbClr val="065A82"/>
                          </a:solidFill>
                          <a:latin typeface="Calibri"/>
                          <a:ea typeface="Calibri"/>
                          <a:cs typeface="Calibri"/>
                        </a:rPr>
                        <a:t>23 / 30  (76.7%)</a:t>
                      </a:r>
                    </a:p>
                  </a:txBody>
                  <a:tcPr marL="76200" marR="57150" marT="38100" marB="38100" anchor="ctr"/>
                </a:tc>
                <a:tc>
                  <a:txBody>
                    <a:bodyPr/>
                    <a:lstStyle/>
                    <a:p>
                      <a:r>
                        <a:rPr sz="938">
                          <a:solidFill>
                            <a:srgbClr val="815AC0"/>
                          </a:solidFill>
                          <a:latin typeface="Calibri"/>
                          <a:ea typeface="Calibri"/>
                          <a:cs typeface="Calibri"/>
                        </a:rPr>
                        <a:t>29 / 30  (96.7%)</a:t>
                      </a:r>
                    </a:p>
                  </a:txBody>
                  <a:tcPr marL="76200" marR="57150" marT="38100" marB="38100" anchor="ctr"/>
                </a:tc>
              </a:tr>
            </a:tbl>
          </a:graphicData>
        </a:graphic>
      </p:graphicFrame>
      <p:sp>
        <p:nvSpPr>
          <p:cNvPr id="26" name="">
            <a:extLst xmlns:a="http://schemas.openxmlformats.org/drawingml/2006/main">
              <a:ext uri="{FF2B5EF4-FFF2-40B4-BE49-F238E27FC236}">
                <a16:creationId xmlns:a16="http://schemas.microsoft.com/office/drawing/2014/main" id="{CB50EB3D-3376-4DA8-88CD-BFCC0CECA716}"/>
              </a:ext>
            </a:extLst>
          </p:cNvPr>
          <p:cNvSpPr>
            <a:spLocks xmlns:a="http://schemas.openxmlformats.org/drawingml/2006/main" noGrp="1"/>
          </p:cNvSpPr>
          <p:nvPr/>
        </p:nvSpPr>
        <p:spPr>
          <a:xfrm xmlns:a="http://schemas.openxmlformats.org/drawingml/2006/main">
            <a:off x="8401050" y="1495425"/>
            <a:ext cx="2838450" cy="43243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27" name="">
            <a:extLst xmlns:a="http://schemas.openxmlformats.org/drawingml/2006/main">
              <a:ext uri="{FF2B5EF4-FFF2-40B4-BE49-F238E27FC236}">
                <a16:creationId xmlns:a16="http://schemas.microsoft.com/office/drawing/2014/main" id="{C7684C4F-E652-4D1B-8183-BCD2A7FC53F8}"/>
              </a:ext>
            </a:extLst>
          </p:cNvPr>
          <p:cNvSpPr>
            <a:spLocks xmlns:a="http://schemas.openxmlformats.org/drawingml/2006/main" noGrp="1"/>
          </p:cNvSpPr>
          <p:nvPr/>
        </p:nvSpPr>
        <p:spPr>
          <a:xfrm xmlns:a="http://schemas.openxmlformats.org/drawingml/2006/main">
            <a:off x="8401050" y="1495425"/>
            <a:ext cx="28384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C9EDDE5-6D6F-4429-B8A5-C0ED07C22768}"/>
              </a:ext>
            </a:extLst>
          </p:cNvPr>
          <p:cNvSpPr>
            <a:spLocks xmlns:a="http://schemas.openxmlformats.org/drawingml/2006/main" noGrp="1"/>
          </p:cNvSpPr>
          <p:nvPr/>
        </p:nvSpPr>
        <p:spPr>
          <a:xfrm xmlns:a="http://schemas.openxmlformats.org/drawingml/2006/main">
            <a:off x="8553450" y="1571625"/>
            <a:ext cx="2533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i="0">
                <a:solidFill>
                  <a:srgbClr val="FFFFFF"/>
                </a:solidFill>
                <a:latin typeface="Calibri"/>
                <a:ea typeface="Calibri"/>
                <a:cs typeface="Calibri"/>
              </a:defRPr>
            </a:pPr>
            <a:r>
              <a:rPr sz="1050" b="1" i="0">
                <a:solidFill>
                  <a:srgbClr val="FFFFFF"/>
                </a:solidFill>
                <a:latin typeface="Calibri"/>
                <a:ea typeface="Calibri"/>
                <a:cs typeface="Calibri"/>
              </a:rPr>
              <a:t>ERROR AUDIT</a:t>
            </a:r>
          </a:p>
        </p:txBody>
      </p:sp>
      <p:sp>
        <p:nvSpPr>
          <p:cNvPr id="29" name="">
            <a:extLst xmlns:a="http://schemas.openxmlformats.org/drawingml/2006/main">
              <a:ext uri="{FF2B5EF4-FFF2-40B4-BE49-F238E27FC236}">
                <a16:creationId xmlns:a16="http://schemas.microsoft.com/office/drawing/2014/main" id="{6FFBBA34-C216-45C9-93C9-DF6A3E7E9956}"/>
              </a:ext>
            </a:extLst>
          </p:cNvPr>
          <p:cNvSpPr>
            <a:spLocks xmlns:a="http://schemas.openxmlformats.org/drawingml/2006/main" noGrp="1"/>
          </p:cNvSpPr>
          <p:nvPr/>
        </p:nvSpPr>
        <p:spPr>
          <a:xfrm xmlns:a="http://schemas.openxmlformats.org/drawingml/2006/main">
            <a:off x="8629650" y="20574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i="0">
                <a:solidFill>
                  <a:srgbClr val="065A82"/>
                </a:solidFill>
                <a:latin typeface="Calibri"/>
                <a:ea typeface="Calibri"/>
                <a:cs typeface="Calibri"/>
              </a:defRPr>
            </a:pPr>
            <a:r>
              <a:rPr sz="1275" b="1" i="0">
                <a:solidFill>
                  <a:srgbClr val="065A82"/>
                </a:solidFill>
                <a:latin typeface="Calibri"/>
                <a:ea typeface="Calibri"/>
                <a:cs typeface="Calibri"/>
              </a:rPr>
              <a:t>ModernBERT · 7 misses</a:t>
            </a:r>
          </a:p>
        </p:txBody>
      </p:sp>
      <p:sp>
        <p:nvSpPr>
          <p:cNvPr id="30" name="">
            <a:extLst xmlns:a="http://schemas.openxmlformats.org/drawingml/2006/main">
              <a:ext uri="{FF2B5EF4-FFF2-40B4-BE49-F238E27FC236}">
                <a16:creationId xmlns:a16="http://schemas.microsoft.com/office/drawing/2014/main" id="{A246179C-C73E-48A8-AE23-A4DD6A31AFB9}"/>
              </a:ext>
            </a:extLst>
          </p:cNvPr>
          <p:cNvSpPr>
            <a:spLocks xmlns:a="http://schemas.openxmlformats.org/drawingml/2006/main" noGrp="1"/>
          </p:cNvSpPr>
          <p:nvPr/>
        </p:nvSpPr>
        <p:spPr>
          <a:xfrm xmlns:a="http://schemas.openxmlformats.org/drawingml/2006/main">
            <a:off x="8629650" y="2390775"/>
            <a:ext cx="238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0" i="0">
                <a:solidFill>
                  <a:srgbClr val="1A1F2B"/>
                </a:solidFill>
                <a:latin typeface="Consolas"/>
                <a:ea typeface="Consolas"/>
                <a:cs typeface="Consolas"/>
              </a:defRPr>
            </a:pPr>
            <a:r>
              <a:rPr sz="863" b="0" i="0">
                <a:solidFill>
                  <a:srgbClr val="1A1F2B"/>
                </a:solidFill>
                <a:latin typeface="Consolas"/>
                <a:ea typeface="Consolas"/>
                <a:cs typeface="Consolas"/>
              </a:rPr>
              <a:t>Tool selection: multiple_2, _4, _11</a:t>
            </a:r>
          </a:p>
          <a:p xmlns:a="http://schemas.openxmlformats.org/drawingml/2006/main">
            <a:pPr algn="l">
              <a:buNone/>
              <a:defRPr sz="863" b="0" i="0">
                <a:solidFill>
                  <a:srgbClr val="1A1F2B"/>
                </a:solidFill>
                <a:latin typeface="Consolas"/>
                <a:ea typeface="Consolas"/>
                <a:cs typeface="Consolas"/>
              </a:defRPr>
            </a:pPr>
            <a:r>
              <a:rPr sz="863" b="0" i="0">
                <a:solidFill>
                  <a:srgbClr val="1A1F2B"/>
                </a:solidFill>
                <a:latin typeface="Consolas"/>
                <a:ea typeface="Consolas"/>
                <a:cs typeface="Consolas"/>
              </a:rPr>
              <a:t>No-tool: irrelevance_20, _80, _160, _180</a:t>
            </a:r>
          </a:p>
        </p:txBody>
      </p:sp>
      <p:sp>
        <p:nvSpPr>
          <p:cNvPr id="31" name="">
            <a:extLst xmlns:a="http://schemas.openxmlformats.org/drawingml/2006/main">
              <a:ext uri="{FF2B5EF4-FFF2-40B4-BE49-F238E27FC236}">
                <a16:creationId xmlns:a16="http://schemas.microsoft.com/office/drawing/2014/main" id="{8F9B5963-0556-4812-8C0E-B492791AFD91}"/>
              </a:ext>
            </a:extLst>
          </p:cNvPr>
          <p:cNvSpPr>
            <a:spLocks xmlns:a="http://schemas.openxmlformats.org/drawingml/2006/main" noGrp="1"/>
          </p:cNvSpPr>
          <p:nvPr/>
        </p:nvSpPr>
        <p:spPr>
          <a:xfrm xmlns:a="http://schemas.openxmlformats.org/drawingml/2006/main">
            <a:off x="8629650" y="3276600"/>
            <a:ext cx="23812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97E532B-FA88-4E7B-804B-AE1F85DF8867}"/>
              </a:ext>
            </a:extLst>
          </p:cNvPr>
          <p:cNvSpPr>
            <a:spLocks xmlns:a="http://schemas.openxmlformats.org/drawingml/2006/main" noGrp="1"/>
          </p:cNvSpPr>
          <p:nvPr/>
        </p:nvSpPr>
        <p:spPr>
          <a:xfrm xmlns:a="http://schemas.openxmlformats.org/drawingml/2006/main">
            <a:off x="8629650" y="353377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i="0">
                <a:solidFill>
                  <a:srgbClr val="815AC0"/>
                </a:solidFill>
                <a:latin typeface="Calibri"/>
                <a:ea typeface="Calibri"/>
                <a:cs typeface="Calibri"/>
              </a:defRPr>
            </a:pPr>
            <a:r>
              <a:rPr sz="1275" b="1" i="0">
                <a:solidFill>
                  <a:srgbClr val="815AC0"/>
                </a:solidFill>
                <a:latin typeface="Calibri"/>
                <a:ea typeface="Calibri"/>
                <a:cs typeface="Calibri"/>
              </a:rPr>
              <a:t>TypeSafe.ai JEV</a:t>
            </a:r>
            <a:r>
              <a:rPr sz="1275" b="1" i="0">
                <a:solidFill>
                  <a:srgbClr val="815AC0"/>
                </a:solidFill>
                <a:latin typeface="Calibri"/>
                <a:ea typeface="Calibri"/>
                <a:cs typeface="Calibri"/>
              </a:rPr>
              <a:t> · 1 miss</a:t>
            </a:r>
          </a:p>
        </p:txBody>
      </p:sp>
      <p:sp>
        <p:nvSpPr>
          <p:cNvPr id="33" name="">
            <a:extLst xmlns:a="http://schemas.openxmlformats.org/drawingml/2006/main">
              <a:ext uri="{FF2B5EF4-FFF2-40B4-BE49-F238E27FC236}">
                <a16:creationId xmlns:a16="http://schemas.microsoft.com/office/drawing/2014/main" id="{96A76E0A-A49B-438F-B0D5-601BCB1D2065}"/>
              </a:ext>
            </a:extLst>
          </p:cNvPr>
          <p:cNvSpPr>
            <a:spLocks xmlns:a="http://schemas.openxmlformats.org/drawingml/2006/main" noGrp="1"/>
          </p:cNvSpPr>
          <p:nvPr/>
        </p:nvSpPr>
        <p:spPr>
          <a:xfrm xmlns:a="http://schemas.openxmlformats.org/drawingml/2006/main">
            <a:off x="8629650" y="38671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0" i="0">
                <a:solidFill>
                  <a:srgbClr val="1A1F2B"/>
                </a:solidFill>
                <a:latin typeface="Consolas"/>
                <a:ea typeface="Consolas"/>
                <a:cs typeface="Consolas"/>
              </a:defRPr>
            </a:pPr>
            <a:r>
              <a:rPr sz="863" b="0" i="0">
                <a:solidFill>
                  <a:srgbClr val="1A1F2B"/>
                </a:solidFill>
                <a:latin typeface="Consolas"/>
                <a:ea typeface="Consolas"/>
                <a:cs typeface="Consolas"/>
              </a:rPr>
              <a:t>irrelevance_180</a:t>
            </a:r>
          </a:p>
          <a:p xmlns:a="http://schemas.openxmlformats.org/drawingml/2006/main">
            <a:pPr algn="l">
              <a:buNone/>
              <a:defRPr sz="863" b="0" i="0">
                <a:solidFill>
                  <a:srgbClr val="1A1F2B"/>
                </a:solidFill>
                <a:latin typeface="Consolas"/>
                <a:ea typeface="Consolas"/>
                <a:cs typeface="Consolas"/>
              </a:defRPr>
            </a:pPr>
            <a:r>
              <a:rPr sz="863" b="0" i="0">
                <a:solidFill>
                  <a:srgbClr val="1A1F2B"/>
                </a:solidFill>
                <a:latin typeface="Consolas"/>
                <a:ea typeface="Consolas"/>
                <a:cs typeface="Consolas"/>
              </a:rPr>
              <a:t>‘cricket matches scheduled for today’</a:t>
            </a:r>
          </a:p>
        </p:txBody>
      </p:sp>
      <p:sp>
        <p:nvSpPr>
          <p:cNvPr id="34" name="">
            <a:extLst xmlns:a="http://schemas.openxmlformats.org/drawingml/2006/main">
              <a:ext uri="{FF2B5EF4-FFF2-40B4-BE49-F238E27FC236}">
                <a16:creationId xmlns:a16="http://schemas.microsoft.com/office/drawing/2014/main" id="{9D236463-1626-4F60-B42B-D1CEC4134E8F}"/>
              </a:ext>
            </a:extLst>
          </p:cNvPr>
          <p:cNvSpPr>
            <a:spLocks xmlns:a="http://schemas.openxmlformats.org/drawingml/2006/main" noGrp="1"/>
          </p:cNvSpPr>
          <p:nvPr/>
        </p:nvSpPr>
        <p:spPr>
          <a:xfrm xmlns:a="http://schemas.openxmlformats.org/drawingml/2006/main">
            <a:off x="8629650" y="4572000"/>
            <a:ext cx="2381250" cy="876300"/>
          </a:xfrm>
          <a:prstGeom xmlns:a="http://schemas.openxmlformats.org/drawingml/2006/main" prst="rect">
            <a:avLst/>
          </a:prstGeom>
          <a:solidFill xmlns:a="http://schemas.openxmlformats.org/drawingml/2006/main">
            <a:srgbClr val="FFF3DF"/>
          </a:solidFill>
          <a:ln xmlns:a="http://schemas.openxmlformats.org/drawingml/2006/main" w="9525">
            <a:solidFill>
              <a:srgbClr val="B86E00"/>
            </a:solidFill>
            <a:prstDash val="solid"/>
          </a:ln>
        </p:spPr>
      </p:sp>
      <p:sp>
        <p:nvSpPr>
          <p:cNvPr id="35" name="">
            <a:extLst xmlns:a="http://schemas.openxmlformats.org/drawingml/2006/main">
              <a:ext uri="{FF2B5EF4-FFF2-40B4-BE49-F238E27FC236}">
                <a16:creationId xmlns:a16="http://schemas.microsoft.com/office/drawing/2014/main" id="{0C5FD1B4-998D-49CA-A652-1F846F0709E3}"/>
              </a:ext>
            </a:extLst>
          </p:cNvPr>
          <p:cNvSpPr>
            <a:spLocks xmlns:a="http://schemas.openxmlformats.org/drawingml/2006/main" noGrp="1"/>
          </p:cNvSpPr>
          <p:nvPr/>
        </p:nvSpPr>
        <p:spPr>
          <a:xfrm xmlns:a="http://schemas.openxmlformats.org/drawingml/2006/main">
            <a:off x="8763000" y="4686300"/>
            <a:ext cx="2114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B86E00"/>
                </a:solidFill>
                <a:latin typeface="Calibri"/>
                <a:ea typeface="Calibri"/>
                <a:cs typeface="Calibri"/>
              </a:defRPr>
            </a:pPr>
            <a:r>
              <a:rPr sz="900" b="1" i="0">
                <a:solidFill>
                  <a:srgbClr val="B86E00"/>
                </a:solidFill>
                <a:latin typeface="Calibri"/>
                <a:ea typeface="Calibri"/>
                <a:cs typeface="Calibri"/>
              </a:rPr>
              <a:t>Important</a:t>
            </a:r>
          </a:p>
        </p:txBody>
      </p:sp>
      <p:sp>
        <p:nvSpPr>
          <p:cNvPr id="36" name="">
            <a:extLst xmlns:a="http://schemas.openxmlformats.org/drawingml/2006/main">
              <a:ext uri="{FF2B5EF4-FFF2-40B4-BE49-F238E27FC236}">
                <a16:creationId xmlns:a16="http://schemas.microsoft.com/office/drawing/2014/main" id="{F90B3C38-8550-480A-8A4E-22B967889CE2}"/>
              </a:ext>
            </a:extLst>
          </p:cNvPr>
          <p:cNvSpPr>
            <a:spLocks xmlns:a="http://schemas.openxmlformats.org/drawingml/2006/main" noGrp="1"/>
          </p:cNvSpPr>
          <p:nvPr/>
        </p:nvSpPr>
        <p:spPr>
          <a:xfrm xmlns:a="http://schemas.openxmlformats.org/drawingml/2006/main">
            <a:off x="8763000" y="4933950"/>
            <a:ext cx="2114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i="0">
                <a:solidFill>
                  <a:srgbClr val="1A1F2B"/>
                </a:solidFill>
                <a:latin typeface="Calibri"/>
                <a:ea typeface="Calibri"/>
                <a:cs typeface="Calibri"/>
              </a:defRPr>
            </a:pPr>
            <a:r>
              <a:rPr sz="975" b="0" i="0">
                <a:solidFill>
                  <a:srgbClr val="1A1F2B"/>
                </a:solidFill>
                <a:latin typeface="Calibri"/>
                <a:ea typeface="Calibri"/>
                <a:cs typeface="Calibri"/>
              </a:rPr>
              <a:t>One wrong route scored 72% chosen vs. 28% correct: a 44-point clearance.</a:t>
            </a:r>
          </a:p>
        </p:txBody>
      </p:sp>
      <p:sp>
        <p:nvSpPr>
          <p:cNvPr id="37" name="">
            <a:extLst xmlns:a="http://schemas.openxmlformats.org/drawingml/2006/main">
              <a:ext uri="{FF2B5EF4-FFF2-40B4-BE49-F238E27FC236}">
                <a16:creationId xmlns:a16="http://schemas.microsoft.com/office/drawing/2014/main" id="{0A19659D-FE78-44A0-A358-63879870719A}"/>
              </a:ext>
            </a:extLst>
          </p:cNvPr>
          <p:cNvSpPr>
            <a:spLocks xmlns:a="http://schemas.openxmlformats.org/drawingml/2006/main" noGrp="1"/>
          </p:cNvSpPr>
          <p:nvPr/>
        </p:nvSpPr>
        <p:spPr>
          <a:xfrm xmlns:a="http://schemas.openxmlformats.org/drawingml/2006/main">
            <a:off x="781050" y="6067425"/>
            <a:ext cx="10458450" cy="400050"/>
          </a:xfrm>
          <a:prstGeom xmlns:a="http://schemas.openxmlformats.org/drawingml/2006/main" prst="rect">
            <a:avLst/>
          </a:prstGeom>
          <a:solidFill xmlns:a="http://schemas.openxmlformats.org/drawingml/2006/main">
            <a:srgbClr val="21295C"/>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EB5D079-94B9-4AF5-8377-5F8A539C9520}"/>
              </a:ext>
            </a:extLst>
          </p:cNvPr>
          <p:cNvSpPr>
            <a:spLocks xmlns:a="http://schemas.openxmlformats.org/drawingml/2006/main" noGrp="1"/>
          </p:cNvSpPr>
          <p:nvPr/>
        </p:nvSpPr>
        <p:spPr>
          <a:xfrm xmlns:a="http://schemas.openxmlformats.org/drawingml/2006/main">
            <a:off x="971550" y="6181725"/>
            <a:ext cx="10077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88" b="1" i="0">
                <a:solidFill>
                  <a:srgbClr val="FFFFFF"/>
                </a:solidFill>
                <a:latin typeface="Calibri"/>
                <a:ea typeface="Calibri"/>
                <a:cs typeface="Calibri"/>
              </a:defRPr>
            </a:pPr>
            <a:r>
              <a:rPr sz="1088" b="1" i="0">
                <a:solidFill>
                  <a:srgbClr val="FFFFFF"/>
                </a:solidFill>
                <a:latin typeface="Calibri"/>
                <a:ea typeface="Calibri"/>
                <a:cs typeface="Calibri"/>
              </a:rPr>
              <a:t>Next stage: add deterministic argument extraction, then use official BFCL AST / executable evaluation</a:t>
            </a:r>
          </a:p>
        </p:txBody>
      </p:sp>
      <p:sp>
        <p:nvSpPr>
          <p:cNvPr id="39" name="">
            <a:extLst xmlns:a="http://schemas.openxmlformats.org/drawingml/2006/main">
              <a:ext uri="{FF2B5EF4-FFF2-40B4-BE49-F238E27FC236}">
                <a16:creationId xmlns:a16="http://schemas.microsoft.com/office/drawing/2014/main" id="{52C9BBBB-114A-4F1A-9F6A-34751859510A}"/>
              </a:ext>
            </a:extLst>
          </p:cNvPr>
          <p:cNvSpPr>
            <a:spLocks xmlns:a="http://schemas.openxmlformats.org/drawingml/2006/main" noGrp="1"/>
          </p:cNvSpPr>
          <p:nvPr/>
        </p:nvSpPr>
        <p:spPr>
          <a:xfrm xmlns:a="http://schemas.openxmlformats.org/drawingml/2006/main">
            <a:off x="781050" y="6572250"/>
            <a:ext cx="104584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863" b="0" i="1">
                <a:solidFill>
                  <a:srgbClr val="6B7A8C"/>
                </a:solidFill>
                <a:latin typeface="Calibri"/>
                <a:ea typeface="Calibri"/>
                <a:cs typeface="Calibri"/>
              </a:defRPr>
            </a:pPr>
            <a:r>
              <a:rPr sz="863" b="0" i="1">
                <a:solidFill>
                  <a:srgbClr val="6B7A8C"/>
                </a:solidFill>
                <a:latin typeface="Calibri"/>
                <a:ea typeface="Calibri"/>
                <a:cs typeface="Calibri"/>
              </a:rPr>
              <a:t>BFCL-derived data; exact source IDs and function schemas are committed in data/bfcl-routing-subset.json</a:t>
            </a:r>
          </a:p>
        </p:txBody>
      </p:sp>
    </p:spTree>
    <p:extLst>
      <p:ext uri="{BB962C8B-B14F-4D97-AF65-F5344CB8AC3E}">
        <p14:creationId xmlns:p14="http://schemas.microsoft.com/office/powerpoint/2010/main" val="37847349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6" name="background">
            <a:extLst xmlns:a="http://schemas.openxmlformats.org/drawingml/2006/main">
              <a:ext uri="{FF2B5EF4-FFF2-40B4-BE49-F238E27FC236}">
                <a16:creationId xmlns:a16="http://schemas.microsoft.com/office/drawing/2014/main" id="{06BF5696-CFC5-4398-BD2E-9A4E6BDFC7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046DD46F-AE8F-4909-AC04-94C751FAB4B1}"/>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853468-EFA9-4035-98F2-528EFC35C23E}"/>
              </a:ext>
            </a:extLst>
          </p:cNvPr>
          <p:cNvSpPr>
            <a:spLocks xmlns:a="http://schemas.openxmlformats.org/drawingml/2006/main" noGrp="1"/>
          </p:cNvSpPr>
          <p:nvPr/>
        </p:nvSpPr>
        <p:spPr>
          <a:xfrm xmlns:a="http://schemas.openxmlformats.org/drawingml/2006/main">
            <a:off x="781050" y="400050"/>
            <a:ext cx="10458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1" i="0">
                <a:solidFill>
                  <a:srgbClr val="21295C"/>
                </a:solidFill>
                <a:latin typeface="Georgia"/>
                <a:ea typeface="Georgia"/>
                <a:cs typeface="Georgia"/>
              </a:defRPr>
            </a:pPr>
            <a:r>
              <a:rPr sz="2850" b="1" i="0">
                <a:solidFill>
                  <a:srgbClr val="21295C"/>
                </a:solidFill>
                <a:latin typeface="Georgia"/>
                <a:ea typeface="Georgia"/>
                <a:cs typeface="Georgia"/>
              </a:rPr>
              <a:t>ModernBERT decision pipeline</a:t>
            </a:r>
          </a:p>
        </p:txBody>
      </p:sp>
      <p:sp>
        <p:nvSpPr>
          <p:cNvPr id="4" name="">
            <a:extLst xmlns:a="http://schemas.openxmlformats.org/drawingml/2006/main">
              <a:ext uri="{FF2B5EF4-FFF2-40B4-BE49-F238E27FC236}">
                <a16:creationId xmlns:a16="http://schemas.microsoft.com/office/drawing/2014/main" id="{52C95BCB-5678-4BDD-9C4D-861E6A5A60FB}"/>
              </a:ext>
            </a:extLst>
          </p:cNvPr>
          <p:cNvSpPr>
            <a:spLocks xmlns:a="http://schemas.openxmlformats.org/drawingml/2006/main" noGrp="1"/>
          </p:cNvSpPr>
          <p:nvPr/>
        </p:nvSpPr>
        <p:spPr>
          <a:xfrm xmlns:a="http://schemas.openxmlformats.org/drawingml/2006/main">
            <a:off x="781050" y="962025"/>
            <a:ext cx="1045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i="1">
                <a:solidFill>
                  <a:srgbClr val="6B7A8C"/>
                </a:solidFill>
                <a:latin typeface="Calibri"/>
                <a:ea typeface="Calibri"/>
                <a:cs typeface="Calibri"/>
              </a:defRPr>
            </a:pPr>
            <a:r>
              <a:rPr sz="1275" b="0" i="1">
                <a:solidFill>
                  <a:srgbClr val="6B7A8C"/>
                </a:solidFill>
                <a:latin typeface="Calibri"/>
                <a:ea typeface="Calibri"/>
                <a:cs typeface="Calibri"/>
              </a:rPr>
              <a:t>One decision, N options → N premise/hypothesis pairs → one batched forward pass → cross-option softmax → gate</a:t>
            </a:r>
          </a:p>
        </p:txBody>
      </p:sp>
      <p:sp>
        <p:nvSpPr>
          <p:cNvPr id="5" name="">
            <a:extLst xmlns:a="http://schemas.openxmlformats.org/drawingml/2006/main">
              <a:ext uri="{FF2B5EF4-FFF2-40B4-BE49-F238E27FC236}">
                <a16:creationId xmlns:a16="http://schemas.microsoft.com/office/drawing/2014/main" id="{92FC8A41-9716-4EC9-9D86-AEB4346EE521}"/>
              </a:ext>
            </a:extLst>
          </p:cNvPr>
          <p:cNvSpPr>
            <a:spLocks xmlns:a="http://schemas.openxmlformats.org/drawingml/2006/main" noGrp="1"/>
          </p:cNvSpPr>
          <p:nvPr/>
        </p:nvSpPr>
        <p:spPr>
          <a:xfrm xmlns:a="http://schemas.openxmlformats.org/drawingml/2006/main">
            <a:off x="781050" y="1476375"/>
            <a:ext cx="1771650"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065A82"/>
            </a:solidFill>
            <a:prstDash val="solid"/>
          </a:ln>
        </p:spPr>
      </p:sp>
      <p:sp>
        <p:nvSpPr>
          <p:cNvPr id="6" name="">
            <a:extLst xmlns:a="http://schemas.openxmlformats.org/drawingml/2006/main">
              <a:ext uri="{FF2B5EF4-FFF2-40B4-BE49-F238E27FC236}">
                <a16:creationId xmlns:a16="http://schemas.microsoft.com/office/drawing/2014/main" id="{865D1A65-97A3-43F2-B20E-716F659A4367}"/>
              </a:ext>
            </a:extLst>
          </p:cNvPr>
          <p:cNvSpPr>
            <a:spLocks xmlns:a="http://schemas.openxmlformats.org/drawingml/2006/main" noGrp="1"/>
          </p:cNvSpPr>
          <p:nvPr/>
        </p:nvSpPr>
        <p:spPr>
          <a:xfrm xmlns:a="http://schemas.openxmlformats.org/drawingml/2006/main">
            <a:off x="876300" y="1552575"/>
            <a:ext cx="1581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065A82"/>
                </a:solidFill>
                <a:latin typeface="Calibri"/>
                <a:ea typeface="Calibri"/>
                <a:cs typeface="Calibri"/>
              </a:defRPr>
            </a:pPr>
            <a:r>
              <a:rPr sz="1050" b="1" i="0">
                <a:solidFill>
                  <a:srgbClr val="065A82"/>
                </a:solidFill>
                <a:latin typeface="Calibri"/>
                <a:ea typeface="Calibri"/>
                <a:cs typeface="Calibri"/>
              </a:rPr>
              <a:t>state JSON</a:t>
            </a:r>
          </a:p>
        </p:txBody>
      </p:sp>
      <p:sp>
        <p:nvSpPr>
          <p:cNvPr id="7" name="">
            <a:extLst xmlns:a="http://schemas.openxmlformats.org/drawingml/2006/main">
              <a:ext uri="{FF2B5EF4-FFF2-40B4-BE49-F238E27FC236}">
                <a16:creationId xmlns:a16="http://schemas.microsoft.com/office/drawing/2014/main" id="{A17BA3F5-7D27-4ED9-8413-B8E84BAB31E6}"/>
              </a:ext>
            </a:extLst>
          </p:cNvPr>
          <p:cNvSpPr>
            <a:spLocks xmlns:a="http://schemas.openxmlformats.org/drawingml/2006/main" noGrp="1"/>
          </p:cNvSpPr>
          <p:nvPr/>
        </p:nvSpPr>
        <p:spPr>
          <a:xfrm xmlns:a="http://schemas.openxmlformats.org/drawingml/2006/main">
            <a:off x="876300" y="1733550"/>
            <a:ext cx="15811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788" b="0" i="1">
                <a:solidFill>
                  <a:srgbClr val="6B7A8C"/>
                </a:solidFill>
                <a:latin typeface="Calibri"/>
                <a:ea typeface="Calibri"/>
                <a:cs typeface="Calibri"/>
              </a:defRPr>
            </a:pPr>
            <a:r>
              <a:rPr sz="788" b="0" i="1">
                <a:solidFill>
                  <a:srgbClr val="6B7A8C"/>
                </a:solidFill>
                <a:latin typeface="Calibri"/>
                <a:ea typeface="Calibri"/>
                <a:cs typeface="Calibri"/>
              </a:rPr>
              <a:t>the facts</a:t>
            </a:r>
          </a:p>
        </p:txBody>
      </p:sp>
      <p:sp>
        <p:nvSpPr>
          <p:cNvPr id="8" name="">
            <a:extLst xmlns:a="http://schemas.openxmlformats.org/drawingml/2006/main">
              <a:ext uri="{FF2B5EF4-FFF2-40B4-BE49-F238E27FC236}">
                <a16:creationId xmlns:a16="http://schemas.microsoft.com/office/drawing/2014/main" id="{FAB14223-A92D-454E-A30A-B3ACCE6E9E05}"/>
              </a:ext>
            </a:extLst>
          </p:cNvPr>
          <p:cNvSpPr>
            <a:spLocks xmlns:a="http://schemas.openxmlformats.org/drawingml/2006/main" noGrp="1"/>
          </p:cNvSpPr>
          <p:nvPr/>
        </p:nvSpPr>
        <p:spPr>
          <a:xfrm xmlns:a="http://schemas.openxmlformats.org/drawingml/2006/main">
            <a:off x="781050" y="2047875"/>
            <a:ext cx="1771650"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065A82"/>
            </a:solidFill>
            <a:prstDash val="solid"/>
          </a:ln>
        </p:spPr>
      </p:sp>
      <p:sp>
        <p:nvSpPr>
          <p:cNvPr id="9" name="">
            <a:extLst xmlns:a="http://schemas.openxmlformats.org/drawingml/2006/main">
              <a:ext uri="{FF2B5EF4-FFF2-40B4-BE49-F238E27FC236}">
                <a16:creationId xmlns:a16="http://schemas.microsoft.com/office/drawing/2014/main" id="{FC9AFC0D-8A69-4399-80F5-17A3A7A354E7}"/>
              </a:ext>
            </a:extLst>
          </p:cNvPr>
          <p:cNvSpPr>
            <a:spLocks xmlns:a="http://schemas.openxmlformats.org/drawingml/2006/main" noGrp="1"/>
          </p:cNvSpPr>
          <p:nvPr/>
        </p:nvSpPr>
        <p:spPr>
          <a:xfrm xmlns:a="http://schemas.openxmlformats.org/drawingml/2006/main">
            <a:off x="876300" y="2124075"/>
            <a:ext cx="1581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065A82"/>
                </a:solidFill>
                <a:latin typeface="Calibri"/>
                <a:ea typeface="Calibri"/>
                <a:cs typeface="Calibri"/>
              </a:defRPr>
            </a:pPr>
            <a:r>
              <a:rPr sz="1050" b="1" i="0">
                <a:solidFill>
                  <a:srgbClr val="065A82"/>
                </a:solidFill>
                <a:latin typeface="Calibri"/>
                <a:ea typeface="Calibri"/>
                <a:cs typeface="Calibri"/>
              </a:rPr>
              <a:t>question</a:t>
            </a:r>
          </a:p>
        </p:txBody>
      </p:sp>
      <p:sp>
        <p:nvSpPr>
          <p:cNvPr id="10" name="">
            <a:extLst xmlns:a="http://schemas.openxmlformats.org/drawingml/2006/main">
              <a:ext uri="{FF2B5EF4-FFF2-40B4-BE49-F238E27FC236}">
                <a16:creationId xmlns:a16="http://schemas.microsoft.com/office/drawing/2014/main" id="{036CF9BA-E7BC-490E-9DDA-DA8B7D39A11B}"/>
              </a:ext>
            </a:extLst>
          </p:cNvPr>
          <p:cNvSpPr>
            <a:spLocks xmlns:a="http://schemas.openxmlformats.org/drawingml/2006/main" noGrp="1"/>
          </p:cNvSpPr>
          <p:nvPr/>
        </p:nvSpPr>
        <p:spPr>
          <a:xfrm xmlns:a="http://schemas.openxmlformats.org/drawingml/2006/main">
            <a:off x="876300" y="2305050"/>
            <a:ext cx="15811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788" b="0" i="1">
                <a:solidFill>
                  <a:srgbClr val="6B7A8C"/>
                </a:solidFill>
                <a:latin typeface="Calibri"/>
                <a:ea typeface="Calibri"/>
                <a:cs typeface="Calibri"/>
              </a:defRPr>
            </a:pPr>
            <a:r>
              <a:rPr sz="788" b="0" i="1">
                <a:solidFill>
                  <a:srgbClr val="6B7A8C"/>
                </a:solidFill>
                <a:latin typeface="Calibri"/>
                <a:ea typeface="Calibri"/>
                <a:cs typeface="Calibri"/>
              </a:rPr>
              <a:t>what to decide</a:t>
            </a:r>
          </a:p>
        </p:txBody>
      </p:sp>
      <p:sp>
        <p:nvSpPr>
          <p:cNvPr id="11" name="">
            <a:extLst xmlns:a="http://schemas.openxmlformats.org/drawingml/2006/main">
              <a:ext uri="{FF2B5EF4-FFF2-40B4-BE49-F238E27FC236}">
                <a16:creationId xmlns:a16="http://schemas.microsoft.com/office/drawing/2014/main" id="{DE3D5411-6888-4AA8-978C-7B1E219DDEE5}"/>
              </a:ext>
            </a:extLst>
          </p:cNvPr>
          <p:cNvSpPr>
            <a:spLocks xmlns:a="http://schemas.openxmlformats.org/drawingml/2006/main" noGrp="1"/>
          </p:cNvSpPr>
          <p:nvPr/>
        </p:nvSpPr>
        <p:spPr>
          <a:xfrm xmlns:a="http://schemas.openxmlformats.org/drawingml/2006/main">
            <a:off x="781050" y="2619375"/>
            <a:ext cx="1771650"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065A82"/>
            </a:solidFill>
            <a:prstDash val="solid"/>
          </a:ln>
        </p:spPr>
      </p:sp>
      <p:sp>
        <p:nvSpPr>
          <p:cNvPr id="12" name="">
            <a:extLst xmlns:a="http://schemas.openxmlformats.org/drawingml/2006/main">
              <a:ext uri="{FF2B5EF4-FFF2-40B4-BE49-F238E27FC236}">
                <a16:creationId xmlns:a16="http://schemas.microsoft.com/office/drawing/2014/main" id="{DF75963A-60CF-4920-8409-3ABBABF3CF2E}"/>
              </a:ext>
            </a:extLst>
          </p:cNvPr>
          <p:cNvSpPr>
            <a:spLocks xmlns:a="http://schemas.openxmlformats.org/drawingml/2006/main" noGrp="1"/>
          </p:cNvSpPr>
          <p:nvPr/>
        </p:nvSpPr>
        <p:spPr>
          <a:xfrm xmlns:a="http://schemas.openxmlformats.org/drawingml/2006/main">
            <a:off x="876300" y="2695575"/>
            <a:ext cx="1581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065A82"/>
                </a:solidFill>
                <a:latin typeface="Calibri"/>
                <a:ea typeface="Calibri"/>
                <a:cs typeface="Calibri"/>
              </a:defRPr>
            </a:pPr>
            <a:r>
              <a:rPr sz="1050" b="1" i="0">
                <a:solidFill>
                  <a:srgbClr val="065A82"/>
                </a:solidFill>
                <a:latin typeface="Calibri"/>
                <a:ea typeface="Calibri"/>
                <a:cs typeface="Calibri"/>
              </a:rPr>
              <a:t>option descriptions</a:t>
            </a:r>
          </a:p>
        </p:txBody>
      </p:sp>
      <p:sp>
        <p:nvSpPr>
          <p:cNvPr id="13" name="">
            <a:extLst xmlns:a="http://schemas.openxmlformats.org/drawingml/2006/main">
              <a:ext uri="{FF2B5EF4-FFF2-40B4-BE49-F238E27FC236}">
                <a16:creationId xmlns:a16="http://schemas.microsoft.com/office/drawing/2014/main" id="{27F03613-87F7-4DAA-B341-D5D916F74440}"/>
              </a:ext>
            </a:extLst>
          </p:cNvPr>
          <p:cNvSpPr>
            <a:spLocks xmlns:a="http://schemas.openxmlformats.org/drawingml/2006/main" noGrp="1"/>
          </p:cNvSpPr>
          <p:nvPr/>
        </p:nvSpPr>
        <p:spPr>
          <a:xfrm xmlns:a="http://schemas.openxmlformats.org/drawingml/2006/main">
            <a:off x="876300" y="2876550"/>
            <a:ext cx="15811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788" b="0" i="1">
                <a:solidFill>
                  <a:srgbClr val="6B7A8C"/>
                </a:solidFill>
                <a:latin typeface="Calibri"/>
                <a:ea typeface="Calibri"/>
                <a:cs typeface="Calibri"/>
              </a:defRPr>
            </a:pPr>
            <a:r>
              <a:rPr sz="788" b="0" i="1">
                <a:solidFill>
                  <a:srgbClr val="6B7A8C"/>
                </a:solidFill>
                <a:latin typeface="Calibri"/>
                <a:ea typeface="Calibri"/>
                <a:cs typeface="Calibri"/>
              </a:rPr>
              <a:t>one per candidate</a:t>
            </a:r>
          </a:p>
        </p:txBody>
      </p:sp>
      <p:sp>
        <p:nvSpPr>
          <p:cNvPr id="14" name="">
            <a:extLst xmlns:a="http://schemas.openxmlformats.org/drawingml/2006/main">
              <a:ext uri="{FF2B5EF4-FFF2-40B4-BE49-F238E27FC236}">
                <a16:creationId xmlns:a16="http://schemas.microsoft.com/office/drawing/2014/main" id="{29A21F48-9C39-427B-BC3A-A5E188659D9C}"/>
              </a:ext>
            </a:extLst>
          </p:cNvPr>
          <p:cNvSpPr>
            <a:spLocks xmlns:a="http://schemas.openxmlformats.org/drawingml/2006/main" noGrp="1"/>
          </p:cNvSpPr>
          <p:nvPr/>
        </p:nvSpPr>
        <p:spPr>
          <a:xfrm xmlns:a="http://schemas.openxmlformats.org/drawingml/2006/main">
            <a:off x="2895600" y="1685925"/>
            <a:ext cx="1809750" cy="12573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56D220C-44D4-47C3-913E-70B5659DABC4}"/>
              </a:ext>
            </a:extLst>
          </p:cNvPr>
          <p:cNvSpPr>
            <a:spLocks xmlns:a="http://schemas.openxmlformats.org/drawingml/2006/main" noGrp="1"/>
          </p:cNvSpPr>
          <p:nvPr/>
        </p:nvSpPr>
        <p:spPr>
          <a:xfrm xmlns:a="http://schemas.openxmlformats.org/drawingml/2006/main">
            <a:off x="3009900" y="1952625"/>
            <a:ext cx="1581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i="0">
                <a:solidFill>
                  <a:srgbClr val="FFFFFF"/>
                </a:solidFill>
                <a:latin typeface="Calibri"/>
                <a:ea typeface="Calibri"/>
                <a:cs typeface="Calibri"/>
              </a:defRPr>
            </a:pPr>
            <a:r>
              <a:rPr sz="1200" b="1" i="0">
                <a:solidFill>
                  <a:srgbClr val="FFFFFF"/>
                </a:solidFill>
                <a:latin typeface="Calibri"/>
                <a:ea typeface="Calibri"/>
                <a:cs typeface="Calibri"/>
              </a:rPr>
              <a:t>PAIR BUILDER</a:t>
            </a:r>
          </a:p>
        </p:txBody>
      </p:sp>
      <p:sp>
        <p:nvSpPr>
          <p:cNvPr id="16" name="">
            <a:extLst xmlns:a="http://schemas.openxmlformats.org/drawingml/2006/main">
              <a:ext uri="{FF2B5EF4-FFF2-40B4-BE49-F238E27FC236}">
                <a16:creationId xmlns:a16="http://schemas.microsoft.com/office/drawing/2014/main" id="{5F75DE3B-FEB2-43F0-AEA0-67188B94059E}"/>
              </a:ext>
            </a:extLst>
          </p:cNvPr>
          <p:cNvSpPr>
            <a:spLocks xmlns:a="http://schemas.openxmlformats.org/drawingml/2006/main" noGrp="1"/>
          </p:cNvSpPr>
          <p:nvPr/>
        </p:nvSpPr>
        <p:spPr>
          <a:xfrm xmlns:a="http://schemas.openxmlformats.org/drawingml/2006/main">
            <a:off x="3009900" y="2266950"/>
            <a:ext cx="158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00" b="0" i="0">
                <a:solidFill>
                  <a:srgbClr val="D9E2EA"/>
                </a:solidFill>
                <a:latin typeface="Calibri"/>
                <a:ea typeface="Calibri"/>
                <a:cs typeface="Calibri"/>
              </a:defRPr>
            </a:pPr>
            <a:r>
              <a:rPr sz="900" b="0" i="0">
                <a:solidFill>
                  <a:srgbClr val="D9E2EA"/>
                </a:solidFill>
                <a:latin typeface="Calibri"/>
                <a:ea typeface="Calibri"/>
                <a:cs typeface="Calibri"/>
              </a:rPr>
              <a:t>premise = state + question</a:t>
            </a:r>
          </a:p>
          <a:p xmlns:a="http://schemas.openxmlformats.org/drawingml/2006/main">
            <a:pPr algn="ctr">
              <a:buNone/>
              <a:defRPr sz="900" b="0" i="0">
                <a:solidFill>
                  <a:srgbClr val="D9E2EA"/>
                </a:solidFill>
                <a:latin typeface="Calibri"/>
                <a:ea typeface="Calibri"/>
                <a:cs typeface="Calibri"/>
              </a:defRPr>
            </a:pPr>
            <a:r>
              <a:rPr sz="900" b="0" i="0">
                <a:solidFill>
                  <a:srgbClr val="D9E2EA"/>
                </a:solidFill>
                <a:latin typeface="Calibri"/>
                <a:ea typeface="Calibri"/>
                <a:cs typeface="Calibri"/>
              </a:rPr>
              <a:t>hypothesis = one per option</a:t>
            </a:r>
          </a:p>
        </p:txBody>
      </p:sp>
      <p:sp>
        <p:nvSpPr>
          <p:cNvPr id="17" name="">
            <a:extLst xmlns:a="http://schemas.openxmlformats.org/drawingml/2006/main">
              <a:ext uri="{FF2B5EF4-FFF2-40B4-BE49-F238E27FC236}">
                <a16:creationId xmlns:a16="http://schemas.microsoft.com/office/drawing/2014/main" id="{9CE3D2ED-943A-447C-8016-19BE287F2BD2}"/>
              </a:ext>
            </a:extLst>
          </p:cNvPr>
          <p:cNvSpPr>
            <a:spLocks xmlns:a="http://schemas.openxmlformats.org/drawingml/2006/main" noGrp="1"/>
          </p:cNvSpPr>
          <p:nvPr/>
        </p:nvSpPr>
        <p:spPr>
          <a:xfrm xmlns:a="http://schemas.openxmlformats.org/drawingml/2006/main">
            <a:off x="5095875" y="1685925"/>
            <a:ext cx="1952625" cy="1257300"/>
          </a:xfrm>
          <a:prstGeom xmlns:a="http://schemas.openxmlformats.org/drawingml/2006/main" prst="rect">
            <a:avLst/>
          </a:prstGeom>
          <a:solidFill xmlns:a="http://schemas.openxmlformats.org/drawingml/2006/main">
            <a:srgbClr val="21295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8650037-3678-4137-B08D-19FD375B6199}"/>
              </a:ext>
            </a:extLst>
          </p:cNvPr>
          <p:cNvSpPr>
            <a:spLocks xmlns:a="http://schemas.openxmlformats.org/drawingml/2006/main" noGrp="1"/>
          </p:cNvSpPr>
          <p:nvPr/>
        </p:nvSpPr>
        <p:spPr>
          <a:xfrm xmlns:a="http://schemas.openxmlformats.org/drawingml/2006/main">
            <a:off x="5210175" y="1952625"/>
            <a:ext cx="1724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i="0">
                <a:solidFill>
                  <a:srgbClr val="FFFFFF"/>
                </a:solidFill>
                <a:latin typeface="Calibri"/>
                <a:ea typeface="Calibri"/>
                <a:cs typeface="Calibri"/>
              </a:defRPr>
            </a:pPr>
            <a:r>
              <a:rPr sz="1200" b="1" i="0">
                <a:solidFill>
                  <a:srgbClr val="FFFFFF"/>
                </a:solidFill>
                <a:latin typeface="Calibri"/>
                <a:ea typeface="Calibri"/>
                <a:cs typeface="Calibri"/>
              </a:rPr>
              <a:t>ModernBERT-large</a:t>
            </a:r>
          </a:p>
        </p:txBody>
      </p:sp>
      <p:sp>
        <p:nvSpPr>
          <p:cNvPr id="19" name="">
            <a:extLst xmlns:a="http://schemas.openxmlformats.org/drawingml/2006/main">
              <a:ext uri="{FF2B5EF4-FFF2-40B4-BE49-F238E27FC236}">
                <a16:creationId xmlns:a16="http://schemas.microsoft.com/office/drawing/2014/main" id="{26C0D077-9701-4A41-AB8B-DFCF03AF6964}"/>
              </a:ext>
            </a:extLst>
          </p:cNvPr>
          <p:cNvSpPr>
            <a:spLocks xmlns:a="http://schemas.openxmlformats.org/drawingml/2006/main" noGrp="1"/>
          </p:cNvSpPr>
          <p:nvPr/>
        </p:nvSpPr>
        <p:spPr>
          <a:xfrm xmlns:a="http://schemas.openxmlformats.org/drawingml/2006/main">
            <a:off x="5210175" y="2266950"/>
            <a:ext cx="17240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00" b="0" i="0">
                <a:solidFill>
                  <a:srgbClr val="D9E2EA"/>
                </a:solidFill>
                <a:latin typeface="Calibri"/>
                <a:ea typeface="Calibri"/>
                <a:cs typeface="Calibri"/>
              </a:defRPr>
            </a:pPr>
            <a:r>
              <a:rPr sz="900" b="0" i="0">
                <a:solidFill>
                  <a:srgbClr val="D9E2EA"/>
                </a:solidFill>
                <a:latin typeface="Calibri"/>
                <a:ea typeface="Calibri"/>
                <a:cs typeface="Calibri"/>
              </a:rPr>
              <a:t>zeroshot-v2.0</a:t>
            </a:r>
          </a:p>
          <a:p xmlns:a="http://schemas.openxmlformats.org/drawingml/2006/main">
            <a:pPr algn="ctr">
              <a:buNone/>
              <a:defRPr sz="900" b="0" i="0">
                <a:solidFill>
                  <a:srgbClr val="D9E2EA"/>
                </a:solidFill>
                <a:latin typeface="Calibri"/>
                <a:ea typeface="Calibri"/>
                <a:cs typeface="Calibri"/>
              </a:defRPr>
            </a:pPr>
            <a:r>
              <a:rPr sz="900" b="0" i="0">
                <a:solidFill>
                  <a:srgbClr val="D9E2EA"/>
                </a:solidFill>
                <a:latin typeface="Calibri"/>
                <a:ea typeface="Calibri"/>
                <a:cs typeface="Calibri"/>
              </a:rPr>
              <a:t>NLI entailment head</a:t>
            </a:r>
          </a:p>
        </p:txBody>
      </p:sp>
      <p:sp>
        <p:nvSpPr>
          <p:cNvPr id="20" name="">
            <a:extLst xmlns:a="http://schemas.openxmlformats.org/drawingml/2006/main">
              <a:ext uri="{FF2B5EF4-FFF2-40B4-BE49-F238E27FC236}">
                <a16:creationId xmlns:a16="http://schemas.microsoft.com/office/drawing/2014/main" id="{A4A757A6-4840-46B3-8452-D45555AEFC7C}"/>
              </a:ext>
            </a:extLst>
          </p:cNvPr>
          <p:cNvSpPr>
            <a:spLocks xmlns:a="http://schemas.openxmlformats.org/drawingml/2006/main" noGrp="1"/>
          </p:cNvSpPr>
          <p:nvPr/>
        </p:nvSpPr>
        <p:spPr>
          <a:xfrm xmlns:a="http://schemas.openxmlformats.org/drawingml/2006/main">
            <a:off x="7439025" y="1685925"/>
            <a:ext cx="1619250" cy="12573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65F82D6-2409-45D0-B4DF-03C0E9B91EDA}"/>
              </a:ext>
            </a:extLst>
          </p:cNvPr>
          <p:cNvSpPr>
            <a:spLocks xmlns:a="http://schemas.openxmlformats.org/drawingml/2006/main" noGrp="1"/>
          </p:cNvSpPr>
          <p:nvPr/>
        </p:nvSpPr>
        <p:spPr>
          <a:xfrm xmlns:a="http://schemas.openxmlformats.org/drawingml/2006/main">
            <a:off x="7553325" y="1952625"/>
            <a:ext cx="1390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i="0">
                <a:solidFill>
                  <a:srgbClr val="FFFFFF"/>
                </a:solidFill>
                <a:latin typeface="Calibri"/>
                <a:ea typeface="Calibri"/>
                <a:cs typeface="Calibri"/>
              </a:defRPr>
            </a:pPr>
            <a:r>
              <a:rPr sz="1200" b="1" i="0">
                <a:solidFill>
                  <a:srgbClr val="FFFFFF"/>
                </a:solidFill>
                <a:latin typeface="Calibri"/>
                <a:ea typeface="Calibri"/>
                <a:cs typeface="Calibri"/>
              </a:rPr>
              <a:t>SOFTMAX</a:t>
            </a:r>
          </a:p>
        </p:txBody>
      </p:sp>
      <p:sp>
        <p:nvSpPr>
          <p:cNvPr id="22" name="">
            <a:extLst xmlns:a="http://schemas.openxmlformats.org/drawingml/2006/main">
              <a:ext uri="{FF2B5EF4-FFF2-40B4-BE49-F238E27FC236}">
                <a16:creationId xmlns:a16="http://schemas.microsoft.com/office/drawing/2014/main" id="{0C887F41-6F7C-4BDC-B881-4F8A6D00D2C2}"/>
              </a:ext>
            </a:extLst>
          </p:cNvPr>
          <p:cNvSpPr>
            <a:spLocks xmlns:a="http://schemas.openxmlformats.org/drawingml/2006/main" noGrp="1"/>
          </p:cNvSpPr>
          <p:nvPr/>
        </p:nvSpPr>
        <p:spPr>
          <a:xfrm xmlns:a="http://schemas.openxmlformats.org/drawingml/2006/main">
            <a:off x="7553325" y="2266950"/>
            <a:ext cx="1390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00" b="0" i="0">
                <a:solidFill>
                  <a:srgbClr val="D9E2EA"/>
                </a:solidFill>
                <a:latin typeface="Calibri"/>
                <a:ea typeface="Calibri"/>
                <a:cs typeface="Calibri"/>
              </a:defRPr>
            </a:pPr>
            <a:r>
              <a:rPr sz="900" b="0" i="0">
                <a:solidFill>
                  <a:srgbClr val="D9E2EA"/>
                </a:solidFill>
                <a:latin typeface="Calibri"/>
                <a:ea typeface="Calibri"/>
                <a:cs typeface="Calibri"/>
              </a:rPr>
              <a:t>across options</a:t>
            </a:r>
          </a:p>
          <a:p xmlns:a="http://schemas.openxmlformats.org/drawingml/2006/main">
            <a:pPr algn="ctr">
              <a:buNone/>
              <a:defRPr sz="900" b="0" i="0">
                <a:solidFill>
                  <a:srgbClr val="D9E2EA"/>
                </a:solidFill>
                <a:latin typeface="Calibri"/>
                <a:ea typeface="Calibri"/>
                <a:cs typeface="Calibri"/>
              </a:defRPr>
            </a:pPr>
            <a:r>
              <a:rPr sz="900" b="0" i="0">
                <a:solidFill>
                  <a:srgbClr val="D9E2EA"/>
                </a:solidFill>
                <a:latin typeface="Calibri"/>
                <a:ea typeface="Calibri"/>
                <a:cs typeface="Calibri"/>
              </a:rPr>
              <a:t>Σ p = 1.0</a:t>
            </a:r>
          </a:p>
        </p:txBody>
      </p:sp>
      <p:sp>
        <p:nvSpPr>
          <p:cNvPr id="23" name="">
            <a:extLst xmlns:a="http://schemas.openxmlformats.org/drawingml/2006/main">
              <a:ext uri="{FF2B5EF4-FFF2-40B4-BE49-F238E27FC236}">
                <a16:creationId xmlns:a16="http://schemas.microsoft.com/office/drawing/2014/main" id="{EA8BA50E-9EBD-45B2-90EA-7B8F906E8013}"/>
              </a:ext>
            </a:extLst>
          </p:cNvPr>
          <p:cNvSpPr>
            <a:spLocks xmlns:a="http://schemas.openxmlformats.org/drawingml/2006/main" noGrp="1"/>
          </p:cNvSpPr>
          <p:nvPr/>
        </p:nvSpPr>
        <p:spPr>
          <a:xfrm xmlns:a="http://schemas.openxmlformats.org/drawingml/2006/main">
            <a:off x="2600325" y="20478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950" b="1" i="0">
                <a:solidFill>
                  <a:srgbClr val="1C7293"/>
                </a:solidFill>
                <a:latin typeface="Calibri"/>
                <a:ea typeface="Calibri"/>
                <a:cs typeface="Calibri"/>
              </a:defRPr>
            </a:pPr>
            <a:r>
              <a:rPr sz="1950" b="1" i="0">
                <a:solidFill>
                  <a:srgbClr val="1C7293"/>
                </a:solidFill>
                <a:latin typeface="Calibri"/>
                <a:ea typeface="Calibri"/>
                <a:cs typeface="Calibri"/>
              </a:rPr>
              <a:t>→</a:t>
            </a:r>
          </a:p>
        </p:txBody>
      </p:sp>
      <p:sp>
        <p:nvSpPr>
          <p:cNvPr id="24" name="">
            <a:extLst xmlns:a="http://schemas.openxmlformats.org/drawingml/2006/main">
              <a:ext uri="{FF2B5EF4-FFF2-40B4-BE49-F238E27FC236}">
                <a16:creationId xmlns:a16="http://schemas.microsoft.com/office/drawing/2014/main" id="{C20056E9-2A6A-449A-B357-0529A465F38B}"/>
              </a:ext>
            </a:extLst>
          </p:cNvPr>
          <p:cNvSpPr>
            <a:spLocks xmlns:a="http://schemas.openxmlformats.org/drawingml/2006/main" noGrp="1"/>
          </p:cNvSpPr>
          <p:nvPr/>
        </p:nvSpPr>
        <p:spPr>
          <a:xfrm xmlns:a="http://schemas.openxmlformats.org/drawingml/2006/main">
            <a:off x="4772025" y="20478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950" b="1" i="0">
                <a:solidFill>
                  <a:srgbClr val="1C7293"/>
                </a:solidFill>
                <a:latin typeface="Calibri"/>
                <a:ea typeface="Calibri"/>
                <a:cs typeface="Calibri"/>
              </a:defRPr>
            </a:pPr>
            <a:r>
              <a:rPr sz="1950" b="1" i="0">
                <a:solidFill>
                  <a:srgbClr val="1C7293"/>
                </a:solidFill>
                <a:latin typeface="Calibri"/>
                <a:ea typeface="Calibri"/>
                <a:cs typeface="Calibri"/>
              </a:rPr>
              <a:t>→</a:t>
            </a:r>
          </a:p>
        </p:txBody>
      </p:sp>
      <p:sp>
        <p:nvSpPr>
          <p:cNvPr id="25" name="">
            <a:extLst xmlns:a="http://schemas.openxmlformats.org/drawingml/2006/main">
              <a:ext uri="{FF2B5EF4-FFF2-40B4-BE49-F238E27FC236}">
                <a16:creationId xmlns:a16="http://schemas.microsoft.com/office/drawing/2014/main" id="{81D90FE6-3401-4549-ABCA-5D1277971B06}"/>
              </a:ext>
            </a:extLst>
          </p:cNvPr>
          <p:cNvSpPr>
            <a:spLocks xmlns:a="http://schemas.openxmlformats.org/drawingml/2006/main" noGrp="1"/>
          </p:cNvSpPr>
          <p:nvPr/>
        </p:nvSpPr>
        <p:spPr>
          <a:xfrm xmlns:a="http://schemas.openxmlformats.org/drawingml/2006/main">
            <a:off x="7115175" y="20478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950" b="1" i="0">
                <a:solidFill>
                  <a:srgbClr val="1C7293"/>
                </a:solidFill>
                <a:latin typeface="Calibri"/>
                <a:ea typeface="Calibri"/>
                <a:cs typeface="Calibri"/>
              </a:defRPr>
            </a:pPr>
            <a:r>
              <a:rPr sz="1950" b="1" i="0">
                <a:solidFill>
                  <a:srgbClr val="1C7293"/>
                </a:solidFill>
                <a:latin typeface="Calibri"/>
                <a:ea typeface="Calibri"/>
                <a:cs typeface="Calibri"/>
              </a:rPr>
              <a:t>→</a:t>
            </a:r>
          </a:p>
        </p:txBody>
      </p:sp>
      <p:sp>
        <p:nvSpPr>
          <p:cNvPr id="26" name="">
            <a:extLst xmlns:a="http://schemas.openxmlformats.org/drawingml/2006/main">
              <a:ext uri="{FF2B5EF4-FFF2-40B4-BE49-F238E27FC236}">
                <a16:creationId xmlns:a16="http://schemas.microsoft.com/office/drawing/2014/main" id="{8E7CD105-BF13-438A-B19A-7543F764B863}"/>
              </a:ext>
            </a:extLst>
          </p:cNvPr>
          <p:cNvSpPr>
            <a:spLocks xmlns:a="http://schemas.openxmlformats.org/drawingml/2006/main" noGrp="1"/>
          </p:cNvSpPr>
          <p:nvPr/>
        </p:nvSpPr>
        <p:spPr>
          <a:xfrm xmlns:a="http://schemas.openxmlformats.org/drawingml/2006/main">
            <a:off x="9115425" y="20478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950" b="1" i="0">
                <a:solidFill>
                  <a:srgbClr val="1C7293"/>
                </a:solidFill>
                <a:latin typeface="Calibri"/>
                <a:ea typeface="Calibri"/>
                <a:cs typeface="Calibri"/>
              </a:defRPr>
            </a:pPr>
            <a:r>
              <a:rPr sz="1950" b="1" i="0">
                <a:solidFill>
                  <a:srgbClr val="1C7293"/>
                </a:solidFill>
                <a:latin typeface="Calibri"/>
                <a:ea typeface="Calibri"/>
                <a:cs typeface="Calibri"/>
              </a:rPr>
              <a:t>→</a:t>
            </a:r>
          </a:p>
        </p:txBody>
      </p:sp>
      <p:sp>
        <p:nvSpPr>
          <p:cNvPr id="27" name="">
            <a:extLst xmlns:a="http://schemas.openxmlformats.org/drawingml/2006/main">
              <a:ext uri="{FF2B5EF4-FFF2-40B4-BE49-F238E27FC236}">
                <a16:creationId xmlns:a16="http://schemas.microsoft.com/office/drawing/2014/main" id="{3625FBE7-3D20-4A3D-8804-F01B7054254C}"/>
              </a:ext>
            </a:extLst>
          </p:cNvPr>
          <p:cNvSpPr>
            <a:spLocks xmlns:a="http://schemas.openxmlformats.org/drawingml/2006/main" noGrp="1"/>
          </p:cNvSpPr>
          <p:nvPr/>
        </p:nvSpPr>
        <p:spPr>
          <a:xfrm xmlns:a="http://schemas.openxmlformats.org/drawingml/2006/main">
            <a:off x="9477375" y="1685925"/>
            <a:ext cx="1143000" cy="1257300"/>
          </a:xfrm>
          <a:prstGeom xmlns:a="http://schemas.openxmlformats.org/drawingml/2006/main" prst="diamond">
            <a:avLst/>
          </a:prstGeom>
          <a:solidFill xmlns:a="http://schemas.openxmlformats.org/drawingml/2006/main">
            <a:srgbClr val="FFFFFF"/>
          </a:solidFill>
          <a:ln xmlns:a="http://schemas.openxmlformats.org/drawingml/2006/main" w="14288">
            <a:solidFill>
              <a:srgbClr val="B86E00"/>
            </a:solidFill>
            <a:prstDash val="solid"/>
          </a:ln>
        </p:spPr>
      </p:sp>
      <p:sp>
        <p:nvSpPr>
          <p:cNvPr id="28" name="">
            <a:extLst xmlns:a="http://schemas.openxmlformats.org/drawingml/2006/main">
              <a:ext uri="{FF2B5EF4-FFF2-40B4-BE49-F238E27FC236}">
                <a16:creationId xmlns:a16="http://schemas.microsoft.com/office/drawing/2014/main" id="{291263DA-383C-41F5-B477-7619829A6A50}"/>
              </a:ext>
            </a:extLst>
          </p:cNvPr>
          <p:cNvSpPr>
            <a:spLocks xmlns:a="http://schemas.openxmlformats.org/drawingml/2006/main" noGrp="1"/>
          </p:cNvSpPr>
          <p:nvPr/>
        </p:nvSpPr>
        <p:spPr>
          <a:xfrm xmlns:a="http://schemas.openxmlformats.org/drawingml/2006/main">
            <a:off x="9705975" y="200025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B86E00"/>
                </a:solidFill>
                <a:latin typeface="Calibri"/>
                <a:ea typeface="Calibri"/>
                <a:cs typeface="Calibri"/>
              </a:defRPr>
            </a:pPr>
            <a:r>
              <a:rPr sz="1050" b="1" i="0">
                <a:solidFill>
                  <a:srgbClr val="B86E00"/>
                </a:solidFill>
                <a:latin typeface="Calibri"/>
                <a:ea typeface="Calibri"/>
                <a:cs typeface="Calibri"/>
              </a:rPr>
              <a:t>GATE</a:t>
            </a:r>
          </a:p>
        </p:txBody>
      </p:sp>
      <p:sp>
        <p:nvSpPr>
          <p:cNvPr id="29" name="">
            <a:extLst xmlns:a="http://schemas.openxmlformats.org/drawingml/2006/main">
              <a:ext uri="{FF2B5EF4-FFF2-40B4-BE49-F238E27FC236}">
                <a16:creationId xmlns:a16="http://schemas.microsoft.com/office/drawing/2014/main" id="{25A145F1-D204-48CC-85E7-1364D685EEFE}"/>
              </a:ext>
            </a:extLst>
          </p:cNvPr>
          <p:cNvSpPr>
            <a:spLocks xmlns:a="http://schemas.openxmlformats.org/drawingml/2006/main" noGrp="1"/>
          </p:cNvSpPr>
          <p:nvPr/>
        </p:nvSpPr>
        <p:spPr>
          <a:xfrm xmlns:a="http://schemas.openxmlformats.org/drawingml/2006/main">
            <a:off x="9705975" y="2238375"/>
            <a:ext cx="685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825" b="0" i="0">
                <a:solidFill>
                  <a:srgbClr val="1A1F2B"/>
                </a:solidFill>
                <a:latin typeface="Calibri"/>
                <a:ea typeface="Calibri"/>
                <a:cs typeface="Calibri"/>
              </a:defRPr>
            </a:pPr>
            <a:r>
              <a:rPr sz="825" b="0" i="0">
                <a:solidFill>
                  <a:srgbClr val="1A1F2B"/>
                </a:solidFill>
                <a:latin typeface="Calibri"/>
                <a:ea typeface="Calibri"/>
                <a:cs typeface="Calibri"/>
              </a:rPr>
              <a:t>p ≥ .65</a:t>
            </a:r>
          </a:p>
          <a:p xmlns:a="http://schemas.openxmlformats.org/drawingml/2006/main">
            <a:pPr algn="ctr">
              <a:buNone/>
              <a:defRPr sz="825" b="0" i="0">
                <a:solidFill>
                  <a:srgbClr val="1A1F2B"/>
                </a:solidFill>
                <a:latin typeface="Calibri"/>
                <a:ea typeface="Calibri"/>
                <a:cs typeface="Calibri"/>
              </a:defRPr>
            </a:pPr>
            <a:r>
              <a:rPr sz="825" b="0" i="0">
                <a:solidFill>
                  <a:srgbClr val="1A1F2B"/>
                </a:solidFill>
                <a:latin typeface="Calibri"/>
                <a:ea typeface="Calibri"/>
                <a:cs typeface="Calibri"/>
              </a:rPr>
              <a:t>Δ ≥ .15</a:t>
            </a:r>
          </a:p>
        </p:txBody>
      </p:sp>
      <p:sp>
        <p:nvSpPr>
          <p:cNvPr id="30" name="">
            <a:extLst xmlns:a="http://schemas.openxmlformats.org/drawingml/2006/main">
              <a:ext uri="{FF2B5EF4-FFF2-40B4-BE49-F238E27FC236}">
                <a16:creationId xmlns:a16="http://schemas.microsoft.com/office/drawing/2014/main" id="{BD0E6715-7558-4877-885B-2BC8CBBD2BD2}"/>
              </a:ext>
            </a:extLst>
          </p:cNvPr>
          <p:cNvSpPr>
            <a:spLocks xmlns:a="http://schemas.openxmlformats.org/drawingml/2006/main" noGrp="1"/>
          </p:cNvSpPr>
          <p:nvPr/>
        </p:nvSpPr>
        <p:spPr>
          <a:xfrm xmlns:a="http://schemas.openxmlformats.org/drawingml/2006/main">
            <a:off x="10820400" y="1581150"/>
            <a:ext cx="933450" cy="552450"/>
          </a:xfrm>
          <a:prstGeom xmlns:a="http://schemas.openxmlformats.org/drawingml/2006/main" prst="rect">
            <a:avLst/>
          </a:prstGeom>
          <a:solidFill xmlns:a="http://schemas.openxmlformats.org/drawingml/2006/main">
            <a:srgbClr val="1E7A4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E1046AF-CB69-4246-B46F-96C4DADAC051}"/>
              </a:ext>
            </a:extLst>
          </p:cNvPr>
          <p:cNvSpPr>
            <a:spLocks xmlns:a="http://schemas.openxmlformats.org/drawingml/2006/main" noGrp="1"/>
          </p:cNvSpPr>
          <p:nvPr/>
        </p:nvSpPr>
        <p:spPr>
          <a:xfrm xmlns:a="http://schemas.openxmlformats.org/drawingml/2006/main">
            <a:off x="10896600" y="169545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00" b="1" i="0">
                <a:solidFill>
                  <a:srgbClr val="FFFFFF"/>
                </a:solidFill>
                <a:latin typeface="Calibri"/>
                <a:ea typeface="Calibri"/>
                <a:cs typeface="Calibri"/>
              </a:defRPr>
            </a:pPr>
            <a:r>
              <a:rPr sz="900" b="1" i="0">
                <a:solidFill>
                  <a:srgbClr val="FFFFFF"/>
                </a:solidFill>
                <a:latin typeface="Calibri"/>
                <a:ea typeface="Calibri"/>
                <a:cs typeface="Calibri"/>
              </a:rPr>
              <a:t>ANSWER</a:t>
            </a:r>
          </a:p>
          <a:p xmlns:a="http://schemas.openxmlformats.org/drawingml/2006/main">
            <a:pPr algn="ctr">
              <a:buNone/>
              <a:defRPr sz="900" b="1" i="0">
                <a:solidFill>
                  <a:srgbClr val="FFFFFF"/>
                </a:solidFill>
                <a:latin typeface="Calibri"/>
                <a:ea typeface="Calibri"/>
                <a:cs typeface="Calibri"/>
              </a:defRPr>
            </a:pPr>
            <a:r>
              <a:rPr sz="900" b="1" i="0">
                <a:solidFill>
                  <a:srgbClr val="FFFFFF"/>
                </a:solidFill>
                <a:latin typeface="Calibri"/>
                <a:ea typeface="Calibri"/>
                <a:cs typeface="Calibri"/>
              </a:rPr>
              <a:t>5 / 12</a:t>
            </a:r>
          </a:p>
        </p:txBody>
      </p:sp>
      <p:sp>
        <p:nvSpPr>
          <p:cNvPr id="32" name="">
            <a:extLst xmlns:a="http://schemas.openxmlformats.org/drawingml/2006/main">
              <a:ext uri="{FF2B5EF4-FFF2-40B4-BE49-F238E27FC236}">
                <a16:creationId xmlns:a16="http://schemas.microsoft.com/office/drawing/2014/main" id="{C758C2D3-9AFB-4FCD-829A-5FC923468B9A}"/>
              </a:ext>
            </a:extLst>
          </p:cNvPr>
          <p:cNvSpPr>
            <a:spLocks xmlns:a="http://schemas.openxmlformats.org/drawingml/2006/main" noGrp="1"/>
          </p:cNvSpPr>
          <p:nvPr/>
        </p:nvSpPr>
        <p:spPr>
          <a:xfrm xmlns:a="http://schemas.openxmlformats.org/drawingml/2006/main">
            <a:off x="10820400" y="2457450"/>
            <a:ext cx="933450" cy="552450"/>
          </a:xfrm>
          <a:prstGeom xmlns:a="http://schemas.openxmlformats.org/drawingml/2006/main" prst="rect">
            <a:avLst/>
          </a:prstGeom>
          <a:solidFill xmlns:a="http://schemas.openxmlformats.org/drawingml/2006/main">
            <a:srgbClr val="B86E00"/>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F354D84-C3AF-49AB-AE79-EB8999F8DFD6}"/>
              </a:ext>
            </a:extLst>
          </p:cNvPr>
          <p:cNvSpPr>
            <a:spLocks xmlns:a="http://schemas.openxmlformats.org/drawingml/2006/main" noGrp="1"/>
          </p:cNvSpPr>
          <p:nvPr/>
        </p:nvSpPr>
        <p:spPr>
          <a:xfrm xmlns:a="http://schemas.openxmlformats.org/drawingml/2006/main">
            <a:off x="10896600" y="257175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00" b="1" i="0">
                <a:solidFill>
                  <a:srgbClr val="FFFFFF"/>
                </a:solidFill>
                <a:latin typeface="Calibri"/>
                <a:ea typeface="Calibri"/>
                <a:cs typeface="Calibri"/>
              </a:defRPr>
            </a:pPr>
            <a:r>
              <a:rPr sz="900" b="1" i="0">
                <a:solidFill>
                  <a:srgbClr val="FFFFFF"/>
                </a:solidFill>
                <a:latin typeface="Calibri"/>
                <a:ea typeface="Calibri"/>
                <a:cs typeface="Calibri"/>
              </a:rPr>
              <a:t>REVIEW</a:t>
            </a:r>
          </a:p>
          <a:p xmlns:a="http://schemas.openxmlformats.org/drawingml/2006/main">
            <a:pPr algn="ctr">
              <a:buNone/>
              <a:defRPr sz="900" b="1" i="0">
                <a:solidFill>
                  <a:srgbClr val="FFFFFF"/>
                </a:solidFill>
                <a:latin typeface="Calibri"/>
                <a:ea typeface="Calibri"/>
                <a:cs typeface="Calibri"/>
              </a:defRPr>
            </a:pPr>
            <a:r>
              <a:rPr sz="900" b="1" i="0">
                <a:solidFill>
                  <a:srgbClr val="FFFFFF"/>
                </a:solidFill>
                <a:latin typeface="Calibri"/>
                <a:ea typeface="Calibri"/>
                <a:cs typeface="Calibri"/>
              </a:rPr>
              <a:t>7 / 12</a:t>
            </a:r>
          </a:p>
        </p:txBody>
      </p:sp>
      <p:sp>
        <p:nvSpPr>
          <p:cNvPr id="34" name="mermaid-source-panel">
            <a:extLst xmlns:a="http://schemas.openxmlformats.org/drawingml/2006/main">
              <a:ext uri="{FF2B5EF4-FFF2-40B4-BE49-F238E27FC236}">
                <a16:creationId xmlns:a16="http://schemas.microsoft.com/office/drawing/2014/main" id="{89AB16BB-B0C7-4F15-B5E0-DCD54DD49480}"/>
              </a:ext>
            </a:extLst>
          </p:cNvPr>
          <p:cNvSpPr>
            <a:spLocks xmlns:a="http://schemas.openxmlformats.org/drawingml/2006/main" noGrp="1"/>
          </p:cNvSpPr>
          <p:nvPr/>
        </p:nvSpPr>
        <p:spPr>
          <a:xfrm xmlns:a="http://schemas.openxmlformats.org/drawingml/2006/main">
            <a:off x="781050" y="3562350"/>
            <a:ext cx="7258050" cy="2724150"/>
          </a:xfrm>
          <a:prstGeom xmlns:a="http://schemas.openxmlformats.org/drawingml/2006/main" prst="rect">
            <a:avLst/>
          </a:prstGeom>
          <a:solidFill xmlns:a="http://schemas.openxmlformats.org/drawingml/2006/main">
            <a:srgbClr val="1D26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01B64C2-E480-4AD7-9C6D-41BE00422071}"/>
              </a:ext>
            </a:extLst>
          </p:cNvPr>
          <p:cNvSpPr>
            <a:spLocks xmlns:a="http://schemas.openxmlformats.org/drawingml/2006/main" noGrp="1"/>
          </p:cNvSpPr>
          <p:nvPr/>
        </p:nvSpPr>
        <p:spPr>
          <a:xfrm xmlns:a="http://schemas.openxmlformats.org/drawingml/2006/main">
            <a:off x="971550" y="373380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8FC7DC"/>
                </a:solidFill>
                <a:latin typeface="Calibri"/>
                <a:ea typeface="Calibri"/>
                <a:cs typeface="Calibri"/>
              </a:defRPr>
            </a:pPr>
            <a:r>
              <a:rPr sz="975" b="1" i="0">
                <a:solidFill>
                  <a:srgbClr val="8FC7DC"/>
                </a:solidFill>
                <a:latin typeface="Calibri"/>
                <a:ea typeface="Calibri"/>
                <a:cs typeface="Calibri"/>
              </a:rPr>
              <a:t>EQUIVALENT MERMAID SOURCE</a:t>
            </a:r>
          </a:p>
        </p:txBody>
      </p:sp>
      <p:sp>
        <p:nvSpPr>
          <p:cNvPr id="36" name="">
            <a:extLst xmlns:a="http://schemas.openxmlformats.org/drawingml/2006/main">
              <a:ext uri="{FF2B5EF4-FFF2-40B4-BE49-F238E27FC236}">
                <a16:creationId xmlns:a16="http://schemas.microsoft.com/office/drawing/2014/main" id="{5AA74E0C-9396-4C08-B44D-C1189FE67D9A}"/>
              </a:ext>
            </a:extLst>
          </p:cNvPr>
          <p:cNvSpPr>
            <a:spLocks xmlns:a="http://schemas.openxmlformats.org/drawingml/2006/main" noGrp="1"/>
          </p:cNvSpPr>
          <p:nvPr/>
        </p:nvSpPr>
        <p:spPr>
          <a:xfrm xmlns:a="http://schemas.openxmlformats.org/drawingml/2006/main">
            <a:off x="971550" y="4057650"/>
            <a:ext cx="68580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flowchart LR</a:t>
            </a:r>
          </a:p>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  A[state JSON] --&gt; P[premise]</a:t>
            </a:r>
          </a:p>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  Q[question] --&gt; P</a:t>
            </a:r>
          </a:p>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  O[option descriptions] --&gt; H[hypothesis × N]</a:t>
            </a:r>
          </a:p>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  P --&gt; T[tokenizer + premise/hypothesis pairs]</a:t>
            </a:r>
          </a:p>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  H --&gt; T</a:t>
            </a:r>
          </a:p>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  T --&gt; M[ModernBERT-large / NLI head]</a:t>
            </a:r>
          </a:p>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  M --&gt; L[entailment logit / one per option]</a:t>
            </a:r>
          </a:p>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  L --&gt; S[softmax across options]</a:t>
            </a:r>
          </a:p>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  S --&gt; G{top p ≥ 0.65 AND margin ≥ 0.15?}</a:t>
            </a:r>
          </a:p>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  G -- yes --&gt; R[answer returned]</a:t>
            </a:r>
          </a:p>
          <a:p xmlns:a="http://schemas.openxmlformats.org/drawingml/2006/main">
            <a:pPr algn="l">
              <a:lnSpc>
                <a:spcPct val="92000"/>
              </a:lnSpc>
              <a:buNone/>
              <a:defRPr sz="788" b="0" i="0">
                <a:solidFill>
                  <a:srgbClr val="E8EDF3"/>
                </a:solidFill>
                <a:latin typeface="Consolas"/>
                <a:ea typeface="Consolas"/>
                <a:cs typeface="Consolas"/>
              </a:defRPr>
            </a:pPr>
            <a:r>
              <a:rPr sz="788" b="0" i="0">
                <a:solidFill>
                  <a:srgbClr val="E8EDF3"/>
                </a:solidFill>
                <a:latin typeface="Consolas"/>
                <a:ea typeface="Consolas"/>
                <a:cs typeface="Consolas"/>
              </a:rPr>
              <a:t>  G -- no --&gt; V[abstain → human review]</a:t>
            </a:r>
          </a:p>
        </p:txBody>
      </p:sp>
      <p:sp>
        <p:nvSpPr>
          <p:cNvPr id="37" name="WHY THIS IS SAFE-panel">
            <a:extLst xmlns:a="http://schemas.openxmlformats.org/drawingml/2006/main">
              <a:ext uri="{FF2B5EF4-FFF2-40B4-BE49-F238E27FC236}">
                <a16:creationId xmlns:a16="http://schemas.microsoft.com/office/drawing/2014/main" id="{B273EE28-DD9A-461D-9974-52327EE29E1F}"/>
              </a:ext>
            </a:extLst>
          </p:cNvPr>
          <p:cNvSpPr>
            <a:spLocks xmlns:a="http://schemas.openxmlformats.org/drawingml/2006/main" noGrp="1"/>
          </p:cNvSpPr>
          <p:nvPr/>
        </p:nvSpPr>
        <p:spPr>
          <a:xfrm xmlns:a="http://schemas.openxmlformats.org/drawingml/2006/main">
            <a:off x="8343900" y="3562350"/>
            <a:ext cx="289560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38" name="WHY THIS IS SAFE-header">
            <a:extLst xmlns:a="http://schemas.openxmlformats.org/drawingml/2006/main">
              <a:ext uri="{FF2B5EF4-FFF2-40B4-BE49-F238E27FC236}">
                <a16:creationId xmlns:a16="http://schemas.microsoft.com/office/drawing/2014/main" id="{5C25ECEC-79F6-4DBD-9C0F-43117D676C1C}"/>
              </a:ext>
            </a:extLst>
          </p:cNvPr>
          <p:cNvSpPr>
            <a:spLocks xmlns:a="http://schemas.openxmlformats.org/drawingml/2006/main" noGrp="1"/>
          </p:cNvSpPr>
          <p:nvPr/>
        </p:nvSpPr>
        <p:spPr>
          <a:xfrm xmlns:a="http://schemas.openxmlformats.org/drawingml/2006/main">
            <a:off x="8343900" y="3562350"/>
            <a:ext cx="289560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823221B-C9F4-489C-A33B-CDE9E6C8071A}"/>
              </a:ext>
            </a:extLst>
          </p:cNvPr>
          <p:cNvSpPr>
            <a:spLocks xmlns:a="http://schemas.openxmlformats.org/drawingml/2006/main" noGrp="1"/>
          </p:cNvSpPr>
          <p:nvPr/>
        </p:nvSpPr>
        <p:spPr>
          <a:xfrm xmlns:a="http://schemas.openxmlformats.org/drawingml/2006/main">
            <a:off x="8496300" y="3638550"/>
            <a:ext cx="2590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WHY THIS IS SAFE</a:t>
            </a:r>
          </a:p>
        </p:txBody>
      </p:sp>
      <p:sp>
        <p:nvSpPr>
          <p:cNvPr id="40" name="">
            <a:extLst xmlns:a="http://schemas.openxmlformats.org/drawingml/2006/main">
              <a:ext uri="{FF2B5EF4-FFF2-40B4-BE49-F238E27FC236}">
                <a16:creationId xmlns:a16="http://schemas.microsoft.com/office/drawing/2014/main" id="{2DF597F9-9463-4A31-9DC3-92530C929260}"/>
              </a:ext>
            </a:extLst>
          </p:cNvPr>
          <p:cNvSpPr>
            <a:spLocks xmlns:a="http://schemas.openxmlformats.org/drawingml/2006/main" noGrp="1"/>
          </p:cNvSpPr>
          <p:nvPr/>
        </p:nvSpPr>
        <p:spPr>
          <a:xfrm xmlns:a="http://schemas.openxmlformats.org/drawingml/2006/main">
            <a:off x="8572500" y="41148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i="0">
                <a:solidFill>
                  <a:srgbClr val="065A82"/>
                </a:solidFill>
                <a:latin typeface="Calibri"/>
                <a:ea typeface="Calibri"/>
                <a:cs typeface="Calibri"/>
              </a:defRPr>
            </a:pPr>
            <a:r>
              <a:rPr sz="1050" b="1" i="0">
                <a:solidFill>
                  <a:srgbClr val="065A82"/>
                </a:solidFill>
                <a:latin typeface="Calibri"/>
                <a:ea typeface="Calibri"/>
                <a:cs typeface="Calibri"/>
              </a:rPr>
              <a:t>No generation</a:t>
            </a:r>
          </a:p>
        </p:txBody>
      </p:sp>
      <p:sp>
        <p:nvSpPr>
          <p:cNvPr id="41" name="">
            <a:extLst xmlns:a="http://schemas.openxmlformats.org/drawingml/2006/main">
              <a:ext uri="{FF2B5EF4-FFF2-40B4-BE49-F238E27FC236}">
                <a16:creationId xmlns:a16="http://schemas.microsoft.com/office/drawing/2014/main" id="{022C795D-2479-443C-BBD5-CCE4F07B77DA}"/>
              </a:ext>
            </a:extLst>
          </p:cNvPr>
          <p:cNvSpPr>
            <a:spLocks xmlns:a="http://schemas.openxmlformats.org/drawingml/2006/main" noGrp="1"/>
          </p:cNvSpPr>
          <p:nvPr/>
        </p:nvSpPr>
        <p:spPr>
          <a:xfrm xmlns:a="http://schemas.openxmlformats.org/drawingml/2006/main">
            <a:off x="8572500" y="43338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38" b="0" i="0">
                <a:solidFill>
                  <a:srgbClr val="1A1F2B"/>
                </a:solidFill>
                <a:latin typeface="Calibri"/>
                <a:ea typeface="Calibri"/>
                <a:cs typeface="Calibri"/>
              </a:defRPr>
            </a:pPr>
            <a:r>
              <a:rPr sz="938" b="0" i="0">
                <a:solidFill>
                  <a:srgbClr val="1A1F2B"/>
                </a:solidFill>
                <a:latin typeface="Calibri"/>
                <a:ea typeface="Calibri"/>
                <a:cs typeface="Calibri"/>
              </a:rPr>
              <a:t>The model only scores offered options.</a:t>
            </a:r>
          </a:p>
        </p:txBody>
      </p:sp>
      <p:sp>
        <p:nvSpPr>
          <p:cNvPr id="42" name="">
            <a:extLst xmlns:a="http://schemas.openxmlformats.org/drawingml/2006/main">
              <a:ext uri="{FF2B5EF4-FFF2-40B4-BE49-F238E27FC236}">
                <a16:creationId xmlns:a16="http://schemas.microsoft.com/office/drawing/2014/main" id="{162B67CA-F41C-4225-BF8A-B7192B39210C}"/>
              </a:ext>
            </a:extLst>
          </p:cNvPr>
          <p:cNvSpPr>
            <a:spLocks xmlns:a="http://schemas.openxmlformats.org/drawingml/2006/main" noGrp="1"/>
          </p:cNvSpPr>
          <p:nvPr/>
        </p:nvSpPr>
        <p:spPr>
          <a:xfrm xmlns:a="http://schemas.openxmlformats.org/drawingml/2006/main">
            <a:off x="8572500" y="47625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i="0">
                <a:solidFill>
                  <a:srgbClr val="065A82"/>
                </a:solidFill>
                <a:latin typeface="Calibri"/>
                <a:ea typeface="Calibri"/>
                <a:cs typeface="Calibri"/>
              </a:defRPr>
            </a:pPr>
            <a:r>
              <a:rPr sz="1050" b="1" i="0">
                <a:solidFill>
                  <a:srgbClr val="065A82"/>
                </a:solidFill>
                <a:latin typeface="Calibri"/>
                <a:ea typeface="Calibri"/>
                <a:cs typeface="Calibri"/>
              </a:rPr>
              <a:t>One distribution</a:t>
            </a:r>
          </a:p>
        </p:txBody>
      </p:sp>
      <p:sp>
        <p:nvSpPr>
          <p:cNvPr id="43" name="">
            <a:extLst xmlns:a="http://schemas.openxmlformats.org/drawingml/2006/main">
              <a:ext uri="{FF2B5EF4-FFF2-40B4-BE49-F238E27FC236}">
                <a16:creationId xmlns:a16="http://schemas.microsoft.com/office/drawing/2014/main" id="{128B0116-28BC-4CD6-9FD8-97AB32F21525}"/>
              </a:ext>
            </a:extLst>
          </p:cNvPr>
          <p:cNvSpPr>
            <a:spLocks xmlns:a="http://schemas.openxmlformats.org/drawingml/2006/main" noGrp="1"/>
          </p:cNvSpPr>
          <p:nvPr/>
        </p:nvSpPr>
        <p:spPr>
          <a:xfrm xmlns:a="http://schemas.openxmlformats.org/drawingml/2006/main">
            <a:off x="8572500" y="49815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38" b="0" i="0">
                <a:solidFill>
                  <a:srgbClr val="1A1F2B"/>
                </a:solidFill>
                <a:latin typeface="Calibri"/>
                <a:ea typeface="Calibri"/>
                <a:cs typeface="Calibri"/>
              </a:defRPr>
            </a:pPr>
            <a:r>
              <a:rPr sz="938" b="0" i="0">
                <a:solidFill>
                  <a:srgbClr val="1A1F2B"/>
                </a:solidFill>
                <a:latin typeface="Calibri"/>
                <a:ea typeface="Calibri"/>
                <a:cs typeface="Calibri"/>
              </a:rPr>
              <a:t>Softmax is applied across candidates.</a:t>
            </a:r>
          </a:p>
        </p:txBody>
      </p:sp>
      <p:sp>
        <p:nvSpPr>
          <p:cNvPr id="44" name="">
            <a:extLst xmlns:a="http://schemas.openxmlformats.org/drawingml/2006/main">
              <a:ext uri="{FF2B5EF4-FFF2-40B4-BE49-F238E27FC236}">
                <a16:creationId xmlns:a16="http://schemas.microsoft.com/office/drawing/2014/main" id="{657D485E-C671-4DE4-83D4-84051DA7A2D0}"/>
              </a:ext>
            </a:extLst>
          </p:cNvPr>
          <p:cNvSpPr>
            <a:spLocks xmlns:a="http://schemas.openxmlformats.org/drawingml/2006/main" noGrp="1"/>
          </p:cNvSpPr>
          <p:nvPr/>
        </p:nvSpPr>
        <p:spPr>
          <a:xfrm xmlns:a="http://schemas.openxmlformats.org/drawingml/2006/main">
            <a:off x="8572500" y="54102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i="0">
                <a:solidFill>
                  <a:srgbClr val="065A82"/>
                </a:solidFill>
                <a:latin typeface="Calibri"/>
                <a:ea typeface="Calibri"/>
                <a:cs typeface="Calibri"/>
              </a:defRPr>
            </a:pPr>
            <a:r>
              <a:rPr sz="1050" b="1" i="0">
                <a:solidFill>
                  <a:srgbClr val="065A82"/>
                </a:solidFill>
                <a:latin typeface="Calibri"/>
                <a:ea typeface="Calibri"/>
                <a:cs typeface="Calibri"/>
              </a:rPr>
              <a:t>Explicit abstention</a:t>
            </a:r>
          </a:p>
        </p:txBody>
      </p:sp>
      <p:sp>
        <p:nvSpPr>
          <p:cNvPr id="45" name="">
            <a:extLst xmlns:a="http://schemas.openxmlformats.org/drawingml/2006/main">
              <a:ext uri="{FF2B5EF4-FFF2-40B4-BE49-F238E27FC236}">
                <a16:creationId xmlns:a16="http://schemas.microsoft.com/office/drawing/2014/main" id="{63FD2043-D99B-4F60-8504-2431E9176D6A}"/>
              </a:ext>
            </a:extLst>
          </p:cNvPr>
          <p:cNvSpPr>
            <a:spLocks xmlns:a="http://schemas.openxmlformats.org/drawingml/2006/main" noGrp="1"/>
          </p:cNvSpPr>
          <p:nvPr/>
        </p:nvSpPr>
        <p:spPr>
          <a:xfrm xmlns:a="http://schemas.openxmlformats.org/drawingml/2006/main">
            <a:off x="8572500" y="56292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38" b="0" i="0">
                <a:solidFill>
                  <a:srgbClr val="1A1F2B"/>
                </a:solidFill>
                <a:latin typeface="Calibri"/>
                <a:ea typeface="Calibri"/>
                <a:cs typeface="Calibri"/>
              </a:defRPr>
            </a:pPr>
            <a:r>
              <a:rPr sz="938" b="0" i="0">
                <a:solidFill>
                  <a:srgbClr val="1A1F2B"/>
                </a:solidFill>
                <a:latin typeface="Calibri"/>
                <a:ea typeface="Calibri"/>
                <a:cs typeface="Calibri"/>
              </a:rPr>
              <a:t>Both probability and margin must clear.</a:t>
            </a:r>
          </a:p>
        </p:txBody>
      </p:sp>
    </p:spTree>
    <p:extLst>
      <p:ext uri="{BB962C8B-B14F-4D97-AF65-F5344CB8AC3E}">
        <p14:creationId xmlns:p14="http://schemas.microsoft.com/office/powerpoint/2010/main" val="25257489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2" name="background">
            <a:extLst xmlns:a="http://schemas.openxmlformats.org/drawingml/2006/main">
              <a:ext uri="{FF2B5EF4-FFF2-40B4-BE49-F238E27FC236}">
                <a16:creationId xmlns:a16="http://schemas.microsoft.com/office/drawing/2014/main" id="{5593E1B4-2D4B-49A2-98A1-973CACD45D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5B26F169-9767-4B9D-A8F4-5522157B1D47}"/>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84ED59-1836-4086-A8AE-EA4CB887468E}"/>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01 · LEXICAL SENTIMENT</a:t>
            </a:r>
          </a:p>
        </p:txBody>
      </p:sp>
      <p:sp>
        <p:nvSpPr>
          <p:cNvPr id="4" name="">
            <a:extLst xmlns:a="http://schemas.openxmlformats.org/drawingml/2006/main">
              <a:ext uri="{FF2B5EF4-FFF2-40B4-BE49-F238E27FC236}">
                <a16:creationId xmlns:a16="http://schemas.microsoft.com/office/drawing/2014/main" id="{EABA0476-EC43-43DC-821F-46422B30D7D3}"/>
              </a:ext>
            </a:extLst>
          </p:cNvPr>
          <p:cNvSpPr>
            <a:spLocks xmlns:a="http://schemas.openxmlformats.org/drawingml/2006/main" noGrp="1"/>
          </p:cNvSpPr>
          <p:nvPr/>
        </p:nvSpPr>
        <p:spPr>
          <a:xfrm xmlns:a="http://schemas.openxmlformats.org/drawingml/2006/main">
            <a:off x="781050" y="666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i="0">
                <a:solidFill>
                  <a:srgbClr val="21295C"/>
                </a:solidFill>
                <a:latin typeface="Georgia"/>
                <a:ea typeface="Georgia"/>
                <a:cs typeface="Georgia"/>
              </a:defRPr>
            </a:pPr>
            <a:r>
              <a:rPr sz="2925" b="1" i="0">
                <a:solidFill>
                  <a:srgbClr val="21295C"/>
                </a:solidFill>
                <a:latin typeface="Georgia"/>
                <a:ea typeface="Georgia"/>
                <a:cs typeface="Georgia"/>
              </a:rPr>
              <a:t>What sentiment does the review express?</a:t>
            </a:r>
          </a:p>
        </p:txBody>
      </p:sp>
      <p:sp>
        <p:nvSpPr>
          <p:cNvPr id="5" name="">
            <a:extLst xmlns:a="http://schemas.openxmlformats.org/drawingml/2006/main">
              <a:ext uri="{FF2B5EF4-FFF2-40B4-BE49-F238E27FC236}">
                <a16:creationId xmlns:a16="http://schemas.microsoft.com/office/drawing/2014/main" id="{DDD0225B-0464-4DAD-8EA9-79782E630D1D}"/>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AF90C66-539D-4EC9-AD22-BAF50BBA5505}"/>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D416EC1B-B2D2-440A-B755-1DB270C81842}"/>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4F2DA4D4-DA76-43D0-8E2B-6F1E99C2B8F5}"/>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{"review":"This is the best meal I have ever eaten. Absolutely wonderful."}</a:t>
            </a:r>
          </a:p>
        </p:txBody>
      </p:sp>
      <p:sp>
        <p:nvSpPr>
          <p:cNvPr id="9" name="MODERNBERT NLI-panel">
            <a:extLst xmlns:a="http://schemas.openxmlformats.org/drawingml/2006/main">
              <a:ext uri="{FF2B5EF4-FFF2-40B4-BE49-F238E27FC236}">
                <a16:creationId xmlns:a16="http://schemas.microsoft.com/office/drawing/2014/main" id="{21664D62-192E-420B-90E5-17E58DC08642}"/>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512A6641-C04D-40ED-9F16-E1BBD7A3C059}"/>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55EEF46-51E4-4DB0-A393-9CDC72EC642A}"/>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03453AE5-6C37-4F44-937A-BA2954A63E1B}"/>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F947E1CD-DCEB-406E-B95B-131F2B0A9AF6}"/>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5336C35-3663-479E-9372-919E30D988E8}"/>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EC5E7267-9B79-4726-978F-38F246AEE2EB}"/>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positive</a:t>
            </a:r>
          </a:p>
        </p:txBody>
      </p:sp>
      <p:sp>
        <p:nvSpPr>
          <p:cNvPr id="16" name="">
            <a:extLst xmlns:a="http://schemas.openxmlformats.org/drawingml/2006/main">
              <a:ext uri="{FF2B5EF4-FFF2-40B4-BE49-F238E27FC236}">
                <a16:creationId xmlns:a16="http://schemas.microsoft.com/office/drawing/2014/main" id="{1FC2F157-CDAD-4AED-87FF-93494C5D8F5A}"/>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0.9862</a:t>
            </a:r>
          </a:p>
        </p:txBody>
      </p:sp>
      <p:sp>
        <p:nvSpPr>
          <p:cNvPr id="17" name="track-positive">
            <a:extLst xmlns:a="http://schemas.openxmlformats.org/drawingml/2006/main">
              <a:ext uri="{FF2B5EF4-FFF2-40B4-BE49-F238E27FC236}">
                <a16:creationId xmlns:a16="http://schemas.microsoft.com/office/drawing/2014/main" id="{1061BC78-A089-4A18-B5BD-557059D7366C}"/>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positive">
            <a:extLst xmlns:a="http://schemas.openxmlformats.org/drawingml/2006/main">
              <a:ext uri="{FF2B5EF4-FFF2-40B4-BE49-F238E27FC236}">
                <a16:creationId xmlns:a16="http://schemas.microsoft.com/office/drawing/2014/main" id="{9A4F8015-C386-4F5E-A038-994F37234D51}"/>
              </a:ext>
            </a:extLst>
          </p:cNvPr>
          <p:cNvSpPr>
            <a:spLocks xmlns:a="http://schemas.openxmlformats.org/drawingml/2006/main" noGrp="1"/>
          </p:cNvSpPr>
          <p:nvPr/>
        </p:nvSpPr>
        <p:spPr>
          <a:xfrm xmlns:a="http://schemas.openxmlformats.org/drawingml/2006/main">
            <a:off x="990600" y="2962275"/>
            <a:ext cx="4565041"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BA2F3B0-0833-4E84-A513-16CE07129DFB}"/>
              </a:ext>
            </a:extLst>
          </p:cNvPr>
          <p:cNvSpPr>
            <a:spLocks xmlns:a="http://schemas.openxmlformats.org/drawingml/2006/main" noGrp="1"/>
          </p:cNvSpPr>
          <p:nvPr/>
        </p:nvSpPr>
        <p:spPr>
          <a:xfrm xmlns:a="http://schemas.openxmlformats.org/drawingml/2006/main">
            <a:off x="9906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negative</a:t>
            </a:r>
          </a:p>
        </p:txBody>
      </p:sp>
      <p:sp>
        <p:nvSpPr>
          <p:cNvPr id="20" name="">
            <a:extLst xmlns:a="http://schemas.openxmlformats.org/drawingml/2006/main">
              <a:ext uri="{FF2B5EF4-FFF2-40B4-BE49-F238E27FC236}">
                <a16:creationId xmlns:a16="http://schemas.microsoft.com/office/drawing/2014/main" id="{E771562A-0413-43F7-B4EC-F044E5AC00F3}"/>
              </a:ext>
            </a:extLst>
          </p:cNvPr>
          <p:cNvSpPr>
            <a:spLocks xmlns:a="http://schemas.openxmlformats.org/drawingml/2006/main" noGrp="1"/>
          </p:cNvSpPr>
          <p:nvPr/>
        </p:nvSpPr>
        <p:spPr>
          <a:xfrm xmlns:a="http://schemas.openxmlformats.org/drawingml/2006/main">
            <a:off x="40458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0.0138</a:t>
            </a:r>
          </a:p>
        </p:txBody>
      </p:sp>
      <p:sp>
        <p:nvSpPr>
          <p:cNvPr id="21" name="track-negative">
            <a:extLst xmlns:a="http://schemas.openxmlformats.org/drawingml/2006/main">
              <a:ext uri="{FF2B5EF4-FFF2-40B4-BE49-F238E27FC236}">
                <a16:creationId xmlns:a16="http://schemas.microsoft.com/office/drawing/2014/main" id="{885199C9-4100-473B-A762-9E16C93D5D75}"/>
              </a:ext>
            </a:extLst>
          </p:cNvPr>
          <p:cNvSpPr>
            <a:spLocks xmlns:a="http://schemas.openxmlformats.org/drawingml/2006/main" noGrp="1"/>
          </p:cNvSpPr>
          <p:nvPr/>
        </p:nvSpPr>
        <p:spPr>
          <a:xfrm xmlns:a="http://schemas.openxmlformats.org/drawingml/2006/main">
            <a:off x="9906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negative">
            <a:extLst xmlns:a="http://schemas.openxmlformats.org/drawingml/2006/main">
              <a:ext uri="{FF2B5EF4-FFF2-40B4-BE49-F238E27FC236}">
                <a16:creationId xmlns:a16="http://schemas.microsoft.com/office/drawing/2014/main" id="{8D46C88B-541D-4DAE-A14C-8489BD86B200}"/>
              </a:ext>
            </a:extLst>
          </p:cNvPr>
          <p:cNvSpPr>
            <a:spLocks xmlns:a="http://schemas.openxmlformats.org/drawingml/2006/main" noGrp="1"/>
          </p:cNvSpPr>
          <p:nvPr/>
        </p:nvSpPr>
        <p:spPr>
          <a:xfrm xmlns:a="http://schemas.openxmlformats.org/drawingml/2006/main">
            <a:off x="990600" y="3743325"/>
            <a:ext cx="64109"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D33ED01-EC58-41C7-B271-0577075394DD}"/>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positive</a:t>
            </a:r>
          </a:p>
        </p:txBody>
      </p:sp>
      <p:sp>
        <p:nvSpPr>
          <p:cNvPr id="24" name="">
            <a:extLst xmlns:a="http://schemas.openxmlformats.org/drawingml/2006/main">
              <a:ext uri="{FF2B5EF4-FFF2-40B4-BE49-F238E27FC236}">
                <a16:creationId xmlns:a16="http://schemas.microsoft.com/office/drawing/2014/main" id="{562FCB05-FF77-4C0D-8D4A-1961BE5D1A9B}"/>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5" name="track-positive">
            <a:extLst xmlns:a="http://schemas.openxmlformats.org/drawingml/2006/main">
              <a:ext uri="{FF2B5EF4-FFF2-40B4-BE49-F238E27FC236}">
                <a16:creationId xmlns:a16="http://schemas.microsoft.com/office/drawing/2014/main" id="{2B3B663D-DD50-46E6-96F8-7C43A46AEE7B}"/>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positive">
            <a:extLst xmlns:a="http://schemas.openxmlformats.org/drawingml/2006/main">
              <a:ext uri="{FF2B5EF4-FFF2-40B4-BE49-F238E27FC236}">
                <a16:creationId xmlns:a16="http://schemas.microsoft.com/office/drawing/2014/main" id="{F6D8E236-53B4-4D1E-94C1-D77F3B2DEC1F}"/>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9061AD3-CE9C-480A-AC3C-6BAD61A5BEAB}"/>
              </a:ext>
            </a:extLst>
          </p:cNvPr>
          <p:cNvSpPr>
            <a:spLocks xmlns:a="http://schemas.openxmlformats.org/drawingml/2006/main" noGrp="1"/>
          </p:cNvSpPr>
          <p:nvPr/>
        </p:nvSpPr>
        <p:spPr>
          <a:xfrm xmlns:a="http://schemas.openxmlformats.org/drawingml/2006/main">
            <a:off x="64008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negative</a:t>
            </a:r>
          </a:p>
        </p:txBody>
      </p:sp>
      <p:sp>
        <p:nvSpPr>
          <p:cNvPr id="28" name="">
            <a:extLst xmlns:a="http://schemas.openxmlformats.org/drawingml/2006/main">
              <a:ext uri="{FF2B5EF4-FFF2-40B4-BE49-F238E27FC236}">
                <a16:creationId xmlns:a16="http://schemas.microsoft.com/office/drawing/2014/main" id="{9855DA30-DCA2-47BF-8B30-C52F97A9201C}"/>
              </a:ext>
            </a:extLst>
          </p:cNvPr>
          <p:cNvSpPr>
            <a:spLocks xmlns:a="http://schemas.openxmlformats.org/drawingml/2006/main" noGrp="1"/>
          </p:cNvSpPr>
          <p:nvPr/>
        </p:nvSpPr>
        <p:spPr>
          <a:xfrm xmlns:a="http://schemas.openxmlformats.org/drawingml/2006/main">
            <a:off x="94560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29" name="track-negative">
            <a:extLst xmlns:a="http://schemas.openxmlformats.org/drawingml/2006/main">
              <a:ext uri="{FF2B5EF4-FFF2-40B4-BE49-F238E27FC236}">
                <a16:creationId xmlns:a16="http://schemas.microsoft.com/office/drawing/2014/main" id="{0986C25E-0F5A-4210-A800-95424F029748}"/>
              </a:ext>
            </a:extLst>
          </p:cNvPr>
          <p:cNvSpPr>
            <a:spLocks xmlns:a="http://schemas.openxmlformats.org/drawingml/2006/main" noGrp="1"/>
          </p:cNvSpPr>
          <p:nvPr/>
        </p:nvSpPr>
        <p:spPr>
          <a:xfrm xmlns:a="http://schemas.openxmlformats.org/drawingml/2006/main">
            <a:off x="64008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negative">
            <a:extLst xmlns:a="http://schemas.openxmlformats.org/drawingml/2006/main">
              <a:ext uri="{FF2B5EF4-FFF2-40B4-BE49-F238E27FC236}">
                <a16:creationId xmlns:a16="http://schemas.microsoft.com/office/drawing/2014/main" id="{3784E3F2-2E8A-4F0B-B4AE-D17A722D685B}"/>
              </a:ext>
            </a:extLst>
          </p:cNvPr>
          <p:cNvSpPr>
            <a:spLocks xmlns:a="http://schemas.openxmlformats.org/drawingml/2006/main" noGrp="1"/>
          </p:cNvSpPr>
          <p:nvPr/>
        </p:nvSpPr>
        <p:spPr>
          <a:xfrm xmlns:a="http://schemas.openxmlformats.org/drawingml/2006/main">
            <a:off x="6400800" y="37433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5B0710C-246B-4D68-A50C-DAA1FCE8C586}"/>
              </a:ext>
            </a:extLst>
          </p:cNvPr>
          <p:cNvSpPr>
            <a:spLocks xmlns:a="http://schemas.openxmlformats.org/drawingml/2006/main" noGrp="1"/>
          </p:cNvSpPr>
          <p:nvPr/>
        </p:nvSpPr>
        <p:spPr>
          <a:xfrm xmlns:a="http://schemas.openxmlformats.org/drawingml/2006/main">
            <a:off x="9906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CD27D1E-09C3-450A-B86C-90EEFC074EBD}"/>
              </a:ext>
            </a:extLst>
          </p:cNvPr>
          <p:cNvSpPr>
            <a:spLocks xmlns:a="http://schemas.openxmlformats.org/drawingml/2006/main" noGrp="1"/>
          </p:cNvSpPr>
          <p:nvPr/>
        </p:nvSpPr>
        <p:spPr>
          <a:xfrm xmlns:a="http://schemas.openxmlformats.org/drawingml/2006/main">
            <a:off x="64008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8FD164F-B17A-4CE3-96E1-D15E320E9793}"/>
              </a:ext>
            </a:extLst>
          </p:cNvPr>
          <p:cNvSpPr>
            <a:spLocks xmlns:a="http://schemas.openxmlformats.org/drawingml/2006/main" noGrp="1"/>
          </p:cNvSpPr>
          <p:nvPr/>
        </p:nvSpPr>
        <p:spPr>
          <a:xfrm xmlns:a="http://schemas.openxmlformats.org/drawingml/2006/main">
            <a:off x="9906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34" name="">
            <a:extLst xmlns:a="http://schemas.openxmlformats.org/drawingml/2006/main">
              <a:ext uri="{FF2B5EF4-FFF2-40B4-BE49-F238E27FC236}">
                <a16:creationId xmlns:a16="http://schemas.microsoft.com/office/drawing/2014/main" id="{A53A5C23-1B33-4805-B941-E45C6FA16026}"/>
              </a:ext>
            </a:extLst>
          </p:cNvPr>
          <p:cNvSpPr>
            <a:spLocks xmlns:a="http://schemas.openxmlformats.org/drawingml/2006/main" noGrp="1"/>
          </p:cNvSpPr>
          <p:nvPr/>
        </p:nvSpPr>
        <p:spPr>
          <a:xfrm xmlns:a="http://schemas.openxmlformats.org/drawingml/2006/main">
            <a:off x="9906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positive</a:t>
            </a:r>
          </a:p>
        </p:txBody>
      </p:sp>
      <p:sp>
        <p:nvSpPr>
          <p:cNvPr id="35" name="">
            <a:extLst xmlns:a="http://schemas.openxmlformats.org/drawingml/2006/main">
              <a:ext uri="{FF2B5EF4-FFF2-40B4-BE49-F238E27FC236}">
                <a16:creationId xmlns:a16="http://schemas.microsoft.com/office/drawing/2014/main" id="{B5661503-B3B5-4643-B055-6A907DB5B11F}"/>
              </a:ext>
            </a:extLst>
          </p:cNvPr>
          <p:cNvSpPr>
            <a:spLocks xmlns:a="http://schemas.openxmlformats.org/drawingml/2006/main" noGrp="1"/>
          </p:cNvSpPr>
          <p:nvPr/>
        </p:nvSpPr>
        <p:spPr>
          <a:xfrm xmlns:a="http://schemas.openxmlformats.org/drawingml/2006/main">
            <a:off x="25431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36" name="">
            <a:extLst xmlns:a="http://schemas.openxmlformats.org/drawingml/2006/main">
              <a:ext uri="{FF2B5EF4-FFF2-40B4-BE49-F238E27FC236}">
                <a16:creationId xmlns:a16="http://schemas.microsoft.com/office/drawing/2014/main" id="{C9D36660-8EDF-434F-BE82-37A13B685759}"/>
              </a:ext>
            </a:extLst>
          </p:cNvPr>
          <p:cNvSpPr>
            <a:spLocks xmlns:a="http://schemas.openxmlformats.org/drawingml/2006/main" noGrp="1"/>
          </p:cNvSpPr>
          <p:nvPr/>
        </p:nvSpPr>
        <p:spPr>
          <a:xfrm xmlns:a="http://schemas.openxmlformats.org/drawingml/2006/main">
            <a:off x="25431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0.9862</a:t>
            </a:r>
          </a:p>
        </p:txBody>
      </p:sp>
      <p:sp>
        <p:nvSpPr>
          <p:cNvPr id="37" name="">
            <a:extLst xmlns:a="http://schemas.openxmlformats.org/drawingml/2006/main">
              <a:ext uri="{FF2B5EF4-FFF2-40B4-BE49-F238E27FC236}">
                <a16:creationId xmlns:a16="http://schemas.microsoft.com/office/drawing/2014/main" id="{53877873-AE2F-41E4-A0A9-106FCDDE4518}"/>
              </a:ext>
            </a:extLst>
          </p:cNvPr>
          <p:cNvSpPr>
            <a:spLocks xmlns:a="http://schemas.openxmlformats.org/drawingml/2006/main" noGrp="1"/>
          </p:cNvSpPr>
          <p:nvPr/>
        </p:nvSpPr>
        <p:spPr>
          <a:xfrm xmlns:a="http://schemas.openxmlformats.org/drawingml/2006/main">
            <a:off x="39052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38" name="">
            <a:extLst xmlns:a="http://schemas.openxmlformats.org/drawingml/2006/main">
              <a:ext uri="{FF2B5EF4-FFF2-40B4-BE49-F238E27FC236}">
                <a16:creationId xmlns:a16="http://schemas.microsoft.com/office/drawing/2014/main" id="{AE3DD369-39BA-45AF-BE08-5761E0A2E6AB}"/>
              </a:ext>
            </a:extLst>
          </p:cNvPr>
          <p:cNvSpPr>
            <a:spLocks xmlns:a="http://schemas.openxmlformats.org/drawingml/2006/main" noGrp="1"/>
          </p:cNvSpPr>
          <p:nvPr/>
        </p:nvSpPr>
        <p:spPr>
          <a:xfrm xmlns:a="http://schemas.openxmlformats.org/drawingml/2006/main">
            <a:off x="39052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0.9723</a:t>
            </a:r>
          </a:p>
        </p:txBody>
      </p:sp>
      <p:sp>
        <p:nvSpPr>
          <p:cNvPr id="39" name="">
            <a:extLst xmlns:a="http://schemas.openxmlformats.org/drawingml/2006/main">
              <a:ext uri="{FF2B5EF4-FFF2-40B4-BE49-F238E27FC236}">
                <a16:creationId xmlns:a16="http://schemas.microsoft.com/office/drawing/2014/main" id="{DFC2A5F5-7863-444D-BA9D-B82EE75AF0A4}"/>
              </a:ext>
            </a:extLst>
          </p:cNvPr>
          <p:cNvSpPr>
            <a:spLocks xmlns:a="http://schemas.openxmlformats.org/drawingml/2006/main" noGrp="1"/>
          </p:cNvSpPr>
          <p:nvPr/>
        </p:nvSpPr>
        <p:spPr>
          <a:xfrm xmlns:a="http://schemas.openxmlformats.org/drawingml/2006/main">
            <a:off x="49530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0" name="">
            <a:extLst xmlns:a="http://schemas.openxmlformats.org/drawingml/2006/main">
              <a:ext uri="{FF2B5EF4-FFF2-40B4-BE49-F238E27FC236}">
                <a16:creationId xmlns:a16="http://schemas.microsoft.com/office/drawing/2014/main" id="{0561E5D3-6E7B-45D0-8FE0-E966823AB776}"/>
              </a:ext>
            </a:extLst>
          </p:cNvPr>
          <p:cNvSpPr>
            <a:spLocks xmlns:a="http://schemas.openxmlformats.org/drawingml/2006/main" noGrp="1"/>
          </p:cNvSpPr>
          <p:nvPr/>
        </p:nvSpPr>
        <p:spPr>
          <a:xfrm xmlns:a="http://schemas.openxmlformats.org/drawingml/2006/main">
            <a:off x="49530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1" name="">
            <a:extLst xmlns:a="http://schemas.openxmlformats.org/drawingml/2006/main">
              <a:ext uri="{FF2B5EF4-FFF2-40B4-BE49-F238E27FC236}">
                <a16:creationId xmlns:a16="http://schemas.microsoft.com/office/drawing/2014/main" id="{5B2E24CC-07A3-43F5-A656-8B6CE9AEA7BD}"/>
              </a:ext>
            </a:extLst>
          </p:cNvPr>
          <p:cNvSpPr>
            <a:spLocks xmlns:a="http://schemas.openxmlformats.org/drawingml/2006/main" noGrp="1"/>
          </p:cNvSpPr>
          <p:nvPr/>
        </p:nvSpPr>
        <p:spPr>
          <a:xfrm xmlns:a="http://schemas.openxmlformats.org/drawingml/2006/main">
            <a:off x="64008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7F67D885-EE60-43D6-AD2F-6D00D27D6572}"/>
              </a:ext>
            </a:extLst>
          </p:cNvPr>
          <p:cNvSpPr>
            <a:spLocks xmlns:a="http://schemas.openxmlformats.org/drawingml/2006/main" noGrp="1"/>
          </p:cNvSpPr>
          <p:nvPr/>
        </p:nvSpPr>
        <p:spPr>
          <a:xfrm xmlns:a="http://schemas.openxmlformats.org/drawingml/2006/main">
            <a:off x="64008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positive</a:t>
            </a:r>
          </a:p>
        </p:txBody>
      </p:sp>
      <p:sp>
        <p:nvSpPr>
          <p:cNvPr id="43" name="">
            <a:extLst xmlns:a="http://schemas.openxmlformats.org/drawingml/2006/main">
              <a:ext uri="{FF2B5EF4-FFF2-40B4-BE49-F238E27FC236}">
                <a16:creationId xmlns:a16="http://schemas.microsoft.com/office/drawing/2014/main" id="{8F188237-818F-43D9-82E3-A28CF8361EC5}"/>
              </a:ext>
            </a:extLst>
          </p:cNvPr>
          <p:cNvSpPr>
            <a:spLocks xmlns:a="http://schemas.openxmlformats.org/drawingml/2006/main" noGrp="1"/>
          </p:cNvSpPr>
          <p:nvPr/>
        </p:nvSpPr>
        <p:spPr>
          <a:xfrm xmlns:a="http://schemas.openxmlformats.org/drawingml/2006/main">
            <a:off x="79533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48B97E87-B2C6-4FBD-AF14-E4A28BC9A451}"/>
              </a:ext>
            </a:extLst>
          </p:cNvPr>
          <p:cNvSpPr>
            <a:spLocks xmlns:a="http://schemas.openxmlformats.org/drawingml/2006/main" noGrp="1"/>
          </p:cNvSpPr>
          <p:nvPr/>
        </p:nvSpPr>
        <p:spPr>
          <a:xfrm xmlns:a="http://schemas.openxmlformats.org/drawingml/2006/main">
            <a:off x="79533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5" name="">
            <a:extLst xmlns:a="http://schemas.openxmlformats.org/drawingml/2006/main">
              <a:ext uri="{FF2B5EF4-FFF2-40B4-BE49-F238E27FC236}">
                <a16:creationId xmlns:a16="http://schemas.microsoft.com/office/drawing/2014/main" id="{7B9B2102-AC1C-4D6B-BFA1-2CB67E04D054}"/>
              </a:ext>
            </a:extLst>
          </p:cNvPr>
          <p:cNvSpPr>
            <a:spLocks xmlns:a="http://schemas.openxmlformats.org/drawingml/2006/main" noGrp="1"/>
          </p:cNvSpPr>
          <p:nvPr/>
        </p:nvSpPr>
        <p:spPr>
          <a:xfrm xmlns:a="http://schemas.openxmlformats.org/drawingml/2006/main">
            <a:off x="93154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69D3637B-E931-491A-89A4-D5308D285CF1}"/>
              </a:ext>
            </a:extLst>
          </p:cNvPr>
          <p:cNvSpPr>
            <a:spLocks xmlns:a="http://schemas.openxmlformats.org/drawingml/2006/main" noGrp="1"/>
          </p:cNvSpPr>
          <p:nvPr/>
        </p:nvSpPr>
        <p:spPr>
          <a:xfrm xmlns:a="http://schemas.openxmlformats.org/drawingml/2006/main">
            <a:off x="93154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7" name="">
            <a:extLst xmlns:a="http://schemas.openxmlformats.org/drawingml/2006/main">
              <a:ext uri="{FF2B5EF4-FFF2-40B4-BE49-F238E27FC236}">
                <a16:creationId xmlns:a16="http://schemas.microsoft.com/office/drawing/2014/main" id="{72873E7A-C68A-4254-9F61-665C38A18D28}"/>
              </a:ext>
            </a:extLst>
          </p:cNvPr>
          <p:cNvSpPr>
            <a:spLocks xmlns:a="http://schemas.openxmlformats.org/drawingml/2006/main" noGrp="1"/>
          </p:cNvSpPr>
          <p:nvPr/>
        </p:nvSpPr>
        <p:spPr>
          <a:xfrm xmlns:a="http://schemas.openxmlformats.org/drawingml/2006/main">
            <a:off x="103632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330892C8-67A6-471D-886E-94C23ADA7DAE}"/>
              </a:ext>
            </a:extLst>
          </p:cNvPr>
          <p:cNvSpPr>
            <a:spLocks xmlns:a="http://schemas.openxmlformats.org/drawingml/2006/main" noGrp="1"/>
          </p:cNvSpPr>
          <p:nvPr/>
        </p:nvSpPr>
        <p:spPr>
          <a:xfrm xmlns:a="http://schemas.openxmlformats.org/drawingml/2006/main">
            <a:off x="103632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38D2DB70-3CCE-4043-93E7-9066039DA946}"/>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positive</a:t>
            </a:r>
          </a:p>
        </p:txBody>
      </p:sp>
      <p:sp>
        <p:nvSpPr>
          <p:cNvPr id="50" name="">
            <a:extLst xmlns:a="http://schemas.openxmlformats.org/drawingml/2006/main">
              <a:ext uri="{FF2B5EF4-FFF2-40B4-BE49-F238E27FC236}">
                <a16:creationId xmlns:a16="http://schemas.microsoft.com/office/drawing/2014/main" id="{F97ABFE8-D5AE-43BC-B82E-C5942957FC4A}"/>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1" name="">
            <a:extLst xmlns:a="http://schemas.openxmlformats.org/drawingml/2006/main">
              <a:ext uri="{FF2B5EF4-FFF2-40B4-BE49-F238E27FC236}">
                <a16:creationId xmlns:a16="http://schemas.microsoft.com/office/drawing/2014/main" id="{2377C834-4BB9-4FD9-A921-1220EF1AF427}"/>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1 of 12  ·  id: sentiment_obvious</a:t>
            </a:r>
          </a:p>
        </p:txBody>
      </p:sp>
    </p:spTree>
    <p:extLst>
      <p:ext uri="{BB962C8B-B14F-4D97-AF65-F5344CB8AC3E}">
        <p14:creationId xmlns:p14="http://schemas.microsoft.com/office/powerpoint/2010/main" val="76264761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0" name="background">
            <a:extLst xmlns:a="http://schemas.openxmlformats.org/drawingml/2006/main">
              <a:ext uri="{FF2B5EF4-FFF2-40B4-BE49-F238E27FC236}">
                <a16:creationId xmlns:a16="http://schemas.microsoft.com/office/drawing/2014/main" id="{4ADE80B2-0F7C-4E9D-835F-AE2BD54C3C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BC69FF6C-2493-46B5-8027-B7C2B1EEB927}"/>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2024D3C-678F-4E6B-95FA-29FBC067CFEC}"/>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02 · ARITHMETIC</a:t>
            </a:r>
          </a:p>
        </p:txBody>
      </p:sp>
      <p:sp>
        <p:nvSpPr>
          <p:cNvPr id="4" name="">
            <a:extLst xmlns:a="http://schemas.openxmlformats.org/drawingml/2006/main">
              <a:ext uri="{FF2B5EF4-FFF2-40B4-BE49-F238E27FC236}">
                <a16:creationId xmlns:a16="http://schemas.microsoft.com/office/drawing/2014/main" id="{0D06D99A-F22D-4128-915C-A751FDC0C226}"/>
              </a:ext>
            </a:extLst>
          </p:cNvPr>
          <p:cNvSpPr>
            <a:spLocks xmlns:a="http://schemas.openxmlformats.org/drawingml/2006/main" noGrp="1"/>
          </p:cNvSpPr>
          <p:nvPr/>
        </p:nvSpPr>
        <p:spPr>
          <a:xfrm xmlns:a="http://schemas.openxmlformats.org/drawingml/2006/main">
            <a:off x="781050" y="666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i="0">
                <a:solidFill>
                  <a:srgbClr val="21295C"/>
                </a:solidFill>
                <a:latin typeface="Georgia"/>
                <a:ea typeface="Georgia"/>
                <a:cs typeface="Georgia"/>
              </a:defRPr>
            </a:pPr>
            <a:r>
              <a:rPr sz="2925" b="1" i="0">
                <a:solidFill>
                  <a:srgbClr val="21295C"/>
                </a:solidFill>
                <a:latin typeface="Georgia"/>
                <a:ea typeface="Georgia"/>
                <a:cs typeface="Georgia"/>
              </a:rPr>
              <a:t>What is the value of the expression?</a:t>
            </a:r>
          </a:p>
        </p:txBody>
      </p:sp>
      <p:sp>
        <p:nvSpPr>
          <p:cNvPr id="5" name="">
            <a:extLst xmlns:a="http://schemas.openxmlformats.org/drawingml/2006/main">
              <a:ext uri="{FF2B5EF4-FFF2-40B4-BE49-F238E27FC236}">
                <a16:creationId xmlns:a16="http://schemas.microsoft.com/office/drawing/2014/main" id="{A3C9CBE4-A754-4524-AB5E-98782E4F1A9F}"/>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AC3DB6-344A-4054-9C65-D68F01D22514}"/>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85D150A2-E56A-4388-874A-CDEE37FA30A7}"/>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58A027E5-D8A8-40E1-9C3D-5111EA9FFFE1}"/>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{"expression":"2 + 2"}</a:t>
            </a:r>
          </a:p>
        </p:txBody>
      </p:sp>
      <p:sp>
        <p:nvSpPr>
          <p:cNvPr id="9" name="MODERNBERT NLI-panel">
            <a:extLst xmlns:a="http://schemas.openxmlformats.org/drawingml/2006/main">
              <a:ext uri="{FF2B5EF4-FFF2-40B4-BE49-F238E27FC236}">
                <a16:creationId xmlns:a16="http://schemas.microsoft.com/office/drawing/2014/main" id="{CAAF22E5-3B5E-4FD9-AE8D-0DC94B7D694D}"/>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74D2FDEC-1F5F-4281-B7B0-3458BBC19914}"/>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D0EC52A-52A0-4E87-881C-666DA89AC369}"/>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2A1D8B5B-7ABA-4548-8B67-062598D52BC4}"/>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FFFE1D80-27A6-42EF-90C4-D393D2898E54}"/>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D3DA8A4-52A0-4633-8EE4-52C29B4F84B9}"/>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FA0E7C25-D68C-420E-8D18-99ED0A2BDEF8}"/>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four</a:t>
            </a:r>
          </a:p>
        </p:txBody>
      </p:sp>
      <p:sp>
        <p:nvSpPr>
          <p:cNvPr id="16" name="">
            <a:extLst xmlns:a="http://schemas.openxmlformats.org/drawingml/2006/main">
              <a:ext uri="{FF2B5EF4-FFF2-40B4-BE49-F238E27FC236}">
                <a16:creationId xmlns:a16="http://schemas.microsoft.com/office/drawing/2014/main" id="{87BDD86A-C8B6-4814-9E61-02DD9C554575}"/>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0.3854</a:t>
            </a:r>
          </a:p>
        </p:txBody>
      </p:sp>
      <p:sp>
        <p:nvSpPr>
          <p:cNvPr id="17" name="track-four">
            <a:extLst xmlns:a="http://schemas.openxmlformats.org/drawingml/2006/main">
              <a:ext uri="{FF2B5EF4-FFF2-40B4-BE49-F238E27FC236}">
                <a16:creationId xmlns:a16="http://schemas.microsoft.com/office/drawing/2014/main" id="{B694C824-A1FC-4689-B139-BC6ACE111AB2}"/>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four">
            <a:extLst xmlns:a="http://schemas.openxmlformats.org/drawingml/2006/main">
              <a:ext uri="{FF2B5EF4-FFF2-40B4-BE49-F238E27FC236}">
                <a16:creationId xmlns:a16="http://schemas.microsoft.com/office/drawing/2014/main" id="{EBFDE464-0C87-45ED-8583-44C6F63EEA7F}"/>
              </a:ext>
            </a:extLst>
          </p:cNvPr>
          <p:cNvSpPr>
            <a:spLocks xmlns:a="http://schemas.openxmlformats.org/drawingml/2006/main" noGrp="1"/>
          </p:cNvSpPr>
          <p:nvPr/>
        </p:nvSpPr>
        <p:spPr>
          <a:xfrm xmlns:a="http://schemas.openxmlformats.org/drawingml/2006/main">
            <a:off x="990600" y="2962275"/>
            <a:ext cx="1784056"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0DEE614-5052-4D20-9715-92D2687C8B9E}"/>
              </a:ext>
            </a:extLst>
          </p:cNvPr>
          <p:cNvSpPr>
            <a:spLocks xmlns:a="http://schemas.openxmlformats.org/drawingml/2006/main" noGrp="1"/>
          </p:cNvSpPr>
          <p:nvPr/>
        </p:nvSpPr>
        <p:spPr>
          <a:xfrm xmlns:a="http://schemas.openxmlformats.org/drawingml/2006/main">
            <a:off x="990600" y="33623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twelve</a:t>
            </a:r>
          </a:p>
        </p:txBody>
      </p:sp>
      <p:sp>
        <p:nvSpPr>
          <p:cNvPr id="20" name="">
            <a:extLst xmlns:a="http://schemas.openxmlformats.org/drawingml/2006/main">
              <a:ext uri="{FF2B5EF4-FFF2-40B4-BE49-F238E27FC236}">
                <a16:creationId xmlns:a16="http://schemas.microsoft.com/office/drawing/2014/main" id="{C95E30BC-C2FB-4985-B055-C33F91B315C5}"/>
              </a:ext>
            </a:extLst>
          </p:cNvPr>
          <p:cNvSpPr>
            <a:spLocks xmlns:a="http://schemas.openxmlformats.org/drawingml/2006/main" noGrp="1"/>
          </p:cNvSpPr>
          <p:nvPr/>
        </p:nvSpPr>
        <p:spPr>
          <a:xfrm xmlns:a="http://schemas.openxmlformats.org/drawingml/2006/main">
            <a:off x="4045839" y="33623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0.3121</a:t>
            </a:r>
          </a:p>
        </p:txBody>
      </p:sp>
      <p:sp>
        <p:nvSpPr>
          <p:cNvPr id="21" name="track-twelve">
            <a:extLst xmlns:a="http://schemas.openxmlformats.org/drawingml/2006/main">
              <a:ext uri="{FF2B5EF4-FFF2-40B4-BE49-F238E27FC236}">
                <a16:creationId xmlns:a16="http://schemas.microsoft.com/office/drawing/2014/main" id="{F595D485-27C8-47FA-9BBA-3CA0274AD989}"/>
              </a:ext>
            </a:extLst>
          </p:cNvPr>
          <p:cNvSpPr>
            <a:spLocks xmlns:a="http://schemas.openxmlformats.org/drawingml/2006/main" noGrp="1"/>
          </p:cNvSpPr>
          <p:nvPr/>
        </p:nvSpPr>
        <p:spPr>
          <a:xfrm xmlns:a="http://schemas.openxmlformats.org/drawingml/2006/main">
            <a:off x="990600" y="36290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twelve">
            <a:extLst xmlns:a="http://schemas.openxmlformats.org/drawingml/2006/main">
              <a:ext uri="{FF2B5EF4-FFF2-40B4-BE49-F238E27FC236}">
                <a16:creationId xmlns:a16="http://schemas.microsoft.com/office/drawing/2014/main" id="{73D80C83-DDE2-47BF-ABE1-42A6DFBF6144}"/>
              </a:ext>
            </a:extLst>
          </p:cNvPr>
          <p:cNvSpPr>
            <a:spLocks xmlns:a="http://schemas.openxmlformats.org/drawingml/2006/main" noGrp="1"/>
          </p:cNvSpPr>
          <p:nvPr/>
        </p:nvSpPr>
        <p:spPr>
          <a:xfrm xmlns:a="http://schemas.openxmlformats.org/drawingml/2006/main">
            <a:off x="990600" y="3629025"/>
            <a:ext cx="1444772"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8643030-0F1E-46F9-8FAE-5697AB7690BD}"/>
              </a:ext>
            </a:extLst>
          </p:cNvPr>
          <p:cNvSpPr>
            <a:spLocks xmlns:a="http://schemas.openxmlformats.org/drawingml/2006/main" noGrp="1"/>
          </p:cNvSpPr>
          <p:nvPr/>
        </p:nvSpPr>
        <p:spPr>
          <a:xfrm xmlns:a="http://schemas.openxmlformats.org/drawingml/2006/main">
            <a:off x="990600" y="40290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seven</a:t>
            </a:r>
          </a:p>
        </p:txBody>
      </p:sp>
      <p:sp>
        <p:nvSpPr>
          <p:cNvPr id="24" name="">
            <a:extLst xmlns:a="http://schemas.openxmlformats.org/drawingml/2006/main">
              <a:ext uri="{FF2B5EF4-FFF2-40B4-BE49-F238E27FC236}">
                <a16:creationId xmlns:a16="http://schemas.microsoft.com/office/drawing/2014/main" id="{9B583F74-3BA6-4F0D-ACAC-06DEA7F8C972}"/>
              </a:ext>
            </a:extLst>
          </p:cNvPr>
          <p:cNvSpPr>
            <a:spLocks xmlns:a="http://schemas.openxmlformats.org/drawingml/2006/main" noGrp="1"/>
          </p:cNvSpPr>
          <p:nvPr/>
        </p:nvSpPr>
        <p:spPr>
          <a:xfrm xmlns:a="http://schemas.openxmlformats.org/drawingml/2006/main">
            <a:off x="4045839" y="40290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0.3025</a:t>
            </a:r>
          </a:p>
        </p:txBody>
      </p:sp>
      <p:sp>
        <p:nvSpPr>
          <p:cNvPr id="25" name="track-seven">
            <a:extLst xmlns:a="http://schemas.openxmlformats.org/drawingml/2006/main">
              <a:ext uri="{FF2B5EF4-FFF2-40B4-BE49-F238E27FC236}">
                <a16:creationId xmlns:a16="http://schemas.microsoft.com/office/drawing/2014/main" id="{FA16B725-DD67-41E5-B07D-F5BB9EFC6B06}"/>
              </a:ext>
            </a:extLst>
          </p:cNvPr>
          <p:cNvSpPr>
            <a:spLocks xmlns:a="http://schemas.openxmlformats.org/drawingml/2006/main" noGrp="1"/>
          </p:cNvSpPr>
          <p:nvPr/>
        </p:nvSpPr>
        <p:spPr>
          <a:xfrm xmlns:a="http://schemas.openxmlformats.org/drawingml/2006/main">
            <a:off x="990600" y="42957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seven">
            <a:extLst xmlns:a="http://schemas.openxmlformats.org/drawingml/2006/main">
              <a:ext uri="{FF2B5EF4-FFF2-40B4-BE49-F238E27FC236}">
                <a16:creationId xmlns:a16="http://schemas.microsoft.com/office/drawing/2014/main" id="{04E87EE4-72D9-4728-9EBF-0787C5ECB773}"/>
              </a:ext>
            </a:extLst>
          </p:cNvPr>
          <p:cNvSpPr>
            <a:spLocks xmlns:a="http://schemas.openxmlformats.org/drawingml/2006/main" noGrp="1"/>
          </p:cNvSpPr>
          <p:nvPr/>
        </p:nvSpPr>
        <p:spPr>
          <a:xfrm xmlns:a="http://schemas.openxmlformats.org/drawingml/2006/main">
            <a:off x="990600" y="4295775"/>
            <a:ext cx="1400323"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C4F0E50-0E88-4F2A-B06F-DED910769171}"/>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four</a:t>
            </a:r>
          </a:p>
        </p:txBody>
      </p:sp>
      <p:sp>
        <p:nvSpPr>
          <p:cNvPr id="28" name="">
            <a:extLst xmlns:a="http://schemas.openxmlformats.org/drawingml/2006/main">
              <a:ext uri="{FF2B5EF4-FFF2-40B4-BE49-F238E27FC236}">
                <a16:creationId xmlns:a16="http://schemas.microsoft.com/office/drawing/2014/main" id="{4BC1B69A-9DCD-4A0E-AC97-7FBBE13C0627}"/>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9" name="track-four">
            <a:extLst xmlns:a="http://schemas.openxmlformats.org/drawingml/2006/main">
              <a:ext uri="{FF2B5EF4-FFF2-40B4-BE49-F238E27FC236}">
                <a16:creationId xmlns:a16="http://schemas.microsoft.com/office/drawing/2014/main" id="{A44A1C93-57D6-4524-9A64-20D0D4612787}"/>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four">
            <a:extLst xmlns:a="http://schemas.openxmlformats.org/drawingml/2006/main">
              <a:ext uri="{FF2B5EF4-FFF2-40B4-BE49-F238E27FC236}">
                <a16:creationId xmlns:a16="http://schemas.microsoft.com/office/drawing/2014/main" id="{8133F185-EA8B-44D3-B3BE-7859247BB585}"/>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99F20CA-B868-47DA-8019-EDC9F1E0475B}"/>
              </a:ext>
            </a:extLst>
          </p:cNvPr>
          <p:cNvSpPr>
            <a:spLocks xmlns:a="http://schemas.openxmlformats.org/drawingml/2006/main" noGrp="1"/>
          </p:cNvSpPr>
          <p:nvPr/>
        </p:nvSpPr>
        <p:spPr>
          <a:xfrm xmlns:a="http://schemas.openxmlformats.org/drawingml/2006/main">
            <a:off x="6400800" y="33623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twelve</a:t>
            </a:r>
          </a:p>
        </p:txBody>
      </p:sp>
      <p:sp>
        <p:nvSpPr>
          <p:cNvPr id="32" name="">
            <a:extLst xmlns:a="http://schemas.openxmlformats.org/drawingml/2006/main">
              <a:ext uri="{FF2B5EF4-FFF2-40B4-BE49-F238E27FC236}">
                <a16:creationId xmlns:a16="http://schemas.microsoft.com/office/drawing/2014/main" id="{C064F19C-AAB3-4876-B598-3AF8D681A52A}"/>
              </a:ext>
            </a:extLst>
          </p:cNvPr>
          <p:cNvSpPr>
            <a:spLocks xmlns:a="http://schemas.openxmlformats.org/drawingml/2006/main" noGrp="1"/>
          </p:cNvSpPr>
          <p:nvPr/>
        </p:nvSpPr>
        <p:spPr>
          <a:xfrm xmlns:a="http://schemas.openxmlformats.org/drawingml/2006/main">
            <a:off x="9456039" y="33623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33" name="track-twelve">
            <a:extLst xmlns:a="http://schemas.openxmlformats.org/drawingml/2006/main">
              <a:ext uri="{FF2B5EF4-FFF2-40B4-BE49-F238E27FC236}">
                <a16:creationId xmlns:a16="http://schemas.microsoft.com/office/drawing/2014/main" id="{49A6779A-71FF-4BA7-8FF9-BF58B45CECDB}"/>
              </a:ext>
            </a:extLst>
          </p:cNvPr>
          <p:cNvSpPr>
            <a:spLocks xmlns:a="http://schemas.openxmlformats.org/drawingml/2006/main" noGrp="1"/>
          </p:cNvSpPr>
          <p:nvPr/>
        </p:nvSpPr>
        <p:spPr>
          <a:xfrm xmlns:a="http://schemas.openxmlformats.org/drawingml/2006/main">
            <a:off x="6400800" y="36290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4" name="bar-twelve">
            <a:extLst xmlns:a="http://schemas.openxmlformats.org/drawingml/2006/main">
              <a:ext uri="{FF2B5EF4-FFF2-40B4-BE49-F238E27FC236}">
                <a16:creationId xmlns:a16="http://schemas.microsoft.com/office/drawing/2014/main" id="{2888A079-1113-4922-AE22-FEA261CF171F}"/>
              </a:ext>
            </a:extLst>
          </p:cNvPr>
          <p:cNvSpPr>
            <a:spLocks xmlns:a="http://schemas.openxmlformats.org/drawingml/2006/main" noGrp="1"/>
          </p:cNvSpPr>
          <p:nvPr/>
        </p:nvSpPr>
        <p:spPr>
          <a:xfrm xmlns:a="http://schemas.openxmlformats.org/drawingml/2006/main">
            <a:off x="6400800" y="36290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00A39C9-2128-4CC4-8C52-669511B19D9A}"/>
              </a:ext>
            </a:extLst>
          </p:cNvPr>
          <p:cNvSpPr>
            <a:spLocks xmlns:a="http://schemas.openxmlformats.org/drawingml/2006/main" noGrp="1"/>
          </p:cNvSpPr>
          <p:nvPr/>
        </p:nvSpPr>
        <p:spPr>
          <a:xfrm xmlns:a="http://schemas.openxmlformats.org/drawingml/2006/main">
            <a:off x="6400800" y="40290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seven</a:t>
            </a:r>
          </a:p>
        </p:txBody>
      </p:sp>
      <p:sp>
        <p:nvSpPr>
          <p:cNvPr id="36" name="">
            <a:extLst xmlns:a="http://schemas.openxmlformats.org/drawingml/2006/main">
              <a:ext uri="{FF2B5EF4-FFF2-40B4-BE49-F238E27FC236}">
                <a16:creationId xmlns:a16="http://schemas.microsoft.com/office/drawing/2014/main" id="{A887DE86-FC24-45EF-BB46-42E753FDF972}"/>
              </a:ext>
            </a:extLst>
          </p:cNvPr>
          <p:cNvSpPr>
            <a:spLocks xmlns:a="http://schemas.openxmlformats.org/drawingml/2006/main" noGrp="1"/>
          </p:cNvSpPr>
          <p:nvPr/>
        </p:nvSpPr>
        <p:spPr>
          <a:xfrm xmlns:a="http://schemas.openxmlformats.org/drawingml/2006/main">
            <a:off x="9456039" y="40290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37" name="track-seven">
            <a:extLst xmlns:a="http://schemas.openxmlformats.org/drawingml/2006/main">
              <a:ext uri="{FF2B5EF4-FFF2-40B4-BE49-F238E27FC236}">
                <a16:creationId xmlns:a16="http://schemas.microsoft.com/office/drawing/2014/main" id="{9F9C0E74-3726-4F76-9B39-17B52FF3D739}"/>
              </a:ext>
            </a:extLst>
          </p:cNvPr>
          <p:cNvSpPr>
            <a:spLocks xmlns:a="http://schemas.openxmlformats.org/drawingml/2006/main" noGrp="1"/>
          </p:cNvSpPr>
          <p:nvPr/>
        </p:nvSpPr>
        <p:spPr>
          <a:xfrm xmlns:a="http://schemas.openxmlformats.org/drawingml/2006/main">
            <a:off x="6400800" y="42957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8" name="bar-seven">
            <a:extLst xmlns:a="http://schemas.openxmlformats.org/drawingml/2006/main">
              <a:ext uri="{FF2B5EF4-FFF2-40B4-BE49-F238E27FC236}">
                <a16:creationId xmlns:a16="http://schemas.microsoft.com/office/drawing/2014/main" id="{29C30372-990F-4FE1-846E-959EF2025526}"/>
              </a:ext>
            </a:extLst>
          </p:cNvPr>
          <p:cNvSpPr>
            <a:spLocks xmlns:a="http://schemas.openxmlformats.org/drawingml/2006/main" noGrp="1"/>
          </p:cNvSpPr>
          <p:nvPr/>
        </p:nvSpPr>
        <p:spPr>
          <a:xfrm xmlns:a="http://schemas.openxmlformats.org/drawingml/2006/main">
            <a:off x="6400800" y="429577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FD0B697-95A8-4A4A-8695-839F64CB9E30}"/>
              </a:ext>
            </a:extLst>
          </p:cNvPr>
          <p:cNvSpPr>
            <a:spLocks xmlns:a="http://schemas.openxmlformats.org/drawingml/2006/main" noGrp="1"/>
          </p:cNvSpPr>
          <p:nvPr/>
        </p:nvSpPr>
        <p:spPr>
          <a:xfrm xmlns:a="http://schemas.openxmlformats.org/drawingml/2006/main">
            <a:off x="990600" y="473392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03CFF2B-32D7-4C94-9ECE-275231BFB0F0}"/>
              </a:ext>
            </a:extLst>
          </p:cNvPr>
          <p:cNvSpPr>
            <a:spLocks xmlns:a="http://schemas.openxmlformats.org/drawingml/2006/main" noGrp="1"/>
          </p:cNvSpPr>
          <p:nvPr/>
        </p:nvSpPr>
        <p:spPr>
          <a:xfrm xmlns:a="http://schemas.openxmlformats.org/drawingml/2006/main">
            <a:off x="6400800" y="473392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B5BC3A3-F167-40C1-A13A-49548718EF39}"/>
              </a:ext>
            </a:extLst>
          </p:cNvPr>
          <p:cNvSpPr>
            <a:spLocks xmlns:a="http://schemas.openxmlformats.org/drawingml/2006/main" noGrp="1"/>
          </p:cNvSpPr>
          <p:nvPr/>
        </p:nvSpPr>
        <p:spPr>
          <a:xfrm xmlns:a="http://schemas.openxmlformats.org/drawingml/2006/main">
            <a:off x="990600" y="486727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509FC6E2-079A-4C64-B2CA-22820C497053}"/>
              </a:ext>
            </a:extLst>
          </p:cNvPr>
          <p:cNvSpPr>
            <a:spLocks xmlns:a="http://schemas.openxmlformats.org/drawingml/2006/main" noGrp="1"/>
          </p:cNvSpPr>
          <p:nvPr/>
        </p:nvSpPr>
        <p:spPr>
          <a:xfrm xmlns:a="http://schemas.openxmlformats.org/drawingml/2006/main">
            <a:off x="990600" y="51054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four</a:t>
            </a:r>
          </a:p>
        </p:txBody>
      </p:sp>
      <p:sp>
        <p:nvSpPr>
          <p:cNvPr id="43" name="">
            <a:extLst xmlns:a="http://schemas.openxmlformats.org/drawingml/2006/main">
              <a:ext uri="{FF2B5EF4-FFF2-40B4-BE49-F238E27FC236}">
                <a16:creationId xmlns:a16="http://schemas.microsoft.com/office/drawing/2014/main" id="{5451C831-9C19-4198-B9A4-86271CEA98F0}"/>
              </a:ext>
            </a:extLst>
          </p:cNvPr>
          <p:cNvSpPr>
            <a:spLocks xmlns:a="http://schemas.openxmlformats.org/drawingml/2006/main" noGrp="1"/>
          </p:cNvSpPr>
          <p:nvPr/>
        </p:nvSpPr>
        <p:spPr>
          <a:xfrm xmlns:a="http://schemas.openxmlformats.org/drawingml/2006/main">
            <a:off x="2543175" y="48672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588B91A2-FB16-49D9-B49F-4B68D14A5E60}"/>
              </a:ext>
            </a:extLst>
          </p:cNvPr>
          <p:cNvSpPr>
            <a:spLocks xmlns:a="http://schemas.openxmlformats.org/drawingml/2006/main" noGrp="1"/>
          </p:cNvSpPr>
          <p:nvPr/>
        </p:nvSpPr>
        <p:spPr>
          <a:xfrm xmlns:a="http://schemas.openxmlformats.org/drawingml/2006/main">
            <a:off x="2543175" y="51054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0.3854</a:t>
            </a:r>
          </a:p>
        </p:txBody>
      </p:sp>
      <p:sp>
        <p:nvSpPr>
          <p:cNvPr id="45" name="">
            <a:extLst xmlns:a="http://schemas.openxmlformats.org/drawingml/2006/main">
              <a:ext uri="{FF2B5EF4-FFF2-40B4-BE49-F238E27FC236}">
                <a16:creationId xmlns:a16="http://schemas.microsoft.com/office/drawing/2014/main" id="{CD07BD00-6FE3-40FD-9426-FE129E7C358E}"/>
              </a:ext>
            </a:extLst>
          </p:cNvPr>
          <p:cNvSpPr>
            <a:spLocks xmlns:a="http://schemas.openxmlformats.org/drawingml/2006/main" noGrp="1"/>
          </p:cNvSpPr>
          <p:nvPr/>
        </p:nvSpPr>
        <p:spPr>
          <a:xfrm xmlns:a="http://schemas.openxmlformats.org/drawingml/2006/main">
            <a:off x="3905250" y="486727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1A27F7AA-F44C-46D4-8873-857959BEE015}"/>
              </a:ext>
            </a:extLst>
          </p:cNvPr>
          <p:cNvSpPr>
            <a:spLocks xmlns:a="http://schemas.openxmlformats.org/drawingml/2006/main" noGrp="1"/>
          </p:cNvSpPr>
          <p:nvPr/>
        </p:nvSpPr>
        <p:spPr>
          <a:xfrm xmlns:a="http://schemas.openxmlformats.org/drawingml/2006/main">
            <a:off x="3905250" y="5105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0.0733</a:t>
            </a:r>
          </a:p>
        </p:txBody>
      </p:sp>
      <p:sp>
        <p:nvSpPr>
          <p:cNvPr id="47" name="">
            <a:extLst xmlns:a="http://schemas.openxmlformats.org/drawingml/2006/main">
              <a:ext uri="{FF2B5EF4-FFF2-40B4-BE49-F238E27FC236}">
                <a16:creationId xmlns:a16="http://schemas.microsoft.com/office/drawing/2014/main" id="{0886ACAC-FD3B-4C10-ADA3-1EA456BD6B02}"/>
              </a:ext>
            </a:extLst>
          </p:cNvPr>
          <p:cNvSpPr>
            <a:spLocks xmlns:a="http://schemas.openxmlformats.org/drawingml/2006/main" noGrp="1"/>
          </p:cNvSpPr>
          <p:nvPr/>
        </p:nvSpPr>
        <p:spPr>
          <a:xfrm xmlns:a="http://schemas.openxmlformats.org/drawingml/2006/main">
            <a:off x="4953000" y="4867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556B9E2B-519F-4FE7-8C09-59C0C3447679}"/>
              </a:ext>
            </a:extLst>
          </p:cNvPr>
          <p:cNvSpPr>
            <a:spLocks xmlns:a="http://schemas.openxmlformats.org/drawingml/2006/main" noGrp="1"/>
          </p:cNvSpPr>
          <p:nvPr/>
        </p:nvSpPr>
        <p:spPr>
          <a:xfrm xmlns:a="http://schemas.openxmlformats.org/drawingml/2006/main">
            <a:off x="4953000" y="51054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B86E00"/>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FEF3B834-8F75-4C0F-9066-E9B27119981B}"/>
              </a:ext>
            </a:extLst>
          </p:cNvPr>
          <p:cNvSpPr>
            <a:spLocks xmlns:a="http://schemas.openxmlformats.org/drawingml/2006/main" noGrp="1"/>
          </p:cNvSpPr>
          <p:nvPr/>
        </p:nvSpPr>
        <p:spPr>
          <a:xfrm xmlns:a="http://schemas.openxmlformats.org/drawingml/2006/main">
            <a:off x="6400800" y="486727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50" name="">
            <a:extLst xmlns:a="http://schemas.openxmlformats.org/drawingml/2006/main">
              <a:ext uri="{FF2B5EF4-FFF2-40B4-BE49-F238E27FC236}">
                <a16:creationId xmlns:a16="http://schemas.microsoft.com/office/drawing/2014/main" id="{AD6B5F80-3705-4348-AE81-C829705B7BAA}"/>
              </a:ext>
            </a:extLst>
          </p:cNvPr>
          <p:cNvSpPr>
            <a:spLocks xmlns:a="http://schemas.openxmlformats.org/drawingml/2006/main" noGrp="1"/>
          </p:cNvSpPr>
          <p:nvPr/>
        </p:nvSpPr>
        <p:spPr>
          <a:xfrm xmlns:a="http://schemas.openxmlformats.org/drawingml/2006/main">
            <a:off x="6400800" y="51054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four</a:t>
            </a:r>
          </a:p>
        </p:txBody>
      </p:sp>
      <p:sp>
        <p:nvSpPr>
          <p:cNvPr id="51" name="">
            <a:extLst xmlns:a="http://schemas.openxmlformats.org/drawingml/2006/main">
              <a:ext uri="{FF2B5EF4-FFF2-40B4-BE49-F238E27FC236}">
                <a16:creationId xmlns:a16="http://schemas.microsoft.com/office/drawing/2014/main" id="{B2CA8983-E8DA-493F-81AC-3E48B464F786}"/>
              </a:ext>
            </a:extLst>
          </p:cNvPr>
          <p:cNvSpPr>
            <a:spLocks xmlns:a="http://schemas.openxmlformats.org/drawingml/2006/main" noGrp="1"/>
          </p:cNvSpPr>
          <p:nvPr/>
        </p:nvSpPr>
        <p:spPr>
          <a:xfrm xmlns:a="http://schemas.openxmlformats.org/drawingml/2006/main">
            <a:off x="7953375" y="48672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52" name="">
            <a:extLst xmlns:a="http://schemas.openxmlformats.org/drawingml/2006/main">
              <a:ext uri="{FF2B5EF4-FFF2-40B4-BE49-F238E27FC236}">
                <a16:creationId xmlns:a16="http://schemas.microsoft.com/office/drawing/2014/main" id="{50B5BFEA-1147-4B23-B8F6-444E273825BA}"/>
              </a:ext>
            </a:extLst>
          </p:cNvPr>
          <p:cNvSpPr>
            <a:spLocks xmlns:a="http://schemas.openxmlformats.org/drawingml/2006/main" noGrp="1"/>
          </p:cNvSpPr>
          <p:nvPr/>
        </p:nvSpPr>
        <p:spPr>
          <a:xfrm xmlns:a="http://schemas.openxmlformats.org/drawingml/2006/main">
            <a:off x="7953375" y="51054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53" name="">
            <a:extLst xmlns:a="http://schemas.openxmlformats.org/drawingml/2006/main">
              <a:ext uri="{FF2B5EF4-FFF2-40B4-BE49-F238E27FC236}">
                <a16:creationId xmlns:a16="http://schemas.microsoft.com/office/drawing/2014/main" id="{36AFA468-A758-475B-8531-E4EBF4EBD3FB}"/>
              </a:ext>
            </a:extLst>
          </p:cNvPr>
          <p:cNvSpPr>
            <a:spLocks xmlns:a="http://schemas.openxmlformats.org/drawingml/2006/main" noGrp="1"/>
          </p:cNvSpPr>
          <p:nvPr/>
        </p:nvSpPr>
        <p:spPr>
          <a:xfrm xmlns:a="http://schemas.openxmlformats.org/drawingml/2006/main">
            <a:off x="9315450" y="486727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54" name="">
            <a:extLst xmlns:a="http://schemas.openxmlformats.org/drawingml/2006/main">
              <a:ext uri="{FF2B5EF4-FFF2-40B4-BE49-F238E27FC236}">
                <a16:creationId xmlns:a16="http://schemas.microsoft.com/office/drawing/2014/main" id="{B2227214-906D-4B42-B592-09A07D812DAC}"/>
              </a:ext>
            </a:extLst>
          </p:cNvPr>
          <p:cNvSpPr>
            <a:spLocks xmlns:a="http://schemas.openxmlformats.org/drawingml/2006/main" noGrp="1"/>
          </p:cNvSpPr>
          <p:nvPr/>
        </p:nvSpPr>
        <p:spPr>
          <a:xfrm xmlns:a="http://schemas.openxmlformats.org/drawingml/2006/main">
            <a:off x="9315450" y="5105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55" name="">
            <a:extLst xmlns:a="http://schemas.openxmlformats.org/drawingml/2006/main">
              <a:ext uri="{FF2B5EF4-FFF2-40B4-BE49-F238E27FC236}">
                <a16:creationId xmlns:a16="http://schemas.microsoft.com/office/drawing/2014/main" id="{94D1809E-CE7F-49B0-94BA-15A48E115F11}"/>
              </a:ext>
            </a:extLst>
          </p:cNvPr>
          <p:cNvSpPr>
            <a:spLocks xmlns:a="http://schemas.openxmlformats.org/drawingml/2006/main" noGrp="1"/>
          </p:cNvSpPr>
          <p:nvPr/>
        </p:nvSpPr>
        <p:spPr>
          <a:xfrm xmlns:a="http://schemas.openxmlformats.org/drawingml/2006/main">
            <a:off x="10363200" y="4867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56" name="">
            <a:extLst xmlns:a="http://schemas.openxmlformats.org/drawingml/2006/main">
              <a:ext uri="{FF2B5EF4-FFF2-40B4-BE49-F238E27FC236}">
                <a16:creationId xmlns:a16="http://schemas.microsoft.com/office/drawing/2014/main" id="{BA93C2CC-FD70-4D03-85D7-687141F84EC2}"/>
              </a:ext>
            </a:extLst>
          </p:cNvPr>
          <p:cNvSpPr>
            <a:spLocks xmlns:a="http://schemas.openxmlformats.org/drawingml/2006/main" noGrp="1"/>
          </p:cNvSpPr>
          <p:nvPr/>
        </p:nvSpPr>
        <p:spPr>
          <a:xfrm xmlns:a="http://schemas.openxmlformats.org/drawingml/2006/main">
            <a:off x="10363200" y="51054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57" name="">
            <a:extLst xmlns:a="http://schemas.openxmlformats.org/drawingml/2006/main">
              <a:ext uri="{FF2B5EF4-FFF2-40B4-BE49-F238E27FC236}">
                <a16:creationId xmlns:a16="http://schemas.microsoft.com/office/drawing/2014/main" id="{8B70C649-B6FC-4A89-B542-8A5159C3D5AA}"/>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four</a:t>
            </a:r>
          </a:p>
        </p:txBody>
      </p:sp>
      <p:sp>
        <p:nvSpPr>
          <p:cNvPr id="58" name="">
            <a:extLst xmlns:a="http://schemas.openxmlformats.org/drawingml/2006/main">
              <a:ext uri="{FF2B5EF4-FFF2-40B4-BE49-F238E27FC236}">
                <a16:creationId xmlns:a16="http://schemas.microsoft.com/office/drawing/2014/main" id="{B4236286-A73D-4BE6-9528-6E67A8C465E0}"/>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9" name="">
            <a:extLst xmlns:a="http://schemas.openxmlformats.org/drawingml/2006/main">
              <a:ext uri="{FF2B5EF4-FFF2-40B4-BE49-F238E27FC236}">
                <a16:creationId xmlns:a16="http://schemas.microsoft.com/office/drawing/2014/main" id="{02634EBB-2FEE-49C4-AD59-55B49A330806}"/>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2 of 12  ·  id: arithmetic</a:t>
            </a:r>
          </a:p>
        </p:txBody>
      </p:sp>
    </p:spTree>
    <p:extLst>
      <p:ext uri="{BB962C8B-B14F-4D97-AF65-F5344CB8AC3E}">
        <p14:creationId xmlns:p14="http://schemas.microsoft.com/office/powerpoint/2010/main" val="45147026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0" name="background">
            <a:extLst xmlns:a="http://schemas.openxmlformats.org/drawingml/2006/main">
              <a:ext uri="{FF2B5EF4-FFF2-40B4-BE49-F238E27FC236}">
                <a16:creationId xmlns:a16="http://schemas.microsoft.com/office/drawing/2014/main" id="{94C94F3C-B607-4809-8E18-E9D0442C84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9DD3B2C7-2CB8-4DE9-8F7F-113FF509F97F}"/>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B033D8-086F-4E45-8938-A686379022F4}"/>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03 · WORLD KNOWLEDGE</a:t>
            </a:r>
          </a:p>
        </p:txBody>
      </p:sp>
      <p:sp>
        <p:nvSpPr>
          <p:cNvPr id="4" name="">
            <a:extLst xmlns:a="http://schemas.openxmlformats.org/drawingml/2006/main">
              <a:ext uri="{FF2B5EF4-FFF2-40B4-BE49-F238E27FC236}">
                <a16:creationId xmlns:a16="http://schemas.microsoft.com/office/drawing/2014/main" id="{1ECDAFCF-5242-4E94-89F1-7DB2C496E3E1}"/>
              </a:ext>
            </a:extLst>
          </p:cNvPr>
          <p:cNvSpPr>
            <a:spLocks xmlns:a="http://schemas.openxmlformats.org/drawingml/2006/main" noGrp="1"/>
          </p:cNvSpPr>
          <p:nvPr/>
        </p:nvSpPr>
        <p:spPr>
          <a:xfrm xmlns:a="http://schemas.openxmlformats.org/drawingml/2006/main">
            <a:off x="781050" y="666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i="0">
                <a:solidFill>
                  <a:srgbClr val="21295C"/>
                </a:solidFill>
                <a:latin typeface="Georgia"/>
                <a:ea typeface="Georgia"/>
                <a:cs typeface="Georgia"/>
              </a:defRPr>
            </a:pPr>
            <a:r>
              <a:rPr sz="2925" b="1" i="0">
                <a:solidFill>
                  <a:srgbClr val="21295C"/>
                </a:solidFill>
                <a:latin typeface="Georgia"/>
                <a:ea typeface="Georgia"/>
                <a:cs typeface="Georgia"/>
              </a:rPr>
              <a:t>What is the capital city of this country?</a:t>
            </a:r>
          </a:p>
        </p:txBody>
      </p:sp>
      <p:sp>
        <p:nvSpPr>
          <p:cNvPr id="5" name="">
            <a:extLst xmlns:a="http://schemas.openxmlformats.org/drawingml/2006/main">
              <a:ext uri="{FF2B5EF4-FFF2-40B4-BE49-F238E27FC236}">
                <a16:creationId xmlns:a16="http://schemas.microsoft.com/office/drawing/2014/main" id="{290CA68F-7A6A-468E-9C02-2AAADE9F06A7}"/>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90EEDF5-D190-4B48-9958-A9C58AC217FC}"/>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FF9C1B02-DBE9-44C3-B7EC-D85427628FE8}"/>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3311E589-18B4-4C06-BC4C-168A040DEAA4}"/>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{"country":"France"}</a:t>
            </a:r>
          </a:p>
        </p:txBody>
      </p:sp>
      <p:sp>
        <p:nvSpPr>
          <p:cNvPr id="9" name="MODERNBERT NLI-panel">
            <a:extLst xmlns:a="http://schemas.openxmlformats.org/drawingml/2006/main">
              <a:ext uri="{FF2B5EF4-FFF2-40B4-BE49-F238E27FC236}">
                <a16:creationId xmlns:a16="http://schemas.microsoft.com/office/drawing/2014/main" id="{1C3AC291-09F9-44B1-A89D-BCEE4BA0C800}"/>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9BF7FB9B-732E-4DAD-99A2-4C2EA4720543}"/>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B695A88-BA41-42CC-A072-FEB76749DA04}"/>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A92E4977-97C5-49CB-B41E-83950904BDC7}"/>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87430A96-1FBF-45D0-9C8F-F88A0C735AD2}"/>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FCC84D7-91FD-460E-85CC-6880DA34B734}"/>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7E06CC98-9E6B-4AE8-92C7-4AB924359D07}"/>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paris</a:t>
            </a:r>
          </a:p>
        </p:txBody>
      </p:sp>
      <p:sp>
        <p:nvSpPr>
          <p:cNvPr id="16" name="">
            <a:extLst xmlns:a="http://schemas.openxmlformats.org/drawingml/2006/main">
              <a:ext uri="{FF2B5EF4-FFF2-40B4-BE49-F238E27FC236}">
                <a16:creationId xmlns:a16="http://schemas.microsoft.com/office/drawing/2014/main" id="{906F21A5-0698-44A6-A24B-8EB3BB12DAAD}"/>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0.4442</a:t>
            </a:r>
          </a:p>
        </p:txBody>
      </p:sp>
      <p:sp>
        <p:nvSpPr>
          <p:cNvPr id="17" name="track-paris">
            <a:extLst xmlns:a="http://schemas.openxmlformats.org/drawingml/2006/main">
              <a:ext uri="{FF2B5EF4-FFF2-40B4-BE49-F238E27FC236}">
                <a16:creationId xmlns:a16="http://schemas.microsoft.com/office/drawing/2014/main" id="{8BA8AD6F-C396-456E-817A-701FAEB1985C}"/>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paris">
            <a:extLst xmlns:a="http://schemas.openxmlformats.org/drawingml/2006/main">
              <a:ext uri="{FF2B5EF4-FFF2-40B4-BE49-F238E27FC236}">
                <a16:creationId xmlns:a16="http://schemas.microsoft.com/office/drawing/2014/main" id="{C732B917-89D7-4C15-9314-4C0B530322F0}"/>
              </a:ext>
            </a:extLst>
          </p:cNvPr>
          <p:cNvSpPr>
            <a:spLocks xmlns:a="http://schemas.openxmlformats.org/drawingml/2006/main" noGrp="1"/>
          </p:cNvSpPr>
          <p:nvPr/>
        </p:nvSpPr>
        <p:spPr>
          <a:xfrm xmlns:a="http://schemas.openxmlformats.org/drawingml/2006/main">
            <a:off x="990600" y="2962275"/>
            <a:ext cx="2056213"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70A1422-DC43-4793-B621-9DEE33E19517}"/>
              </a:ext>
            </a:extLst>
          </p:cNvPr>
          <p:cNvSpPr>
            <a:spLocks xmlns:a="http://schemas.openxmlformats.org/drawingml/2006/main" noGrp="1"/>
          </p:cNvSpPr>
          <p:nvPr/>
        </p:nvSpPr>
        <p:spPr>
          <a:xfrm xmlns:a="http://schemas.openxmlformats.org/drawingml/2006/main">
            <a:off x="990600" y="33623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tokyo</a:t>
            </a:r>
          </a:p>
        </p:txBody>
      </p:sp>
      <p:sp>
        <p:nvSpPr>
          <p:cNvPr id="20" name="">
            <a:extLst xmlns:a="http://schemas.openxmlformats.org/drawingml/2006/main">
              <a:ext uri="{FF2B5EF4-FFF2-40B4-BE49-F238E27FC236}">
                <a16:creationId xmlns:a16="http://schemas.microsoft.com/office/drawing/2014/main" id="{DB1EBF6B-B8C1-4E14-A8C7-287A988CE774}"/>
              </a:ext>
            </a:extLst>
          </p:cNvPr>
          <p:cNvSpPr>
            <a:spLocks xmlns:a="http://schemas.openxmlformats.org/drawingml/2006/main" noGrp="1"/>
          </p:cNvSpPr>
          <p:nvPr/>
        </p:nvSpPr>
        <p:spPr>
          <a:xfrm xmlns:a="http://schemas.openxmlformats.org/drawingml/2006/main">
            <a:off x="4045839" y="33623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0.3001</a:t>
            </a:r>
          </a:p>
        </p:txBody>
      </p:sp>
      <p:sp>
        <p:nvSpPr>
          <p:cNvPr id="21" name="track-tokyo">
            <a:extLst xmlns:a="http://schemas.openxmlformats.org/drawingml/2006/main">
              <a:ext uri="{FF2B5EF4-FFF2-40B4-BE49-F238E27FC236}">
                <a16:creationId xmlns:a16="http://schemas.microsoft.com/office/drawing/2014/main" id="{12ED6729-522A-4DAB-9A26-E4D4D9EA8630}"/>
              </a:ext>
            </a:extLst>
          </p:cNvPr>
          <p:cNvSpPr>
            <a:spLocks xmlns:a="http://schemas.openxmlformats.org/drawingml/2006/main" noGrp="1"/>
          </p:cNvSpPr>
          <p:nvPr/>
        </p:nvSpPr>
        <p:spPr>
          <a:xfrm xmlns:a="http://schemas.openxmlformats.org/drawingml/2006/main">
            <a:off x="990600" y="36290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tokyo">
            <a:extLst xmlns:a="http://schemas.openxmlformats.org/drawingml/2006/main">
              <a:ext uri="{FF2B5EF4-FFF2-40B4-BE49-F238E27FC236}">
                <a16:creationId xmlns:a16="http://schemas.microsoft.com/office/drawing/2014/main" id="{CF441603-86D1-410B-9272-669E5B83CE8E}"/>
              </a:ext>
            </a:extLst>
          </p:cNvPr>
          <p:cNvSpPr>
            <a:spLocks xmlns:a="http://schemas.openxmlformats.org/drawingml/2006/main" noGrp="1"/>
          </p:cNvSpPr>
          <p:nvPr/>
        </p:nvSpPr>
        <p:spPr>
          <a:xfrm xmlns:a="http://schemas.openxmlformats.org/drawingml/2006/main">
            <a:off x="990600" y="3629025"/>
            <a:ext cx="1389268"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B89B027-7D5B-4FFB-B2E4-7878D000CB97}"/>
              </a:ext>
            </a:extLst>
          </p:cNvPr>
          <p:cNvSpPr>
            <a:spLocks xmlns:a="http://schemas.openxmlformats.org/drawingml/2006/main" noGrp="1"/>
          </p:cNvSpPr>
          <p:nvPr/>
        </p:nvSpPr>
        <p:spPr>
          <a:xfrm xmlns:a="http://schemas.openxmlformats.org/drawingml/2006/main">
            <a:off x="990600" y="40290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berlin</a:t>
            </a:r>
          </a:p>
        </p:txBody>
      </p:sp>
      <p:sp>
        <p:nvSpPr>
          <p:cNvPr id="24" name="">
            <a:extLst xmlns:a="http://schemas.openxmlformats.org/drawingml/2006/main">
              <a:ext uri="{FF2B5EF4-FFF2-40B4-BE49-F238E27FC236}">
                <a16:creationId xmlns:a16="http://schemas.microsoft.com/office/drawing/2014/main" id="{95E1A8BC-93A8-459F-86E0-5459D5A32B1B}"/>
              </a:ext>
            </a:extLst>
          </p:cNvPr>
          <p:cNvSpPr>
            <a:spLocks xmlns:a="http://schemas.openxmlformats.org/drawingml/2006/main" noGrp="1"/>
          </p:cNvSpPr>
          <p:nvPr/>
        </p:nvSpPr>
        <p:spPr>
          <a:xfrm xmlns:a="http://schemas.openxmlformats.org/drawingml/2006/main">
            <a:off x="4045839" y="40290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0.2557</a:t>
            </a:r>
          </a:p>
        </p:txBody>
      </p:sp>
      <p:sp>
        <p:nvSpPr>
          <p:cNvPr id="25" name="track-berlin">
            <a:extLst xmlns:a="http://schemas.openxmlformats.org/drawingml/2006/main">
              <a:ext uri="{FF2B5EF4-FFF2-40B4-BE49-F238E27FC236}">
                <a16:creationId xmlns:a16="http://schemas.microsoft.com/office/drawing/2014/main" id="{584BA607-8079-4642-A51C-4E7BA409EF85}"/>
              </a:ext>
            </a:extLst>
          </p:cNvPr>
          <p:cNvSpPr>
            <a:spLocks xmlns:a="http://schemas.openxmlformats.org/drawingml/2006/main" noGrp="1"/>
          </p:cNvSpPr>
          <p:nvPr/>
        </p:nvSpPr>
        <p:spPr>
          <a:xfrm xmlns:a="http://schemas.openxmlformats.org/drawingml/2006/main">
            <a:off x="990600" y="42957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berlin">
            <a:extLst xmlns:a="http://schemas.openxmlformats.org/drawingml/2006/main">
              <a:ext uri="{FF2B5EF4-FFF2-40B4-BE49-F238E27FC236}">
                <a16:creationId xmlns:a16="http://schemas.microsoft.com/office/drawing/2014/main" id="{F4B41B1D-F5CE-4583-B07A-717FADBC8829}"/>
              </a:ext>
            </a:extLst>
          </p:cNvPr>
          <p:cNvSpPr>
            <a:spLocks xmlns:a="http://schemas.openxmlformats.org/drawingml/2006/main" noGrp="1"/>
          </p:cNvSpPr>
          <p:nvPr/>
        </p:nvSpPr>
        <p:spPr>
          <a:xfrm xmlns:a="http://schemas.openxmlformats.org/drawingml/2006/main">
            <a:off x="990600" y="4295775"/>
            <a:ext cx="1183669"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3F07C6C-FFED-41F2-B0F2-99EFA0D53E31}"/>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paris</a:t>
            </a:r>
          </a:p>
        </p:txBody>
      </p:sp>
      <p:sp>
        <p:nvSpPr>
          <p:cNvPr id="28" name="">
            <a:extLst xmlns:a="http://schemas.openxmlformats.org/drawingml/2006/main">
              <a:ext uri="{FF2B5EF4-FFF2-40B4-BE49-F238E27FC236}">
                <a16:creationId xmlns:a16="http://schemas.microsoft.com/office/drawing/2014/main" id="{CBC0C7FD-9720-4237-AC4A-A24CED7A6AB8}"/>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9" name="track-paris">
            <a:extLst xmlns:a="http://schemas.openxmlformats.org/drawingml/2006/main">
              <a:ext uri="{FF2B5EF4-FFF2-40B4-BE49-F238E27FC236}">
                <a16:creationId xmlns:a16="http://schemas.microsoft.com/office/drawing/2014/main" id="{693A1968-D420-4629-B6A4-E2EA390C088C}"/>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paris">
            <a:extLst xmlns:a="http://schemas.openxmlformats.org/drawingml/2006/main">
              <a:ext uri="{FF2B5EF4-FFF2-40B4-BE49-F238E27FC236}">
                <a16:creationId xmlns:a16="http://schemas.microsoft.com/office/drawing/2014/main" id="{3EA32F21-FDAA-4D5D-8D34-F3808E20D58E}"/>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62D2C82-3A5A-4A44-881C-68A782E7A790}"/>
              </a:ext>
            </a:extLst>
          </p:cNvPr>
          <p:cNvSpPr>
            <a:spLocks xmlns:a="http://schemas.openxmlformats.org/drawingml/2006/main" noGrp="1"/>
          </p:cNvSpPr>
          <p:nvPr/>
        </p:nvSpPr>
        <p:spPr>
          <a:xfrm xmlns:a="http://schemas.openxmlformats.org/drawingml/2006/main">
            <a:off x="6400800" y="33623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tokyo</a:t>
            </a:r>
          </a:p>
        </p:txBody>
      </p:sp>
      <p:sp>
        <p:nvSpPr>
          <p:cNvPr id="32" name="">
            <a:extLst xmlns:a="http://schemas.openxmlformats.org/drawingml/2006/main">
              <a:ext uri="{FF2B5EF4-FFF2-40B4-BE49-F238E27FC236}">
                <a16:creationId xmlns:a16="http://schemas.microsoft.com/office/drawing/2014/main" id="{3EB90D39-03BC-491E-91F7-6EA8CB7B878C}"/>
              </a:ext>
            </a:extLst>
          </p:cNvPr>
          <p:cNvSpPr>
            <a:spLocks xmlns:a="http://schemas.openxmlformats.org/drawingml/2006/main" noGrp="1"/>
          </p:cNvSpPr>
          <p:nvPr/>
        </p:nvSpPr>
        <p:spPr>
          <a:xfrm xmlns:a="http://schemas.openxmlformats.org/drawingml/2006/main">
            <a:off x="9456039" y="33623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33" name="track-tokyo">
            <a:extLst xmlns:a="http://schemas.openxmlformats.org/drawingml/2006/main">
              <a:ext uri="{FF2B5EF4-FFF2-40B4-BE49-F238E27FC236}">
                <a16:creationId xmlns:a16="http://schemas.microsoft.com/office/drawing/2014/main" id="{AE3F9AB5-B320-4D92-A198-3CF748028ED1}"/>
              </a:ext>
            </a:extLst>
          </p:cNvPr>
          <p:cNvSpPr>
            <a:spLocks xmlns:a="http://schemas.openxmlformats.org/drawingml/2006/main" noGrp="1"/>
          </p:cNvSpPr>
          <p:nvPr/>
        </p:nvSpPr>
        <p:spPr>
          <a:xfrm xmlns:a="http://schemas.openxmlformats.org/drawingml/2006/main">
            <a:off x="6400800" y="36290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4" name="bar-tokyo">
            <a:extLst xmlns:a="http://schemas.openxmlformats.org/drawingml/2006/main">
              <a:ext uri="{FF2B5EF4-FFF2-40B4-BE49-F238E27FC236}">
                <a16:creationId xmlns:a16="http://schemas.microsoft.com/office/drawing/2014/main" id="{F16B75AC-910E-4C43-8953-C0BCA9484D2F}"/>
              </a:ext>
            </a:extLst>
          </p:cNvPr>
          <p:cNvSpPr>
            <a:spLocks xmlns:a="http://schemas.openxmlformats.org/drawingml/2006/main" noGrp="1"/>
          </p:cNvSpPr>
          <p:nvPr/>
        </p:nvSpPr>
        <p:spPr>
          <a:xfrm xmlns:a="http://schemas.openxmlformats.org/drawingml/2006/main">
            <a:off x="6400800" y="36290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748468B-8923-47DD-8C13-5C66E8564469}"/>
              </a:ext>
            </a:extLst>
          </p:cNvPr>
          <p:cNvSpPr>
            <a:spLocks xmlns:a="http://schemas.openxmlformats.org/drawingml/2006/main" noGrp="1"/>
          </p:cNvSpPr>
          <p:nvPr/>
        </p:nvSpPr>
        <p:spPr>
          <a:xfrm xmlns:a="http://schemas.openxmlformats.org/drawingml/2006/main">
            <a:off x="6400800" y="40290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berlin</a:t>
            </a:r>
          </a:p>
        </p:txBody>
      </p:sp>
      <p:sp>
        <p:nvSpPr>
          <p:cNvPr id="36" name="">
            <a:extLst xmlns:a="http://schemas.openxmlformats.org/drawingml/2006/main">
              <a:ext uri="{FF2B5EF4-FFF2-40B4-BE49-F238E27FC236}">
                <a16:creationId xmlns:a16="http://schemas.microsoft.com/office/drawing/2014/main" id="{B7DD840A-5CBD-4C8D-BBAB-F37272F7FCD8}"/>
              </a:ext>
            </a:extLst>
          </p:cNvPr>
          <p:cNvSpPr>
            <a:spLocks xmlns:a="http://schemas.openxmlformats.org/drawingml/2006/main" noGrp="1"/>
          </p:cNvSpPr>
          <p:nvPr/>
        </p:nvSpPr>
        <p:spPr>
          <a:xfrm xmlns:a="http://schemas.openxmlformats.org/drawingml/2006/main">
            <a:off x="9456039" y="40290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37" name="track-berlin">
            <a:extLst xmlns:a="http://schemas.openxmlformats.org/drawingml/2006/main">
              <a:ext uri="{FF2B5EF4-FFF2-40B4-BE49-F238E27FC236}">
                <a16:creationId xmlns:a16="http://schemas.microsoft.com/office/drawing/2014/main" id="{4B35BAB5-6D29-4D12-A153-15683C674C64}"/>
              </a:ext>
            </a:extLst>
          </p:cNvPr>
          <p:cNvSpPr>
            <a:spLocks xmlns:a="http://schemas.openxmlformats.org/drawingml/2006/main" noGrp="1"/>
          </p:cNvSpPr>
          <p:nvPr/>
        </p:nvSpPr>
        <p:spPr>
          <a:xfrm xmlns:a="http://schemas.openxmlformats.org/drawingml/2006/main">
            <a:off x="6400800" y="42957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8" name="bar-berlin">
            <a:extLst xmlns:a="http://schemas.openxmlformats.org/drawingml/2006/main">
              <a:ext uri="{FF2B5EF4-FFF2-40B4-BE49-F238E27FC236}">
                <a16:creationId xmlns:a16="http://schemas.microsoft.com/office/drawing/2014/main" id="{9BC625F0-1FFD-427A-9F2B-9FDA197690E2}"/>
              </a:ext>
            </a:extLst>
          </p:cNvPr>
          <p:cNvSpPr>
            <a:spLocks xmlns:a="http://schemas.openxmlformats.org/drawingml/2006/main" noGrp="1"/>
          </p:cNvSpPr>
          <p:nvPr/>
        </p:nvSpPr>
        <p:spPr>
          <a:xfrm xmlns:a="http://schemas.openxmlformats.org/drawingml/2006/main">
            <a:off x="6400800" y="429577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320E57DF-2DD8-46CE-8591-C65C1BA581B5}"/>
              </a:ext>
            </a:extLst>
          </p:cNvPr>
          <p:cNvSpPr>
            <a:spLocks xmlns:a="http://schemas.openxmlformats.org/drawingml/2006/main" noGrp="1"/>
          </p:cNvSpPr>
          <p:nvPr/>
        </p:nvSpPr>
        <p:spPr>
          <a:xfrm xmlns:a="http://schemas.openxmlformats.org/drawingml/2006/main">
            <a:off x="990600" y="473392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533D9361-C529-4BDD-B757-8DFC82EB7AA3}"/>
              </a:ext>
            </a:extLst>
          </p:cNvPr>
          <p:cNvSpPr>
            <a:spLocks xmlns:a="http://schemas.openxmlformats.org/drawingml/2006/main" noGrp="1"/>
          </p:cNvSpPr>
          <p:nvPr/>
        </p:nvSpPr>
        <p:spPr>
          <a:xfrm xmlns:a="http://schemas.openxmlformats.org/drawingml/2006/main">
            <a:off x="6400800" y="473392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E750B64-1631-4EA8-BA6E-E38EAF708511}"/>
              </a:ext>
            </a:extLst>
          </p:cNvPr>
          <p:cNvSpPr>
            <a:spLocks xmlns:a="http://schemas.openxmlformats.org/drawingml/2006/main" noGrp="1"/>
          </p:cNvSpPr>
          <p:nvPr/>
        </p:nvSpPr>
        <p:spPr>
          <a:xfrm xmlns:a="http://schemas.openxmlformats.org/drawingml/2006/main">
            <a:off x="990600" y="486727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2D20BF68-646F-4509-9BA3-FBEF01BE13F4}"/>
              </a:ext>
            </a:extLst>
          </p:cNvPr>
          <p:cNvSpPr>
            <a:spLocks xmlns:a="http://schemas.openxmlformats.org/drawingml/2006/main" noGrp="1"/>
          </p:cNvSpPr>
          <p:nvPr/>
        </p:nvSpPr>
        <p:spPr>
          <a:xfrm xmlns:a="http://schemas.openxmlformats.org/drawingml/2006/main">
            <a:off x="990600" y="51054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paris</a:t>
            </a:r>
          </a:p>
        </p:txBody>
      </p:sp>
      <p:sp>
        <p:nvSpPr>
          <p:cNvPr id="43" name="">
            <a:extLst xmlns:a="http://schemas.openxmlformats.org/drawingml/2006/main">
              <a:ext uri="{FF2B5EF4-FFF2-40B4-BE49-F238E27FC236}">
                <a16:creationId xmlns:a16="http://schemas.microsoft.com/office/drawing/2014/main" id="{D7563C85-AC05-41D3-84F5-750FB7CDB75A}"/>
              </a:ext>
            </a:extLst>
          </p:cNvPr>
          <p:cNvSpPr>
            <a:spLocks xmlns:a="http://schemas.openxmlformats.org/drawingml/2006/main" noGrp="1"/>
          </p:cNvSpPr>
          <p:nvPr/>
        </p:nvSpPr>
        <p:spPr>
          <a:xfrm xmlns:a="http://schemas.openxmlformats.org/drawingml/2006/main">
            <a:off x="2543175" y="48672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77EC99FE-725C-4219-9841-ED6EFD5D831B}"/>
              </a:ext>
            </a:extLst>
          </p:cNvPr>
          <p:cNvSpPr>
            <a:spLocks xmlns:a="http://schemas.openxmlformats.org/drawingml/2006/main" noGrp="1"/>
          </p:cNvSpPr>
          <p:nvPr/>
        </p:nvSpPr>
        <p:spPr>
          <a:xfrm xmlns:a="http://schemas.openxmlformats.org/drawingml/2006/main">
            <a:off x="2543175" y="51054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0.4442</a:t>
            </a:r>
          </a:p>
        </p:txBody>
      </p:sp>
      <p:sp>
        <p:nvSpPr>
          <p:cNvPr id="45" name="">
            <a:extLst xmlns:a="http://schemas.openxmlformats.org/drawingml/2006/main">
              <a:ext uri="{FF2B5EF4-FFF2-40B4-BE49-F238E27FC236}">
                <a16:creationId xmlns:a16="http://schemas.microsoft.com/office/drawing/2014/main" id="{8DC218EB-9EA8-4352-8E61-B0B6C07F061F}"/>
              </a:ext>
            </a:extLst>
          </p:cNvPr>
          <p:cNvSpPr>
            <a:spLocks xmlns:a="http://schemas.openxmlformats.org/drawingml/2006/main" noGrp="1"/>
          </p:cNvSpPr>
          <p:nvPr/>
        </p:nvSpPr>
        <p:spPr>
          <a:xfrm xmlns:a="http://schemas.openxmlformats.org/drawingml/2006/main">
            <a:off x="3905250" y="486727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322A7F63-0D73-4C8E-9776-E40AB9FD7B09}"/>
              </a:ext>
            </a:extLst>
          </p:cNvPr>
          <p:cNvSpPr>
            <a:spLocks xmlns:a="http://schemas.openxmlformats.org/drawingml/2006/main" noGrp="1"/>
          </p:cNvSpPr>
          <p:nvPr/>
        </p:nvSpPr>
        <p:spPr>
          <a:xfrm xmlns:a="http://schemas.openxmlformats.org/drawingml/2006/main">
            <a:off x="3905250" y="5105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0.1441</a:t>
            </a:r>
          </a:p>
        </p:txBody>
      </p:sp>
      <p:sp>
        <p:nvSpPr>
          <p:cNvPr id="47" name="">
            <a:extLst xmlns:a="http://schemas.openxmlformats.org/drawingml/2006/main">
              <a:ext uri="{FF2B5EF4-FFF2-40B4-BE49-F238E27FC236}">
                <a16:creationId xmlns:a16="http://schemas.microsoft.com/office/drawing/2014/main" id="{8CEB7C77-4955-46AC-A2B6-184774C2CC40}"/>
              </a:ext>
            </a:extLst>
          </p:cNvPr>
          <p:cNvSpPr>
            <a:spLocks xmlns:a="http://schemas.openxmlformats.org/drawingml/2006/main" noGrp="1"/>
          </p:cNvSpPr>
          <p:nvPr/>
        </p:nvSpPr>
        <p:spPr>
          <a:xfrm xmlns:a="http://schemas.openxmlformats.org/drawingml/2006/main">
            <a:off x="4953000" y="4867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D49DF3BF-8F2A-4863-9442-92601233E105}"/>
              </a:ext>
            </a:extLst>
          </p:cNvPr>
          <p:cNvSpPr>
            <a:spLocks xmlns:a="http://schemas.openxmlformats.org/drawingml/2006/main" noGrp="1"/>
          </p:cNvSpPr>
          <p:nvPr/>
        </p:nvSpPr>
        <p:spPr>
          <a:xfrm xmlns:a="http://schemas.openxmlformats.org/drawingml/2006/main">
            <a:off x="4953000" y="51054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B86E00"/>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A2E335CC-561A-4083-9F48-B22A79EBD698}"/>
              </a:ext>
            </a:extLst>
          </p:cNvPr>
          <p:cNvSpPr>
            <a:spLocks xmlns:a="http://schemas.openxmlformats.org/drawingml/2006/main" noGrp="1"/>
          </p:cNvSpPr>
          <p:nvPr/>
        </p:nvSpPr>
        <p:spPr>
          <a:xfrm xmlns:a="http://schemas.openxmlformats.org/drawingml/2006/main">
            <a:off x="6400800" y="486727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50" name="">
            <a:extLst xmlns:a="http://schemas.openxmlformats.org/drawingml/2006/main">
              <a:ext uri="{FF2B5EF4-FFF2-40B4-BE49-F238E27FC236}">
                <a16:creationId xmlns:a16="http://schemas.microsoft.com/office/drawing/2014/main" id="{3523CAB0-494A-4B8D-917E-2146FFD04BE6}"/>
              </a:ext>
            </a:extLst>
          </p:cNvPr>
          <p:cNvSpPr>
            <a:spLocks xmlns:a="http://schemas.openxmlformats.org/drawingml/2006/main" noGrp="1"/>
          </p:cNvSpPr>
          <p:nvPr/>
        </p:nvSpPr>
        <p:spPr>
          <a:xfrm xmlns:a="http://schemas.openxmlformats.org/drawingml/2006/main">
            <a:off x="6400800" y="51054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paris</a:t>
            </a:r>
          </a:p>
        </p:txBody>
      </p:sp>
      <p:sp>
        <p:nvSpPr>
          <p:cNvPr id="51" name="">
            <a:extLst xmlns:a="http://schemas.openxmlformats.org/drawingml/2006/main">
              <a:ext uri="{FF2B5EF4-FFF2-40B4-BE49-F238E27FC236}">
                <a16:creationId xmlns:a16="http://schemas.microsoft.com/office/drawing/2014/main" id="{667B94EE-892E-4CBE-85AD-3186070B5C2F}"/>
              </a:ext>
            </a:extLst>
          </p:cNvPr>
          <p:cNvSpPr>
            <a:spLocks xmlns:a="http://schemas.openxmlformats.org/drawingml/2006/main" noGrp="1"/>
          </p:cNvSpPr>
          <p:nvPr/>
        </p:nvSpPr>
        <p:spPr>
          <a:xfrm xmlns:a="http://schemas.openxmlformats.org/drawingml/2006/main">
            <a:off x="7953375" y="48672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52" name="">
            <a:extLst xmlns:a="http://schemas.openxmlformats.org/drawingml/2006/main">
              <a:ext uri="{FF2B5EF4-FFF2-40B4-BE49-F238E27FC236}">
                <a16:creationId xmlns:a16="http://schemas.microsoft.com/office/drawing/2014/main" id="{B6659EE4-6E1B-441F-8B5E-615C9D5F459B}"/>
              </a:ext>
            </a:extLst>
          </p:cNvPr>
          <p:cNvSpPr>
            <a:spLocks xmlns:a="http://schemas.openxmlformats.org/drawingml/2006/main" noGrp="1"/>
          </p:cNvSpPr>
          <p:nvPr/>
        </p:nvSpPr>
        <p:spPr>
          <a:xfrm xmlns:a="http://schemas.openxmlformats.org/drawingml/2006/main">
            <a:off x="7953375" y="51054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53" name="">
            <a:extLst xmlns:a="http://schemas.openxmlformats.org/drawingml/2006/main">
              <a:ext uri="{FF2B5EF4-FFF2-40B4-BE49-F238E27FC236}">
                <a16:creationId xmlns:a16="http://schemas.microsoft.com/office/drawing/2014/main" id="{ABB747A6-806C-434E-B222-93CA8D6E6DE1}"/>
              </a:ext>
            </a:extLst>
          </p:cNvPr>
          <p:cNvSpPr>
            <a:spLocks xmlns:a="http://schemas.openxmlformats.org/drawingml/2006/main" noGrp="1"/>
          </p:cNvSpPr>
          <p:nvPr/>
        </p:nvSpPr>
        <p:spPr>
          <a:xfrm xmlns:a="http://schemas.openxmlformats.org/drawingml/2006/main">
            <a:off x="9315450" y="486727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54" name="">
            <a:extLst xmlns:a="http://schemas.openxmlformats.org/drawingml/2006/main">
              <a:ext uri="{FF2B5EF4-FFF2-40B4-BE49-F238E27FC236}">
                <a16:creationId xmlns:a16="http://schemas.microsoft.com/office/drawing/2014/main" id="{74440272-60A0-4B0E-B715-D20772ACE8EE}"/>
              </a:ext>
            </a:extLst>
          </p:cNvPr>
          <p:cNvSpPr>
            <a:spLocks xmlns:a="http://schemas.openxmlformats.org/drawingml/2006/main" noGrp="1"/>
          </p:cNvSpPr>
          <p:nvPr/>
        </p:nvSpPr>
        <p:spPr>
          <a:xfrm xmlns:a="http://schemas.openxmlformats.org/drawingml/2006/main">
            <a:off x="9315450" y="5105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55" name="">
            <a:extLst xmlns:a="http://schemas.openxmlformats.org/drawingml/2006/main">
              <a:ext uri="{FF2B5EF4-FFF2-40B4-BE49-F238E27FC236}">
                <a16:creationId xmlns:a16="http://schemas.microsoft.com/office/drawing/2014/main" id="{05190304-744D-4D17-98E3-4233C8E876C2}"/>
              </a:ext>
            </a:extLst>
          </p:cNvPr>
          <p:cNvSpPr>
            <a:spLocks xmlns:a="http://schemas.openxmlformats.org/drawingml/2006/main" noGrp="1"/>
          </p:cNvSpPr>
          <p:nvPr/>
        </p:nvSpPr>
        <p:spPr>
          <a:xfrm xmlns:a="http://schemas.openxmlformats.org/drawingml/2006/main">
            <a:off x="10363200" y="4867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56" name="">
            <a:extLst xmlns:a="http://schemas.openxmlformats.org/drawingml/2006/main">
              <a:ext uri="{FF2B5EF4-FFF2-40B4-BE49-F238E27FC236}">
                <a16:creationId xmlns:a16="http://schemas.microsoft.com/office/drawing/2014/main" id="{777FEBBC-67B6-4CAB-AFEB-9DB7CFD07478}"/>
              </a:ext>
            </a:extLst>
          </p:cNvPr>
          <p:cNvSpPr>
            <a:spLocks xmlns:a="http://schemas.openxmlformats.org/drawingml/2006/main" noGrp="1"/>
          </p:cNvSpPr>
          <p:nvPr/>
        </p:nvSpPr>
        <p:spPr>
          <a:xfrm xmlns:a="http://schemas.openxmlformats.org/drawingml/2006/main">
            <a:off x="10363200" y="51054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57" name="">
            <a:extLst xmlns:a="http://schemas.openxmlformats.org/drawingml/2006/main">
              <a:ext uri="{FF2B5EF4-FFF2-40B4-BE49-F238E27FC236}">
                <a16:creationId xmlns:a16="http://schemas.microsoft.com/office/drawing/2014/main" id="{543E0BFF-A44E-4EF9-937F-753338DA810E}"/>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paris</a:t>
            </a:r>
          </a:p>
        </p:txBody>
      </p:sp>
      <p:sp>
        <p:nvSpPr>
          <p:cNvPr id="58" name="">
            <a:extLst xmlns:a="http://schemas.openxmlformats.org/drawingml/2006/main">
              <a:ext uri="{FF2B5EF4-FFF2-40B4-BE49-F238E27FC236}">
                <a16:creationId xmlns:a16="http://schemas.microsoft.com/office/drawing/2014/main" id="{20F0D3E2-BE65-410D-98E3-CEA50CB6A6F6}"/>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9" name="">
            <a:extLst xmlns:a="http://schemas.openxmlformats.org/drawingml/2006/main">
              <a:ext uri="{FF2B5EF4-FFF2-40B4-BE49-F238E27FC236}">
                <a16:creationId xmlns:a16="http://schemas.microsoft.com/office/drawing/2014/main" id="{DE04CF6E-342A-46A4-8D02-89923F177AD8}"/>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3 of 12  ·  id: geography_capital</a:t>
            </a:r>
          </a:p>
        </p:txBody>
      </p:sp>
    </p:spTree>
    <p:extLst>
      <p:ext uri="{BB962C8B-B14F-4D97-AF65-F5344CB8AC3E}">
        <p14:creationId xmlns:p14="http://schemas.microsoft.com/office/powerpoint/2010/main" val="14133170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0" name="background">
            <a:extLst xmlns:a="http://schemas.openxmlformats.org/drawingml/2006/main">
              <a:ext uri="{FF2B5EF4-FFF2-40B4-BE49-F238E27FC236}">
                <a16:creationId xmlns:a16="http://schemas.microsoft.com/office/drawing/2014/main" id="{C7CFF05E-EF81-4EDC-8845-C9C94BDEA3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2AD95C4C-5BC1-4FEE-8171-F4CD335E54B0}"/>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E37308-66FB-4567-9627-51603BA07586}"/>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04 · TAXONOMY</a:t>
            </a:r>
          </a:p>
        </p:txBody>
      </p:sp>
      <p:sp>
        <p:nvSpPr>
          <p:cNvPr id="4" name="">
            <a:extLst xmlns:a="http://schemas.openxmlformats.org/drawingml/2006/main">
              <a:ext uri="{FF2B5EF4-FFF2-40B4-BE49-F238E27FC236}">
                <a16:creationId xmlns:a16="http://schemas.microsoft.com/office/drawing/2014/main" id="{7582A36D-7BC4-4268-8F3D-5F8C5C55AAD9}"/>
              </a:ext>
            </a:extLst>
          </p:cNvPr>
          <p:cNvSpPr>
            <a:spLocks xmlns:a="http://schemas.openxmlformats.org/drawingml/2006/main" noGrp="1"/>
          </p:cNvSpPr>
          <p:nvPr/>
        </p:nvSpPr>
        <p:spPr>
          <a:xfrm xmlns:a="http://schemas.openxmlformats.org/drawingml/2006/main">
            <a:off x="781050" y="666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i="0">
                <a:solidFill>
                  <a:srgbClr val="21295C"/>
                </a:solidFill>
                <a:latin typeface="Georgia"/>
                <a:ea typeface="Georgia"/>
                <a:cs typeface="Georgia"/>
              </a:defRPr>
            </a:pPr>
            <a:r>
              <a:rPr sz="2925" b="1" i="0">
                <a:solidFill>
                  <a:srgbClr val="21295C"/>
                </a:solidFill>
                <a:latin typeface="Georgia"/>
                <a:ea typeface="Georgia"/>
                <a:cs typeface="Georgia"/>
              </a:rPr>
              <a:t>What kind of animal is described?</a:t>
            </a:r>
          </a:p>
        </p:txBody>
      </p:sp>
      <p:sp>
        <p:nvSpPr>
          <p:cNvPr id="5" name="">
            <a:extLst xmlns:a="http://schemas.openxmlformats.org/drawingml/2006/main">
              <a:ext uri="{FF2B5EF4-FFF2-40B4-BE49-F238E27FC236}">
                <a16:creationId xmlns:a16="http://schemas.microsoft.com/office/drawing/2014/main" id="{D9E00CEF-D54F-415A-9E4D-355BDC899058}"/>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DD085E1-A4DC-4480-811E-05528A8E6E94}"/>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0B289E83-8F9B-4E36-93B2-080A3BDA957F}"/>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4F87AD3F-C0D5-4F29-8358-3E19F82521B5}"/>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{"animal":"a dog with four legs that barks and wags its tail"}</a:t>
            </a:r>
          </a:p>
        </p:txBody>
      </p:sp>
      <p:sp>
        <p:nvSpPr>
          <p:cNvPr id="9" name="MODERNBERT NLI-panel">
            <a:extLst xmlns:a="http://schemas.openxmlformats.org/drawingml/2006/main">
              <a:ext uri="{FF2B5EF4-FFF2-40B4-BE49-F238E27FC236}">
                <a16:creationId xmlns:a16="http://schemas.microsoft.com/office/drawing/2014/main" id="{A20B59D2-0BCC-4AF4-9457-D60F4A9BF75C}"/>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318C327C-0726-493D-9A18-9A28F52F9A1E}"/>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75757F7-E27C-4220-95EA-218DCA7604A4}"/>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FE9223F7-CFB2-4DFB-BC74-60E5BB0E34E0}"/>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6EA7F14D-4CBE-41F0-B3EF-A706FC0B1614}"/>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E0BB529-2BE9-40C6-909A-0AA2E8E48CD7}"/>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6B3CA3D3-4036-4A7C-9A3A-A91DD6E56DE7}"/>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mammal</a:t>
            </a:r>
          </a:p>
        </p:txBody>
      </p:sp>
      <p:sp>
        <p:nvSpPr>
          <p:cNvPr id="16" name="">
            <a:extLst xmlns:a="http://schemas.openxmlformats.org/drawingml/2006/main">
              <a:ext uri="{FF2B5EF4-FFF2-40B4-BE49-F238E27FC236}">
                <a16:creationId xmlns:a16="http://schemas.microsoft.com/office/drawing/2014/main" id="{5CFCF19D-F48F-4707-9CF2-4EB631E71D3C}"/>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0.6424</a:t>
            </a:r>
          </a:p>
        </p:txBody>
      </p:sp>
      <p:sp>
        <p:nvSpPr>
          <p:cNvPr id="17" name="track-mammal">
            <a:extLst xmlns:a="http://schemas.openxmlformats.org/drawingml/2006/main">
              <a:ext uri="{FF2B5EF4-FFF2-40B4-BE49-F238E27FC236}">
                <a16:creationId xmlns:a16="http://schemas.microsoft.com/office/drawing/2014/main" id="{E8829CEE-CB05-4F38-85BC-2C74DD136614}"/>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mammal">
            <a:extLst xmlns:a="http://schemas.openxmlformats.org/drawingml/2006/main">
              <a:ext uri="{FF2B5EF4-FFF2-40B4-BE49-F238E27FC236}">
                <a16:creationId xmlns:a16="http://schemas.microsoft.com/office/drawing/2014/main" id="{8B6E9ACD-AB94-499D-8DAB-C8E5BD15D71C}"/>
              </a:ext>
            </a:extLst>
          </p:cNvPr>
          <p:cNvSpPr>
            <a:spLocks xmlns:a="http://schemas.openxmlformats.org/drawingml/2006/main" noGrp="1"/>
          </p:cNvSpPr>
          <p:nvPr/>
        </p:nvSpPr>
        <p:spPr>
          <a:xfrm xmlns:a="http://schemas.openxmlformats.org/drawingml/2006/main">
            <a:off x="990600" y="2962275"/>
            <a:ext cx="2973747"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6FF0AAD-6C4D-4C47-A6AE-5380ACF8A33C}"/>
              </a:ext>
            </a:extLst>
          </p:cNvPr>
          <p:cNvSpPr>
            <a:spLocks xmlns:a="http://schemas.openxmlformats.org/drawingml/2006/main" noGrp="1"/>
          </p:cNvSpPr>
          <p:nvPr/>
        </p:nvSpPr>
        <p:spPr>
          <a:xfrm xmlns:a="http://schemas.openxmlformats.org/drawingml/2006/main">
            <a:off x="990600" y="33623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fish</a:t>
            </a:r>
          </a:p>
        </p:txBody>
      </p:sp>
      <p:sp>
        <p:nvSpPr>
          <p:cNvPr id="20" name="">
            <a:extLst xmlns:a="http://schemas.openxmlformats.org/drawingml/2006/main">
              <a:ext uri="{FF2B5EF4-FFF2-40B4-BE49-F238E27FC236}">
                <a16:creationId xmlns:a16="http://schemas.microsoft.com/office/drawing/2014/main" id="{100A13E7-DE39-410C-9692-E2F497033C25}"/>
              </a:ext>
            </a:extLst>
          </p:cNvPr>
          <p:cNvSpPr>
            <a:spLocks xmlns:a="http://schemas.openxmlformats.org/drawingml/2006/main" noGrp="1"/>
          </p:cNvSpPr>
          <p:nvPr/>
        </p:nvSpPr>
        <p:spPr>
          <a:xfrm xmlns:a="http://schemas.openxmlformats.org/drawingml/2006/main">
            <a:off x="4045839" y="33623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0.2086</a:t>
            </a:r>
          </a:p>
        </p:txBody>
      </p:sp>
      <p:sp>
        <p:nvSpPr>
          <p:cNvPr id="21" name="track-fish">
            <a:extLst xmlns:a="http://schemas.openxmlformats.org/drawingml/2006/main">
              <a:ext uri="{FF2B5EF4-FFF2-40B4-BE49-F238E27FC236}">
                <a16:creationId xmlns:a16="http://schemas.microsoft.com/office/drawing/2014/main" id="{417D3A28-E55F-4226-BFA9-3EC63EA7D938}"/>
              </a:ext>
            </a:extLst>
          </p:cNvPr>
          <p:cNvSpPr>
            <a:spLocks xmlns:a="http://schemas.openxmlformats.org/drawingml/2006/main" noGrp="1"/>
          </p:cNvSpPr>
          <p:nvPr/>
        </p:nvSpPr>
        <p:spPr>
          <a:xfrm xmlns:a="http://schemas.openxmlformats.org/drawingml/2006/main">
            <a:off x="990600" y="36290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fish">
            <a:extLst xmlns:a="http://schemas.openxmlformats.org/drawingml/2006/main">
              <a:ext uri="{FF2B5EF4-FFF2-40B4-BE49-F238E27FC236}">
                <a16:creationId xmlns:a16="http://schemas.microsoft.com/office/drawing/2014/main" id="{56176AED-C229-44F6-8F54-41582E29FC2E}"/>
              </a:ext>
            </a:extLst>
          </p:cNvPr>
          <p:cNvSpPr>
            <a:spLocks xmlns:a="http://schemas.openxmlformats.org/drawingml/2006/main" noGrp="1"/>
          </p:cNvSpPr>
          <p:nvPr/>
        </p:nvSpPr>
        <p:spPr>
          <a:xfrm xmlns:a="http://schemas.openxmlformats.org/drawingml/2006/main">
            <a:off x="990600" y="3629025"/>
            <a:ext cx="965437"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EF2CB38-74C3-4DA2-B85A-C1B2D1ED03DE}"/>
              </a:ext>
            </a:extLst>
          </p:cNvPr>
          <p:cNvSpPr>
            <a:spLocks xmlns:a="http://schemas.openxmlformats.org/drawingml/2006/main" noGrp="1"/>
          </p:cNvSpPr>
          <p:nvPr/>
        </p:nvSpPr>
        <p:spPr>
          <a:xfrm xmlns:a="http://schemas.openxmlformats.org/drawingml/2006/main">
            <a:off x="990600" y="40290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insect</a:t>
            </a:r>
          </a:p>
        </p:txBody>
      </p:sp>
      <p:sp>
        <p:nvSpPr>
          <p:cNvPr id="24" name="">
            <a:extLst xmlns:a="http://schemas.openxmlformats.org/drawingml/2006/main">
              <a:ext uri="{FF2B5EF4-FFF2-40B4-BE49-F238E27FC236}">
                <a16:creationId xmlns:a16="http://schemas.microsoft.com/office/drawing/2014/main" id="{EA8A56E4-F901-4B3F-817F-171561103475}"/>
              </a:ext>
            </a:extLst>
          </p:cNvPr>
          <p:cNvSpPr>
            <a:spLocks xmlns:a="http://schemas.openxmlformats.org/drawingml/2006/main" noGrp="1"/>
          </p:cNvSpPr>
          <p:nvPr/>
        </p:nvSpPr>
        <p:spPr>
          <a:xfrm xmlns:a="http://schemas.openxmlformats.org/drawingml/2006/main">
            <a:off x="4045839" y="40290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0.1490</a:t>
            </a:r>
          </a:p>
        </p:txBody>
      </p:sp>
      <p:sp>
        <p:nvSpPr>
          <p:cNvPr id="25" name="track-insect">
            <a:extLst xmlns:a="http://schemas.openxmlformats.org/drawingml/2006/main">
              <a:ext uri="{FF2B5EF4-FFF2-40B4-BE49-F238E27FC236}">
                <a16:creationId xmlns:a16="http://schemas.microsoft.com/office/drawing/2014/main" id="{AE89F61B-23E8-4B64-A588-0A48CF3BE6C5}"/>
              </a:ext>
            </a:extLst>
          </p:cNvPr>
          <p:cNvSpPr>
            <a:spLocks xmlns:a="http://schemas.openxmlformats.org/drawingml/2006/main" noGrp="1"/>
          </p:cNvSpPr>
          <p:nvPr/>
        </p:nvSpPr>
        <p:spPr>
          <a:xfrm xmlns:a="http://schemas.openxmlformats.org/drawingml/2006/main">
            <a:off x="990600" y="42957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insect">
            <a:extLst xmlns:a="http://schemas.openxmlformats.org/drawingml/2006/main">
              <a:ext uri="{FF2B5EF4-FFF2-40B4-BE49-F238E27FC236}">
                <a16:creationId xmlns:a16="http://schemas.microsoft.com/office/drawing/2014/main" id="{C1767E66-00DC-490C-A387-CAC4F031793A}"/>
              </a:ext>
            </a:extLst>
          </p:cNvPr>
          <p:cNvSpPr>
            <a:spLocks xmlns:a="http://schemas.openxmlformats.org/drawingml/2006/main" noGrp="1"/>
          </p:cNvSpPr>
          <p:nvPr/>
        </p:nvSpPr>
        <p:spPr>
          <a:xfrm xmlns:a="http://schemas.openxmlformats.org/drawingml/2006/main">
            <a:off x="990600" y="4295775"/>
            <a:ext cx="689966"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DACEB23-A855-4562-ABFA-34C477CDEFC7}"/>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mammal</a:t>
            </a:r>
          </a:p>
        </p:txBody>
      </p:sp>
      <p:sp>
        <p:nvSpPr>
          <p:cNvPr id="28" name="">
            <a:extLst xmlns:a="http://schemas.openxmlformats.org/drawingml/2006/main">
              <a:ext uri="{FF2B5EF4-FFF2-40B4-BE49-F238E27FC236}">
                <a16:creationId xmlns:a16="http://schemas.microsoft.com/office/drawing/2014/main" id="{8F7E2302-1CC3-40A7-9C9E-F7FA91DD1964}"/>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9" name="track-mammal">
            <a:extLst xmlns:a="http://schemas.openxmlformats.org/drawingml/2006/main">
              <a:ext uri="{FF2B5EF4-FFF2-40B4-BE49-F238E27FC236}">
                <a16:creationId xmlns:a16="http://schemas.microsoft.com/office/drawing/2014/main" id="{EF0DBF23-88FB-4ED3-A0BD-16E23A748D15}"/>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mammal">
            <a:extLst xmlns:a="http://schemas.openxmlformats.org/drawingml/2006/main">
              <a:ext uri="{FF2B5EF4-FFF2-40B4-BE49-F238E27FC236}">
                <a16:creationId xmlns:a16="http://schemas.microsoft.com/office/drawing/2014/main" id="{B793D70D-BD87-44C5-BE7B-FC1AD100A3CD}"/>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7352450-2220-45B3-A7D8-F9C1834FA998}"/>
              </a:ext>
            </a:extLst>
          </p:cNvPr>
          <p:cNvSpPr>
            <a:spLocks xmlns:a="http://schemas.openxmlformats.org/drawingml/2006/main" noGrp="1"/>
          </p:cNvSpPr>
          <p:nvPr/>
        </p:nvSpPr>
        <p:spPr>
          <a:xfrm xmlns:a="http://schemas.openxmlformats.org/drawingml/2006/main">
            <a:off x="6400800" y="33623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fish</a:t>
            </a:r>
          </a:p>
        </p:txBody>
      </p:sp>
      <p:sp>
        <p:nvSpPr>
          <p:cNvPr id="32" name="">
            <a:extLst xmlns:a="http://schemas.openxmlformats.org/drawingml/2006/main">
              <a:ext uri="{FF2B5EF4-FFF2-40B4-BE49-F238E27FC236}">
                <a16:creationId xmlns:a16="http://schemas.microsoft.com/office/drawing/2014/main" id="{ACBC40A6-D47A-4B77-B5DB-1A75694239F8}"/>
              </a:ext>
            </a:extLst>
          </p:cNvPr>
          <p:cNvSpPr>
            <a:spLocks xmlns:a="http://schemas.openxmlformats.org/drawingml/2006/main" noGrp="1"/>
          </p:cNvSpPr>
          <p:nvPr/>
        </p:nvSpPr>
        <p:spPr>
          <a:xfrm xmlns:a="http://schemas.openxmlformats.org/drawingml/2006/main">
            <a:off x="9456039" y="33623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33" name="track-fish">
            <a:extLst xmlns:a="http://schemas.openxmlformats.org/drawingml/2006/main">
              <a:ext uri="{FF2B5EF4-FFF2-40B4-BE49-F238E27FC236}">
                <a16:creationId xmlns:a16="http://schemas.microsoft.com/office/drawing/2014/main" id="{EA194E73-3BC4-402D-8CF5-E38EC61CAABA}"/>
              </a:ext>
            </a:extLst>
          </p:cNvPr>
          <p:cNvSpPr>
            <a:spLocks xmlns:a="http://schemas.openxmlformats.org/drawingml/2006/main" noGrp="1"/>
          </p:cNvSpPr>
          <p:nvPr/>
        </p:nvSpPr>
        <p:spPr>
          <a:xfrm xmlns:a="http://schemas.openxmlformats.org/drawingml/2006/main">
            <a:off x="6400800" y="36290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4" name="bar-fish">
            <a:extLst xmlns:a="http://schemas.openxmlformats.org/drawingml/2006/main">
              <a:ext uri="{FF2B5EF4-FFF2-40B4-BE49-F238E27FC236}">
                <a16:creationId xmlns:a16="http://schemas.microsoft.com/office/drawing/2014/main" id="{273213EA-E79E-4F24-BF03-7C37D06E0E39}"/>
              </a:ext>
            </a:extLst>
          </p:cNvPr>
          <p:cNvSpPr>
            <a:spLocks xmlns:a="http://schemas.openxmlformats.org/drawingml/2006/main" noGrp="1"/>
          </p:cNvSpPr>
          <p:nvPr/>
        </p:nvSpPr>
        <p:spPr>
          <a:xfrm xmlns:a="http://schemas.openxmlformats.org/drawingml/2006/main">
            <a:off x="6400800" y="36290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775A2F2-B927-4F89-B6C1-787DB3F64DE3}"/>
              </a:ext>
            </a:extLst>
          </p:cNvPr>
          <p:cNvSpPr>
            <a:spLocks xmlns:a="http://schemas.openxmlformats.org/drawingml/2006/main" noGrp="1"/>
          </p:cNvSpPr>
          <p:nvPr/>
        </p:nvSpPr>
        <p:spPr>
          <a:xfrm xmlns:a="http://schemas.openxmlformats.org/drawingml/2006/main">
            <a:off x="6400800" y="40290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insect</a:t>
            </a:r>
          </a:p>
        </p:txBody>
      </p:sp>
      <p:sp>
        <p:nvSpPr>
          <p:cNvPr id="36" name="">
            <a:extLst xmlns:a="http://schemas.openxmlformats.org/drawingml/2006/main">
              <a:ext uri="{FF2B5EF4-FFF2-40B4-BE49-F238E27FC236}">
                <a16:creationId xmlns:a16="http://schemas.microsoft.com/office/drawing/2014/main" id="{BE9BA740-9024-4F6C-9426-C23B617EA6EB}"/>
              </a:ext>
            </a:extLst>
          </p:cNvPr>
          <p:cNvSpPr>
            <a:spLocks xmlns:a="http://schemas.openxmlformats.org/drawingml/2006/main" noGrp="1"/>
          </p:cNvSpPr>
          <p:nvPr/>
        </p:nvSpPr>
        <p:spPr>
          <a:xfrm xmlns:a="http://schemas.openxmlformats.org/drawingml/2006/main">
            <a:off x="9456039" y="40290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37" name="track-insect">
            <a:extLst xmlns:a="http://schemas.openxmlformats.org/drawingml/2006/main">
              <a:ext uri="{FF2B5EF4-FFF2-40B4-BE49-F238E27FC236}">
                <a16:creationId xmlns:a16="http://schemas.microsoft.com/office/drawing/2014/main" id="{E6F3A91A-C593-4B0A-8F44-675D8EC693C6}"/>
              </a:ext>
            </a:extLst>
          </p:cNvPr>
          <p:cNvSpPr>
            <a:spLocks xmlns:a="http://schemas.openxmlformats.org/drawingml/2006/main" noGrp="1"/>
          </p:cNvSpPr>
          <p:nvPr/>
        </p:nvSpPr>
        <p:spPr>
          <a:xfrm xmlns:a="http://schemas.openxmlformats.org/drawingml/2006/main">
            <a:off x="6400800" y="42957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8" name="bar-insect">
            <a:extLst xmlns:a="http://schemas.openxmlformats.org/drawingml/2006/main">
              <a:ext uri="{FF2B5EF4-FFF2-40B4-BE49-F238E27FC236}">
                <a16:creationId xmlns:a16="http://schemas.microsoft.com/office/drawing/2014/main" id="{2413972D-D388-4F1B-8AE1-82399833A74F}"/>
              </a:ext>
            </a:extLst>
          </p:cNvPr>
          <p:cNvSpPr>
            <a:spLocks xmlns:a="http://schemas.openxmlformats.org/drawingml/2006/main" noGrp="1"/>
          </p:cNvSpPr>
          <p:nvPr/>
        </p:nvSpPr>
        <p:spPr>
          <a:xfrm xmlns:a="http://schemas.openxmlformats.org/drawingml/2006/main">
            <a:off x="6400800" y="429577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06E261EB-D179-4781-9B18-2FBE62CE62F9}"/>
              </a:ext>
            </a:extLst>
          </p:cNvPr>
          <p:cNvSpPr>
            <a:spLocks xmlns:a="http://schemas.openxmlformats.org/drawingml/2006/main" noGrp="1"/>
          </p:cNvSpPr>
          <p:nvPr/>
        </p:nvSpPr>
        <p:spPr>
          <a:xfrm xmlns:a="http://schemas.openxmlformats.org/drawingml/2006/main">
            <a:off x="990600" y="473392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00D947A2-DACB-499E-9DC9-B26CFD5DF41B}"/>
              </a:ext>
            </a:extLst>
          </p:cNvPr>
          <p:cNvSpPr>
            <a:spLocks xmlns:a="http://schemas.openxmlformats.org/drawingml/2006/main" noGrp="1"/>
          </p:cNvSpPr>
          <p:nvPr/>
        </p:nvSpPr>
        <p:spPr>
          <a:xfrm xmlns:a="http://schemas.openxmlformats.org/drawingml/2006/main">
            <a:off x="6400800" y="473392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DA9D0710-7E4D-4417-87EA-7CC977EF2D98}"/>
              </a:ext>
            </a:extLst>
          </p:cNvPr>
          <p:cNvSpPr>
            <a:spLocks xmlns:a="http://schemas.openxmlformats.org/drawingml/2006/main" noGrp="1"/>
          </p:cNvSpPr>
          <p:nvPr/>
        </p:nvSpPr>
        <p:spPr>
          <a:xfrm xmlns:a="http://schemas.openxmlformats.org/drawingml/2006/main">
            <a:off x="990600" y="486727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44AFEC66-6A36-4AC0-BCF7-C9DFA0A41856}"/>
              </a:ext>
            </a:extLst>
          </p:cNvPr>
          <p:cNvSpPr>
            <a:spLocks xmlns:a="http://schemas.openxmlformats.org/drawingml/2006/main" noGrp="1"/>
          </p:cNvSpPr>
          <p:nvPr/>
        </p:nvSpPr>
        <p:spPr>
          <a:xfrm xmlns:a="http://schemas.openxmlformats.org/drawingml/2006/main">
            <a:off x="990600" y="51054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mammal</a:t>
            </a:r>
          </a:p>
        </p:txBody>
      </p:sp>
      <p:sp>
        <p:nvSpPr>
          <p:cNvPr id="43" name="">
            <a:extLst xmlns:a="http://schemas.openxmlformats.org/drawingml/2006/main">
              <a:ext uri="{FF2B5EF4-FFF2-40B4-BE49-F238E27FC236}">
                <a16:creationId xmlns:a16="http://schemas.microsoft.com/office/drawing/2014/main" id="{E3810456-DAB2-43C9-B6CA-745B21DBE865}"/>
              </a:ext>
            </a:extLst>
          </p:cNvPr>
          <p:cNvSpPr>
            <a:spLocks xmlns:a="http://schemas.openxmlformats.org/drawingml/2006/main" noGrp="1"/>
          </p:cNvSpPr>
          <p:nvPr/>
        </p:nvSpPr>
        <p:spPr>
          <a:xfrm xmlns:a="http://schemas.openxmlformats.org/drawingml/2006/main">
            <a:off x="2543175" y="48672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4FBE4596-60F6-4754-A580-583C0BA22CA1}"/>
              </a:ext>
            </a:extLst>
          </p:cNvPr>
          <p:cNvSpPr>
            <a:spLocks xmlns:a="http://schemas.openxmlformats.org/drawingml/2006/main" noGrp="1"/>
          </p:cNvSpPr>
          <p:nvPr/>
        </p:nvSpPr>
        <p:spPr>
          <a:xfrm xmlns:a="http://schemas.openxmlformats.org/drawingml/2006/main">
            <a:off x="2543175" y="51054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0.6424</a:t>
            </a:r>
          </a:p>
        </p:txBody>
      </p:sp>
      <p:sp>
        <p:nvSpPr>
          <p:cNvPr id="45" name="">
            <a:extLst xmlns:a="http://schemas.openxmlformats.org/drawingml/2006/main">
              <a:ext uri="{FF2B5EF4-FFF2-40B4-BE49-F238E27FC236}">
                <a16:creationId xmlns:a16="http://schemas.microsoft.com/office/drawing/2014/main" id="{86A64634-119F-4FEC-B252-CA3B97894E6F}"/>
              </a:ext>
            </a:extLst>
          </p:cNvPr>
          <p:cNvSpPr>
            <a:spLocks xmlns:a="http://schemas.openxmlformats.org/drawingml/2006/main" noGrp="1"/>
          </p:cNvSpPr>
          <p:nvPr/>
        </p:nvSpPr>
        <p:spPr>
          <a:xfrm xmlns:a="http://schemas.openxmlformats.org/drawingml/2006/main">
            <a:off x="3905250" y="486727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CFBB3748-AB64-4051-84E3-F1216F5B6CA9}"/>
              </a:ext>
            </a:extLst>
          </p:cNvPr>
          <p:cNvSpPr>
            <a:spLocks xmlns:a="http://schemas.openxmlformats.org/drawingml/2006/main" noGrp="1"/>
          </p:cNvSpPr>
          <p:nvPr/>
        </p:nvSpPr>
        <p:spPr>
          <a:xfrm xmlns:a="http://schemas.openxmlformats.org/drawingml/2006/main">
            <a:off x="3905250" y="5105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0.4338</a:t>
            </a:r>
          </a:p>
        </p:txBody>
      </p:sp>
      <p:sp>
        <p:nvSpPr>
          <p:cNvPr id="47" name="">
            <a:extLst xmlns:a="http://schemas.openxmlformats.org/drawingml/2006/main">
              <a:ext uri="{FF2B5EF4-FFF2-40B4-BE49-F238E27FC236}">
                <a16:creationId xmlns:a16="http://schemas.microsoft.com/office/drawing/2014/main" id="{71E6C9B9-9188-40FD-915D-A91FCC32E04E}"/>
              </a:ext>
            </a:extLst>
          </p:cNvPr>
          <p:cNvSpPr>
            <a:spLocks xmlns:a="http://schemas.openxmlformats.org/drawingml/2006/main" noGrp="1"/>
          </p:cNvSpPr>
          <p:nvPr/>
        </p:nvSpPr>
        <p:spPr>
          <a:xfrm xmlns:a="http://schemas.openxmlformats.org/drawingml/2006/main">
            <a:off x="4953000" y="4867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5A1B96EB-FA1A-44E8-B43E-5DEEEB8717F6}"/>
              </a:ext>
            </a:extLst>
          </p:cNvPr>
          <p:cNvSpPr>
            <a:spLocks xmlns:a="http://schemas.openxmlformats.org/drawingml/2006/main" noGrp="1"/>
          </p:cNvSpPr>
          <p:nvPr/>
        </p:nvSpPr>
        <p:spPr>
          <a:xfrm xmlns:a="http://schemas.openxmlformats.org/drawingml/2006/main">
            <a:off x="4953000" y="51054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B86E00"/>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E8E68087-459D-49F3-9B28-557F4260BC19}"/>
              </a:ext>
            </a:extLst>
          </p:cNvPr>
          <p:cNvSpPr>
            <a:spLocks xmlns:a="http://schemas.openxmlformats.org/drawingml/2006/main" noGrp="1"/>
          </p:cNvSpPr>
          <p:nvPr/>
        </p:nvSpPr>
        <p:spPr>
          <a:xfrm xmlns:a="http://schemas.openxmlformats.org/drawingml/2006/main">
            <a:off x="6400800" y="486727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50" name="">
            <a:extLst xmlns:a="http://schemas.openxmlformats.org/drawingml/2006/main">
              <a:ext uri="{FF2B5EF4-FFF2-40B4-BE49-F238E27FC236}">
                <a16:creationId xmlns:a16="http://schemas.microsoft.com/office/drawing/2014/main" id="{73DADA5C-A658-42CB-BB17-C4FF3BE97CE0}"/>
              </a:ext>
            </a:extLst>
          </p:cNvPr>
          <p:cNvSpPr>
            <a:spLocks xmlns:a="http://schemas.openxmlformats.org/drawingml/2006/main" noGrp="1"/>
          </p:cNvSpPr>
          <p:nvPr/>
        </p:nvSpPr>
        <p:spPr>
          <a:xfrm xmlns:a="http://schemas.openxmlformats.org/drawingml/2006/main">
            <a:off x="6400800" y="51054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mammal</a:t>
            </a:r>
          </a:p>
        </p:txBody>
      </p:sp>
      <p:sp>
        <p:nvSpPr>
          <p:cNvPr id="51" name="">
            <a:extLst xmlns:a="http://schemas.openxmlformats.org/drawingml/2006/main">
              <a:ext uri="{FF2B5EF4-FFF2-40B4-BE49-F238E27FC236}">
                <a16:creationId xmlns:a16="http://schemas.microsoft.com/office/drawing/2014/main" id="{E657D81E-0BF4-47F5-9143-C145E3C3B191}"/>
              </a:ext>
            </a:extLst>
          </p:cNvPr>
          <p:cNvSpPr>
            <a:spLocks xmlns:a="http://schemas.openxmlformats.org/drawingml/2006/main" noGrp="1"/>
          </p:cNvSpPr>
          <p:nvPr/>
        </p:nvSpPr>
        <p:spPr>
          <a:xfrm xmlns:a="http://schemas.openxmlformats.org/drawingml/2006/main">
            <a:off x="7953375" y="48672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52" name="">
            <a:extLst xmlns:a="http://schemas.openxmlformats.org/drawingml/2006/main">
              <a:ext uri="{FF2B5EF4-FFF2-40B4-BE49-F238E27FC236}">
                <a16:creationId xmlns:a16="http://schemas.microsoft.com/office/drawing/2014/main" id="{AC4F59BF-E2C5-47A4-92C0-3E8ADC5DCE74}"/>
              </a:ext>
            </a:extLst>
          </p:cNvPr>
          <p:cNvSpPr>
            <a:spLocks xmlns:a="http://schemas.openxmlformats.org/drawingml/2006/main" noGrp="1"/>
          </p:cNvSpPr>
          <p:nvPr/>
        </p:nvSpPr>
        <p:spPr>
          <a:xfrm xmlns:a="http://schemas.openxmlformats.org/drawingml/2006/main">
            <a:off x="7953375" y="51054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53" name="">
            <a:extLst xmlns:a="http://schemas.openxmlformats.org/drawingml/2006/main">
              <a:ext uri="{FF2B5EF4-FFF2-40B4-BE49-F238E27FC236}">
                <a16:creationId xmlns:a16="http://schemas.microsoft.com/office/drawing/2014/main" id="{77F83C27-3789-4D44-8B3D-D24933BA7DC6}"/>
              </a:ext>
            </a:extLst>
          </p:cNvPr>
          <p:cNvSpPr>
            <a:spLocks xmlns:a="http://schemas.openxmlformats.org/drawingml/2006/main" noGrp="1"/>
          </p:cNvSpPr>
          <p:nvPr/>
        </p:nvSpPr>
        <p:spPr>
          <a:xfrm xmlns:a="http://schemas.openxmlformats.org/drawingml/2006/main">
            <a:off x="9315450" y="486727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54" name="">
            <a:extLst xmlns:a="http://schemas.openxmlformats.org/drawingml/2006/main">
              <a:ext uri="{FF2B5EF4-FFF2-40B4-BE49-F238E27FC236}">
                <a16:creationId xmlns:a16="http://schemas.microsoft.com/office/drawing/2014/main" id="{0FC73522-03F9-4156-84E6-868DA34A4427}"/>
              </a:ext>
            </a:extLst>
          </p:cNvPr>
          <p:cNvSpPr>
            <a:spLocks xmlns:a="http://schemas.openxmlformats.org/drawingml/2006/main" noGrp="1"/>
          </p:cNvSpPr>
          <p:nvPr/>
        </p:nvSpPr>
        <p:spPr>
          <a:xfrm xmlns:a="http://schemas.openxmlformats.org/drawingml/2006/main">
            <a:off x="9315450" y="5105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55" name="">
            <a:extLst xmlns:a="http://schemas.openxmlformats.org/drawingml/2006/main">
              <a:ext uri="{FF2B5EF4-FFF2-40B4-BE49-F238E27FC236}">
                <a16:creationId xmlns:a16="http://schemas.microsoft.com/office/drawing/2014/main" id="{F09BE8A2-670C-4593-B08A-91841186F434}"/>
              </a:ext>
            </a:extLst>
          </p:cNvPr>
          <p:cNvSpPr>
            <a:spLocks xmlns:a="http://schemas.openxmlformats.org/drawingml/2006/main" noGrp="1"/>
          </p:cNvSpPr>
          <p:nvPr/>
        </p:nvSpPr>
        <p:spPr>
          <a:xfrm xmlns:a="http://schemas.openxmlformats.org/drawingml/2006/main">
            <a:off x="10363200" y="4867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56" name="">
            <a:extLst xmlns:a="http://schemas.openxmlformats.org/drawingml/2006/main">
              <a:ext uri="{FF2B5EF4-FFF2-40B4-BE49-F238E27FC236}">
                <a16:creationId xmlns:a16="http://schemas.microsoft.com/office/drawing/2014/main" id="{51AD79D6-BB0D-4D5F-B9DE-3A3600C7A26C}"/>
              </a:ext>
            </a:extLst>
          </p:cNvPr>
          <p:cNvSpPr>
            <a:spLocks xmlns:a="http://schemas.openxmlformats.org/drawingml/2006/main" noGrp="1"/>
          </p:cNvSpPr>
          <p:nvPr/>
        </p:nvSpPr>
        <p:spPr>
          <a:xfrm xmlns:a="http://schemas.openxmlformats.org/drawingml/2006/main">
            <a:off x="10363200" y="51054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57" name="">
            <a:extLst xmlns:a="http://schemas.openxmlformats.org/drawingml/2006/main">
              <a:ext uri="{FF2B5EF4-FFF2-40B4-BE49-F238E27FC236}">
                <a16:creationId xmlns:a16="http://schemas.microsoft.com/office/drawing/2014/main" id="{F8E38780-9D60-4B00-AB6A-0A41936942D1}"/>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mammal</a:t>
            </a:r>
          </a:p>
        </p:txBody>
      </p:sp>
      <p:sp>
        <p:nvSpPr>
          <p:cNvPr id="58" name="">
            <a:extLst xmlns:a="http://schemas.openxmlformats.org/drawingml/2006/main">
              <a:ext uri="{FF2B5EF4-FFF2-40B4-BE49-F238E27FC236}">
                <a16:creationId xmlns:a16="http://schemas.microsoft.com/office/drawing/2014/main" id="{CCAFDB21-2048-4159-8242-4D2C8B3B8A2E}"/>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9" name="">
            <a:extLst xmlns:a="http://schemas.openxmlformats.org/drawingml/2006/main">
              <a:ext uri="{FF2B5EF4-FFF2-40B4-BE49-F238E27FC236}">
                <a16:creationId xmlns:a16="http://schemas.microsoft.com/office/drawing/2014/main" id="{E8B95426-C4F9-45C6-9810-0AC50DBC3D57}"/>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4 of 12  ·  id: animal_taxonomy</a:t>
            </a:r>
          </a:p>
        </p:txBody>
      </p:sp>
    </p:spTree>
    <p:extLst>
      <p:ext uri="{BB962C8B-B14F-4D97-AF65-F5344CB8AC3E}">
        <p14:creationId xmlns:p14="http://schemas.microsoft.com/office/powerpoint/2010/main" val="147842846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2" name="background">
            <a:extLst xmlns:a="http://schemas.openxmlformats.org/drawingml/2006/main">
              <a:ext uri="{FF2B5EF4-FFF2-40B4-BE49-F238E27FC236}">
                <a16:creationId xmlns:a16="http://schemas.microsoft.com/office/drawing/2014/main" id="{CFA4B6D9-BF2C-48F5-8651-725E41953C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52635611-DB8C-47F0-914F-F5C5B27BBFBD}"/>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39E0D4-EC30-49FB-872A-9D40FDF94BD3}"/>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05 · NEGATION HANDLING</a:t>
            </a:r>
          </a:p>
        </p:txBody>
      </p:sp>
      <p:sp>
        <p:nvSpPr>
          <p:cNvPr id="4" name="">
            <a:extLst xmlns:a="http://schemas.openxmlformats.org/drawingml/2006/main">
              <a:ext uri="{FF2B5EF4-FFF2-40B4-BE49-F238E27FC236}">
                <a16:creationId xmlns:a16="http://schemas.microsoft.com/office/drawing/2014/main" id="{309D69B1-2B1B-416E-AFCD-92BD07700AB9}"/>
              </a:ext>
            </a:extLst>
          </p:cNvPr>
          <p:cNvSpPr>
            <a:spLocks xmlns:a="http://schemas.openxmlformats.org/drawingml/2006/main" noGrp="1"/>
          </p:cNvSpPr>
          <p:nvPr/>
        </p:nvSpPr>
        <p:spPr>
          <a:xfrm xmlns:a="http://schemas.openxmlformats.org/drawingml/2006/main">
            <a:off x="781050" y="666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i="0">
                <a:solidFill>
                  <a:srgbClr val="21295C"/>
                </a:solidFill>
                <a:latin typeface="Georgia"/>
                <a:ea typeface="Georgia"/>
                <a:cs typeface="Georgia"/>
              </a:defRPr>
            </a:pPr>
            <a:r>
              <a:rPr sz="2925" b="1" i="0">
                <a:solidFill>
                  <a:srgbClr val="21295C"/>
                </a:solidFill>
                <a:latin typeface="Georgia"/>
                <a:ea typeface="Georgia"/>
                <a:cs typeface="Georgia"/>
              </a:rPr>
              <a:t>What is the current state of the server?</a:t>
            </a:r>
          </a:p>
        </p:txBody>
      </p:sp>
      <p:sp>
        <p:nvSpPr>
          <p:cNvPr id="5" name="">
            <a:extLst xmlns:a="http://schemas.openxmlformats.org/drawingml/2006/main">
              <a:ext uri="{FF2B5EF4-FFF2-40B4-BE49-F238E27FC236}">
                <a16:creationId xmlns:a16="http://schemas.microsoft.com/office/drawing/2014/main" id="{130B1338-C3CB-4EB5-86E6-A0978CE16624}"/>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1447FB1-F4C2-4D2A-AC17-E2D3FE92622F}"/>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11AA11C6-97A3-43C6-9DA6-9A9A74A0453F}"/>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D1AA79F4-3B12-448B-852B-0D5662E918A9}"/>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{"statement":"The server is not running and has been completely shut down."}</a:t>
            </a:r>
          </a:p>
        </p:txBody>
      </p:sp>
      <p:sp>
        <p:nvSpPr>
          <p:cNvPr id="9" name="MODERNBERT NLI-panel">
            <a:extLst xmlns:a="http://schemas.openxmlformats.org/drawingml/2006/main">
              <a:ext uri="{FF2B5EF4-FFF2-40B4-BE49-F238E27FC236}">
                <a16:creationId xmlns:a16="http://schemas.microsoft.com/office/drawing/2014/main" id="{1BD62073-9111-4722-88FF-96C2C00EB990}"/>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075B246E-C0CC-4AFF-9922-17A8057F7B9F}"/>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713323C-2D80-4D7B-B7D5-09311EE381AC}"/>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20E78A8B-02BC-4DBA-BB99-42B45C4A17BC}"/>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533C691E-9665-4738-91CA-52F3CC942196}"/>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CC1EFA6-5691-4A55-89BA-A4041DE36F26}"/>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7D1F3286-E4BE-40D5-9F72-BD98CCE9D7A7}"/>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stopped</a:t>
            </a:r>
          </a:p>
        </p:txBody>
      </p:sp>
      <p:sp>
        <p:nvSpPr>
          <p:cNvPr id="16" name="">
            <a:extLst xmlns:a="http://schemas.openxmlformats.org/drawingml/2006/main">
              <a:ext uri="{FF2B5EF4-FFF2-40B4-BE49-F238E27FC236}">
                <a16:creationId xmlns:a16="http://schemas.microsoft.com/office/drawing/2014/main" id="{DB315B09-CB45-4E66-81BC-50135D25A1D5}"/>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0.7969</a:t>
            </a:r>
          </a:p>
        </p:txBody>
      </p:sp>
      <p:sp>
        <p:nvSpPr>
          <p:cNvPr id="17" name="track-stopped">
            <a:extLst xmlns:a="http://schemas.openxmlformats.org/drawingml/2006/main">
              <a:ext uri="{FF2B5EF4-FFF2-40B4-BE49-F238E27FC236}">
                <a16:creationId xmlns:a16="http://schemas.microsoft.com/office/drawing/2014/main" id="{9C831731-A85D-45E5-9F45-B721120FAEDE}"/>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stopped">
            <a:extLst xmlns:a="http://schemas.openxmlformats.org/drawingml/2006/main">
              <a:ext uri="{FF2B5EF4-FFF2-40B4-BE49-F238E27FC236}">
                <a16:creationId xmlns:a16="http://schemas.microsoft.com/office/drawing/2014/main" id="{D0BD3FCA-369A-4A54-93E8-C27286DC4B38}"/>
              </a:ext>
            </a:extLst>
          </p:cNvPr>
          <p:cNvSpPr>
            <a:spLocks xmlns:a="http://schemas.openxmlformats.org/drawingml/2006/main" noGrp="1"/>
          </p:cNvSpPr>
          <p:nvPr/>
        </p:nvSpPr>
        <p:spPr>
          <a:xfrm xmlns:a="http://schemas.openxmlformats.org/drawingml/2006/main">
            <a:off x="990600" y="2962275"/>
            <a:ext cx="3689085"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6754BBE-17B8-4166-BB33-741519DBB42A}"/>
              </a:ext>
            </a:extLst>
          </p:cNvPr>
          <p:cNvSpPr>
            <a:spLocks xmlns:a="http://schemas.openxmlformats.org/drawingml/2006/main" noGrp="1"/>
          </p:cNvSpPr>
          <p:nvPr/>
        </p:nvSpPr>
        <p:spPr>
          <a:xfrm xmlns:a="http://schemas.openxmlformats.org/drawingml/2006/main">
            <a:off x="9906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running</a:t>
            </a:r>
          </a:p>
        </p:txBody>
      </p:sp>
      <p:sp>
        <p:nvSpPr>
          <p:cNvPr id="20" name="">
            <a:extLst xmlns:a="http://schemas.openxmlformats.org/drawingml/2006/main">
              <a:ext uri="{FF2B5EF4-FFF2-40B4-BE49-F238E27FC236}">
                <a16:creationId xmlns:a16="http://schemas.microsoft.com/office/drawing/2014/main" id="{9BC72516-18F2-422A-84D3-06CFFF4AD50F}"/>
              </a:ext>
            </a:extLst>
          </p:cNvPr>
          <p:cNvSpPr>
            <a:spLocks xmlns:a="http://schemas.openxmlformats.org/drawingml/2006/main" noGrp="1"/>
          </p:cNvSpPr>
          <p:nvPr/>
        </p:nvSpPr>
        <p:spPr>
          <a:xfrm xmlns:a="http://schemas.openxmlformats.org/drawingml/2006/main">
            <a:off x="40458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0.2031</a:t>
            </a:r>
          </a:p>
        </p:txBody>
      </p:sp>
      <p:sp>
        <p:nvSpPr>
          <p:cNvPr id="21" name="track-running">
            <a:extLst xmlns:a="http://schemas.openxmlformats.org/drawingml/2006/main">
              <a:ext uri="{FF2B5EF4-FFF2-40B4-BE49-F238E27FC236}">
                <a16:creationId xmlns:a16="http://schemas.microsoft.com/office/drawing/2014/main" id="{D5C3EF8E-3242-4DF4-8A11-6D6CD3C158C9}"/>
              </a:ext>
            </a:extLst>
          </p:cNvPr>
          <p:cNvSpPr>
            <a:spLocks xmlns:a="http://schemas.openxmlformats.org/drawingml/2006/main" noGrp="1"/>
          </p:cNvSpPr>
          <p:nvPr/>
        </p:nvSpPr>
        <p:spPr>
          <a:xfrm xmlns:a="http://schemas.openxmlformats.org/drawingml/2006/main">
            <a:off x="9906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running">
            <a:extLst xmlns:a="http://schemas.openxmlformats.org/drawingml/2006/main">
              <a:ext uri="{FF2B5EF4-FFF2-40B4-BE49-F238E27FC236}">
                <a16:creationId xmlns:a16="http://schemas.microsoft.com/office/drawing/2014/main" id="{F62E631D-6981-415F-B7B2-D079036C4223}"/>
              </a:ext>
            </a:extLst>
          </p:cNvPr>
          <p:cNvSpPr>
            <a:spLocks xmlns:a="http://schemas.openxmlformats.org/drawingml/2006/main" noGrp="1"/>
          </p:cNvSpPr>
          <p:nvPr/>
        </p:nvSpPr>
        <p:spPr>
          <a:xfrm xmlns:a="http://schemas.openxmlformats.org/drawingml/2006/main">
            <a:off x="990600" y="3743325"/>
            <a:ext cx="940065"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4618FF0-1746-4E1D-B2A7-B2ED784FF01F}"/>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stopped</a:t>
            </a:r>
          </a:p>
        </p:txBody>
      </p:sp>
      <p:sp>
        <p:nvSpPr>
          <p:cNvPr id="24" name="">
            <a:extLst xmlns:a="http://schemas.openxmlformats.org/drawingml/2006/main">
              <a:ext uri="{FF2B5EF4-FFF2-40B4-BE49-F238E27FC236}">
                <a16:creationId xmlns:a16="http://schemas.microsoft.com/office/drawing/2014/main" id="{DD5EB3B9-C0BE-4BE0-8410-CF96240E3601}"/>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5" name="track-stopped">
            <a:extLst xmlns:a="http://schemas.openxmlformats.org/drawingml/2006/main">
              <a:ext uri="{FF2B5EF4-FFF2-40B4-BE49-F238E27FC236}">
                <a16:creationId xmlns:a16="http://schemas.microsoft.com/office/drawing/2014/main" id="{91D6A851-9342-4B8C-8B97-06BC28BCB0A6}"/>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stopped">
            <a:extLst xmlns:a="http://schemas.openxmlformats.org/drawingml/2006/main">
              <a:ext uri="{FF2B5EF4-FFF2-40B4-BE49-F238E27FC236}">
                <a16:creationId xmlns:a16="http://schemas.microsoft.com/office/drawing/2014/main" id="{92FC746B-D205-4C8E-82C3-B56933456D83}"/>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901E4C4-91E7-46DE-82C3-67C20338C912}"/>
              </a:ext>
            </a:extLst>
          </p:cNvPr>
          <p:cNvSpPr>
            <a:spLocks xmlns:a="http://schemas.openxmlformats.org/drawingml/2006/main" noGrp="1"/>
          </p:cNvSpPr>
          <p:nvPr/>
        </p:nvSpPr>
        <p:spPr>
          <a:xfrm xmlns:a="http://schemas.openxmlformats.org/drawingml/2006/main">
            <a:off x="64008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running</a:t>
            </a:r>
          </a:p>
        </p:txBody>
      </p:sp>
      <p:sp>
        <p:nvSpPr>
          <p:cNvPr id="28" name="">
            <a:extLst xmlns:a="http://schemas.openxmlformats.org/drawingml/2006/main">
              <a:ext uri="{FF2B5EF4-FFF2-40B4-BE49-F238E27FC236}">
                <a16:creationId xmlns:a16="http://schemas.microsoft.com/office/drawing/2014/main" id="{49B43C18-01B6-4A7B-AB26-C7E09669AE3D}"/>
              </a:ext>
            </a:extLst>
          </p:cNvPr>
          <p:cNvSpPr>
            <a:spLocks xmlns:a="http://schemas.openxmlformats.org/drawingml/2006/main" noGrp="1"/>
          </p:cNvSpPr>
          <p:nvPr/>
        </p:nvSpPr>
        <p:spPr>
          <a:xfrm xmlns:a="http://schemas.openxmlformats.org/drawingml/2006/main">
            <a:off x="94560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29" name="track-running">
            <a:extLst xmlns:a="http://schemas.openxmlformats.org/drawingml/2006/main">
              <a:ext uri="{FF2B5EF4-FFF2-40B4-BE49-F238E27FC236}">
                <a16:creationId xmlns:a16="http://schemas.microsoft.com/office/drawing/2014/main" id="{23731B33-FB31-49FB-8489-6166665C6B37}"/>
              </a:ext>
            </a:extLst>
          </p:cNvPr>
          <p:cNvSpPr>
            <a:spLocks xmlns:a="http://schemas.openxmlformats.org/drawingml/2006/main" noGrp="1"/>
          </p:cNvSpPr>
          <p:nvPr/>
        </p:nvSpPr>
        <p:spPr>
          <a:xfrm xmlns:a="http://schemas.openxmlformats.org/drawingml/2006/main">
            <a:off x="64008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running">
            <a:extLst xmlns:a="http://schemas.openxmlformats.org/drawingml/2006/main">
              <a:ext uri="{FF2B5EF4-FFF2-40B4-BE49-F238E27FC236}">
                <a16:creationId xmlns:a16="http://schemas.microsoft.com/office/drawing/2014/main" id="{8AFA22E0-8AEA-4E5E-8A87-B6AAEA60B3BF}"/>
              </a:ext>
            </a:extLst>
          </p:cNvPr>
          <p:cNvSpPr>
            <a:spLocks xmlns:a="http://schemas.openxmlformats.org/drawingml/2006/main" noGrp="1"/>
          </p:cNvSpPr>
          <p:nvPr/>
        </p:nvSpPr>
        <p:spPr>
          <a:xfrm xmlns:a="http://schemas.openxmlformats.org/drawingml/2006/main">
            <a:off x="6400800" y="37433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2868881-8641-4939-82EE-31321DD1246D}"/>
              </a:ext>
            </a:extLst>
          </p:cNvPr>
          <p:cNvSpPr>
            <a:spLocks xmlns:a="http://schemas.openxmlformats.org/drawingml/2006/main" noGrp="1"/>
          </p:cNvSpPr>
          <p:nvPr/>
        </p:nvSpPr>
        <p:spPr>
          <a:xfrm xmlns:a="http://schemas.openxmlformats.org/drawingml/2006/main">
            <a:off x="9906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257BABE-2E38-4599-900F-9B8AC5139811}"/>
              </a:ext>
            </a:extLst>
          </p:cNvPr>
          <p:cNvSpPr>
            <a:spLocks xmlns:a="http://schemas.openxmlformats.org/drawingml/2006/main" noGrp="1"/>
          </p:cNvSpPr>
          <p:nvPr/>
        </p:nvSpPr>
        <p:spPr>
          <a:xfrm xmlns:a="http://schemas.openxmlformats.org/drawingml/2006/main">
            <a:off x="64008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9E255F5-9015-4205-957F-1464CFAC107E}"/>
              </a:ext>
            </a:extLst>
          </p:cNvPr>
          <p:cNvSpPr>
            <a:spLocks xmlns:a="http://schemas.openxmlformats.org/drawingml/2006/main" noGrp="1"/>
          </p:cNvSpPr>
          <p:nvPr/>
        </p:nvSpPr>
        <p:spPr>
          <a:xfrm xmlns:a="http://schemas.openxmlformats.org/drawingml/2006/main">
            <a:off x="9906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34" name="">
            <a:extLst xmlns:a="http://schemas.openxmlformats.org/drawingml/2006/main">
              <a:ext uri="{FF2B5EF4-FFF2-40B4-BE49-F238E27FC236}">
                <a16:creationId xmlns:a16="http://schemas.microsoft.com/office/drawing/2014/main" id="{3BC1F8C7-4914-4841-8899-ACAD438C8647}"/>
              </a:ext>
            </a:extLst>
          </p:cNvPr>
          <p:cNvSpPr>
            <a:spLocks xmlns:a="http://schemas.openxmlformats.org/drawingml/2006/main" noGrp="1"/>
          </p:cNvSpPr>
          <p:nvPr/>
        </p:nvSpPr>
        <p:spPr>
          <a:xfrm xmlns:a="http://schemas.openxmlformats.org/drawingml/2006/main">
            <a:off x="9906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stopped</a:t>
            </a:r>
          </a:p>
        </p:txBody>
      </p:sp>
      <p:sp>
        <p:nvSpPr>
          <p:cNvPr id="35" name="">
            <a:extLst xmlns:a="http://schemas.openxmlformats.org/drawingml/2006/main">
              <a:ext uri="{FF2B5EF4-FFF2-40B4-BE49-F238E27FC236}">
                <a16:creationId xmlns:a16="http://schemas.microsoft.com/office/drawing/2014/main" id="{0E7E9BAC-7BC7-4AB1-ADC1-379664E70A6C}"/>
              </a:ext>
            </a:extLst>
          </p:cNvPr>
          <p:cNvSpPr>
            <a:spLocks xmlns:a="http://schemas.openxmlformats.org/drawingml/2006/main" noGrp="1"/>
          </p:cNvSpPr>
          <p:nvPr/>
        </p:nvSpPr>
        <p:spPr>
          <a:xfrm xmlns:a="http://schemas.openxmlformats.org/drawingml/2006/main">
            <a:off x="25431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36" name="">
            <a:extLst xmlns:a="http://schemas.openxmlformats.org/drawingml/2006/main">
              <a:ext uri="{FF2B5EF4-FFF2-40B4-BE49-F238E27FC236}">
                <a16:creationId xmlns:a16="http://schemas.microsoft.com/office/drawing/2014/main" id="{9DE1D069-19A1-472E-893D-CDCB0EC79A54}"/>
              </a:ext>
            </a:extLst>
          </p:cNvPr>
          <p:cNvSpPr>
            <a:spLocks xmlns:a="http://schemas.openxmlformats.org/drawingml/2006/main" noGrp="1"/>
          </p:cNvSpPr>
          <p:nvPr/>
        </p:nvSpPr>
        <p:spPr>
          <a:xfrm xmlns:a="http://schemas.openxmlformats.org/drawingml/2006/main">
            <a:off x="25431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0.7969</a:t>
            </a:r>
          </a:p>
        </p:txBody>
      </p:sp>
      <p:sp>
        <p:nvSpPr>
          <p:cNvPr id="37" name="">
            <a:extLst xmlns:a="http://schemas.openxmlformats.org/drawingml/2006/main">
              <a:ext uri="{FF2B5EF4-FFF2-40B4-BE49-F238E27FC236}">
                <a16:creationId xmlns:a16="http://schemas.microsoft.com/office/drawing/2014/main" id="{569BC10B-35A7-44E5-88F6-2C46B6728D44}"/>
              </a:ext>
            </a:extLst>
          </p:cNvPr>
          <p:cNvSpPr>
            <a:spLocks xmlns:a="http://schemas.openxmlformats.org/drawingml/2006/main" noGrp="1"/>
          </p:cNvSpPr>
          <p:nvPr/>
        </p:nvSpPr>
        <p:spPr>
          <a:xfrm xmlns:a="http://schemas.openxmlformats.org/drawingml/2006/main">
            <a:off x="39052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38" name="">
            <a:extLst xmlns:a="http://schemas.openxmlformats.org/drawingml/2006/main">
              <a:ext uri="{FF2B5EF4-FFF2-40B4-BE49-F238E27FC236}">
                <a16:creationId xmlns:a16="http://schemas.microsoft.com/office/drawing/2014/main" id="{7A93845C-7924-4FAD-A884-9594882850E3}"/>
              </a:ext>
            </a:extLst>
          </p:cNvPr>
          <p:cNvSpPr>
            <a:spLocks xmlns:a="http://schemas.openxmlformats.org/drawingml/2006/main" noGrp="1"/>
          </p:cNvSpPr>
          <p:nvPr/>
        </p:nvSpPr>
        <p:spPr>
          <a:xfrm xmlns:a="http://schemas.openxmlformats.org/drawingml/2006/main">
            <a:off x="39052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0.5939</a:t>
            </a:r>
          </a:p>
        </p:txBody>
      </p:sp>
      <p:sp>
        <p:nvSpPr>
          <p:cNvPr id="39" name="">
            <a:extLst xmlns:a="http://schemas.openxmlformats.org/drawingml/2006/main">
              <a:ext uri="{FF2B5EF4-FFF2-40B4-BE49-F238E27FC236}">
                <a16:creationId xmlns:a16="http://schemas.microsoft.com/office/drawing/2014/main" id="{0B417F06-1A3A-4843-8C53-B79984A1AC09}"/>
              </a:ext>
            </a:extLst>
          </p:cNvPr>
          <p:cNvSpPr>
            <a:spLocks xmlns:a="http://schemas.openxmlformats.org/drawingml/2006/main" noGrp="1"/>
          </p:cNvSpPr>
          <p:nvPr/>
        </p:nvSpPr>
        <p:spPr>
          <a:xfrm xmlns:a="http://schemas.openxmlformats.org/drawingml/2006/main">
            <a:off x="49530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0" name="">
            <a:extLst xmlns:a="http://schemas.openxmlformats.org/drawingml/2006/main">
              <a:ext uri="{FF2B5EF4-FFF2-40B4-BE49-F238E27FC236}">
                <a16:creationId xmlns:a16="http://schemas.microsoft.com/office/drawing/2014/main" id="{E7F48E88-561B-4652-8D88-43AF2C163EA5}"/>
              </a:ext>
            </a:extLst>
          </p:cNvPr>
          <p:cNvSpPr>
            <a:spLocks xmlns:a="http://schemas.openxmlformats.org/drawingml/2006/main" noGrp="1"/>
          </p:cNvSpPr>
          <p:nvPr/>
        </p:nvSpPr>
        <p:spPr>
          <a:xfrm xmlns:a="http://schemas.openxmlformats.org/drawingml/2006/main">
            <a:off x="49530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1" name="">
            <a:extLst xmlns:a="http://schemas.openxmlformats.org/drawingml/2006/main">
              <a:ext uri="{FF2B5EF4-FFF2-40B4-BE49-F238E27FC236}">
                <a16:creationId xmlns:a16="http://schemas.microsoft.com/office/drawing/2014/main" id="{C80CCE96-1694-4CED-B309-8114C4711782}"/>
              </a:ext>
            </a:extLst>
          </p:cNvPr>
          <p:cNvSpPr>
            <a:spLocks xmlns:a="http://schemas.openxmlformats.org/drawingml/2006/main" noGrp="1"/>
          </p:cNvSpPr>
          <p:nvPr/>
        </p:nvSpPr>
        <p:spPr>
          <a:xfrm xmlns:a="http://schemas.openxmlformats.org/drawingml/2006/main">
            <a:off x="64008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2064C5BB-001C-4BE7-BE0B-46768F2C9930}"/>
              </a:ext>
            </a:extLst>
          </p:cNvPr>
          <p:cNvSpPr>
            <a:spLocks xmlns:a="http://schemas.openxmlformats.org/drawingml/2006/main" noGrp="1"/>
          </p:cNvSpPr>
          <p:nvPr/>
        </p:nvSpPr>
        <p:spPr>
          <a:xfrm xmlns:a="http://schemas.openxmlformats.org/drawingml/2006/main">
            <a:off x="64008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stopped</a:t>
            </a:r>
          </a:p>
        </p:txBody>
      </p:sp>
      <p:sp>
        <p:nvSpPr>
          <p:cNvPr id="43" name="">
            <a:extLst xmlns:a="http://schemas.openxmlformats.org/drawingml/2006/main">
              <a:ext uri="{FF2B5EF4-FFF2-40B4-BE49-F238E27FC236}">
                <a16:creationId xmlns:a16="http://schemas.microsoft.com/office/drawing/2014/main" id="{988DFE90-B315-49FB-8E9A-8C607AB25FBF}"/>
              </a:ext>
            </a:extLst>
          </p:cNvPr>
          <p:cNvSpPr>
            <a:spLocks xmlns:a="http://schemas.openxmlformats.org/drawingml/2006/main" noGrp="1"/>
          </p:cNvSpPr>
          <p:nvPr/>
        </p:nvSpPr>
        <p:spPr>
          <a:xfrm xmlns:a="http://schemas.openxmlformats.org/drawingml/2006/main">
            <a:off x="79533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938F356F-BE84-4840-B105-6C27E2CA8D34}"/>
              </a:ext>
            </a:extLst>
          </p:cNvPr>
          <p:cNvSpPr>
            <a:spLocks xmlns:a="http://schemas.openxmlformats.org/drawingml/2006/main" noGrp="1"/>
          </p:cNvSpPr>
          <p:nvPr/>
        </p:nvSpPr>
        <p:spPr>
          <a:xfrm xmlns:a="http://schemas.openxmlformats.org/drawingml/2006/main">
            <a:off x="79533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5" name="">
            <a:extLst xmlns:a="http://schemas.openxmlformats.org/drawingml/2006/main">
              <a:ext uri="{FF2B5EF4-FFF2-40B4-BE49-F238E27FC236}">
                <a16:creationId xmlns:a16="http://schemas.microsoft.com/office/drawing/2014/main" id="{7B513DF2-6B0C-448E-AF43-5D5D14C1FD47}"/>
              </a:ext>
            </a:extLst>
          </p:cNvPr>
          <p:cNvSpPr>
            <a:spLocks xmlns:a="http://schemas.openxmlformats.org/drawingml/2006/main" noGrp="1"/>
          </p:cNvSpPr>
          <p:nvPr/>
        </p:nvSpPr>
        <p:spPr>
          <a:xfrm xmlns:a="http://schemas.openxmlformats.org/drawingml/2006/main">
            <a:off x="93154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AFE3139B-CA1C-4630-9D7E-0013AC193878}"/>
              </a:ext>
            </a:extLst>
          </p:cNvPr>
          <p:cNvSpPr>
            <a:spLocks xmlns:a="http://schemas.openxmlformats.org/drawingml/2006/main" noGrp="1"/>
          </p:cNvSpPr>
          <p:nvPr/>
        </p:nvSpPr>
        <p:spPr>
          <a:xfrm xmlns:a="http://schemas.openxmlformats.org/drawingml/2006/main">
            <a:off x="93154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7" name="">
            <a:extLst xmlns:a="http://schemas.openxmlformats.org/drawingml/2006/main">
              <a:ext uri="{FF2B5EF4-FFF2-40B4-BE49-F238E27FC236}">
                <a16:creationId xmlns:a16="http://schemas.microsoft.com/office/drawing/2014/main" id="{61014F93-6D8E-417F-9B50-AB90923BB06B}"/>
              </a:ext>
            </a:extLst>
          </p:cNvPr>
          <p:cNvSpPr>
            <a:spLocks xmlns:a="http://schemas.openxmlformats.org/drawingml/2006/main" noGrp="1"/>
          </p:cNvSpPr>
          <p:nvPr/>
        </p:nvSpPr>
        <p:spPr>
          <a:xfrm xmlns:a="http://schemas.openxmlformats.org/drawingml/2006/main">
            <a:off x="103632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C526B81E-699C-4DE7-8BBA-841C7713ACD1}"/>
              </a:ext>
            </a:extLst>
          </p:cNvPr>
          <p:cNvSpPr>
            <a:spLocks xmlns:a="http://schemas.openxmlformats.org/drawingml/2006/main" noGrp="1"/>
          </p:cNvSpPr>
          <p:nvPr/>
        </p:nvSpPr>
        <p:spPr>
          <a:xfrm xmlns:a="http://schemas.openxmlformats.org/drawingml/2006/main">
            <a:off x="103632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7322141D-72C6-4F3F-9983-9DA62427B145}"/>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stopped</a:t>
            </a:r>
          </a:p>
        </p:txBody>
      </p:sp>
      <p:sp>
        <p:nvSpPr>
          <p:cNvPr id="50" name="">
            <a:extLst xmlns:a="http://schemas.openxmlformats.org/drawingml/2006/main">
              <a:ext uri="{FF2B5EF4-FFF2-40B4-BE49-F238E27FC236}">
                <a16:creationId xmlns:a16="http://schemas.microsoft.com/office/drawing/2014/main" id="{7FC5CF8B-DCBE-49BB-8E1B-1B1AD5045EC5}"/>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1" name="">
            <a:extLst xmlns:a="http://schemas.openxmlformats.org/drawingml/2006/main">
              <a:ext uri="{FF2B5EF4-FFF2-40B4-BE49-F238E27FC236}">
                <a16:creationId xmlns:a16="http://schemas.microsoft.com/office/drawing/2014/main" id="{D1F30E5F-C3A4-45CB-9AA9-4851FE37494E}"/>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5 of 12  ·  id: explicit_negation</a:t>
            </a:r>
          </a:p>
        </p:txBody>
      </p:sp>
    </p:spTree>
    <p:extLst>
      <p:ext uri="{BB962C8B-B14F-4D97-AF65-F5344CB8AC3E}">
        <p14:creationId xmlns:p14="http://schemas.microsoft.com/office/powerpoint/2010/main" val="175535431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2" name="background">
            <a:extLst xmlns:a="http://schemas.openxmlformats.org/drawingml/2006/main">
              <a:ext uri="{FF2B5EF4-FFF2-40B4-BE49-F238E27FC236}">
                <a16:creationId xmlns:a16="http://schemas.microsoft.com/office/drawing/2014/main" id="{EF9DC5CC-33D7-4375-A24C-6A76C958FF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CD98E13A-1F38-4D4E-8DB9-5675D51C983E}"/>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0D43CE8-5BD8-490B-893B-A8B6D9C4F373}"/>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06 · TEMPORAL ORDERING</a:t>
            </a:r>
          </a:p>
        </p:txBody>
      </p:sp>
      <p:sp>
        <p:nvSpPr>
          <p:cNvPr id="4" name="">
            <a:extLst xmlns:a="http://schemas.openxmlformats.org/drawingml/2006/main">
              <a:ext uri="{FF2B5EF4-FFF2-40B4-BE49-F238E27FC236}">
                <a16:creationId xmlns:a16="http://schemas.microsoft.com/office/drawing/2014/main" id="{9F1542A9-0688-4C9C-88C6-8E78DDE696B1}"/>
              </a:ext>
            </a:extLst>
          </p:cNvPr>
          <p:cNvSpPr>
            <a:spLocks xmlns:a="http://schemas.openxmlformats.org/drawingml/2006/main" noGrp="1"/>
          </p:cNvSpPr>
          <p:nvPr/>
        </p:nvSpPr>
        <p:spPr>
          <a:xfrm xmlns:a="http://schemas.openxmlformats.org/drawingml/2006/main">
            <a:off x="781050" y="666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i="0">
                <a:solidFill>
                  <a:srgbClr val="21295C"/>
                </a:solidFill>
                <a:latin typeface="Georgia"/>
                <a:ea typeface="Georgia"/>
                <a:cs typeface="Georgia"/>
              </a:defRPr>
            </a:pPr>
            <a:r>
              <a:rPr sz="2925" b="1" i="0">
                <a:solidFill>
                  <a:srgbClr val="21295C"/>
                </a:solidFill>
                <a:latin typeface="Georgia"/>
                <a:ea typeface="Georgia"/>
                <a:cs typeface="Georgia"/>
              </a:rPr>
              <a:t>Which event happened first?</a:t>
            </a:r>
          </a:p>
        </p:txBody>
      </p:sp>
      <p:sp>
        <p:nvSpPr>
          <p:cNvPr id="5" name="">
            <a:extLst xmlns:a="http://schemas.openxmlformats.org/drawingml/2006/main">
              <a:ext uri="{FF2B5EF4-FFF2-40B4-BE49-F238E27FC236}">
                <a16:creationId xmlns:a16="http://schemas.microsoft.com/office/drawing/2014/main" id="{132093A0-F532-46BA-976E-3EDBD0142E5B}"/>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8882E8B-E426-4F4C-A9E6-97472126CD4E}"/>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87DF020A-9292-45D3-ADC1-249710935523}"/>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A8033F8C-B608-4E36-94D8-8B196F2E508B}"/>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{"events":"The package was ordered on Monday and delivered on Friday of the same week."}</a:t>
            </a:r>
          </a:p>
        </p:txBody>
      </p:sp>
      <p:sp>
        <p:nvSpPr>
          <p:cNvPr id="9" name="MODERNBERT NLI-panel">
            <a:extLst xmlns:a="http://schemas.openxmlformats.org/drawingml/2006/main">
              <a:ext uri="{FF2B5EF4-FFF2-40B4-BE49-F238E27FC236}">
                <a16:creationId xmlns:a16="http://schemas.microsoft.com/office/drawing/2014/main" id="{28E13F80-110C-46BB-B2DD-9C14C29DF2FC}"/>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E8B4C9B6-5BA1-41AF-A84B-E0A7B5F835B6}"/>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08C1F23-24F0-4AA0-950C-2DB0C1FC3CFF}"/>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A0D6813C-79EF-43D6-8E5D-D32D7C7628DA}"/>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55F95C9A-E18B-4CDA-ABBA-D38BD9E5C315}"/>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33F2AD9-736D-4FBC-B7E9-989AF8ABE9FD}"/>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7B1AE993-8015-4FEA-82A0-98C67993910C}"/>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ordering</a:t>
            </a:r>
          </a:p>
        </p:txBody>
      </p:sp>
      <p:sp>
        <p:nvSpPr>
          <p:cNvPr id="16" name="">
            <a:extLst xmlns:a="http://schemas.openxmlformats.org/drawingml/2006/main">
              <a:ext uri="{FF2B5EF4-FFF2-40B4-BE49-F238E27FC236}">
                <a16:creationId xmlns:a16="http://schemas.microsoft.com/office/drawing/2014/main" id="{5FFD1C0F-0211-40F9-BE9B-AE6CCC23EBA6}"/>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0.7870</a:t>
            </a:r>
          </a:p>
        </p:txBody>
      </p:sp>
      <p:sp>
        <p:nvSpPr>
          <p:cNvPr id="17" name="track-ordering">
            <a:extLst xmlns:a="http://schemas.openxmlformats.org/drawingml/2006/main">
              <a:ext uri="{FF2B5EF4-FFF2-40B4-BE49-F238E27FC236}">
                <a16:creationId xmlns:a16="http://schemas.microsoft.com/office/drawing/2014/main" id="{356F79A3-1B11-4B91-8FA3-41728C95252F}"/>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ordering">
            <a:extLst xmlns:a="http://schemas.openxmlformats.org/drawingml/2006/main">
              <a:ext uri="{FF2B5EF4-FFF2-40B4-BE49-F238E27FC236}">
                <a16:creationId xmlns:a16="http://schemas.microsoft.com/office/drawing/2014/main" id="{CD4A863C-246E-47AE-84FE-C51FD017F897}"/>
              </a:ext>
            </a:extLst>
          </p:cNvPr>
          <p:cNvSpPr>
            <a:spLocks xmlns:a="http://schemas.openxmlformats.org/drawingml/2006/main" noGrp="1"/>
          </p:cNvSpPr>
          <p:nvPr/>
        </p:nvSpPr>
        <p:spPr>
          <a:xfrm xmlns:a="http://schemas.openxmlformats.org/drawingml/2006/main">
            <a:off x="990600" y="2962275"/>
            <a:ext cx="3642910"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C4D0C18-1AB3-4C56-8394-E597C9DADE8C}"/>
              </a:ext>
            </a:extLst>
          </p:cNvPr>
          <p:cNvSpPr>
            <a:spLocks xmlns:a="http://schemas.openxmlformats.org/drawingml/2006/main" noGrp="1"/>
          </p:cNvSpPr>
          <p:nvPr/>
        </p:nvSpPr>
        <p:spPr>
          <a:xfrm xmlns:a="http://schemas.openxmlformats.org/drawingml/2006/main">
            <a:off x="9906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delivery</a:t>
            </a:r>
          </a:p>
        </p:txBody>
      </p:sp>
      <p:sp>
        <p:nvSpPr>
          <p:cNvPr id="20" name="">
            <a:extLst xmlns:a="http://schemas.openxmlformats.org/drawingml/2006/main">
              <a:ext uri="{FF2B5EF4-FFF2-40B4-BE49-F238E27FC236}">
                <a16:creationId xmlns:a16="http://schemas.microsoft.com/office/drawing/2014/main" id="{A9ED8C19-F998-4A11-BFFA-296D3288A9F9}"/>
              </a:ext>
            </a:extLst>
          </p:cNvPr>
          <p:cNvSpPr>
            <a:spLocks xmlns:a="http://schemas.openxmlformats.org/drawingml/2006/main" noGrp="1"/>
          </p:cNvSpPr>
          <p:nvPr/>
        </p:nvSpPr>
        <p:spPr>
          <a:xfrm xmlns:a="http://schemas.openxmlformats.org/drawingml/2006/main">
            <a:off x="40458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0.2130</a:t>
            </a:r>
          </a:p>
        </p:txBody>
      </p:sp>
      <p:sp>
        <p:nvSpPr>
          <p:cNvPr id="21" name="track-delivery">
            <a:extLst xmlns:a="http://schemas.openxmlformats.org/drawingml/2006/main">
              <a:ext uri="{FF2B5EF4-FFF2-40B4-BE49-F238E27FC236}">
                <a16:creationId xmlns:a16="http://schemas.microsoft.com/office/drawing/2014/main" id="{C4D9FC15-9DB2-46AB-8F1E-30FA184896FB}"/>
              </a:ext>
            </a:extLst>
          </p:cNvPr>
          <p:cNvSpPr>
            <a:spLocks xmlns:a="http://schemas.openxmlformats.org/drawingml/2006/main" noGrp="1"/>
          </p:cNvSpPr>
          <p:nvPr/>
        </p:nvSpPr>
        <p:spPr>
          <a:xfrm xmlns:a="http://schemas.openxmlformats.org/drawingml/2006/main">
            <a:off x="9906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delivery">
            <a:extLst xmlns:a="http://schemas.openxmlformats.org/drawingml/2006/main">
              <a:ext uri="{FF2B5EF4-FFF2-40B4-BE49-F238E27FC236}">
                <a16:creationId xmlns:a16="http://schemas.microsoft.com/office/drawing/2014/main" id="{0E89719E-1449-4F1A-A421-08FAD3C8B9DF}"/>
              </a:ext>
            </a:extLst>
          </p:cNvPr>
          <p:cNvSpPr>
            <a:spLocks xmlns:a="http://schemas.openxmlformats.org/drawingml/2006/main" noGrp="1"/>
          </p:cNvSpPr>
          <p:nvPr/>
        </p:nvSpPr>
        <p:spPr>
          <a:xfrm xmlns:a="http://schemas.openxmlformats.org/drawingml/2006/main">
            <a:off x="990600" y="3743325"/>
            <a:ext cx="986240"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CAAA563-9168-44E6-BCB1-25FA20EB83D0}"/>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ordering</a:t>
            </a:r>
          </a:p>
        </p:txBody>
      </p:sp>
      <p:sp>
        <p:nvSpPr>
          <p:cNvPr id="24" name="">
            <a:extLst xmlns:a="http://schemas.openxmlformats.org/drawingml/2006/main">
              <a:ext uri="{FF2B5EF4-FFF2-40B4-BE49-F238E27FC236}">
                <a16:creationId xmlns:a16="http://schemas.microsoft.com/office/drawing/2014/main" id="{630DC111-1A0D-470B-BEA5-7BF071951FFF}"/>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5" name="track-ordering">
            <a:extLst xmlns:a="http://schemas.openxmlformats.org/drawingml/2006/main">
              <a:ext uri="{FF2B5EF4-FFF2-40B4-BE49-F238E27FC236}">
                <a16:creationId xmlns:a16="http://schemas.microsoft.com/office/drawing/2014/main" id="{06CCFF1F-6E0D-47FB-A57C-27AC70C0298A}"/>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ordering">
            <a:extLst xmlns:a="http://schemas.openxmlformats.org/drawingml/2006/main">
              <a:ext uri="{FF2B5EF4-FFF2-40B4-BE49-F238E27FC236}">
                <a16:creationId xmlns:a16="http://schemas.microsoft.com/office/drawing/2014/main" id="{EFCED161-8C06-43E8-9688-A870EC4661BC}"/>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F61D1E1-03E7-4493-8D64-83FCA9E84D7B}"/>
              </a:ext>
            </a:extLst>
          </p:cNvPr>
          <p:cNvSpPr>
            <a:spLocks xmlns:a="http://schemas.openxmlformats.org/drawingml/2006/main" noGrp="1"/>
          </p:cNvSpPr>
          <p:nvPr/>
        </p:nvSpPr>
        <p:spPr>
          <a:xfrm xmlns:a="http://schemas.openxmlformats.org/drawingml/2006/main">
            <a:off x="64008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delivery</a:t>
            </a:r>
          </a:p>
        </p:txBody>
      </p:sp>
      <p:sp>
        <p:nvSpPr>
          <p:cNvPr id="28" name="">
            <a:extLst xmlns:a="http://schemas.openxmlformats.org/drawingml/2006/main">
              <a:ext uri="{FF2B5EF4-FFF2-40B4-BE49-F238E27FC236}">
                <a16:creationId xmlns:a16="http://schemas.microsoft.com/office/drawing/2014/main" id="{11EBE8E8-4751-4F2E-82BD-6E70B264604B}"/>
              </a:ext>
            </a:extLst>
          </p:cNvPr>
          <p:cNvSpPr>
            <a:spLocks xmlns:a="http://schemas.openxmlformats.org/drawingml/2006/main" noGrp="1"/>
          </p:cNvSpPr>
          <p:nvPr/>
        </p:nvSpPr>
        <p:spPr>
          <a:xfrm xmlns:a="http://schemas.openxmlformats.org/drawingml/2006/main">
            <a:off x="94560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29" name="track-delivery">
            <a:extLst xmlns:a="http://schemas.openxmlformats.org/drawingml/2006/main">
              <a:ext uri="{FF2B5EF4-FFF2-40B4-BE49-F238E27FC236}">
                <a16:creationId xmlns:a16="http://schemas.microsoft.com/office/drawing/2014/main" id="{E812E8FD-DFCF-4A35-8F59-836509EB06A2}"/>
              </a:ext>
            </a:extLst>
          </p:cNvPr>
          <p:cNvSpPr>
            <a:spLocks xmlns:a="http://schemas.openxmlformats.org/drawingml/2006/main" noGrp="1"/>
          </p:cNvSpPr>
          <p:nvPr/>
        </p:nvSpPr>
        <p:spPr>
          <a:xfrm xmlns:a="http://schemas.openxmlformats.org/drawingml/2006/main">
            <a:off x="64008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delivery">
            <a:extLst xmlns:a="http://schemas.openxmlformats.org/drawingml/2006/main">
              <a:ext uri="{FF2B5EF4-FFF2-40B4-BE49-F238E27FC236}">
                <a16:creationId xmlns:a16="http://schemas.microsoft.com/office/drawing/2014/main" id="{3DB23A4A-BF62-4038-900F-32533D3B180B}"/>
              </a:ext>
            </a:extLst>
          </p:cNvPr>
          <p:cNvSpPr>
            <a:spLocks xmlns:a="http://schemas.openxmlformats.org/drawingml/2006/main" noGrp="1"/>
          </p:cNvSpPr>
          <p:nvPr/>
        </p:nvSpPr>
        <p:spPr>
          <a:xfrm xmlns:a="http://schemas.openxmlformats.org/drawingml/2006/main">
            <a:off x="6400800" y="37433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B19AE65-3DEF-4021-9E80-0B0AE1F37562}"/>
              </a:ext>
            </a:extLst>
          </p:cNvPr>
          <p:cNvSpPr>
            <a:spLocks xmlns:a="http://schemas.openxmlformats.org/drawingml/2006/main" noGrp="1"/>
          </p:cNvSpPr>
          <p:nvPr/>
        </p:nvSpPr>
        <p:spPr>
          <a:xfrm xmlns:a="http://schemas.openxmlformats.org/drawingml/2006/main">
            <a:off x="9906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99B8CE4-C2CA-40AB-8618-857A9EE6FADA}"/>
              </a:ext>
            </a:extLst>
          </p:cNvPr>
          <p:cNvSpPr>
            <a:spLocks xmlns:a="http://schemas.openxmlformats.org/drawingml/2006/main" noGrp="1"/>
          </p:cNvSpPr>
          <p:nvPr/>
        </p:nvSpPr>
        <p:spPr>
          <a:xfrm xmlns:a="http://schemas.openxmlformats.org/drawingml/2006/main">
            <a:off x="64008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0194BF2-AAD1-4977-BD57-D65305FF0CF3}"/>
              </a:ext>
            </a:extLst>
          </p:cNvPr>
          <p:cNvSpPr>
            <a:spLocks xmlns:a="http://schemas.openxmlformats.org/drawingml/2006/main" noGrp="1"/>
          </p:cNvSpPr>
          <p:nvPr/>
        </p:nvSpPr>
        <p:spPr>
          <a:xfrm xmlns:a="http://schemas.openxmlformats.org/drawingml/2006/main">
            <a:off x="9906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34" name="">
            <a:extLst xmlns:a="http://schemas.openxmlformats.org/drawingml/2006/main">
              <a:ext uri="{FF2B5EF4-FFF2-40B4-BE49-F238E27FC236}">
                <a16:creationId xmlns:a16="http://schemas.microsoft.com/office/drawing/2014/main" id="{119AB930-2B9C-4135-BAC4-3AE4B8D8293A}"/>
              </a:ext>
            </a:extLst>
          </p:cNvPr>
          <p:cNvSpPr>
            <a:spLocks xmlns:a="http://schemas.openxmlformats.org/drawingml/2006/main" noGrp="1"/>
          </p:cNvSpPr>
          <p:nvPr/>
        </p:nvSpPr>
        <p:spPr>
          <a:xfrm xmlns:a="http://schemas.openxmlformats.org/drawingml/2006/main">
            <a:off x="9906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ordering</a:t>
            </a:r>
          </a:p>
        </p:txBody>
      </p:sp>
      <p:sp>
        <p:nvSpPr>
          <p:cNvPr id="35" name="">
            <a:extLst xmlns:a="http://schemas.openxmlformats.org/drawingml/2006/main">
              <a:ext uri="{FF2B5EF4-FFF2-40B4-BE49-F238E27FC236}">
                <a16:creationId xmlns:a16="http://schemas.microsoft.com/office/drawing/2014/main" id="{7D9CDE66-360D-412A-9A39-E1C7EA3A873A}"/>
              </a:ext>
            </a:extLst>
          </p:cNvPr>
          <p:cNvSpPr>
            <a:spLocks xmlns:a="http://schemas.openxmlformats.org/drawingml/2006/main" noGrp="1"/>
          </p:cNvSpPr>
          <p:nvPr/>
        </p:nvSpPr>
        <p:spPr>
          <a:xfrm xmlns:a="http://schemas.openxmlformats.org/drawingml/2006/main">
            <a:off x="25431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36" name="">
            <a:extLst xmlns:a="http://schemas.openxmlformats.org/drawingml/2006/main">
              <a:ext uri="{FF2B5EF4-FFF2-40B4-BE49-F238E27FC236}">
                <a16:creationId xmlns:a16="http://schemas.microsoft.com/office/drawing/2014/main" id="{96449CC1-0753-4537-91F6-DC83F5172B76}"/>
              </a:ext>
            </a:extLst>
          </p:cNvPr>
          <p:cNvSpPr>
            <a:spLocks xmlns:a="http://schemas.openxmlformats.org/drawingml/2006/main" noGrp="1"/>
          </p:cNvSpPr>
          <p:nvPr/>
        </p:nvSpPr>
        <p:spPr>
          <a:xfrm xmlns:a="http://schemas.openxmlformats.org/drawingml/2006/main">
            <a:off x="25431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0.7870</a:t>
            </a:r>
          </a:p>
        </p:txBody>
      </p:sp>
      <p:sp>
        <p:nvSpPr>
          <p:cNvPr id="37" name="">
            <a:extLst xmlns:a="http://schemas.openxmlformats.org/drawingml/2006/main">
              <a:ext uri="{FF2B5EF4-FFF2-40B4-BE49-F238E27FC236}">
                <a16:creationId xmlns:a16="http://schemas.microsoft.com/office/drawing/2014/main" id="{B18CC725-2C91-4DCC-8CD9-1A29584D0822}"/>
              </a:ext>
            </a:extLst>
          </p:cNvPr>
          <p:cNvSpPr>
            <a:spLocks xmlns:a="http://schemas.openxmlformats.org/drawingml/2006/main" noGrp="1"/>
          </p:cNvSpPr>
          <p:nvPr/>
        </p:nvSpPr>
        <p:spPr>
          <a:xfrm xmlns:a="http://schemas.openxmlformats.org/drawingml/2006/main">
            <a:off x="39052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38" name="">
            <a:extLst xmlns:a="http://schemas.openxmlformats.org/drawingml/2006/main">
              <a:ext uri="{FF2B5EF4-FFF2-40B4-BE49-F238E27FC236}">
                <a16:creationId xmlns:a16="http://schemas.microsoft.com/office/drawing/2014/main" id="{F5FE41CA-5AB7-4083-BFE5-8573B66EBF8F}"/>
              </a:ext>
            </a:extLst>
          </p:cNvPr>
          <p:cNvSpPr>
            <a:spLocks xmlns:a="http://schemas.openxmlformats.org/drawingml/2006/main" noGrp="1"/>
          </p:cNvSpPr>
          <p:nvPr/>
        </p:nvSpPr>
        <p:spPr>
          <a:xfrm xmlns:a="http://schemas.openxmlformats.org/drawingml/2006/main">
            <a:off x="39052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0.5739</a:t>
            </a:r>
          </a:p>
        </p:txBody>
      </p:sp>
      <p:sp>
        <p:nvSpPr>
          <p:cNvPr id="39" name="">
            <a:extLst xmlns:a="http://schemas.openxmlformats.org/drawingml/2006/main">
              <a:ext uri="{FF2B5EF4-FFF2-40B4-BE49-F238E27FC236}">
                <a16:creationId xmlns:a16="http://schemas.microsoft.com/office/drawing/2014/main" id="{96BF19FF-FE9C-400F-B0DB-17AF7A67CFFD}"/>
              </a:ext>
            </a:extLst>
          </p:cNvPr>
          <p:cNvSpPr>
            <a:spLocks xmlns:a="http://schemas.openxmlformats.org/drawingml/2006/main" noGrp="1"/>
          </p:cNvSpPr>
          <p:nvPr/>
        </p:nvSpPr>
        <p:spPr>
          <a:xfrm xmlns:a="http://schemas.openxmlformats.org/drawingml/2006/main">
            <a:off x="49530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0" name="">
            <a:extLst xmlns:a="http://schemas.openxmlformats.org/drawingml/2006/main">
              <a:ext uri="{FF2B5EF4-FFF2-40B4-BE49-F238E27FC236}">
                <a16:creationId xmlns:a16="http://schemas.microsoft.com/office/drawing/2014/main" id="{1DC68FC6-04FC-42FE-A67C-F6706D02CEB1}"/>
              </a:ext>
            </a:extLst>
          </p:cNvPr>
          <p:cNvSpPr>
            <a:spLocks xmlns:a="http://schemas.openxmlformats.org/drawingml/2006/main" noGrp="1"/>
          </p:cNvSpPr>
          <p:nvPr/>
        </p:nvSpPr>
        <p:spPr>
          <a:xfrm xmlns:a="http://schemas.openxmlformats.org/drawingml/2006/main">
            <a:off x="49530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1" name="">
            <a:extLst xmlns:a="http://schemas.openxmlformats.org/drawingml/2006/main">
              <a:ext uri="{FF2B5EF4-FFF2-40B4-BE49-F238E27FC236}">
                <a16:creationId xmlns:a16="http://schemas.microsoft.com/office/drawing/2014/main" id="{972FB8F7-BE50-48D6-9935-767C7D549FEF}"/>
              </a:ext>
            </a:extLst>
          </p:cNvPr>
          <p:cNvSpPr>
            <a:spLocks xmlns:a="http://schemas.openxmlformats.org/drawingml/2006/main" noGrp="1"/>
          </p:cNvSpPr>
          <p:nvPr/>
        </p:nvSpPr>
        <p:spPr>
          <a:xfrm xmlns:a="http://schemas.openxmlformats.org/drawingml/2006/main">
            <a:off x="64008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C90D2B80-BD14-4AC8-8118-EF33584E90A6}"/>
              </a:ext>
            </a:extLst>
          </p:cNvPr>
          <p:cNvSpPr>
            <a:spLocks xmlns:a="http://schemas.openxmlformats.org/drawingml/2006/main" noGrp="1"/>
          </p:cNvSpPr>
          <p:nvPr/>
        </p:nvSpPr>
        <p:spPr>
          <a:xfrm xmlns:a="http://schemas.openxmlformats.org/drawingml/2006/main">
            <a:off x="64008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ordering</a:t>
            </a:r>
          </a:p>
        </p:txBody>
      </p:sp>
      <p:sp>
        <p:nvSpPr>
          <p:cNvPr id="43" name="">
            <a:extLst xmlns:a="http://schemas.openxmlformats.org/drawingml/2006/main">
              <a:ext uri="{FF2B5EF4-FFF2-40B4-BE49-F238E27FC236}">
                <a16:creationId xmlns:a16="http://schemas.microsoft.com/office/drawing/2014/main" id="{18552660-C4DE-4BF5-A6FA-EB90688E5219}"/>
              </a:ext>
            </a:extLst>
          </p:cNvPr>
          <p:cNvSpPr>
            <a:spLocks xmlns:a="http://schemas.openxmlformats.org/drawingml/2006/main" noGrp="1"/>
          </p:cNvSpPr>
          <p:nvPr/>
        </p:nvSpPr>
        <p:spPr>
          <a:xfrm xmlns:a="http://schemas.openxmlformats.org/drawingml/2006/main">
            <a:off x="79533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0E3E223F-0778-4FDE-901C-116335D66B85}"/>
              </a:ext>
            </a:extLst>
          </p:cNvPr>
          <p:cNvSpPr>
            <a:spLocks xmlns:a="http://schemas.openxmlformats.org/drawingml/2006/main" noGrp="1"/>
          </p:cNvSpPr>
          <p:nvPr/>
        </p:nvSpPr>
        <p:spPr>
          <a:xfrm xmlns:a="http://schemas.openxmlformats.org/drawingml/2006/main">
            <a:off x="79533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5" name="">
            <a:extLst xmlns:a="http://schemas.openxmlformats.org/drawingml/2006/main">
              <a:ext uri="{FF2B5EF4-FFF2-40B4-BE49-F238E27FC236}">
                <a16:creationId xmlns:a16="http://schemas.microsoft.com/office/drawing/2014/main" id="{CFCDBBE5-0255-4CCA-82C8-70DFB5C5FF7C}"/>
              </a:ext>
            </a:extLst>
          </p:cNvPr>
          <p:cNvSpPr>
            <a:spLocks xmlns:a="http://schemas.openxmlformats.org/drawingml/2006/main" noGrp="1"/>
          </p:cNvSpPr>
          <p:nvPr/>
        </p:nvSpPr>
        <p:spPr>
          <a:xfrm xmlns:a="http://schemas.openxmlformats.org/drawingml/2006/main">
            <a:off x="93154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EEE50C50-AA34-4FE0-B508-B40D74AF2093}"/>
              </a:ext>
            </a:extLst>
          </p:cNvPr>
          <p:cNvSpPr>
            <a:spLocks xmlns:a="http://schemas.openxmlformats.org/drawingml/2006/main" noGrp="1"/>
          </p:cNvSpPr>
          <p:nvPr/>
        </p:nvSpPr>
        <p:spPr>
          <a:xfrm xmlns:a="http://schemas.openxmlformats.org/drawingml/2006/main">
            <a:off x="93154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7" name="">
            <a:extLst xmlns:a="http://schemas.openxmlformats.org/drawingml/2006/main">
              <a:ext uri="{FF2B5EF4-FFF2-40B4-BE49-F238E27FC236}">
                <a16:creationId xmlns:a16="http://schemas.microsoft.com/office/drawing/2014/main" id="{AA50EBF0-6311-4CB6-8EB9-E50B20E40994}"/>
              </a:ext>
            </a:extLst>
          </p:cNvPr>
          <p:cNvSpPr>
            <a:spLocks xmlns:a="http://schemas.openxmlformats.org/drawingml/2006/main" noGrp="1"/>
          </p:cNvSpPr>
          <p:nvPr/>
        </p:nvSpPr>
        <p:spPr>
          <a:xfrm xmlns:a="http://schemas.openxmlformats.org/drawingml/2006/main">
            <a:off x="103632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B95E7728-4E25-4080-AF7F-484C05A4DD84}"/>
              </a:ext>
            </a:extLst>
          </p:cNvPr>
          <p:cNvSpPr>
            <a:spLocks xmlns:a="http://schemas.openxmlformats.org/drawingml/2006/main" noGrp="1"/>
          </p:cNvSpPr>
          <p:nvPr/>
        </p:nvSpPr>
        <p:spPr>
          <a:xfrm xmlns:a="http://schemas.openxmlformats.org/drawingml/2006/main">
            <a:off x="103632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489B576D-844A-442C-942C-993306C01710}"/>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ordering</a:t>
            </a:r>
          </a:p>
        </p:txBody>
      </p:sp>
      <p:sp>
        <p:nvSpPr>
          <p:cNvPr id="50" name="">
            <a:extLst xmlns:a="http://schemas.openxmlformats.org/drawingml/2006/main">
              <a:ext uri="{FF2B5EF4-FFF2-40B4-BE49-F238E27FC236}">
                <a16:creationId xmlns:a16="http://schemas.microsoft.com/office/drawing/2014/main" id="{0E2F8C12-AC09-49A3-8CD6-EF06DA16D492}"/>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1" name="">
            <a:extLst xmlns:a="http://schemas.openxmlformats.org/drawingml/2006/main">
              <a:ext uri="{FF2B5EF4-FFF2-40B4-BE49-F238E27FC236}">
                <a16:creationId xmlns:a16="http://schemas.microsoft.com/office/drawing/2014/main" id="{33E13568-BFA8-4549-8B6C-143DC7C0D63E}"/>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6 of 12  ·  id: temporal_order</a:t>
            </a:r>
          </a:p>
        </p:txBody>
      </p:sp>
    </p:spTree>
    <p:extLst>
      <p:ext uri="{BB962C8B-B14F-4D97-AF65-F5344CB8AC3E}">
        <p14:creationId xmlns:p14="http://schemas.microsoft.com/office/powerpoint/2010/main" val="12791179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2" name="background">
            <a:extLst xmlns:a="http://schemas.openxmlformats.org/drawingml/2006/main">
              <a:ext uri="{FF2B5EF4-FFF2-40B4-BE49-F238E27FC236}">
                <a16:creationId xmlns:a16="http://schemas.microsoft.com/office/drawing/2014/main" id="{5FF7CBB2-4FCB-43CF-9213-B24247C8B2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837984FD-B56C-47DA-B1A3-A4077B0827AF}"/>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A0703F-60CD-43E1-A6A6-83AADBB56A70}"/>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07 · UNIT COMPARISON</a:t>
            </a:r>
          </a:p>
        </p:txBody>
      </p:sp>
      <p:sp>
        <p:nvSpPr>
          <p:cNvPr id="4" name="">
            <a:extLst xmlns:a="http://schemas.openxmlformats.org/drawingml/2006/main">
              <a:ext uri="{FF2B5EF4-FFF2-40B4-BE49-F238E27FC236}">
                <a16:creationId xmlns:a16="http://schemas.microsoft.com/office/drawing/2014/main" id="{AF214F2E-3703-4333-A420-968194E0C4DF}"/>
              </a:ext>
            </a:extLst>
          </p:cNvPr>
          <p:cNvSpPr>
            <a:spLocks xmlns:a="http://schemas.openxmlformats.org/drawingml/2006/main" noGrp="1"/>
          </p:cNvSpPr>
          <p:nvPr/>
        </p:nvSpPr>
        <p:spPr>
          <a:xfrm xmlns:a="http://schemas.openxmlformats.org/drawingml/2006/main">
            <a:off x="781050" y="666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i="0">
                <a:solidFill>
                  <a:srgbClr val="21295C"/>
                </a:solidFill>
                <a:latin typeface="Georgia"/>
                <a:ea typeface="Georgia"/>
                <a:cs typeface="Georgia"/>
              </a:defRPr>
            </a:pPr>
            <a:r>
              <a:rPr sz="2925" b="1" i="0">
                <a:solidFill>
                  <a:srgbClr val="21295C"/>
                </a:solidFill>
                <a:latin typeface="Georgia"/>
                <a:ea typeface="Georgia"/>
                <a:cs typeface="Georgia"/>
              </a:rPr>
              <a:t>Which distance is larger?</a:t>
            </a:r>
          </a:p>
        </p:txBody>
      </p:sp>
      <p:sp>
        <p:nvSpPr>
          <p:cNvPr id="5" name="">
            <a:extLst xmlns:a="http://schemas.openxmlformats.org/drawingml/2006/main">
              <a:ext uri="{FF2B5EF4-FFF2-40B4-BE49-F238E27FC236}">
                <a16:creationId xmlns:a16="http://schemas.microsoft.com/office/drawing/2014/main" id="{06498A44-249B-408B-AC7D-D63BC1EB62DE}"/>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04D33A-97BE-4413-89BC-3C32D7039535}"/>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91295DCD-84A9-4C07-B1B6-5727356520D8}"/>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6DB36EED-1F50-480B-81E2-D26039873641}"/>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{"comparison":"one kilometre versus one centimetre"}</a:t>
            </a:r>
          </a:p>
        </p:txBody>
      </p:sp>
      <p:sp>
        <p:nvSpPr>
          <p:cNvPr id="9" name="MODERNBERT NLI-panel">
            <a:extLst xmlns:a="http://schemas.openxmlformats.org/drawingml/2006/main">
              <a:ext uri="{FF2B5EF4-FFF2-40B4-BE49-F238E27FC236}">
                <a16:creationId xmlns:a16="http://schemas.microsoft.com/office/drawing/2014/main" id="{63CFF6E4-34CD-4B94-872B-DE2DC21386C9}"/>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F81171CA-0AA4-4B67-9D7D-F223944BAFDA}"/>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117D9B-325D-4F6C-B824-23EE8B5048BA}"/>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7064C4AA-E2E6-4A8B-A6F2-89D14A6D24ED}"/>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0D0CA12C-222D-49A8-9070-042B15EC545E}"/>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20EFE8D-9105-4BA9-84A8-50DDF0F0CA38}"/>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9EE05AC4-6445-4B97-8DDA-F312F0E71229}"/>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kilometre</a:t>
            </a:r>
          </a:p>
        </p:txBody>
      </p:sp>
      <p:sp>
        <p:nvSpPr>
          <p:cNvPr id="16" name="">
            <a:extLst xmlns:a="http://schemas.openxmlformats.org/drawingml/2006/main">
              <a:ext uri="{FF2B5EF4-FFF2-40B4-BE49-F238E27FC236}">
                <a16:creationId xmlns:a16="http://schemas.microsoft.com/office/drawing/2014/main" id="{CD354BE8-2EFA-469B-835D-83F63840E723}"/>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0.6142</a:t>
            </a:r>
          </a:p>
        </p:txBody>
      </p:sp>
      <p:sp>
        <p:nvSpPr>
          <p:cNvPr id="17" name="track-kilometre">
            <a:extLst xmlns:a="http://schemas.openxmlformats.org/drawingml/2006/main">
              <a:ext uri="{FF2B5EF4-FFF2-40B4-BE49-F238E27FC236}">
                <a16:creationId xmlns:a16="http://schemas.microsoft.com/office/drawing/2014/main" id="{4056E15B-4A3D-47F6-9F57-FFFDF1905A05}"/>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kilometre">
            <a:extLst xmlns:a="http://schemas.openxmlformats.org/drawingml/2006/main">
              <a:ext uri="{FF2B5EF4-FFF2-40B4-BE49-F238E27FC236}">
                <a16:creationId xmlns:a16="http://schemas.microsoft.com/office/drawing/2014/main" id="{EA3B375B-452B-4315-8FD7-E323BC59E27E}"/>
              </a:ext>
            </a:extLst>
          </p:cNvPr>
          <p:cNvSpPr>
            <a:spLocks xmlns:a="http://schemas.openxmlformats.org/drawingml/2006/main" noGrp="1"/>
          </p:cNvSpPr>
          <p:nvPr/>
        </p:nvSpPr>
        <p:spPr>
          <a:xfrm xmlns:a="http://schemas.openxmlformats.org/drawingml/2006/main">
            <a:off x="990600" y="2962275"/>
            <a:ext cx="2843053"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3B0BF70-2429-4DEA-973F-05156100CEB5}"/>
              </a:ext>
            </a:extLst>
          </p:cNvPr>
          <p:cNvSpPr>
            <a:spLocks xmlns:a="http://schemas.openxmlformats.org/drawingml/2006/main" noGrp="1"/>
          </p:cNvSpPr>
          <p:nvPr/>
        </p:nvSpPr>
        <p:spPr>
          <a:xfrm xmlns:a="http://schemas.openxmlformats.org/drawingml/2006/main">
            <a:off x="9906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centimetre</a:t>
            </a:r>
          </a:p>
        </p:txBody>
      </p:sp>
      <p:sp>
        <p:nvSpPr>
          <p:cNvPr id="20" name="">
            <a:extLst xmlns:a="http://schemas.openxmlformats.org/drawingml/2006/main">
              <a:ext uri="{FF2B5EF4-FFF2-40B4-BE49-F238E27FC236}">
                <a16:creationId xmlns:a16="http://schemas.microsoft.com/office/drawing/2014/main" id="{13983DB0-78FA-43FF-8DD8-91B672BFA4F3}"/>
              </a:ext>
            </a:extLst>
          </p:cNvPr>
          <p:cNvSpPr>
            <a:spLocks xmlns:a="http://schemas.openxmlformats.org/drawingml/2006/main" noGrp="1"/>
          </p:cNvSpPr>
          <p:nvPr/>
        </p:nvSpPr>
        <p:spPr>
          <a:xfrm xmlns:a="http://schemas.openxmlformats.org/drawingml/2006/main">
            <a:off x="40458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0.3858</a:t>
            </a:r>
          </a:p>
        </p:txBody>
      </p:sp>
      <p:sp>
        <p:nvSpPr>
          <p:cNvPr id="21" name="track-centimetre">
            <a:extLst xmlns:a="http://schemas.openxmlformats.org/drawingml/2006/main">
              <a:ext uri="{FF2B5EF4-FFF2-40B4-BE49-F238E27FC236}">
                <a16:creationId xmlns:a16="http://schemas.microsoft.com/office/drawing/2014/main" id="{0FCD5EED-F93B-4AFE-B3F1-6300C6C923CB}"/>
              </a:ext>
            </a:extLst>
          </p:cNvPr>
          <p:cNvSpPr>
            <a:spLocks xmlns:a="http://schemas.openxmlformats.org/drawingml/2006/main" noGrp="1"/>
          </p:cNvSpPr>
          <p:nvPr/>
        </p:nvSpPr>
        <p:spPr>
          <a:xfrm xmlns:a="http://schemas.openxmlformats.org/drawingml/2006/main">
            <a:off x="9906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centimetre">
            <a:extLst xmlns:a="http://schemas.openxmlformats.org/drawingml/2006/main">
              <a:ext uri="{FF2B5EF4-FFF2-40B4-BE49-F238E27FC236}">
                <a16:creationId xmlns:a16="http://schemas.microsoft.com/office/drawing/2014/main" id="{C5E2C26E-208B-4456-9A4E-0753107A550E}"/>
              </a:ext>
            </a:extLst>
          </p:cNvPr>
          <p:cNvSpPr>
            <a:spLocks xmlns:a="http://schemas.openxmlformats.org/drawingml/2006/main" noGrp="1"/>
          </p:cNvSpPr>
          <p:nvPr/>
        </p:nvSpPr>
        <p:spPr>
          <a:xfrm xmlns:a="http://schemas.openxmlformats.org/drawingml/2006/main">
            <a:off x="990600" y="3743325"/>
            <a:ext cx="1786097"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3EF6FDF-FE0B-4C6D-9CE3-0A8DFAC9592B}"/>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kilometre</a:t>
            </a:r>
          </a:p>
        </p:txBody>
      </p:sp>
      <p:sp>
        <p:nvSpPr>
          <p:cNvPr id="24" name="">
            <a:extLst xmlns:a="http://schemas.openxmlformats.org/drawingml/2006/main">
              <a:ext uri="{FF2B5EF4-FFF2-40B4-BE49-F238E27FC236}">
                <a16:creationId xmlns:a16="http://schemas.microsoft.com/office/drawing/2014/main" id="{2F501CB3-D0D6-4398-9F1A-F48976EAC4B5}"/>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5" name="track-kilometre">
            <a:extLst xmlns:a="http://schemas.openxmlformats.org/drawingml/2006/main">
              <a:ext uri="{FF2B5EF4-FFF2-40B4-BE49-F238E27FC236}">
                <a16:creationId xmlns:a16="http://schemas.microsoft.com/office/drawing/2014/main" id="{5FACDB72-8C10-4DD1-84B8-F2094D9DD02A}"/>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kilometre">
            <a:extLst xmlns:a="http://schemas.openxmlformats.org/drawingml/2006/main">
              <a:ext uri="{FF2B5EF4-FFF2-40B4-BE49-F238E27FC236}">
                <a16:creationId xmlns:a16="http://schemas.microsoft.com/office/drawing/2014/main" id="{EBDAAB42-5A05-4CD9-83D9-155D204968B8}"/>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32E554C-1D32-4004-AFF1-7A175ED15446}"/>
              </a:ext>
            </a:extLst>
          </p:cNvPr>
          <p:cNvSpPr>
            <a:spLocks xmlns:a="http://schemas.openxmlformats.org/drawingml/2006/main" noGrp="1"/>
          </p:cNvSpPr>
          <p:nvPr/>
        </p:nvSpPr>
        <p:spPr>
          <a:xfrm xmlns:a="http://schemas.openxmlformats.org/drawingml/2006/main">
            <a:off x="64008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centimetre</a:t>
            </a:r>
          </a:p>
        </p:txBody>
      </p:sp>
      <p:sp>
        <p:nvSpPr>
          <p:cNvPr id="28" name="">
            <a:extLst xmlns:a="http://schemas.openxmlformats.org/drawingml/2006/main">
              <a:ext uri="{FF2B5EF4-FFF2-40B4-BE49-F238E27FC236}">
                <a16:creationId xmlns:a16="http://schemas.microsoft.com/office/drawing/2014/main" id="{941FFD83-98A7-453B-A78E-36666AD4BAEC}"/>
              </a:ext>
            </a:extLst>
          </p:cNvPr>
          <p:cNvSpPr>
            <a:spLocks xmlns:a="http://schemas.openxmlformats.org/drawingml/2006/main" noGrp="1"/>
          </p:cNvSpPr>
          <p:nvPr/>
        </p:nvSpPr>
        <p:spPr>
          <a:xfrm xmlns:a="http://schemas.openxmlformats.org/drawingml/2006/main">
            <a:off x="94560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29" name="track-centimetre">
            <a:extLst xmlns:a="http://schemas.openxmlformats.org/drawingml/2006/main">
              <a:ext uri="{FF2B5EF4-FFF2-40B4-BE49-F238E27FC236}">
                <a16:creationId xmlns:a16="http://schemas.microsoft.com/office/drawing/2014/main" id="{A7F9C2B9-044A-45FB-A868-B96AB9023C77}"/>
              </a:ext>
            </a:extLst>
          </p:cNvPr>
          <p:cNvSpPr>
            <a:spLocks xmlns:a="http://schemas.openxmlformats.org/drawingml/2006/main" noGrp="1"/>
          </p:cNvSpPr>
          <p:nvPr/>
        </p:nvSpPr>
        <p:spPr>
          <a:xfrm xmlns:a="http://schemas.openxmlformats.org/drawingml/2006/main">
            <a:off x="64008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centimetre">
            <a:extLst xmlns:a="http://schemas.openxmlformats.org/drawingml/2006/main">
              <a:ext uri="{FF2B5EF4-FFF2-40B4-BE49-F238E27FC236}">
                <a16:creationId xmlns:a16="http://schemas.microsoft.com/office/drawing/2014/main" id="{1916FEB8-0FD9-4FD2-BCAD-C095A0984697}"/>
              </a:ext>
            </a:extLst>
          </p:cNvPr>
          <p:cNvSpPr>
            <a:spLocks xmlns:a="http://schemas.openxmlformats.org/drawingml/2006/main" noGrp="1"/>
          </p:cNvSpPr>
          <p:nvPr/>
        </p:nvSpPr>
        <p:spPr>
          <a:xfrm xmlns:a="http://schemas.openxmlformats.org/drawingml/2006/main">
            <a:off x="6400800" y="37433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92AF26D-B240-49FB-A0F8-B8EA5F376950}"/>
              </a:ext>
            </a:extLst>
          </p:cNvPr>
          <p:cNvSpPr>
            <a:spLocks xmlns:a="http://schemas.openxmlformats.org/drawingml/2006/main" noGrp="1"/>
          </p:cNvSpPr>
          <p:nvPr/>
        </p:nvSpPr>
        <p:spPr>
          <a:xfrm xmlns:a="http://schemas.openxmlformats.org/drawingml/2006/main">
            <a:off x="9906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A8077AE-73BE-4C47-815F-7CBB01C5085D}"/>
              </a:ext>
            </a:extLst>
          </p:cNvPr>
          <p:cNvSpPr>
            <a:spLocks xmlns:a="http://schemas.openxmlformats.org/drawingml/2006/main" noGrp="1"/>
          </p:cNvSpPr>
          <p:nvPr/>
        </p:nvSpPr>
        <p:spPr>
          <a:xfrm xmlns:a="http://schemas.openxmlformats.org/drawingml/2006/main">
            <a:off x="64008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A042E0D-CC70-4003-953C-C6114149B865}"/>
              </a:ext>
            </a:extLst>
          </p:cNvPr>
          <p:cNvSpPr>
            <a:spLocks xmlns:a="http://schemas.openxmlformats.org/drawingml/2006/main" noGrp="1"/>
          </p:cNvSpPr>
          <p:nvPr/>
        </p:nvSpPr>
        <p:spPr>
          <a:xfrm xmlns:a="http://schemas.openxmlformats.org/drawingml/2006/main">
            <a:off x="9906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34" name="">
            <a:extLst xmlns:a="http://schemas.openxmlformats.org/drawingml/2006/main">
              <a:ext uri="{FF2B5EF4-FFF2-40B4-BE49-F238E27FC236}">
                <a16:creationId xmlns:a16="http://schemas.microsoft.com/office/drawing/2014/main" id="{830A52A6-56C2-433E-998E-AD02B4FA946B}"/>
              </a:ext>
            </a:extLst>
          </p:cNvPr>
          <p:cNvSpPr>
            <a:spLocks xmlns:a="http://schemas.openxmlformats.org/drawingml/2006/main" noGrp="1"/>
          </p:cNvSpPr>
          <p:nvPr/>
        </p:nvSpPr>
        <p:spPr>
          <a:xfrm xmlns:a="http://schemas.openxmlformats.org/drawingml/2006/main">
            <a:off x="9906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kilometre</a:t>
            </a:r>
          </a:p>
        </p:txBody>
      </p:sp>
      <p:sp>
        <p:nvSpPr>
          <p:cNvPr id="35" name="">
            <a:extLst xmlns:a="http://schemas.openxmlformats.org/drawingml/2006/main">
              <a:ext uri="{FF2B5EF4-FFF2-40B4-BE49-F238E27FC236}">
                <a16:creationId xmlns:a16="http://schemas.microsoft.com/office/drawing/2014/main" id="{37D90BE6-CB3A-497D-A10D-EB906403D0DA}"/>
              </a:ext>
            </a:extLst>
          </p:cNvPr>
          <p:cNvSpPr>
            <a:spLocks xmlns:a="http://schemas.openxmlformats.org/drawingml/2006/main" noGrp="1"/>
          </p:cNvSpPr>
          <p:nvPr/>
        </p:nvSpPr>
        <p:spPr>
          <a:xfrm xmlns:a="http://schemas.openxmlformats.org/drawingml/2006/main">
            <a:off x="25431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36" name="">
            <a:extLst xmlns:a="http://schemas.openxmlformats.org/drawingml/2006/main">
              <a:ext uri="{FF2B5EF4-FFF2-40B4-BE49-F238E27FC236}">
                <a16:creationId xmlns:a16="http://schemas.microsoft.com/office/drawing/2014/main" id="{1438D2DB-4797-4707-9857-047D7B275CF7}"/>
              </a:ext>
            </a:extLst>
          </p:cNvPr>
          <p:cNvSpPr>
            <a:spLocks xmlns:a="http://schemas.openxmlformats.org/drawingml/2006/main" noGrp="1"/>
          </p:cNvSpPr>
          <p:nvPr/>
        </p:nvSpPr>
        <p:spPr>
          <a:xfrm xmlns:a="http://schemas.openxmlformats.org/drawingml/2006/main">
            <a:off x="25431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0.6142</a:t>
            </a:r>
          </a:p>
        </p:txBody>
      </p:sp>
      <p:sp>
        <p:nvSpPr>
          <p:cNvPr id="37" name="">
            <a:extLst xmlns:a="http://schemas.openxmlformats.org/drawingml/2006/main">
              <a:ext uri="{FF2B5EF4-FFF2-40B4-BE49-F238E27FC236}">
                <a16:creationId xmlns:a16="http://schemas.microsoft.com/office/drawing/2014/main" id="{747BB8AE-ECCB-44F0-AA2A-9ACDCADF680C}"/>
              </a:ext>
            </a:extLst>
          </p:cNvPr>
          <p:cNvSpPr>
            <a:spLocks xmlns:a="http://schemas.openxmlformats.org/drawingml/2006/main" noGrp="1"/>
          </p:cNvSpPr>
          <p:nvPr/>
        </p:nvSpPr>
        <p:spPr>
          <a:xfrm xmlns:a="http://schemas.openxmlformats.org/drawingml/2006/main">
            <a:off x="39052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38" name="">
            <a:extLst xmlns:a="http://schemas.openxmlformats.org/drawingml/2006/main">
              <a:ext uri="{FF2B5EF4-FFF2-40B4-BE49-F238E27FC236}">
                <a16:creationId xmlns:a16="http://schemas.microsoft.com/office/drawing/2014/main" id="{D83EFDB9-0A4B-4764-AC5B-96B1C85A158D}"/>
              </a:ext>
            </a:extLst>
          </p:cNvPr>
          <p:cNvSpPr>
            <a:spLocks xmlns:a="http://schemas.openxmlformats.org/drawingml/2006/main" noGrp="1"/>
          </p:cNvSpPr>
          <p:nvPr/>
        </p:nvSpPr>
        <p:spPr>
          <a:xfrm xmlns:a="http://schemas.openxmlformats.org/drawingml/2006/main">
            <a:off x="39052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0.2283</a:t>
            </a:r>
          </a:p>
        </p:txBody>
      </p:sp>
      <p:sp>
        <p:nvSpPr>
          <p:cNvPr id="39" name="">
            <a:extLst xmlns:a="http://schemas.openxmlformats.org/drawingml/2006/main">
              <a:ext uri="{FF2B5EF4-FFF2-40B4-BE49-F238E27FC236}">
                <a16:creationId xmlns:a16="http://schemas.microsoft.com/office/drawing/2014/main" id="{F5837804-4264-4E34-B2DD-24ADC210DAF2}"/>
              </a:ext>
            </a:extLst>
          </p:cNvPr>
          <p:cNvSpPr>
            <a:spLocks xmlns:a="http://schemas.openxmlformats.org/drawingml/2006/main" noGrp="1"/>
          </p:cNvSpPr>
          <p:nvPr/>
        </p:nvSpPr>
        <p:spPr>
          <a:xfrm xmlns:a="http://schemas.openxmlformats.org/drawingml/2006/main">
            <a:off x="49530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0" name="">
            <a:extLst xmlns:a="http://schemas.openxmlformats.org/drawingml/2006/main">
              <a:ext uri="{FF2B5EF4-FFF2-40B4-BE49-F238E27FC236}">
                <a16:creationId xmlns:a16="http://schemas.microsoft.com/office/drawing/2014/main" id="{6B12B3F6-B250-4F53-9A4A-AAAED591924B}"/>
              </a:ext>
            </a:extLst>
          </p:cNvPr>
          <p:cNvSpPr>
            <a:spLocks xmlns:a="http://schemas.openxmlformats.org/drawingml/2006/main" noGrp="1"/>
          </p:cNvSpPr>
          <p:nvPr/>
        </p:nvSpPr>
        <p:spPr>
          <a:xfrm xmlns:a="http://schemas.openxmlformats.org/drawingml/2006/main">
            <a:off x="49530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B86E00"/>
                </a:solidFill>
                <a:latin typeface="Calibri"/>
                <a:ea typeface="Calibri"/>
                <a:cs typeface="Calibri"/>
              </a:defRPr>
            </a:pPr>
            <a:r>
              <a:rPr sz="1425" b="1" i="0">
                <a:solidFill>
                  <a:srgbClr val="1E7A4B"/>
                </a:solidFill>
                <a:latin typeface="Calibri"/>
                <a:ea typeface="Calibri"/>
                <a:cs typeface="Calibri"/>
              </a:rPr>
              <a:t>0.0000</a:t>
            </a:r>
          </a:p>
        </p:txBody>
      </p:sp>
      <p:sp>
        <p:nvSpPr>
          <p:cNvPr id="41" name="">
            <a:extLst xmlns:a="http://schemas.openxmlformats.org/drawingml/2006/main">
              <a:ext uri="{FF2B5EF4-FFF2-40B4-BE49-F238E27FC236}">
                <a16:creationId xmlns:a16="http://schemas.microsoft.com/office/drawing/2014/main" id="{2BAD73E7-8F27-49C5-B20E-3A1D6CB9F53E}"/>
              </a:ext>
            </a:extLst>
          </p:cNvPr>
          <p:cNvSpPr>
            <a:spLocks xmlns:a="http://schemas.openxmlformats.org/drawingml/2006/main" noGrp="1"/>
          </p:cNvSpPr>
          <p:nvPr/>
        </p:nvSpPr>
        <p:spPr>
          <a:xfrm xmlns:a="http://schemas.openxmlformats.org/drawingml/2006/main">
            <a:off x="64008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38D9887C-CFFB-4AB8-8EAA-85495ADBFE7F}"/>
              </a:ext>
            </a:extLst>
          </p:cNvPr>
          <p:cNvSpPr>
            <a:spLocks xmlns:a="http://schemas.openxmlformats.org/drawingml/2006/main" noGrp="1"/>
          </p:cNvSpPr>
          <p:nvPr/>
        </p:nvSpPr>
        <p:spPr>
          <a:xfrm xmlns:a="http://schemas.openxmlformats.org/drawingml/2006/main">
            <a:off x="64008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kilometre</a:t>
            </a:r>
          </a:p>
        </p:txBody>
      </p:sp>
      <p:sp>
        <p:nvSpPr>
          <p:cNvPr id="43" name="">
            <a:extLst xmlns:a="http://schemas.openxmlformats.org/drawingml/2006/main">
              <a:ext uri="{FF2B5EF4-FFF2-40B4-BE49-F238E27FC236}">
                <a16:creationId xmlns:a16="http://schemas.microsoft.com/office/drawing/2014/main" id="{9FD59214-BA95-424A-8B74-81A663FA79FA}"/>
              </a:ext>
            </a:extLst>
          </p:cNvPr>
          <p:cNvSpPr>
            <a:spLocks xmlns:a="http://schemas.openxmlformats.org/drawingml/2006/main" noGrp="1"/>
          </p:cNvSpPr>
          <p:nvPr/>
        </p:nvSpPr>
        <p:spPr>
          <a:xfrm xmlns:a="http://schemas.openxmlformats.org/drawingml/2006/main">
            <a:off x="79533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E266E3EF-A736-4C13-BB81-20B72BD847E1}"/>
              </a:ext>
            </a:extLst>
          </p:cNvPr>
          <p:cNvSpPr>
            <a:spLocks xmlns:a="http://schemas.openxmlformats.org/drawingml/2006/main" noGrp="1"/>
          </p:cNvSpPr>
          <p:nvPr/>
        </p:nvSpPr>
        <p:spPr>
          <a:xfrm xmlns:a="http://schemas.openxmlformats.org/drawingml/2006/main">
            <a:off x="79533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5" name="">
            <a:extLst xmlns:a="http://schemas.openxmlformats.org/drawingml/2006/main">
              <a:ext uri="{FF2B5EF4-FFF2-40B4-BE49-F238E27FC236}">
                <a16:creationId xmlns:a16="http://schemas.microsoft.com/office/drawing/2014/main" id="{B5F5620D-2E59-40B2-9A5F-DCA673989225}"/>
              </a:ext>
            </a:extLst>
          </p:cNvPr>
          <p:cNvSpPr>
            <a:spLocks xmlns:a="http://schemas.openxmlformats.org/drawingml/2006/main" noGrp="1"/>
          </p:cNvSpPr>
          <p:nvPr/>
        </p:nvSpPr>
        <p:spPr>
          <a:xfrm xmlns:a="http://schemas.openxmlformats.org/drawingml/2006/main">
            <a:off x="93154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6F29904C-6108-4AD9-A51B-8EB5D1B6171B}"/>
              </a:ext>
            </a:extLst>
          </p:cNvPr>
          <p:cNvSpPr>
            <a:spLocks xmlns:a="http://schemas.openxmlformats.org/drawingml/2006/main" noGrp="1"/>
          </p:cNvSpPr>
          <p:nvPr/>
        </p:nvSpPr>
        <p:spPr>
          <a:xfrm xmlns:a="http://schemas.openxmlformats.org/drawingml/2006/main">
            <a:off x="93154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7" name="">
            <a:extLst xmlns:a="http://schemas.openxmlformats.org/drawingml/2006/main">
              <a:ext uri="{FF2B5EF4-FFF2-40B4-BE49-F238E27FC236}">
                <a16:creationId xmlns:a16="http://schemas.microsoft.com/office/drawing/2014/main" id="{E14ED5FD-D296-4A9E-8275-20B464BB2EB3}"/>
              </a:ext>
            </a:extLst>
          </p:cNvPr>
          <p:cNvSpPr>
            <a:spLocks xmlns:a="http://schemas.openxmlformats.org/drawingml/2006/main" noGrp="1"/>
          </p:cNvSpPr>
          <p:nvPr/>
        </p:nvSpPr>
        <p:spPr>
          <a:xfrm xmlns:a="http://schemas.openxmlformats.org/drawingml/2006/main">
            <a:off x="103632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21D5C7FE-FD8E-4684-9322-08F80246B253}"/>
              </a:ext>
            </a:extLst>
          </p:cNvPr>
          <p:cNvSpPr>
            <a:spLocks xmlns:a="http://schemas.openxmlformats.org/drawingml/2006/main" noGrp="1"/>
          </p:cNvSpPr>
          <p:nvPr/>
        </p:nvSpPr>
        <p:spPr>
          <a:xfrm xmlns:a="http://schemas.openxmlformats.org/drawingml/2006/main">
            <a:off x="103632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618F2C69-16CE-4D24-9A51-5F3FC05AE465}"/>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kilometre</a:t>
            </a:r>
          </a:p>
        </p:txBody>
      </p:sp>
      <p:sp>
        <p:nvSpPr>
          <p:cNvPr id="50" name="">
            <a:extLst xmlns:a="http://schemas.openxmlformats.org/drawingml/2006/main">
              <a:ext uri="{FF2B5EF4-FFF2-40B4-BE49-F238E27FC236}">
                <a16:creationId xmlns:a16="http://schemas.microsoft.com/office/drawing/2014/main" id="{B4A5BAF0-B773-42F0-A801-445F0E2B631C}"/>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1" name="">
            <a:extLst xmlns:a="http://schemas.openxmlformats.org/drawingml/2006/main">
              <a:ext uri="{FF2B5EF4-FFF2-40B4-BE49-F238E27FC236}">
                <a16:creationId xmlns:a16="http://schemas.microsoft.com/office/drawing/2014/main" id="{4125993F-09EF-4239-B7DD-80743AC116A9}"/>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7 of 12  ·  id: unit_magnitude</a:t>
            </a:r>
          </a:p>
        </p:txBody>
      </p:sp>
    </p:spTree>
    <p:extLst>
      <p:ext uri="{BB962C8B-B14F-4D97-AF65-F5344CB8AC3E}">
        <p14:creationId xmlns:p14="http://schemas.microsoft.com/office/powerpoint/2010/main" val="138708850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2" name="background">
            <a:extLst xmlns:a="http://schemas.openxmlformats.org/drawingml/2006/main">
              <a:ext uri="{FF2B5EF4-FFF2-40B4-BE49-F238E27FC236}">
                <a16:creationId xmlns:a16="http://schemas.microsoft.com/office/drawing/2014/main" id="{5737F60B-4D38-43D7-94C2-E77328BEA3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B0F4A468-6980-40DE-9473-D99C234495C1}"/>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60394BF-3B78-4086-AFFA-3DE8E1EACEF8}"/>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08 · INTENT CLASSIFICATION</a:t>
            </a:r>
          </a:p>
        </p:txBody>
      </p:sp>
      <p:sp>
        <p:nvSpPr>
          <p:cNvPr id="4" name="">
            <a:extLst xmlns:a="http://schemas.openxmlformats.org/drawingml/2006/main">
              <a:ext uri="{FF2B5EF4-FFF2-40B4-BE49-F238E27FC236}">
                <a16:creationId xmlns:a16="http://schemas.microsoft.com/office/drawing/2014/main" id="{8C495298-BAD2-4341-9D34-F6F3D05BC59A}"/>
              </a:ext>
            </a:extLst>
          </p:cNvPr>
          <p:cNvSpPr>
            <a:spLocks xmlns:a="http://schemas.openxmlformats.org/drawingml/2006/main" noGrp="1"/>
          </p:cNvSpPr>
          <p:nvPr/>
        </p:nvSpPr>
        <p:spPr>
          <a:xfrm xmlns:a="http://schemas.openxmlformats.org/drawingml/2006/main">
            <a:off x="781050" y="666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i="0">
                <a:solidFill>
                  <a:srgbClr val="21295C"/>
                </a:solidFill>
                <a:latin typeface="Georgia"/>
                <a:ea typeface="Georgia"/>
                <a:cs typeface="Georgia"/>
              </a:defRPr>
            </a:pPr>
            <a:r>
              <a:rPr sz="2925" b="1" i="0">
                <a:solidFill>
                  <a:srgbClr val="21295C"/>
                </a:solidFill>
                <a:latin typeface="Georgia"/>
                <a:ea typeface="Georgia"/>
                <a:cs typeface="Georgia"/>
              </a:rPr>
              <a:t>How should this email be classified?</a:t>
            </a:r>
          </a:p>
        </p:txBody>
      </p:sp>
      <p:sp>
        <p:nvSpPr>
          <p:cNvPr id="5" name="">
            <a:extLst xmlns:a="http://schemas.openxmlformats.org/drawingml/2006/main">
              <a:ext uri="{FF2B5EF4-FFF2-40B4-BE49-F238E27FC236}">
                <a16:creationId xmlns:a16="http://schemas.microsoft.com/office/drawing/2014/main" id="{1EB13626-C3E9-40CA-8341-9C25E70FCE3E}"/>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CF6618-0993-4626-9CA6-2C7CCEAF3E01}"/>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E5AD31FF-B175-4AE7-9432-ABAFD446237E}"/>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3E1E7951-2129-4434-839A-C4F83C96521F}"/>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{"email":"CONGRATULATIONS!!! You have WON $10,000,000. Send your bank details and a $500 fee to claim now!!!"}</a:t>
            </a:r>
          </a:p>
        </p:txBody>
      </p:sp>
      <p:sp>
        <p:nvSpPr>
          <p:cNvPr id="9" name="MODERNBERT NLI-panel">
            <a:extLst xmlns:a="http://schemas.openxmlformats.org/drawingml/2006/main">
              <a:ext uri="{FF2B5EF4-FFF2-40B4-BE49-F238E27FC236}">
                <a16:creationId xmlns:a16="http://schemas.microsoft.com/office/drawing/2014/main" id="{4F12D415-B969-4751-BEEF-DCD2DC354FF5}"/>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C27CF0B2-9CED-4BE2-93C9-19994563ECB8}"/>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67722D5-97A1-45A4-A604-B8EE5456E871}"/>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9B5DB297-AA77-4EC4-9FB9-1509B2179B8C}"/>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84A7C2BD-8B1B-4CDD-B247-0283F5DD048A}"/>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148AC6C-90BF-4C6C-9B7A-BFD324C95A50}"/>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0E4CF5EC-EEC4-4F5F-BE38-2651B53CB31E}"/>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spam</a:t>
            </a:r>
          </a:p>
        </p:txBody>
      </p:sp>
      <p:sp>
        <p:nvSpPr>
          <p:cNvPr id="16" name="">
            <a:extLst xmlns:a="http://schemas.openxmlformats.org/drawingml/2006/main">
              <a:ext uri="{FF2B5EF4-FFF2-40B4-BE49-F238E27FC236}">
                <a16:creationId xmlns:a16="http://schemas.microsoft.com/office/drawing/2014/main" id="{31800092-066F-46D2-8E23-89F1977B7B25}"/>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0.7420</a:t>
            </a:r>
          </a:p>
        </p:txBody>
      </p:sp>
      <p:sp>
        <p:nvSpPr>
          <p:cNvPr id="17" name="track-spam">
            <a:extLst xmlns:a="http://schemas.openxmlformats.org/drawingml/2006/main">
              <a:ext uri="{FF2B5EF4-FFF2-40B4-BE49-F238E27FC236}">
                <a16:creationId xmlns:a16="http://schemas.microsoft.com/office/drawing/2014/main" id="{636600B7-5E4D-4ED4-AAF9-9B154FCC21F9}"/>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spam">
            <a:extLst xmlns:a="http://schemas.openxmlformats.org/drawingml/2006/main">
              <a:ext uri="{FF2B5EF4-FFF2-40B4-BE49-F238E27FC236}">
                <a16:creationId xmlns:a16="http://schemas.microsoft.com/office/drawing/2014/main" id="{FCF738AE-6B35-46AE-93F8-F4B50D4EC2E4}"/>
              </a:ext>
            </a:extLst>
          </p:cNvPr>
          <p:cNvSpPr>
            <a:spLocks xmlns:a="http://schemas.openxmlformats.org/drawingml/2006/main" noGrp="1"/>
          </p:cNvSpPr>
          <p:nvPr/>
        </p:nvSpPr>
        <p:spPr>
          <a:xfrm xmlns:a="http://schemas.openxmlformats.org/drawingml/2006/main">
            <a:off x="990600" y="2962275"/>
            <a:ext cx="3435051"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52AEDF6-8DCD-43C8-8249-8FEE504E22AF}"/>
              </a:ext>
            </a:extLst>
          </p:cNvPr>
          <p:cNvSpPr>
            <a:spLocks xmlns:a="http://schemas.openxmlformats.org/drawingml/2006/main" noGrp="1"/>
          </p:cNvSpPr>
          <p:nvPr/>
        </p:nvSpPr>
        <p:spPr>
          <a:xfrm xmlns:a="http://schemas.openxmlformats.org/drawingml/2006/main">
            <a:off x="9906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legitimate</a:t>
            </a:r>
          </a:p>
        </p:txBody>
      </p:sp>
      <p:sp>
        <p:nvSpPr>
          <p:cNvPr id="20" name="">
            <a:extLst xmlns:a="http://schemas.openxmlformats.org/drawingml/2006/main">
              <a:ext uri="{FF2B5EF4-FFF2-40B4-BE49-F238E27FC236}">
                <a16:creationId xmlns:a16="http://schemas.microsoft.com/office/drawing/2014/main" id="{680B1791-8AF1-48EA-8DBD-BC541BF75161}"/>
              </a:ext>
            </a:extLst>
          </p:cNvPr>
          <p:cNvSpPr>
            <a:spLocks xmlns:a="http://schemas.openxmlformats.org/drawingml/2006/main" noGrp="1"/>
          </p:cNvSpPr>
          <p:nvPr/>
        </p:nvSpPr>
        <p:spPr>
          <a:xfrm xmlns:a="http://schemas.openxmlformats.org/drawingml/2006/main">
            <a:off x="40458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0.2580</a:t>
            </a:r>
          </a:p>
        </p:txBody>
      </p:sp>
      <p:sp>
        <p:nvSpPr>
          <p:cNvPr id="21" name="track-legitimate">
            <a:extLst xmlns:a="http://schemas.openxmlformats.org/drawingml/2006/main">
              <a:ext uri="{FF2B5EF4-FFF2-40B4-BE49-F238E27FC236}">
                <a16:creationId xmlns:a16="http://schemas.microsoft.com/office/drawing/2014/main" id="{F648FAB0-F020-44C0-963A-74197C922088}"/>
              </a:ext>
            </a:extLst>
          </p:cNvPr>
          <p:cNvSpPr>
            <a:spLocks xmlns:a="http://schemas.openxmlformats.org/drawingml/2006/main" noGrp="1"/>
          </p:cNvSpPr>
          <p:nvPr/>
        </p:nvSpPr>
        <p:spPr>
          <a:xfrm xmlns:a="http://schemas.openxmlformats.org/drawingml/2006/main">
            <a:off x="9906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legitimate">
            <a:extLst xmlns:a="http://schemas.openxmlformats.org/drawingml/2006/main">
              <a:ext uri="{FF2B5EF4-FFF2-40B4-BE49-F238E27FC236}">
                <a16:creationId xmlns:a16="http://schemas.microsoft.com/office/drawing/2014/main" id="{5C5C065D-1507-4402-BF96-13DC9616BCCE}"/>
              </a:ext>
            </a:extLst>
          </p:cNvPr>
          <p:cNvSpPr>
            <a:spLocks xmlns:a="http://schemas.openxmlformats.org/drawingml/2006/main" noGrp="1"/>
          </p:cNvSpPr>
          <p:nvPr/>
        </p:nvSpPr>
        <p:spPr>
          <a:xfrm xmlns:a="http://schemas.openxmlformats.org/drawingml/2006/main">
            <a:off x="990600" y="3743325"/>
            <a:ext cx="1194099"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870927F-2583-4EDC-B42A-323167054DAC}"/>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spam</a:t>
            </a:r>
          </a:p>
        </p:txBody>
      </p:sp>
      <p:sp>
        <p:nvSpPr>
          <p:cNvPr id="24" name="">
            <a:extLst xmlns:a="http://schemas.openxmlformats.org/drawingml/2006/main">
              <a:ext uri="{FF2B5EF4-FFF2-40B4-BE49-F238E27FC236}">
                <a16:creationId xmlns:a16="http://schemas.microsoft.com/office/drawing/2014/main" id="{7F319850-475B-4CAC-84F9-4ACE0C1C9736}"/>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5" name="track-spam">
            <a:extLst xmlns:a="http://schemas.openxmlformats.org/drawingml/2006/main">
              <a:ext uri="{FF2B5EF4-FFF2-40B4-BE49-F238E27FC236}">
                <a16:creationId xmlns:a16="http://schemas.microsoft.com/office/drawing/2014/main" id="{BF531238-A2F2-4804-8452-0A953BE5B1D9}"/>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spam">
            <a:extLst xmlns:a="http://schemas.openxmlformats.org/drawingml/2006/main">
              <a:ext uri="{FF2B5EF4-FFF2-40B4-BE49-F238E27FC236}">
                <a16:creationId xmlns:a16="http://schemas.microsoft.com/office/drawing/2014/main" id="{F9EDE705-D398-4716-A914-7625E84DE78A}"/>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4EB2002-5CCB-443C-AAEF-D3E4E8BD3C05}"/>
              </a:ext>
            </a:extLst>
          </p:cNvPr>
          <p:cNvSpPr>
            <a:spLocks xmlns:a="http://schemas.openxmlformats.org/drawingml/2006/main" noGrp="1"/>
          </p:cNvSpPr>
          <p:nvPr/>
        </p:nvSpPr>
        <p:spPr>
          <a:xfrm xmlns:a="http://schemas.openxmlformats.org/drawingml/2006/main">
            <a:off x="64008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legitimate</a:t>
            </a:r>
          </a:p>
        </p:txBody>
      </p:sp>
      <p:sp>
        <p:nvSpPr>
          <p:cNvPr id="28" name="">
            <a:extLst xmlns:a="http://schemas.openxmlformats.org/drawingml/2006/main">
              <a:ext uri="{FF2B5EF4-FFF2-40B4-BE49-F238E27FC236}">
                <a16:creationId xmlns:a16="http://schemas.microsoft.com/office/drawing/2014/main" id="{F247ABAE-4C62-4C28-8EEE-C35F723782F7}"/>
              </a:ext>
            </a:extLst>
          </p:cNvPr>
          <p:cNvSpPr>
            <a:spLocks xmlns:a="http://schemas.openxmlformats.org/drawingml/2006/main" noGrp="1"/>
          </p:cNvSpPr>
          <p:nvPr/>
        </p:nvSpPr>
        <p:spPr>
          <a:xfrm xmlns:a="http://schemas.openxmlformats.org/drawingml/2006/main">
            <a:off x="94560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29" name="track-legitimate">
            <a:extLst xmlns:a="http://schemas.openxmlformats.org/drawingml/2006/main">
              <a:ext uri="{FF2B5EF4-FFF2-40B4-BE49-F238E27FC236}">
                <a16:creationId xmlns:a16="http://schemas.microsoft.com/office/drawing/2014/main" id="{A8AD2437-0652-4738-80AF-FFDD0ED9C349}"/>
              </a:ext>
            </a:extLst>
          </p:cNvPr>
          <p:cNvSpPr>
            <a:spLocks xmlns:a="http://schemas.openxmlformats.org/drawingml/2006/main" noGrp="1"/>
          </p:cNvSpPr>
          <p:nvPr/>
        </p:nvSpPr>
        <p:spPr>
          <a:xfrm xmlns:a="http://schemas.openxmlformats.org/drawingml/2006/main">
            <a:off x="64008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legitimate">
            <a:extLst xmlns:a="http://schemas.openxmlformats.org/drawingml/2006/main">
              <a:ext uri="{FF2B5EF4-FFF2-40B4-BE49-F238E27FC236}">
                <a16:creationId xmlns:a16="http://schemas.microsoft.com/office/drawing/2014/main" id="{14E346B2-9957-4957-855A-9B4AACE7AA65}"/>
              </a:ext>
            </a:extLst>
          </p:cNvPr>
          <p:cNvSpPr>
            <a:spLocks xmlns:a="http://schemas.openxmlformats.org/drawingml/2006/main" noGrp="1"/>
          </p:cNvSpPr>
          <p:nvPr/>
        </p:nvSpPr>
        <p:spPr>
          <a:xfrm xmlns:a="http://schemas.openxmlformats.org/drawingml/2006/main">
            <a:off x="6400800" y="37433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ECFFF35-CC20-412B-BE0D-D01BF48B9F92}"/>
              </a:ext>
            </a:extLst>
          </p:cNvPr>
          <p:cNvSpPr>
            <a:spLocks xmlns:a="http://schemas.openxmlformats.org/drawingml/2006/main" noGrp="1"/>
          </p:cNvSpPr>
          <p:nvPr/>
        </p:nvSpPr>
        <p:spPr>
          <a:xfrm xmlns:a="http://schemas.openxmlformats.org/drawingml/2006/main">
            <a:off x="9906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150932D-5FF8-483F-A640-ABF386583098}"/>
              </a:ext>
            </a:extLst>
          </p:cNvPr>
          <p:cNvSpPr>
            <a:spLocks xmlns:a="http://schemas.openxmlformats.org/drawingml/2006/main" noGrp="1"/>
          </p:cNvSpPr>
          <p:nvPr/>
        </p:nvSpPr>
        <p:spPr>
          <a:xfrm xmlns:a="http://schemas.openxmlformats.org/drawingml/2006/main">
            <a:off x="64008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C146FB5-5350-4D9B-88BC-B47E361D0C02}"/>
              </a:ext>
            </a:extLst>
          </p:cNvPr>
          <p:cNvSpPr>
            <a:spLocks xmlns:a="http://schemas.openxmlformats.org/drawingml/2006/main" noGrp="1"/>
          </p:cNvSpPr>
          <p:nvPr/>
        </p:nvSpPr>
        <p:spPr>
          <a:xfrm xmlns:a="http://schemas.openxmlformats.org/drawingml/2006/main">
            <a:off x="9906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34" name="">
            <a:extLst xmlns:a="http://schemas.openxmlformats.org/drawingml/2006/main">
              <a:ext uri="{FF2B5EF4-FFF2-40B4-BE49-F238E27FC236}">
                <a16:creationId xmlns:a16="http://schemas.microsoft.com/office/drawing/2014/main" id="{A4818CCA-92C1-424C-B12E-8EB4E1FF4FFE}"/>
              </a:ext>
            </a:extLst>
          </p:cNvPr>
          <p:cNvSpPr>
            <a:spLocks xmlns:a="http://schemas.openxmlformats.org/drawingml/2006/main" noGrp="1"/>
          </p:cNvSpPr>
          <p:nvPr/>
        </p:nvSpPr>
        <p:spPr>
          <a:xfrm xmlns:a="http://schemas.openxmlformats.org/drawingml/2006/main">
            <a:off x="9906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spam</a:t>
            </a:r>
          </a:p>
        </p:txBody>
      </p:sp>
      <p:sp>
        <p:nvSpPr>
          <p:cNvPr id="35" name="">
            <a:extLst xmlns:a="http://schemas.openxmlformats.org/drawingml/2006/main">
              <a:ext uri="{FF2B5EF4-FFF2-40B4-BE49-F238E27FC236}">
                <a16:creationId xmlns:a16="http://schemas.microsoft.com/office/drawing/2014/main" id="{70696C5B-D9BE-4B6B-86F4-11FF1F6F19BA}"/>
              </a:ext>
            </a:extLst>
          </p:cNvPr>
          <p:cNvSpPr>
            <a:spLocks xmlns:a="http://schemas.openxmlformats.org/drawingml/2006/main" noGrp="1"/>
          </p:cNvSpPr>
          <p:nvPr/>
        </p:nvSpPr>
        <p:spPr>
          <a:xfrm xmlns:a="http://schemas.openxmlformats.org/drawingml/2006/main">
            <a:off x="25431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36" name="">
            <a:extLst xmlns:a="http://schemas.openxmlformats.org/drawingml/2006/main">
              <a:ext uri="{FF2B5EF4-FFF2-40B4-BE49-F238E27FC236}">
                <a16:creationId xmlns:a16="http://schemas.microsoft.com/office/drawing/2014/main" id="{B4A5A969-A2FA-487E-9826-764A116734BF}"/>
              </a:ext>
            </a:extLst>
          </p:cNvPr>
          <p:cNvSpPr>
            <a:spLocks xmlns:a="http://schemas.openxmlformats.org/drawingml/2006/main" noGrp="1"/>
          </p:cNvSpPr>
          <p:nvPr/>
        </p:nvSpPr>
        <p:spPr>
          <a:xfrm xmlns:a="http://schemas.openxmlformats.org/drawingml/2006/main">
            <a:off x="25431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0.7420</a:t>
            </a:r>
          </a:p>
        </p:txBody>
      </p:sp>
      <p:sp>
        <p:nvSpPr>
          <p:cNvPr id="37" name="">
            <a:extLst xmlns:a="http://schemas.openxmlformats.org/drawingml/2006/main">
              <a:ext uri="{FF2B5EF4-FFF2-40B4-BE49-F238E27FC236}">
                <a16:creationId xmlns:a16="http://schemas.microsoft.com/office/drawing/2014/main" id="{1D744C49-6BFD-4DEE-ACDB-E3974C28DF25}"/>
              </a:ext>
            </a:extLst>
          </p:cNvPr>
          <p:cNvSpPr>
            <a:spLocks xmlns:a="http://schemas.openxmlformats.org/drawingml/2006/main" noGrp="1"/>
          </p:cNvSpPr>
          <p:nvPr/>
        </p:nvSpPr>
        <p:spPr>
          <a:xfrm xmlns:a="http://schemas.openxmlformats.org/drawingml/2006/main">
            <a:off x="39052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38" name="">
            <a:extLst xmlns:a="http://schemas.openxmlformats.org/drawingml/2006/main">
              <a:ext uri="{FF2B5EF4-FFF2-40B4-BE49-F238E27FC236}">
                <a16:creationId xmlns:a16="http://schemas.microsoft.com/office/drawing/2014/main" id="{B6C2D987-02A3-4437-8973-0C450C2873A8}"/>
              </a:ext>
            </a:extLst>
          </p:cNvPr>
          <p:cNvSpPr>
            <a:spLocks xmlns:a="http://schemas.openxmlformats.org/drawingml/2006/main" noGrp="1"/>
          </p:cNvSpPr>
          <p:nvPr/>
        </p:nvSpPr>
        <p:spPr>
          <a:xfrm xmlns:a="http://schemas.openxmlformats.org/drawingml/2006/main">
            <a:off x="39052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0.4841</a:t>
            </a:r>
          </a:p>
        </p:txBody>
      </p:sp>
      <p:sp>
        <p:nvSpPr>
          <p:cNvPr id="39" name="">
            <a:extLst xmlns:a="http://schemas.openxmlformats.org/drawingml/2006/main">
              <a:ext uri="{FF2B5EF4-FFF2-40B4-BE49-F238E27FC236}">
                <a16:creationId xmlns:a16="http://schemas.microsoft.com/office/drawing/2014/main" id="{495FD716-8951-4AAB-A98D-FD0052360751}"/>
              </a:ext>
            </a:extLst>
          </p:cNvPr>
          <p:cNvSpPr>
            <a:spLocks xmlns:a="http://schemas.openxmlformats.org/drawingml/2006/main" noGrp="1"/>
          </p:cNvSpPr>
          <p:nvPr/>
        </p:nvSpPr>
        <p:spPr>
          <a:xfrm xmlns:a="http://schemas.openxmlformats.org/drawingml/2006/main">
            <a:off x="49530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0" name="">
            <a:extLst xmlns:a="http://schemas.openxmlformats.org/drawingml/2006/main">
              <a:ext uri="{FF2B5EF4-FFF2-40B4-BE49-F238E27FC236}">
                <a16:creationId xmlns:a16="http://schemas.microsoft.com/office/drawing/2014/main" id="{883C73E9-FA8E-42C6-BC58-70C6F2E85F17}"/>
              </a:ext>
            </a:extLst>
          </p:cNvPr>
          <p:cNvSpPr>
            <a:spLocks xmlns:a="http://schemas.openxmlformats.org/drawingml/2006/main" noGrp="1"/>
          </p:cNvSpPr>
          <p:nvPr/>
        </p:nvSpPr>
        <p:spPr>
          <a:xfrm xmlns:a="http://schemas.openxmlformats.org/drawingml/2006/main">
            <a:off x="49530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1" name="">
            <a:extLst xmlns:a="http://schemas.openxmlformats.org/drawingml/2006/main">
              <a:ext uri="{FF2B5EF4-FFF2-40B4-BE49-F238E27FC236}">
                <a16:creationId xmlns:a16="http://schemas.microsoft.com/office/drawing/2014/main" id="{E32ACBC8-AE6D-4169-8BA5-86B9371112F1}"/>
              </a:ext>
            </a:extLst>
          </p:cNvPr>
          <p:cNvSpPr>
            <a:spLocks xmlns:a="http://schemas.openxmlformats.org/drawingml/2006/main" noGrp="1"/>
          </p:cNvSpPr>
          <p:nvPr/>
        </p:nvSpPr>
        <p:spPr>
          <a:xfrm xmlns:a="http://schemas.openxmlformats.org/drawingml/2006/main">
            <a:off x="64008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A6BF8CD7-FAE8-4F02-A1B7-F6B964FFEA17}"/>
              </a:ext>
            </a:extLst>
          </p:cNvPr>
          <p:cNvSpPr>
            <a:spLocks xmlns:a="http://schemas.openxmlformats.org/drawingml/2006/main" noGrp="1"/>
          </p:cNvSpPr>
          <p:nvPr/>
        </p:nvSpPr>
        <p:spPr>
          <a:xfrm xmlns:a="http://schemas.openxmlformats.org/drawingml/2006/main">
            <a:off x="64008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spam</a:t>
            </a:r>
          </a:p>
        </p:txBody>
      </p:sp>
      <p:sp>
        <p:nvSpPr>
          <p:cNvPr id="43" name="">
            <a:extLst xmlns:a="http://schemas.openxmlformats.org/drawingml/2006/main">
              <a:ext uri="{FF2B5EF4-FFF2-40B4-BE49-F238E27FC236}">
                <a16:creationId xmlns:a16="http://schemas.microsoft.com/office/drawing/2014/main" id="{3C4670C8-4FA9-4C8E-B6CB-9BFEEEA20B9B}"/>
              </a:ext>
            </a:extLst>
          </p:cNvPr>
          <p:cNvSpPr>
            <a:spLocks xmlns:a="http://schemas.openxmlformats.org/drawingml/2006/main" noGrp="1"/>
          </p:cNvSpPr>
          <p:nvPr/>
        </p:nvSpPr>
        <p:spPr>
          <a:xfrm xmlns:a="http://schemas.openxmlformats.org/drawingml/2006/main">
            <a:off x="79533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D949C05D-D3CE-4EFE-A7A6-F8DC9E89784B}"/>
              </a:ext>
            </a:extLst>
          </p:cNvPr>
          <p:cNvSpPr>
            <a:spLocks xmlns:a="http://schemas.openxmlformats.org/drawingml/2006/main" noGrp="1"/>
          </p:cNvSpPr>
          <p:nvPr/>
        </p:nvSpPr>
        <p:spPr>
          <a:xfrm xmlns:a="http://schemas.openxmlformats.org/drawingml/2006/main">
            <a:off x="79533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5" name="">
            <a:extLst xmlns:a="http://schemas.openxmlformats.org/drawingml/2006/main">
              <a:ext uri="{FF2B5EF4-FFF2-40B4-BE49-F238E27FC236}">
                <a16:creationId xmlns:a16="http://schemas.microsoft.com/office/drawing/2014/main" id="{F27BBA40-914C-4871-8A7F-B752312721FD}"/>
              </a:ext>
            </a:extLst>
          </p:cNvPr>
          <p:cNvSpPr>
            <a:spLocks xmlns:a="http://schemas.openxmlformats.org/drawingml/2006/main" noGrp="1"/>
          </p:cNvSpPr>
          <p:nvPr/>
        </p:nvSpPr>
        <p:spPr>
          <a:xfrm xmlns:a="http://schemas.openxmlformats.org/drawingml/2006/main">
            <a:off x="93154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6AD5EEAE-EBE5-4EBC-9E95-C18870D20394}"/>
              </a:ext>
            </a:extLst>
          </p:cNvPr>
          <p:cNvSpPr>
            <a:spLocks xmlns:a="http://schemas.openxmlformats.org/drawingml/2006/main" noGrp="1"/>
          </p:cNvSpPr>
          <p:nvPr/>
        </p:nvSpPr>
        <p:spPr>
          <a:xfrm xmlns:a="http://schemas.openxmlformats.org/drawingml/2006/main">
            <a:off x="93154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7" name="">
            <a:extLst xmlns:a="http://schemas.openxmlformats.org/drawingml/2006/main">
              <a:ext uri="{FF2B5EF4-FFF2-40B4-BE49-F238E27FC236}">
                <a16:creationId xmlns:a16="http://schemas.microsoft.com/office/drawing/2014/main" id="{D4472BE7-2E45-4848-86E9-4E38068F64CD}"/>
              </a:ext>
            </a:extLst>
          </p:cNvPr>
          <p:cNvSpPr>
            <a:spLocks xmlns:a="http://schemas.openxmlformats.org/drawingml/2006/main" noGrp="1"/>
          </p:cNvSpPr>
          <p:nvPr/>
        </p:nvSpPr>
        <p:spPr>
          <a:xfrm xmlns:a="http://schemas.openxmlformats.org/drawingml/2006/main">
            <a:off x="103632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32D15C26-D6F7-4C80-B7ED-6BFE718CF442}"/>
              </a:ext>
            </a:extLst>
          </p:cNvPr>
          <p:cNvSpPr>
            <a:spLocks xmlns:a="http://schemas.openxmlformats.org/drawingml/2006/main" noGrp="1"/>
          </p:cNvSpPr>
          <p:nvPr/>
        </p:nvSpPr>
        <p:spPr>
          <a:xfrm xmlns:a="http://schemas.openxmlformats.org/drawingml/2006/main">
            <a:off x="103632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E1FEAD8E-DDC5-446F-A701-27E090B9BF85}"/>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spam</a:t>
            </a:r>
          </a:p>
        </p:txBody>
      </p:sp>
      <p:sp>
        <p:nvSpPr>
          <p:cNvPr id="50" name="">
            <a:extLst xmlns:a="http://schemas.openxmlformats.org/drawingml/2006/main">
              <a:ext uri="{FF2B5EF4-FFF2-40B4-BE49-F238E27FC236}">
                <a16:creationId xmlns:a16="http://schemas.microsoft.com/office/drawing/2014/main" id="{FEDE72B1-3BE8-485A-85BA-EC0D593A94C0}"/>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1" name="">
            <a:extLst xmlns:a="http://schemas.openxmlformats.org/drawingml/2006/main">
              <a:ext uri="{FF2B5EF4-FFF2-40B4-BE49-F238E27FC236}">
                <a16:creationId xmlns:a16="http://schemas.microsoft.com/office/drawing/2014/main" id="{DBF4137D-4A7A-4FB1-B64A-DE3462C3A750}"/>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8 of 12  ·  id: spam_intent</a:t>
            </a:r>
          </a:p>
        </p:txBody>
      </p:sp>
    </p:spTree>
    <p:extLst>
      <p:ext uri="{BB962C8B-B14F-4D97-AF65-F5344CB8AC3E}">
        <p14:creationId xmlns:p14="http://schemas.microsoft.com/office/powerpoint/2010/main" val="180786239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0" name="background">
            <a:extLst xmlns:a="http://schemas.openxmlformats.org/drawingml/2006/main">
              <a:ext uri="{FF2B5EF4-FFF2-40B4-BE49-F238E27FC236}">
                <a16:creationId xmlns:a16="http://schemas.microsoft.com/office/drawing/2014/main" id="{FC278E7F-913A-4FAE-A764-E2125C540A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B3AD0569-D92A-4EC1-899F-843783CBA0DD}"/>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2C487F-833D-415A-AD55-39538D4CE83E}"/>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09 · LANGUAGE IDENTIFICATION</a:t>
            </a:r>
          </a:p>
        </p:txBody>
      </p:sp>
      <p:sp>
        <p:nvSpPr>
          <p:cNvPr id="4" name="">
            <a:extLst xmlns:a="http://schemas.openxmlformats.org/drawingml/2006/main">
              <a:ext uri="{FF2B5EF4-FFF2-40B4-BE49-F238E27FC236}">
                <a16:creationId xmlns:a16="http://schemas.microsoft.com/office/drawing/2014/main" id="{6472C5C4-26BE-480A-ABAB-605AF756EC4C}"/>
              </a:ext>
            </a:extLst>
          </p:cNvPr>
          <p:cNvSpPr>
            <a:spLocks xmlns:a="http://schemas.openxmlformats.org/drawingml/2006/main" noGrp="1"/>
          </p:cNvSpPr>
          <p:nvPr/>
        </p:nvSpPr>
        <p:spPr>
          <a:xfrm xmlns:a="http://schemas.openxmlformats.org/drawingml/2006/main">
            <a:off x="781050" y="666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i="0">
                <a:solidFill>
                  <a:srgbClr val="21295C"/>
                </a:solidFill>
                <a:latin typeface="Georgia"/>
                <a:ea typeface="Georgia"/>
                <a:cs typeface="Georgia"/>
              </a:defRPr>
            </a:pPr>
            <a:r>
              <a:rPr sz="2925" b="1" i="0">
                <a:solidFill>
                  <a:srgbClr val="21295C"/>
                </a:solidFill>
                <a:latin typeface="Georgia"/>
                <a:ea typeface="Georgia"/>
                <a:cs typeface="Georgia"/>
              </a:rPr>
              <a:t>In which language is the text written?</a:t>
            </a:r>
          </a:p>
        </p:txBody>
      </p:sp>
      <p:sp>
        <p:nvSpPr>
          <p:cNvPr id="5" name="">
            <a:extLst xmlns:a="http://schemas.openxmlformats.org/drawingml/2006/main">
              <a:ext uri="{FF2B5EF4-FFF2-40B4-BE49-F238E27FC236}">
                <a16:creationId xmlns:a16="http://schemas.microsoft.com/office/drawing/2014/main" id="{9F2469CA-8C03-47D9-9120-ED6599335603}"/>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FD8528-DA2B-4D2C-9FC3-90FBA619F1A1}"/>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9E27A4EA-C820-42D8-993F-16651489DBDC}"/>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D0DC0602-FC09-4FB8-85BF-0E647E8396AF}"/>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{"text":"Bonjour, je m'appelle Marie et j'habite a Paris."}</a:t>
            </a:r>
          </a:p>
        </p:txBody>
      </p:sp>
      <p:sp>
        <p:nvSpPr>
          <p:cNvPr id="9" name="MODERNBERT NLI-panel">
            <a:extLst xmlns:a="http://schemas.openxmlformats.org/drawingml/2006/main">
              <a:ext uri="{FF2B5EF4-FFF2-40B4-BE49-F238E27FC236}">
                <a16:creationId xmlns:a16="http://schemas.microsoft.com/office/drawing/2014/main" id="{397775F8-C618-4340-9171-B10094A32CD1}"/>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BE5965C1-4282-4BB4-80C7-D19D0426DD41}"/>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7B2014F-B262-4EA9-A06C-653CECFF1775}"/>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6C241B66-ED51-4B63-A195-1FDF994DD69D}"/>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5B06DE2A-1AA6-4FDD-B901-6C134E8FB84B}"/>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6A83F1D-696D-4327-9958-F155AE2A5EA6}"/>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1A32516F-1134-4C08-8A9A-C01C78A82D0B}"/>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french</a:t>
            </a:r>
          </a:p>
        </p:txBody>
      </p:sp>
      <p:sp>
        <p:nvSpPr>
          <p:cNvPr id="16" name="">
            <a:extLst xmlns:a="http://schemas.openxmlformats.org/drawingml/2006/main">
              <a:ext uri="{FF2B5EF4-FFF2-40B4-BE49-F238E27FC236}">
                <a16:creationId xmlns:a16="http://schemas.microsoft.com/office/drawing/2014/main" id="{1FD67A49-33D5-4960-BB45-26BF1F7E9AA8}"/>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0.5975</a:t>
            </a:r>
          </a:p>
        </p:txBody>
      </p:sp>
      <p:sp>
        <p:nvSpPr>
          <p:cNvPr id="17" name="track-french">
            <a:extLst xmlns:a="http://schemas.openxmlformats.org/drawingml/2006/main">
              <a:ext uri="{FF2B5EF4-FFF2-40B4-BE49-F238E27FC236}">
                <a16:creationId xmlns:a16="http://schemas.microsoft.com/office/drawing/2014/main" id="{4524D086-65CE-4B6C-A601-999705444B31}"/>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french">
            <a:extLst xmlns:a="http://schemas.openxmlformats.org/drawingml/2006/main">
              <a:ext uri="{FF2B5EF4-FFF2-40B4-BE49-F238E27FC236}">
                <a16:creationId xmlns:a16="http://schemas.microsoft.com/office/drawing/2014/main" id="{EF0BCFA3-BB67-44C9-A1B7-6CAB5CC60EA6}"/>
              </a:ext>
            </a:extLst>
          </p:cNvPr>
          <p:cNvSpPr>
            <a:spLocks xmlns:a="http://schemas.openxmlformats.org/drawingml/2006/main" noGrp="1"/>
          </p:cNvSpPr>
          <p:nvPr/>
        </p:nvSpPr>
        <p:spPr>
          <a:xfrm xmlns:a="http://schemas.openxmlformats.org/drawingml/2006/main">
            <a:off x="990600" y="2962275"/>
            <a:ext cx="2765908"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2CDA946-0DAA-4850-A516-51014EFA406A}"/>
              </a:ext>
            </a:extLst>
          </p:cNvPr>
          <p:cNvSpPr>
            <a:spLocks xmlns:a="http://schemas.openxmlformats.org/drawingml/2006/main" noGrp="1"/>
          </p:cNvSpPr>
          <p:nvPr/>
        </p:nvSpPr>
        <p:spPr>
          <a:xfrm xmlns:a="http://schemas.openxmlformats.org/drawingml/2006/main">
            <a:off x="990600" y="33623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german</a:t>
            </a:r>
          </a:p>
        </p:txBody>
      </p:sp>
      <p:sp>
        <p:nvSpPr>
          <p:cNvPr id="20" name="">
            <a:extLst xmlns:a="http://schemas.openxmlformats.org/drawingml/2006/main">
              <a:ext uri="{FF2B5EF4-FFF2-40B4-BE49-F238E27FC236}">
                <a16:creationId xmlns:a16="http://schemas.microsoft.com/office/drawing/2014/main" id="{0BDD5EC8-E4A4-428D-8449-176667E3B5CF}"/>
              </a:ext>
            </a:extLst>
          </p:cNvPr>
          <p:cNvSpPr>
            <a:spLocks xmlns:a="http://schemas.openxmlformats.org/drawingml/2006/main" noGrp="1"/>
          </p:cNvSpPr>
          <p:nvPr/>
        </p:nvSpPr>
        <p:spPr>
          <a:xfrm xmlns:a="http://schemas.openxmlformats.org/drawingml/2006/main">
            <a:off x="4045839" y="33623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0.2336</a:t>
            </a:r>
          </a:p>
        </p:txBody>
      </p:sp>
      <p:sp>
        <p:nvSpPr>
          <p:cNvPr id="21" name="track-german">
            <a:extLst xmlns:a="http://schemas.openxmlformats.org/drawingml/2006/main">
              <a:ext uri="{FF2B5EF4-FFF2-40B4-BE49-F238E27FC236}">
                <a16:creationId xmlns:a16="http://schemas.microsoft.com/office/drawing/2014/main" id="{1F1CB11D-E2ED-48CC-868B-019AE50E8738}"/>
              </a:ext>
            </a:extLst>
          </p:cNvPr>
          <p:cNvSpPr>
            <a:spLocks xmlns:a="http://schemas.openxmlformats.org/drawingml/2006/main" noGrp="1"/>
          </p:cNvSpPr>
          <p:nvPr/>
        </p:nvSpPr>
        <p:spPr>
          <a:xfrm xmlns:a="http://schemas.openxmlformats.org/drawingml/2006/main">
            <a:off x="990600" y="36290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german">
            <a:extLst xmlns:a="http://schemas.openxmlformats.org/drawingml/2006/main">
              <a:ext uri="{FF2B5EF4-FFF2-40B4-BE49-F238E27FC236}">
                <a16:creationId xmlns:a16="http://schemas.microsoft.com/office/drawing/2014/main" id="{4968E67A-5CB9-4BC1-8D4F-291FEB5AC52F}"/>
              </a:ext>
            </a:extLst>
          </p:cNvPr>
          <p:cNvSpPr>
            <a:spLocks xmlns:a="http://schemas.openxmlformats.org/drawingml/2006/main" noGrp="1"/>
          </p:cNvSpPr>
          <p:nvPr/>
        </p:nvSpPr>
        <p:spPr>
          <a:xfrm xmlns:a="http://schemas.openxmlformats.org/drawingml/2006/main">
            <a:off x="990600" y="3629025"/>
            <a:ext cx="1081559"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4002A3E-48ED-4BCD-8E6B-63BE370C2EBF}"/>
              </a:ext>
            </a:extLst>
          </p:cNvPr>
          <p:cNvSpPr>
            <a:spLocks xmlns:a="http://schemas.openxmlformats.org/drawingml/2006/main" noGrp="1"/>
          </p:cNvSpPr>
          <p:nvPr/>
        </p:nvSpPr>
        <p:spPr>
          <a:xfrm xmlns:a="http://schemas.openxmlformats.org/drawingml/2006/main">
            <a:off x="990600" y="40290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japanese</a:t>
            </a:r>
          </a:p>
        </p:txBody>
      </p:sp>
      <p:sp>
        <p:nvSpPr>
          <p:cNvPr id="24" name="">
            <a:extLst xmlns:a="http://schemas.openxmlformats.org/drawingml/2006/main">
              <a:ext uri="{FF2B5EF4-FFF2-40B4-BE49-F238E27FC236}">
                <a16:creationId xmlns:a16="http://schemas.microsoft.com/office/drawing/2014/main" id="{D8120712-BA4E-40E9-9EB0-8B7FE62E4983}"/>
              </a:ext>
            </a:extLst>
          </p:cNvPr>
          <p:cNvSpPr>
            <a:spLocks xmlns:a="http://schemas.openxmlformats.org/drawingml/2006/main" noGrp="1"/>
          </p:cNvSpPr>
          <p:nvPr/>
        </p:nvSpPr>
        <p:spPr>
          <a:xfrm xmlns:a="http://schemas.openxmlformats.org/drawingml/2006/main">
            <a:off x="4045839" y="40290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0.1689</a:t>
            </a:r>
          </a:p>
        </p:txBody>
      </p:sp>
      <p:sp>
        <p:nvSpPr>
          <p:cNvPr id="25" name="track-japanese">
            <a:extLst xmlns:a="http://schemas.openxmlformats.org/drawingml/2006/main">
              <a:ext uri="{FF2B5EF4-FFF2-40B4-BE49-F238E27FC236}">
                <a16:creationId xmlns:a16="http://schemas.microsoft.com/office/drawing/2014/main" id="{53AB5DCF-217D-4306-8005-C0175CC1B3A5}"/>
              </a:ext>
            </a:extLst>
          </p:cNvPr>
          <p:cNvSpPr>
            <a:spLocks xmlns:a="http://schemas.openxmlformats.org/drawingml/2006/main" noGrp="1"/>
          </p:cNvSpPr>
          <p:nvPr/>
        </p:nvSpPr>
        <p:spPr>
          <a:xfrm xmlns:a="http://schemas.openxmlformats.org/drawingml/2006/main">
            <a:off x="990600" y="42957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japanese">
            <a:extLst xmlns:a="http://schemas.openxmlformats.org/drawingml/2006/main">
              <a:ext uri="{FF2B5EF4-FFF2-40B4-BE49-F238E27FC236}">
                <a16:creationId xmlns:a16="http://schemas.microsoft.com/office/drawing/2014/main" id="{1479455E-6437-43F6-9E07-C0734DD87756}"/>
              </a:ext>
            </a:extLst>
          </p:cNvPr>
          <p:cNvSpPr>
            <a:spLocks xmlns:a="http://schemas.openxmlformats.org/drawingml/2006/main" noGrp="1"/>
          </p:cNvSpPr>
          <p:nvPr/>
        </p:nvSpPr>
        <p:spPr>
          <a:xfrm xmlns:a="http://schemas.openxmlformats.org/drawingml/2006/main">
            <a:off x="990600" y="4295775"/>
            <a:ext cx="781683"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05838AB-F862-46A4-900E-867587B9018A}"/>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french</a:t>
            </a:r>
          </a:p>
        </p:txBody>
      </p:sp>
      <p:sp>
        <p:nvSpPr>
          <p:cNvPr id="28" name="">
            <a:extLst xmlns:a="http://schemas.openxmlformats.org/drawingml/2006/main">
              <a:ext uri="{FF2B5EF4-FFF2-40B4-BE49-F238E27FC236}">
                <a16:creationId xmlns:a16="http://schemas.microsoft.com/office/drawing/2014/main" id="{3C155C69-1DA6-4114-B91D-754EE6959157}"/>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9" name="track-french">
            <a:extLst xmlns:a="http://schemas.openxmlformats.org/drawingml/2006/main">
              <a:ext uri="{FF2B5EF4-FFF2-40B4-BE49-F238E27FC236}">
                <a16:creationId xmlns:a16="http://schemas.microsoft.com/office/drawing/2014/main" id="{B0BC1E5B-7FFB-45DA-8BBD-97F11509B4B2}"/>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french">
            <a:extLst xmlns:a="http://schemas.openxmlformats.org/drawingml/2006/main">
              <a:ext uri="{FF2B5EF4-FFF2-40B4-BE49-F238E27FC236}">
                <a16:creationId xmlns:a16="http://schemas.microsoft.com/office/drawing/2014/main" id="{BD26E6FB-FC49-4809-8B36-A1B1F26F36C9}"/>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C541466-6D6A-488F-8B9C-945899F979F4}"/>
              </a:ext>
            </a:extLst>
          </p:cNvPr>
          <p:cNvSpPr>
            <a:spLocks xmlns:a="http://schemas.openxmlformats.org/drawingml/2006/main" noGrp="1"/>
          </p:cNvSpPr>
          <p:nvPr/>
        </p:nvSpPr>
        <p:spPr>
          <a:xfrm xmlns:a="http://schemas.openxmlformats.org/drawingml/2006/main">
            <a:off x="6400800" y="33623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japanese</a:t>
            </a:r>
          </a:p>
        </p:txBody>
      </p:sp>
      <p:sp>
        <p:nvSpPr>
          <p:cNvPr id="32" name="">
            <a:extLst xmlns:a="http://schemas.openxmlformats.org/drawingml/2006/main">
              <a:ext uri="{FF2B5EF4-FFF2-40B4-BE49-F238E27FC236}">
                <a16:creationId xmlns:a16="http://schemas.microsoft.com/office/drawing/2014/main" id="{0F726B30-D933-4E37-8A55-42951B72FBDE}"/>
              </a:ext>
            </a:extLst>
          </p:cNvPr>
          <p:cNvSpPr>
            <a:spLocks xmlns:a="http://schemas.openxmlformats.org/drawingml/2006/main" noGrp="1"/>
          </p:cNvSpPr>
          <p:nvPr/>
        </p:nvSpPr>
        <p:spPr>
          <a:xfrm xmlns:a="http://schemas.openxmlformats.org/drawingml/2006/main">
            <a:off x="9456039" y="33623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33" name="track-japanese">
            <a:extLst xmlns:a="http://schemas.openxmlformats.org/drawingml/2006/main">
              <a:ext uri="{FF2B5EF4-FFF2-40B4-BE49-F238E27FC236}">
                <a16:creationId xmlns:a16="http://schemas.microsoft.com/office/drawing/2014/main" id="{5ADC6F10-9BF1-480B-B8EC-791C1BABE49C}"/>
              </a:ext>
            </a:extLst>
          </p:cNvPr>
          <p:cNvSpPr>
            <a:spLocks xmlns:a="http://schemas.openxmlformats.org/drawingml/2006/main" noGrp="1"/>
          </p:cNvSpPr>
          <p:nvPr/>
        </p:nvSpPr>
        <p:spPr>
          <a:xfrm xmlns:a="http://schemas.openxmlformats.org/drawingml/2006/main">
            <a:off x="6400800" y="36290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4" name="bar-japanese">
            <a:extLst xmlns:a="http://schemas.openxmlformats.org/drawingml/2006/main">
              <a:ext uri="{FF2B5EF4-FFF2-40B4-BE49-F238E27FC236}">
                <a16:creationId xmlns:a16="http://schemas.microsoft.com/office/drawing/2014/main" id="{B13FBBB9-A2AC-4665-A1A3-09BE2F429D24}"/>
              </a:ext>
            </a:extLst>
          </p:cNvPr>
          <p:cNvSpPr>
            <a:spLocks xmlns:a="http://schemas.openxmlformats.org/drawingml/2006/main" noGrp="1"/>
          </p:cNvSpPr>
          <p:nvPr/>
        </p:nvSpPr>
        <p:spPr>
          <a:xfrm xmlns:a="http://schemas.openxmlformats.org/drawingml/2006/main">
            <a:off x="6400800" y="36290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084264D-0385-444B-96D1-F4419393FCB4}"/>
              </a:ext>
            </a:extLst>
          </p:cNvPr>
          <p:cNvSpPr>
            <a:spLocks xmlns:a="http://schemas.openxmlformats.org/drawingml/2006/main" noGrp="1"/>
          </p:cNvSpPr>
          <p:nvPr/>
        </p:nvSpPr>
        <p:spPr>
          <a:xfrm xmlns:a="http://schemas.openxmlformats.org/drawingml/2006/main">
            <a:off x="6400800" y="40290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german</a:t>
            </a:r>
          </a:p>
        </p:txBody>
      </p:sp>
      <p:sp>
        <p:nvSpPr>
          <p:cNvPr id="36" name="">
            <a:extLst xmlns:a="http://schemas.openxmlformats.org/drawingml/2006/main">
              <a:ext uri="{FF2B5EF4-FFF2-40B4-BE49-F238E27FC236}">
                <a16:creationId xmlns:a16="http://schemas.microsoft.com/office/drawing/2014/main" id="{A0B93E23-BF90-4211-B77A-18C0E8F34E09}"/>
              </a:ext>
            </a:extLst>
          </p:cNvPr>
          <p:cNvSpPr>
            <a:spLocks xmlns:a="http://schemas.openxmlformats.org/drawingml/2006/main" noGrp="1"/>
          </p:cNvSpPr>
          <p:nvPr/>
        </p:nvSpPr>
        <p:spPr>
          <a:xfrm xmlns:a="http://schemas.openxmlformats.org/drawingml/2006/main">
            <a:off x="9456039" y="40290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37" name="track-german">
            <a:extLst xmlns:a="http://schemas.openxmlformats.org/drawingml/2006/main">
              <a:ext uri="{FF2B5EF4-FFF2-40B4-BE49-F238E27FC236}">
                <a16:creationId xmlns:a16="http://schemas.microsoft.com/office/drawing/2014/main" id="{49AE13D5-3AB6-470E-9DC5-3A19B7BDCC3D}"/>
              </a:ext>
            </a:extLst>
          </p:cNvPr>
          <p:cNvSpPr>
            <a:spLocks xmlns:a="http://schemas.openxmlformats.org/drawingml/2006/main" noGrp="1"/>
          </p:cNvSpPr>
          <p:nvPr/>
        </p:nvSpPr>
        <p:spPr>
          <a:xfrm xmlns:a="http://schemas.openxmlformats.org/drawingml/2006/main">
            <a:off x="6400800" y="42957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8" name="bar-german">
            <a:extLst xmlns:a="http://schemas.openxmlformats.org/drawingml/2006/main">
              <a:ext uri="{FF2B5EF4-FFF2-40B4-BE49-F238E27FC236}">
                <a16:creationId xmlns:a16="http://schemas.microsoft.com/office/drawing/2014/main" id="{831E8FAE-8118-429D-A560-B6A0288D49A8}"/>
              </a:ext>
            </a:extLst>
          </p:cNvPr>
          <p:cNvSpPr>
            <a:spLocks xmlns:a="http://schemas.openxmlformats.org/drawingml/2006/main" noGrp="1"/>
          </p:cNvSpPr>
          <p:nvPr/>
        </p:nvSpPr>
        <p:spPr>
          <a:xfrm xmlns:a="http://schemas.openxmlformats.org/drawingml/2006/main">
            <a:off x="6400800" y="429577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0A016A31-59D6-4689-B467-EDD7CB40AC16}"/>
              </a:ext>
            </a:extLst>
          </p:cNvPr>
          <p:cNvSpPr>
            <a:spLocks xmlns:a="http://schemas.openxmlformats.org/drawingml/2006/main" noGrp="1"/>
          </p:cNvSpPr>
          <p:nvPr/>
        </p:nvSpPr>
        <p:spPr>
          <a:xfrm xmlns:a="http://schemas.openxmlformats.org/drawingml/2006/main">
            <a:off x="990600" y="473392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4E99424E-0D16-4807-B2E2-418F0DB9E462}"/>
              </a:ext>
            </a:extLst>
          </p:cNvPr>
          <p:cNvSpPr>
            <a:spLocks xmlns:a="http://schemas.openxmlformats.org/drawingml/2006/main" noGrp="1"/>
          </p:cNvSpPr>
          <p:nvPr/>
        </p:nvSpPr>
        <p:spPr>
          <a:xfrm xmlns:a="http://schemas.openxmlformats.org/drawingml/2006/main">
            <a:off x="6400800" y="473392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F022AAD3-7D9B-4A26-B6AE-0A81F32D85F4}"/>
              </a:ext>
            </a:extLst>
          </p:cNvPr>
          <p:cNvSpPr>
            <a:spLocks xmlns:a="http://schemas.openxmlformats.org/drawingml/2006/main" noGrp="1"/>
          </p:cNvSpPr>
          <p:nvPr/>
        </p:nvSpPr>
        <p:spPr>
          <a:xfrm xmlns:a="http://schemas.openxmlformats.org/drawingml/2006/main">
            <a:off x="990600" y="486727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CA00D7E7-28B0-4DE4-9E46-CFD47E926219}"/>
              </a:ext>
            </a:extLst>
          </p:cNvPr>
          <p:cNvSpPr>
            <a:spLocks xmlns:a="http://schemas.openxmlformats.org/drawingml/2006/main" noGrp="1"/>
          </p:cNvSpPr>
          <p:nvPr/>
        </p:nvSpPr>
        <p:spPr>
          <a:xfrm xmlns:a="http://schemas.openxmlformats.org/drawingml/2006/main">
            <a:off x="990600" y="51054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french</a:t>
            </a:r>
          </a:p>
        </p:txBody>
      </p:sp>
      <p:sp>
        <p:nvSpPr>
          <p:cNvPr id="43" name="">
            <a:extLst xmlns:a="http://schemas.openxmlformats.org/drawingml/2006/main">
              <a:ext uri="{FF2B5EF4-FFF2-40B4-BE49-F238E27FC236}">
                <a16:creationId xmlns:a16="http://schemas.microsoft.com/office/drawing/2014/main" id="{50D868A4-427A-453B-B5E4-8637A35B691D}"/>
              </a:ext>
            </a:extLst>
          </p:cNvPr>
          <p:cNvSpPr>
            <a:spLocks xmlns:a="http://schemas.openxmlformats.org/drawingml/2006/main" noGrp="1"/>
          </p:cNvSpPr>
          <p:nvPr/>
        </p:nvSpPr>
        <p:spPr>
          <a:xfrm xmlns:a="http://schemas.openxmlformats.org/drawingml/2006/main">
            <a:off x="2543175" y="48672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030779DE-C7F1-45C1-9E26-DC14599EFE80}"/>
              </a:ext>
            </a:extLst>
          </p:cNvPr>
          <p:cNvSpPr>
            <a:spLocks xmlns:a="http://schemas.openxmlformats.org/drawingml/2006/main" noGrp="1"/>
          </p:cNvSpPr>
          <p:nvPr/>
        </p:nvSpPr>
        <p:spPr>
          <a:xfrm xmlns:a="http://schemas.openxmlformats.org/drawingml/2006/main">
            <a:off x="2543175" y="51054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0.5975</a:t>
            </a:r>
          </a:p>
        </p:txBody>
      </p:sp>
      <p:sp>
        <p:nvSpPr>
          <p:cNvPr id="45" name="">
            <a:extLst xmlns:a="http://schemas.openxmlformats.org/drawingml/2006/main">
              <a:ext uri="{FF2B5EF4-FFF2-40B4-BE49-F238E27FC236}">
                <a16:creationId xmlns:a16="http://schemas.microsoft.com/office/drawing/2014/main" id="{508AD14A-877E-405F-BF01-AB0E8F36F453}"/>
              </a:ext>
            </a:extLst>
          </p:cNvPr>
          <p:cNvSpPr>
            <a:spLocks xmlns:a="http://schemas.openxmlformats.org/drawingml/2006/main" noGrp="1"/>
          </p:cNvSpPr>
          <p:nvPr/>
        </p:nvSpPr>
        <p:spPr>
          <a:xfrm xmlns:a="http://schemas.openxmlformats.org/drawingml/2006/main">
            <a:off x="3905250" y="486727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74EF0B76-A099-40E7-A6F1-4CF2BDA0623D}"/>
              </a:ext>
            </a:extLst>
          </p:cNvPr>
          <p:cNvSpPr>
            <a:spLocks xmlns:a="http://schemas.openxmlformats.org/drawingml/2006/main" noGrp="1"/>
          </p:cNvSpPr>
          <p:nvPr/>
        </p:nvSpPr>
        <p:spPr>
          <a:xfrm xmlns:a="http://schemas.openxmlformats.org/drawingml/2006/main">
            <a:off x="3905250" y="5105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0.3639</a:t>
            </a:r>
          </a:p>
        </p:txBody>
      </p:sp>
      <p:sp>
        <p:nvSpPr>
          <p:cNvPr id="47" name="">
            <a:extLst xmlns:a="http://schemas.openxmlformats.org/drawingml/2006/main">
              <a:ext uri="{FF2B5EF4-FFF2-40B4-BE49-F238E27FC236}">
                <a16:creationId xmlns:a16="http://schemas.microsoft.com/office/drawing/2014/main" id="{EF0168CD-E5E8-4C38-907F-0C335FC55044}"/>
              </a:ext>
            </a:extLst>
          </p:cNvPr>
          <p:cNvSpPr>
            <a:spLocks xmlns:a="http://schemas.openxmlformats.org/drawingml/2006/main" noGrp="1"/>
          </p:cNvSpPr>
          <p:nvPr/>
        </p:nvSpPr>
        <p:spPr>
          <a:xfrm xmlns:a="http://schemas.openxmlformats.org/drawingml/2006/main">
            <a:off x="4953000" y="4867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87012E94-B54D-4FDB-836D-47D1FD6A405B}"/>
              </a:ext>
            </a:extLst>
          </p:cNvPr>
          <p:cNvSpPr>
            <a:spLocks xmlns:a="http://schemas.openxmlformats.org/drawingml/2006/main" noGrp="1"/>
          </p:cNvSpPr>
          <p:nvPr/>
        </p:nvSpPr>
        <p:spPr>
          <a:xfrm xmlns:a="http://schemas.openxmlformats.org/drawingml/2006/main">
            <a:off x="4953000" y="51054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B86E00"/>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897FF1CB-13FA-4153-8274-E6164E106145}"/>
              </a:ext>
            </a:extLst>
          </p:cNvPr>
          <p:cNvSpPr>
            <a:spLocks xmlns:a="http://schemas.openxmlformats.org/drawingml/2006/main" noGrp="1"/>
          </p:cNvSpPr>
          <p:nvPr/>
        </p:nvSpPr>
        <p:spPr>
          <a:xfrm xmlns:a="http://schemas.openxmlformats.org/drawingml/2006/main">
            <a:off x="6400800" y="486727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50" name="">
            <a:extLst xmlns:a="http://schemas.openxmlformats.org/drawingml/2006/main">
              <a:ext uri="{FF2B5EF4-FFF2-40B4-BE49-F238E27FC236}">
                <a16:creationId xmlns:a16="http://schemas.microsoft.com/office/drawing/2014/main" id="{B5C3B6C4-2677-4DC9-B0A3-280478D28575}"/>
              </a:ext>
            </a:extLst>
          </p:cNvPr>
          <p:cNvSpPr>
            <a:spLocks xmlns:a="http://schemas.openxmlformats.org/drawingml/2006/main" noGrp="1"/>
          </p:cNvSpPr>
          <p:nvPr/>
        </p:nvSpPr>
        <p:spPr>
          <a:xfrm xmlns:a="http://schemas.openxmlformats.org/drawingml/2006/main">
            <a:off x="6400800" y="51054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french</a:t>
            </a:r>
          </a:p>
        </p:txBody>
      </p:sp>
      <p:sp>
        <p:nvSpPr>
          <p:cNvPr id="51" name="">
            <a:extLst xmlns:a="http://schemas.openxmlformats.org/drawingml/2006/main">
              <a:ext uri="{FF2B5EF4-FFF2-40B4-BE49-F238E27FC236}">
                <a16:creationId xmlns:a16="http://schemas.microsoft.com/office/drawing/2014/main" id="{E8DC5813-2A6B-4EF9-8351-4510D1B4C461}"/>
              </a:ext>
            </a:extLst>
          </p:cNvPr>
          <p:cNvSpPr>
            <a:spLocks xmlns:a="http://schemas.openxmlformats.org/drawingml/2006/main" noGrp="1"/>
          </p:cNvSpPr>
          <p:nvPr/>
        </p:nvSpPr>
        <p:spPr>
          <a:xfrm xmlns:a="http://schemas.openxmlformats.org/drawingml/2006/main">
            <a:off x="7953375" y="48672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52" name="">
            <a:extLst xmlns:a="http://schemas.openxmlformats.org/drawingml/2006/main">
              <a:ext uri="{FF2B5EF4-FFF2-40B4-BE49-F238E27FC236}">
                <a16:creationId xmlns:a16="http://schemas.microsoft.com/office/drawing/2014/main" id="{DB6ED3C2-43E6-4DAB-82AB-DB6D462540AB}"/>
              </a:ext>
            </a:extLst>
          </p:cNvPr>
          <p:cNvSpPr>
            <a:spLocks xmlns:a="http://schemas.openxmlformats.org/drawingml/2006/main" noGrp="1"/>
          </p:cNvSpPr>
          <p:nvPr/>
        </p:nvSpPr>
        <p:spPr>
          <a:xfrm xmlns:a="http://schemas.openxmlformats.org/drawingml/2006/main">
            <a:off x="7953375" y="51054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53" name="">
            <a:extLst xmlns:a="http://schemas.openxmlformats.org/drawingml/2006/main">
              <a:ext uri="{FF2B5EF4-FFF2-40B4-BE49-F238E27FC236}">
                <a16:creationId xmlns:a16="http://schemas.microsoft.com/office/drawing/2014/main" id="{B14288CA-C7C4-480E-9EE9-8A1494CEA6B5}"/>
              </a:ext>
            </a:extLst>
          </p:cNvPr>
          <p:cNvSpPr>
            <a:spLocks xmlns:a="http://schemas.openxmlformats.org/drawingml/2006/main" noGrp="1"/>
          </p:cNvSpPr>
          <p:nvPr/>
        </p:nvSpPr>
        <p:spPr>
          <a:xfrm xmlns:a="http://schemas.openxmlformats.org/drawingml/2006/main">
            <a:off x="9315450" y="486727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54" name="">
            <a:extLst xmlns:a="http://schemas.openxmlformats.org/drawingml/2006/main">
              <a:ext uri="{FF2B5EF4-FFF2-40B4-BE49-F238E27FC236}">
                <a16:creationId xmlns:a16="http://schemas.microsoft.com/office/drawing/2014/main" id="{C83615D4-FF97-403B-9977-B21D2DC34318}"/>
              </a:ext>
            </a:extLst>
          </p:cNvPr>
          <p:cNvSpPr>
            <a:spLocks xmlns:a="http://schemas.openxmlformats.org/drawingml/2006/main" noGrp="1"/>
          </p:cNvSpPr>
          <p:nvPr/>
        </p:nvSpPr>
        <p:spPr>
          <a:xfrm xmlns:a="http://schemas.openxmlformats.org/drawingml/2006/main">
            <a:off x="9315450" y="5105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55" name="">
            <a:extLst xmlns:a="http://schemas.openxmlformats.org/drawingml/2006/main">
              <a:ext uri="{FF2B5EF4-FFF2-40B4-BE49-F238E27FC236}">
                <a16:creationId xmlns:a16="http://schemas.microsoft.com/office/drawing/2014/main" id="{98942409-9B23-427F-91F5-2D13E0E20F58}"/>
              </a:ext>
            </a:extLst>
          </p:cNvPr>
          <p:cNvSpPr>
            <a:spLocks xmlns:a="http://schemas.openxmlformats.org/drawingml/2006/main" noGrp="1"/>
          </p:cNvSpPr>
          <p:nvPr/>
        </p:nvSpPr>
        <p:spPr>
          <a:xfrm xmlns:a="http://schemas.openxmlformats.org/drawingml/2006/main">
            <a:off x="10363200" y="4867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56" name="">
            <a:extLst xmlns:a="http://schemas.openxmlformats.org/drawingml/2006/main">
              <a:ext uri="{FF2B5EF4-FFF2-40B4-BE49-F238E27FC236}">
                <a16:creationId xmlns:a16="http://schemas.microsoft.com/office/drawing/2014/main" id="{052648C0-72A9-491E-835E-3DCACD009D8C}"/>
              </a:ext>
            </a:extLst>
          </p:cNvPr>
          <p:cNvSpPr>
            <a:spLocks xmlns:a="http://schemas.openxmlformats.org/drawingml/2006/main" noGrp="1"/>
          </p:cNvSpPr>
          <p:nvPr/>
        </p:nvSpPr>
        <p:spPr>
          <a:xfrm xmlns:a="http://schemas.openxmlformats.org/drawingml/2006/main">
            <a:off x="10363200" y="51054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57" name="">
            <a:extLst xmlns:a="http://schemas.openxmlformats.org/drawingml/2006/main">
              <a:ext uri="{FF2B5EF4-FFF2-40B4-BE49-F238E27FC236}">
                <a16:creationId xmlns:a16="http://schemas.microsoft.com/office/drawing/2014/main" id="{CC2A9CBC-8633-4736-8FC0-DA3FC4288914}"/>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french</a:t>
            </a:r>
          </a:p>
        </p:txBody>
      </p:sp>
      <p:sp>
        <p:nvSpPr>
          <p:cNvPr id="58" name="">
            <a:extLst xmlns:a="http://schemas.openxmlformats.org/drawingml/2006/main">
              <a:ext uri="{FF2B5EF4-FFF2-40B4-BE49-F238E27FC236}">
                <a16:creationId xmlns:a16="http://schemas.microsoft.com/office/drawing/2014/main" id="{4F1880D3-468C-4EB3-BB09-41D9FEF06EE8}"/>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9" name="">
            <a:extLst xmlns:a="http://schemas.openxmlformats.org/drawingml/2006/main">
              <a:ext uri="{FF2B5EF4-FFF2-40B4-BE49-F238E27FC236}">
                <a16:creationId xmlns:a16="http://schemas.microsoft.com/office/drawing/2014/main" id="{35AFBE68-B756-4151-B9C7-8940047D5E60}"/>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9 of 12  ·  id: language_id</a:t>
            </a:r>
          </a:p>
        </p:txBody>
      </p:sp>
    </p:spTree>
    <p:extLst>
      <p:ext uri="{BB962C8B-B14F-4D97-AF65-F5344CB8AC3E}">
        <p14:creationId xmlns:p14="http://schemas.microsoft.com/office/powerpoint/2010/main" val="14721630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2" name="background">
            <a:extLst xmlns:a="http://schemas.openxmlformats.org/drawingml/2006/main">
              <a:ext uri="{FF2B5EF4-FFF2-40B4-BE49-F238E27FC236}">
                <a16:creationId xmlns:a16="http://schemas.microsoft.com/office/drawing/2014/main" id="{28A683C4-6616-4AC2-B1E6-93008724B7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FBCBB6E4-7F2C-4825-BF16-AA12367685BF}"/>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5D5E572-2161-4CF4-9CF1-86A630448799}"/>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10 · PHYSICAL REASONING</a:t>
            </a:r>
          </a:p>
        </p:txBody>
      </p:sp>
      <p:sp>
        <p:nvSpPr>
          <p:cNvPr id="4" name="">
            <a:extLst xmlns:a="http://schemas.openxmlformats.org/drawingml/2006/main">
              <a:ext uri="{FF2B5EF4-FFF2-40B4-BE49-F238E27FC236}">
                <a16:creationId xmlns:a16="http://schemas.microsoft.com/office/drawing/2014/main" id="{4ABC37DD-74DB-4A17-A5A1-59D5C642A21E}"/>
              </a:ext>
            </a:extLst>
          </p:cNvPr>
          <p:cNvSpPr>
            <a:spLocks xmlns:a="http://schemas.openxmlformats.org/drawingml/2006/main" noGrp="1"/>
          </p:cNvSpPr>
          <p:nvPr/>
        </p:nvSpPr>
        <p:spPr>
          <a:xfrm xmlns:a="http://schemas.openxmlformats.org/drawingml/2006/main">
            <a:off x="781050" y="666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i="0">
                <a:solidFill>
                  <a:srgbClr val="21295C"/>
                </a:solidFill>
                <a:latin typeface="Georgia"/>
                <a:ea typeface="Georgia"/>
                <a:cs typeface="Georgia"/>
              </a:defRPr>
            </a:pPr>
            <a:r>
              <a:rPr sz="2925" b="1" i="0">
                <a:solidFill>
                  <a:srgbClr val="21295C"/>
                </a:solidFill>
                <a:latin typeface="Georgia"/>
                <a:ea typeface="Georgia"/>
                <a:cs typeface="Georgia"/>
              </a:rPr>
              <a:t>What will the object do in water?</a:t>
            </a:r>
          </a:p>
        </p:txBody>
      </p:sp>
      <p:sp>
        <p:nvSpPr>
          <p:cNvPr id="5" name="">
            <a:extLst xmlns:a="http://schemas.openxmlformats.org/drawingml/2006/main">
              <a:ext uri="{FF2B5EF4-FFF2-40B4-BE49-F238E27FC236}">
                <a16:creationId xmlns:a16="http://schemas.microsoft.com/office/drawing/2014/main" id="{093047CE-3722-4D25-A8AD-A8160139D9AB}"/>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6E12577-C0BA-48B3-9AE8-E5C52B3FAC8A}"/>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365AF1F4-FECC-4F77-AE73-94167130769D}"/>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E0C37763-6375-4FDF-AB54-5BB86A19428E}"/>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{"object":"a solid block of iron dropped into a bathtub of water"}</a:t>
            </a:r>
          </a:p>
        </p:txBody>
      </p:sp>
      <p:sp>
        <p:nvSpPr>
          <p:cNvPr id="9" name="MODERNBERT NLI-panel">
            <a:extLst xmlns:a="http://schemas.openxmlformats.org/drawingml/2006/main">
              <a:ext uri="{FF2B5EF4-FFF2-40B4-BE49-F238E27FC236}">
                <a16:creationId xmlns:a16="http://schemas.microsoft.com/office/drawing/2014/main" id="{81025420-A28B-46DD-BF3A-84E156CA9E1F}"/>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0782BDAF-74EF-4A57-83D9-675978A72146}"/>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E89F8E3-5BB3-44F3-A7D7-1DE8A7C65051}"/>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190282E1-E860-4B8B-876B-F99405D1859E}"/>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3910F1B4-6E44-4585-B7B8-E58DBA4A11E0}"/>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35796E8-191E-4471-AFDD-D80615FA18B6}"/>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8198383A-DA2D-4204-AD56-E03CF6FC7A3C}"/>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sink</a:t>
            </a:r>
          </a:p>
        </p:txBody>
      </p:sp>
      <p:sp>
        <p:nvSpPr>
          <p:cNvPr id="16" name="">
            <a:extLst xmlns:a="http://schemas.openxmlformats.org/drawingml/2006/main">
              <a:ext uri="{FF2B5EF4-FFF2-40B4-BE49-F238E27FC236}">
                <a16:creationId xmlns:a16="http://schemas.microsoft.com/office/drawing/2014/main" id="{99787BBF-4DA8-45B6-A060-7943044717E0}"/>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0.5293</a:t>
            </a:r>
          </a:p>
        </p:txBody>
      </p:sp>
      <p:sp>
        <p:nvSpPr>
          <p:cNvPr id="17" name="track-sink">
            <a:extLst xmlns:a="http://schemas.openxmlformats.org/drawingml/2006/main">
              <a:ext uri="{FF2B5EF4-FFF2-40B4-BE49-F238E27FC236}">
                <a16:creationId xmlns:a16="http://schemas.microsoft.com/office/drawing/2014/main" id="{BBEE2A12-E9F8-496A-B035-DF7C154D2440}"/>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sink">
            <a:extLst xmlns:a="http://schemas.openxmlformats.org/drawingml/2006/main">
              <a:ext uri="{FF2B5EF4-FFF2-40B4-BE49-F238E27FC236}">
                <a16:creationId xmlns:a16="http://schemas.microsoft.com/office/drawing/2014/main" id="{D79D17A2-FE2E-45FB-956D-F2CDF0AD29B1}"/>
              </a:ext>
            </a:extLst>
          </p:cNvPr>
          <p:cNvSpPr>
            <a:spLocks xmlns:a="http://schemas.openxmlformats.org/drawingml/2006/main" noGrp="1"/>
          </p:cNvSpPr>
          <p:nvPr/>
        </p:nvSpPr>
        <p:spPr>
          <a:xfrm xmlns:a="http://schemas.openxmlformats.org/drawingml/2006/main">
            <a:off x="990600" y="2962275"/>
            <a:ext cx="2450038"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1D216F2-516A-4F54-9477-E5FC951AF72D}"/>
              </a:ext>
            </a:extLst>
          </p:cNvPr>
          <p:cNvSpPr>
            <a:spLocks xmlns:a="http://schemas.openxmlformats.org/drawingml/2006/main" noGrp="1"/>
          </p:cNvSpPr>
          <p:nvPr/>
        </p:nvSpPr>
        <p:spPr>
          <a:xfrm xmlns:a="http://schemas.openxmlformats.org/drawingml/2006/main">
            <a:off x="9906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float</a:t>
            </a:r>
          </a:p>
        </p:txBody>
      </p:sp>
      <p:sp>
        <p:nvSpPr>
          <p:cNvPr id="20" name="">
            <a:extLst xmlns:a="http://schemas.openxmlformats.org/drawingml/2006/main">
              <a:ext uri="{FF2B5EF4-FFF2-40B4-BE49-F238E27FC236}">
                <a16:creationId xmlns:a16="http://schemas.microsoft.com/office/drawing/2014/main" id="{BC9E59F5-96BA-4707-9F97-ADB449650B97}"/>
              </a:ext>
            </a:extLst>
          </p:cNvPr>
          <p:cNvSpPr>
            <a:spLocks xmlns:a="http://schemas.openxmlformats.org/drawingml/2006/main" noGrp="1"/>
          </p:cNvSpPr>
          <p:nvPr/>
        </p:nvSpPr>
        <p:spPr>
          <a:xfrm xmlns:a="http://schemas.openxmlformats.org/drawingml/2006/main">
            <a:off x="40458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0.4707</a:t>
            </a:r>
          </a:p>
        </p:txBody>
      </p:sp>
      <p:sp>
        <p:nvSpPr>
          <p:cNvPr id="21" name="track-float">
            <a:extLst xmlns:a="http://schemas.openxmlformats.org/drawingml/2006/main">
              <a:ext uri="{FF2B5EF4-FFF2-40B4-BE49-F238E27FC236}">
                <a16:creationId xmlns:a16="http://schemas.microsoft.com/office/drawing/2014/main" id="{AE4828FE-E6D5-4CC3-96BC-9384CA13E7CF}"/>
              </a:ext>
            </a:extLst>
          </p:cNvPr>
          <p:cNvSpPr>
            <a:spLocks xmlns:a="http://schemas.openxmlformats.org/drawingml/2006/main" noGrp="1"/>
          </p:cNvSpPr>
          <p:nvPr/>
        </p:nvSpPr>
        <p:spPr>
          <a:xfrm xmlns:a="http://schemas.openxmlformats.org/drawingml/2006/main">
            <a:off x="9906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float">
            <a:extLst xmlns:a="http://schemas.openxmlformats.org/drawingml/2006/main">
              <a:ext uri="{FF2B5EF4-FFF2-40B4-BE49-F238E27FC236}">
                <a16:creationId xmlns:a16="http://schemas.microsoft.com/office/drawing/2014/main" id="{82191F1F-4E2A-4F76-AC45-11119BE31620}"/>
              </a:ext>
            </a:extLst>
          </p:cNvPr>
          <p:cNvSpPr>
            <a:spLocks xmlns:a="http://schemas.openxmlformats.org/drawingml/2006/main" noGrp="1"/>
          </p:cNvSpPr>
          <p:nvPr/>
        </p:nvSpPr>
        <p:spPr>
          <a:xfrm xmlns:a="http://schemas.openxmlformats.org/drawingml/2006/main">
            <a:off x="990600" y="3743325"/>
            <a:ext cx="2179112"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B58F355-4FF5-4FB0-9E38-DC1E8BFD998D}"/>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sink</a:t>
            </a:r>
          </a:p>
        </p:txBody>
      </p:sp>
      <p:sp>
        <p:nvSpPr>
          <p:cNvPr id="24" name="">
            <a:extLst xmlns:a="http://schemas.openxmlformats.org/drawingml/2006/main">
              <a:ext uri="{FF2B5EF4-FFF2-40B4-BE49-F238E27FC236}">
                <a16:creationId xmlns:a16="http://schemas.microsoft.com/office/drawing/2014/main" id="{7DF7EC27-DC48-4ED6-8B82-54A41A767A9E}"/>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5" name="track-sink">
            <a:extLst xmlns:a="http://schemas.openxmlformats.org/drawingml/2006/main">
              <a:ext uri="{FF2B5EF4-FFF2-40B4-BE49-F238E27FC236}">
                <a16:creationId xmlns:a16="http://schemas.microsoft.com/office/drawing/2014/main" id="{88DDBBAC-017D-4DBB-B622-1333F30EF832}"/>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sink">
            <a:extLst xmlns:a="http://schemas.openxmlformats.org/drawingml/2006/main">
              <a:ext uri="{FF2B5EF4-FFF2-40B4-BE49-F238E27FC236}">
                <a16:creationId xmlns:a16="http://schemas.microsoft.com/office/drawing/2014/main" id="{F6E768C3-56E5-403D-9A81-360037BE5DCD}"/>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ABED81D-94F3-4F8E-AF0A-CBD51EBB2400}"/>
              </a:ext>
            </a:extLst>
          </p:cNvPr>
          <p:cNvSpPr>
            <a:spLocks xmlns:a="http://schemas.openxmlformats.org/drawingml/2006/main" noGrp="1"/>
          </p:cNvSpPr>
          <p:nvPr/>
        </p:nvSpPr>
        <p:spPr>
          <a:xfrm xmlns:a="http://schemas.openxmlformats.org/drawingml/2006/main">
            <a:off x="64008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float</a:t>
            </a:r>
          </a:p>
        </p:txBody>
      </p:sp>
      <p:sp>
        <p:nvSpPr>
          <p:cNvPr id="28" name="">
            <a:extLst xmlns:a="http://schemas.openxmlformats.org/drawingml/2006/main">
              <a:ext uri="{FF2B5EF4-FFF2-40B4-BE49-F238E27FC236}">
                <a16:creationId xmlns:a16="http://schemas.microsoft.com/office/drawing/2014/main" id="{AFC91271-C284-4B88-B573-B3E8B2C6441B}"/>
              </a:ext>
            </a:extLst>
          </p:cNvPr>
          <p:cNvSpPr>
            <a:spLocks xmlns:a="http://schemas.openxmlformats.org/drawingml/2006/main" noGrp="1"/>
          </p:cNvSpPr>
          <p:nvPr/>
        </p:nvSpPr>
        <p:spPr>
          <a:xfrm xmlns:a="http://schemas.openxmlformats.org/drawingml/2006/main">
            <a:off x="94560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29" name="track-float">
            <a:extLst xmlns:a="http://schemas.openxmlformats.org/drawingml/2006/main">
              <a:ext uri="{FF2B5EF4-FFF2-40B4-BE49-F238E27FC236}">
                <a16:creationId xmlns:a16="http://schemas.microsoft.com/office/drawing/2014/main" id="{BE4F4DF2-D739-484A-96A1-E0B30F44C61A}"/>
              </a:ext>
            </a:extLst>
          </p:cNvPr>
          <p:cNvSpPr>
            <a:spLocks xmlns:a="http://schemas.openxmlformats.org/drawingml/2006/main" noGrp="1"/>
          </p:cNvSpPr>
          <p:nvPr/>
        </p:nvSpPr>
        <p:spPr>
          <a:xfrm xmlns:a="http://schemas.openxmlformats.org/drawingml/2006/main">
            <a:off x="64008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float">
            <a:extLst xmlns:a="http://schemas.openxmlformats.org/drawingml/2006/main">
              <a:ext uri="{FF2B5EF4-FFF2-40B4-BE49-F238E27FC236}">
                <a16:creationId xmlns:a16="http://schemas.microsoft.com/office/drawing/2014/main" id="{E2920042-D39A-42A8-9121-311992E929EA}"/>
              </a:ext>
            </a:extLst>
          </p:cNvPr>
          <p:cNvSpPr>
            <a:spLocks xmlns:a="http://schemas.openxmlformats.org/drawingml/2006/main" noGrp="1"/>
          </p:cNvSpPr>
          <p:nvPr/>
        </p:nvSpPr>
        <p:spPr>
          <a:xfrm xmlns:a="http://schemas.openxmlformats.org/drawingml/2006/main">
            <a:off x="6400800" y="37433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6A7BC95-5719-400A-A935-9365C382D00A}"/>
              </a:ext>
            </a:extLst>
          </p:cNvPr>
          <p:cNvSpPr>
            <a:spLocks xmlns:a="http://schemas.openxmlformats.org/drawingml/2006/main" noGrp="1"/>
          </p:cNvSpPr>
          <p:nvPr/>
        </p:nvSpPr>
        <p:spPr>
          <a:xfrm xmlns:a="http://schemas.openxmlformats.org/drawingml/2006/main">
            <a:off x="9906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C5EE0F3-CDD7-49E7-BBC9-53A6DACC56B9}"/>
              </a:ext>
            </a:extLst>
          </p:cNvPr>
          <p:cNvSpPr>
            <a:spLocks xmlns:a="http://schemas.openxmlformats.org/drawingml/2006/main" noGrp="1"/>
          </p:cNvSpPr>
          <p:nvPr/>
        </p:nvSpPr>
        <p:spPr>
          <a:xfrm xmlns:a="http://schemas.openxmlformats.org/drawingml/2006/main">
            <a:off x="64008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9DE5EA2-F117-4257-B2A4-DF49103A8558}"/>
              </a:ext>
            </a:extLst>
          </p:cNvPr>
          <p:cNvSpPr>
            <a:spLocks xmlns:a="http://schemas.openxmlformats.org/drawingml/2006/main" noGrp="1"/>
          </p:cNvSpPr>
          <p:nvPr/>
        </p:nvSpPr>
        <p:spPr>
          <a:xfrm xmlns:a="http://schemas.openxmlformats.org/drawingml/2006/main">
            <a:off x="9906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34" name="">
            <a:extLst xmlns:a="http://schemas.openxmlformats.org/drawingml/2006/main">
              <a:ext uri="{FF2B5EF4-FFF2-40B4-BE49-F238E27FC236}">
                <a16:creationId xmlns:a16="http://schemas.microsoft.com/office/drawing/2014/main" id="{A8E124CB-9983-48B9-A672-D9D4040B122B}"/>
              </a:ext>
            </a:extLst>
          </p:cNvPr>
          <p:cNvSpPr>
            <a:spLocks xmlns:a="http://schemas.openxmlformats.org/drawingml/2006/main" noGrp="1"/>
          </p:cNvSpPr>
          <p:nvPr/>
        </p:nvSpPr>
        <p:spPr>
          <a:xfrm xmlns:a="http://schemas.openxmlformats.org/drawingml/2006/main">
            <a:off x="9906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sink</a:t>
            </a:r>
          </a:p>
        </p:txBody>
      </p:sp>
      <p:sp>
        <p:nvSpPr>
          <p:cNvPr id="35" name="">
            <a:extLst xmlns:a="http://schemas.openxmlformats.org/drawingml/2006/main">
              <a:ext uri="{FF2B5EF4-FFF2-40B4-BE49-F238E27FC236}">
                <a16:creationId xmlns:a16="http://schemas.microsoft.com/office/drawing/2014/main" id="{90E6DA25-82AF-4185-B8EA-ED226F5A0DA5}"/>
              </a:ext>
            </a:extLst>
          </p:cNvPr>
          <p:cNvSpPr>
            <a:spLocks xmlns:a="http://schemas.openxmlformats.org/drawingml/2006/main" noGrp="1"/>
          </p:cNvSpPr>
          <p:nvPr/>
        </p:nvSpPr>
        <p:spPr>
          <a:xfrm xmlns:a="http://schemas.openxmlformats.org/drawingml/2006/main">
            <a:off x="25431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36" name="">
            <a:extLst xmlns:a="http://schemas.openxmlformats.org/drawingml/2006/main">
              <a:ext uri="{FF2B5EF4-FFF2-40B4-BE49-F238E27FC236}">
                <a16:creationId xmlns:a16="http://schemas.microsoft.com/office/drawing/2014/main" id="{E4153226-C7E1-407D-A199-1E5719E0C2A4}"/>
              </a:ext>
            </a:extLst>
          </p:cNvPr>
          <p:cNvSpPr>
            <a:spLocks xmlns:a="http://schemas.openxmlformats.org/drawingml/2006/main" noGrp="1"/>
          </p:cNvSpPr>
          <p:nvPr/>
        </p:nvSpPr>
        <p:spPr>
          <a:xfrm xmlns:a="http://schemas.openxmlformats.org/drawingml/2006/main">
            <a:off x="25431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0.5293</a:t>
            </a:r>
          </a:p>
        </p:txBody>
      </p:sp>
      <p:sp>
        <p:nvSpPr>
          <p:cNvPr id="37" name="">
            <a:extLst xmlns:a="http://schemas.openxmlformats.org/drawingml/2006/main">
              <a:ext uri="{FF2B5EF4-FFF2-40B4-BE49-F238E27FC236}">
                <a16:creationId xmlns:a16="http://schemas.microsoft.com/office/drawing/2014/main" id="{A0AC4254-F10C-4AFB-9818-FF8F99AF0BFA}"/>
              </a:ext>
            </a:extLst>
          </p:cNvPr>
          <p:cNvSpPr>
            <a:spLocks xmlns:a="http://schemas.openxmlformats.org/drawingml/2006/main" noGrp="1"/>
          </p:cNvSpPr>
          <p:nvPr/>
        </p:nvSpPr>
        <p:spPr>
          <a:xfrm xmlns:a="http://schemas.openxmlformats.org/drawingml/2006/main">
            <a:off x="39052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38" name="">
            <a:extLst xmlns:a="http://schemas.openxmlformats.org/drawingml/2006/main">
              <a:ext uri="{FF2B5EF4-FFF2-40B4-BE49-F238E27FC236}">
                <a16:creationId xmlns:a16="http://schemas.microsoft.com/office/drawing/2014/main" id="{E44AEA29-A0F8-4219-B0AF-5BCD965A582A}"/>
              </a:ext>
            </a:extLst>
          </p:cNvPr>
          <p:cNvSpPr>
            <a:spLocks xmlns:a="http://schemas.openxmlformats.org/drawingml/2006/main" noGrp="1"/>
          </p:cNvSpPr>
          <p:nvPr/>
        </p:nvSpPr>
        <p:spPr>
          <a:xfrm xmlns:a="http://schemas.openxmlformats.org/drawingml/2006/main">
            <a:off x="39052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0.0585</a:t>
            </a:r>
          </a:p>
        </p:txBody>
      </p:sp>
      <p:sp>
        <p:nvSpPr>
          <p:cNvPr id="39" name="">
            <a:extLst xmlns:a="http://schemas.openxmlformats.org/drawingml/2006/main">
              <a:ext uri="{FF2B5EF4-FFF2-40B4-BE49-F238E27FC236}">
                <a16:creationId xmlns:a16="http://schemas.microsoft.com/office/drawing/2014/main" id="{12E182BC-D2EE-457D-ABF5-172450B48295}"/>
              </a:ext>
            </a:extLst>
          </p:cNvPr>
          <p:cNvSpPr>
            <a:spLocks xmlns:a="http://schemas.openxmlformats.org/drawingml/2006/main" noGrp="1"/>
          </p:cNvSpPr>
          <p:nvPr/>
        </p:nvSpPr>
        <p:spPr>
          <a:xfrm xmlns:a="http://schemas.openxmlformats.org/drawingml/2006/main">
            <a:off x="49530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0" name="">
            <a:extLst xmlns:a="http://schemas.openxmlformats.org/drawingml/2006/main">
              <a:ext uri="{FF2B5EF4-FFF2-40B4-BE49-F238E27FC236}">
                <a16:creationId xmlns:a16="http://schemas.microsoft.com/office/drawing/2014/main" id="{1AFC05A5-3263-4154-BA05-234BBA1F538B}"/>
              </a:ext>
            </a:extLst>
          </p:cNvPr>
          <p:cNvSpPr>
            <a:spLocks xmlns:a="http://schemas.openxmlformats.org/drawingml/2006/main" noGrp="1"/>
          </p:cNvSpPr>
          <p:nvPr/>
        </p:nvSpPr>
        <p:spPr>
          <a:xfrm xmlns:a="http://schemas.openxmlformats.org/drawingml/2006/main">
            <a:off x="49530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B86E00"/>
                </a:solidFill>
                <a:latin typeface="Calibri"/>
                <a:ea typeface="Calibri"/>
                <a:cs typeface="Calibri"/>
              </a:defRPr>
            </a:pPr>
            <a:r>
              <a:rPr sz="1425" b="1" i="0">
                <a:solidFill>
                  <a:srgbClr val="1E7A4B"/>
                </a:solidFill>
                <a:latin typeface="Calibri"/>
                <a:ea typeface="Calibri"/>
                <a:cs typeface="Calibri"/>
              </a:rPr>
              <a:t>0.0000</a:t>
            </a:r>
          </a:p>
        </p:txBody>
      </p:sp>
      <p:sp>
        <p:nvSpPr>
          <p:cNvPr id="41" name="">
            <a:extLst xmlns:a="http://schemas.openxmlformats.org/drawingml/2006/main">
              <a:ext uri="{FF2B5EF4-FFF2-40B4-BE49-F238E27FC236}">
                <a16:creationId xmlns:a16="http://schemas.microsoft.com/office/drawing/2014/main" id="{A06B7815-859A-4822-B94D-77AEE7F0EF52}"/>
              </a:ext>
            </a:extLst>
          </p:cNvPr>
          <p:cNvSpPr>
            <a:spLocks xmlns:a="http://schemas.openxmlformats.org/drawingml/2006/main" noGrp="1"/>
          </p:cNvSpPr>
          <p:nvPr/>
        </p:nvSpPr>
        <p:spPr>
          <a:xfrm xmlns:a="http://schemas.openxmlformats.org/drawingml/2006/main">
            <a:off x="64008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40BA66FA-66C9-40A1-946E-7D4E9EA144D7}"/>
              </a:ext>
            </a:extLst>
          </p:cNvPr>
          <p:cNvSpPr>
            <a:spLocks xmlns:a="http://schemas.openxmlformats.org/drawingml/2006/main" noGrp="1"/>
          </p:cNvSpPr>
          <p:nvPr/>
        </p:nvSpPr>
        <p:spPr>
          <a:xfrm xmlns:a="http://schemas.openxmlformats.org/drawingml/2006/main">
            <a:off x="64008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sink</a:t>
            </a:r>
          </a:p>
        </p:txBody>
      </p:sp>
      <p:sp>
        <p:nvSpPr>
          <p:cNvPr id="43" name="">
            <a:extLst xmlns:a="http://schemas.openxmlformats.org/drawingml/2006/main">
              <a:ext uri="{FF2B5EF4-FFF2-40B4-BE49-F238E27FC236}">
                <a16:creationId xmlns:a16="http://schemas.microsoft.com/office/drawing/2014/main" id="{6A658C32-56A3-4F12-86BE-B20A0040D788}"/>
              </a:ext>
            </a:extLst>
          </p:cNvPr>
          <p:cNvSpPr>
            <a:spLocks xmlns:a="http://schemas.openxmlformats.org/drawingml/2006/main" noGrp="1"/>
          </p:cNvSpPr>
          <p:nvPr/>
        </p:nvSpPr>
        <p:spPr>
          <a:xfrm xmlns:a="http://schemas.openxmlformats.org/drawingml/2006/main">
            <a:off x="79533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9B9A294B-38A7-41A5-A072-B8DF051F39A3}"/>
              </a:ext>
            </a:extLst>
          </p:cNvPr>
          <p:cNvSpPr>
            <a:spLocks xmlns:a="http://schemas.openxmlformats.org/drawingml/2006/main" noGrp="1"/>
          </p:cNvSpPr>
          <p:nvPr/>
        </p:nvSpPr>
        <p:spPr>
          <a:xfrm xmlns:a="http://schemas.openxmlformats.org/drawingml/2006/main">
            <a:off x="79533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5" name="">
            <a:extLst xmlns:a="http://schemas.openxmlformats.org/drawingml/2006/main">
              <a:ext uri="{FF2B5EF4-FFF2-40B4-BE49-F238E27FC236}">
                <a16:creationId xmlns:a16="http://schemas.microsoft.com/office/drawing/2014/main" id="{7F661A40-BA53-4A3D-BC6A-33E4DBAF1F13}"/>
              </a:ext>
            </a:extLst>
          </p:cNvPr>
          <p:cNvSpPr>
            <a:spLocks xmlns:a="http://schemas.openxmlformats.org/drawingml/2006/main" noGrp="1"/>
          </p:cNvSpPr>
          <p:nvPr/>
        </p:nvSpPr>
        <p:spPr>
          <a:xfrm xmlns:a="http://schemas.openxmlformats.org/drawingml/2006/main">
            <a:off x="93154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7DEA5C14-0FBD-4C89-9A92-23D86D542E79}"/>
              </a:ext>
            </a:extLst>
          </p:cNvPr>
          <p:cNvSpPr>
            <a:spLocks xmlns:a="http://schemas.openxmlformats.org/drawingml/2006/main" noGrp="1"/>
          </p:cNvSpPr>
          <p:nvPr/>
        </p:nvSpPr>
        <p:spPr>
          <a:xfrm xmlns:a="http://schemas.openxmlformats.org/drawingml/2006/main">
            <a:off x="93154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7" name="">
            <a:extLst xmlns:a="http://schemas.openxmlformats.org/drawingml/2006/main">
              <a:ext uri="{FF2B5EF4-FFF2-40B4-BE49-F238E27FC236}">
                <a16:creationId xmlns:a16="http://schemas.microsoft.com/office/drawing/2014/main" id="{7CD7FAB8-BC2D-4AB9-96EE-3DF7367A919D}"/>
              </a:ext>
            </a:extLst>
          </p:cNvPr>
          <p:cNvSpPr>
            <a:spLocks xmlns:a="http://schemas.openxmlformats.org/drawingml/2006/main" noGrp="1"/>
          </p:cNvSpPr>
          <p:nvPr/>
        </p:nvSpPr>
        <p:spPr>
          <a:xfrm xmlns:a="http://schemas.openxmlformats.org/drawingml/2006/main">
            <a:off x="103632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78878669-B08A-4F99-82BD-C2E272D8BDBE}"/>
              </a:ext>
            </a:extLst>
          </p:cNvPr>
          <p:cNvSpPr>
            <a:spLocks xmlns:a="http://schemas.openxmlformats.org/drawingml/2006/main" noGrp="1"/>
          </p:cNvSpPr>
          <p:nvPr/>
        </p:nvSpPr>
        <p:spPr>
          <a:xfrm xmlns:a="http://schemas.openxmlformats.org/drawingml/2006/main">
            <a:off x="103632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CD90A081-A673-4C11-93DA-AA9AA5569240}"/>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sink</a:t>
            </a:r>
          </a:p>
        </p:txBody>
      </p:sp>
      <p:sp>
        <p:nvSpPr>
          <p:cNvPr id="50" name="">
            <a:extLst xmlns:a="http://schemas.openxmlformats.org/drawingml/2006/main">
              <a:ext uri="{FF2B5EF4-FFF2-40B4-BE49-F238E27FC236}">
                <a16:creationId xmlns:a16="http://schemas.microsoft.com/office/drawing/2014/main" id="{2FBC8973-1A52-4FC7-8D31-60D432286836}"/>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1" name="">
            <a:extLst xmlns:a="http://schemas.openxmlformats.org/drawingml/2006/main">
              <a:ext uri="{FF2B5EF4-FFF2-40B4-BE49-F238E27FC236}">
                <a16:creationId xmlns:a16="http://schemas.microsoft.com/office/drawing/2014/main" id="{3A47674E-E35E-43DA-90B2-C1C10251AD5F}"/>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10 of 12  ·  id: physical_property</a:t>
            </a:r>
          </a:p>
        </p:txBody>
      </p:sp>
    </p:spTree>
    <p:extLst>
      <p:ext uri="{BB962C8B-B14F-4D97-AF65-F5344CB8AC3E}">
        <p14:creationId xmlns:p14="http://schemas.microsoft.com/office/powerpoint/2010/main" val="60147564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0" name="background">
            <a:extLst xmlns:a="http://schemas.openxmlformats.org/drawingml/2006/main">
              <a:ext uri="{FF2B5EF4-FFF2-40B4-BE49-F238E27FC236}">
                <a16:creationId xmlns:a16="http://schemas.microsoft.com/office/drawing/2014/main" id="{F9F5C687-BCF2-49AD-B9D9-0F09941A73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2FE7D33D-6550-4F7E-998F-A905A0F34052}"/>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F99B18-0CD2-4F10-BEBA-3259B2ADEA64}"/>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11 · CODE RECOGNITION</a:t>
            </a:r>
          </a:p>
        </p:txBody>
      </p:sp>
      <p:sp>
        <p:nvSpPr>
          <p:cNvPr id="4" name="">
            <a:extLst xmlns:a="http://schemas.openxmlformats.org/drawingml/2006/main">
              <a:ext uri="{FF2B5EF4-FFF2-40B4-BE49-F238E27FC236}">
                <a16:creationId xmlns:a16="http://schemas.microsoft.com/office/drawing/2014/main" id="{5FC767EB-948F-4209-B4DE-26BF72FBB41E}"/>
              </a:ext>
            </a:extLst>
          </p:cNvPr>
          <p:cNvSpPr>
            <a:spLocks xmlns:a="http://schemas.openxmlformats.org/drawingml/2006/main" noGrp="1"/>
          </p:cNvSpPr>
          <p:nvPr/>
        </p:nvSpPr>
        <p:spPr>
          <a:xfrm xmlns:a="http://schemas.openxmlformats.org/drawingml/2006/main">
            <a:off x="781050" y="666750"/>
            <a:ext cx="8334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i="0">
                <a:solidFill>
                  <a:srgbClr val="21295C"/>
                </a:solidFill>
                <a:latin typeface="Georgia"/>
                <a:ea typeface="Georgia"/>
                <a:cs typeface="Georgia"/>
              </a:defRPr>
            </a:pPr>
            <a:r>
              <a:rPr sz="2550" b="1" i="0">
                <a:solidFill>
                  <a:srgbClr val="21295C"/>
                </a:solidFill>
                <a:latin typeface="Georgia"/>
                <a:ea typeface="Georgia"/>
                <a:cs typeface="Georgia"/>
              </a:rPr>
              <a:t>Which programming language is this snippet written in?</a:t>
            </a:r>
          </a:p>
        </p:txBody>
      </p:sp>
      <p:sp>
        <p:nvSpPr>
          <p:cNvPr id="5" name="">
            <a:extLst xmlns:a="http://schemas.openxmlformats.org/drawingml/2006/main">
              <a:ext uri="{FF2B5EF4-FFF2-40B4-BE49-F238E27FC236}">
                <a16:creationId xmlns:a16="http://schemas.microsoft.com/office/drawing/2014/main" id="{619E2C44-6FB2-47FA-9D6B-211E389289B7}"/>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1998246-0C4E-4A94-B641-0D5930E4C9BD}"/>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67A8AEB5-5368-4DA5-B348-9EAA6A5596BD}"/>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031DBB79-9B7A-4B05-B753-C6B0D250E6FC}"/>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{"snippet":"def greet(name):     print(f'Hello, {name}')"}</a:t>
            </a:r>
          </a:p>
        </p:txBody>
      </p:sp>
      <p:sp>
        <p:nvSpPr>
          <p:cNvPr id="9" name="MODERNBERT NLI-panel">
            <a:extLst xmlns:a="http://schemas.openxmlformats.org/drawingml/2006/main">
              <a:ext uri="{FF2B5EF4-FFF2-40B4-BE49-F238E27FC236}">
                <a16:creationId xmlns:a16="http://schemas.microsoft.com/office/drawing/2014/main" id="{114D6BA4-1632-4C38-AF2E-0A3C85B61044}"/>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C5D9B427-2976-48A8-8249-4567172DE510}"/>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6CE081C-54F4-4CFE-8E08-014DC12B76D9}"/>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14E80CD4-4326-4510-A79C-4408B3BABDB0}"/>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1DE7ECF7-E4C7-4655-BB27-0D4076092615}"/>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465C06C-4C56-4AEC-9233-518E60FCEC90}"/>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8FD98E6D-C0D1-433C-A92D-B3A9CEE3180A}"/>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python</a:t>
            </a:r>
          </a:p>
        </p:txBody>
      </p:sp>
      <p:sp>
        <p:nvSpPr>
          <p:cNvPr id="16" name="">
            <a:extLst xmlns:a="http://schemas.openxmlformats.org/drawingml/2006/main">
              <a:ext uri="{FF2B5EF4-FFF2-40B4-BE49-F238E27FC236}">
                <a16:creationId xmlns:a16="http://schemas.microsoft.com/office/drawing/2014/main" id="{EEC846E3-B4D3-4E66-8114-1E3E97DE1730}"/>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0.5412</a:t>
            </a:r>
          </a:p>
        </p:txBody>
      </p:sp>
      <p:sp>
        <p:nvSpPr>
          <p:cNvPr id="17" name="track-python">
            <a:extLst xmlns:a="http://schemas.openxmlformats.org/drawingml/2006/main">
              <a:ext uri="{FF2B5EF4-FFF2-40B4-BE49-F238E27FC236}">
                <a16:creationId xmlns:a16="http://schemas.microsoft.com/office/drawing/2014/main" id="{074B46DB-F6F4-4E0F-BFB8-2E20B6399E11}"/>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python">
            <a:extLst xmlns:a="http://schemas.openxmlformats.org/drawingml/2006/main">
              <a:ext uri="{FF2B5EF4-FFF2-40B4-BE49-F238E27FC236}">
                <a16:creationId xmlns:a16="http://schemas.microsoft.com/office/drawing/2014/main" id="{1E81C3EB-52A8-42E8-81F9-15515841A3E8}"/>
              </a:ext>
            </a:extLst>
          </p:cNvPr>
          <p:cNvSpPr>
            <a:spLocks xmlns:a="http://schemas.openxmlformats.org/drawingml/2006/main" noGrp="1"/>
          </p:cNvSpPr>
          <p:nvPr/>
        </p:nvSpPr>
        <p:spPr>
          <a:xfrm xmlns:a="http://schemas.openxmlformats.org/drawingml/2006/main">
            <a:off x="990600" y="2962275"/>
            <a:ext cx="2505176"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34F636F-28E8-46FA-8178-960EE1E6BFA9}"/>
              </a:ext>
            </a:extLst>
          </p:cNvPr>
          <p:cNvSpPr>
            <a:spLocks xmlns:a="http://schemas.openxmlformats.org/drawingml/2006/main" noGrp="1"/>
          </p:cNvSpPr>
          <p:nvPr/>
        </p:nvSpPr>
        <p:spPr>
          <a:xfrm xmlns:a="http://schemas.openxmlformats.org/drawingml/2006/main">
            <a:off x="990600" y="33623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java</a:t>
            </a:r>
          </a:p>
        </p:txBody>
      </p:sp>
      <p:sp>
        <p:nvSpPr>
          <p:cNvPr id="20" name="">
            <a:extLst xmlns:a="http://schemas.openxmlformats.org/drawingml/2006/main">
              <a:ext uri="{FF2B5EF4-FFF2-40B4-BE49-F238E27FC236}">
                <a16:creationId xmlns:a16="http://schemas.microsoft.com/office/drawing/2014/main" id="{D7E478BA-BA43-45FA-9B67-2A4447BF57BE}"/>
              </a:ext>
            </a:extLst>
          </p:cNvPr>
          <p:cNvSpPr>
            <a:spLocks xmlns:a="http://schemas.openxmlformats.org/drawingml/2006/main" noGrp="1"/>
          </p:cNvSpPr>
          <p:nvPr/>
        </p:nvSpPr>
        <p:spPr>
          <a:xfrm xmlns:a="http://schemas.openxmlformats.org/drawingml/2006/main">
            <a:off x="4045839" y="33623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0.2852</a:t>
            </a:r>
          </a:p>
        </p:txBody>
      </p:sp>
      <p:sp>
        <p:nvSpPr>
          <p:cNvPr id="21" name="track-java">
            <a:extLst xmlns:a="http://schemas.openxmlformats.org/drawingml/2006/main">
              <a:ext uri="{FF2B5EF4-FFF2-40B4-BE49-F238E27FC236}">
                <a16:creationId xmlns:a16="http://schemas.microsoft.com/office/drawing/2014/main" id="{BDDA7E2D-1BF7-45C4-A533-8C855A785176}"/>
              </a:ext>
            </a:extLst>
          </p:cNvPr>
          <p:cNvSpPr>
            <a:spLocks xmlns:a="http://schemas.openxmlformats.org/drawingml/2006/main" noGrp="1"/>
          </p:cNvSpPr>
          <p:nvPr/>
        </p:nvSpPr>
        <p:spPr>
          <a:xfrm xmlns:a="http://schemas.openxmlformats.org/drawingml/2006/main">
            <a:off x="990600" y="36290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java">
            <a:extLst xmlns:a="http://schemas.openxmlformats.org/drawingml/2006/main">
              <a:ext uri="{FF2B5EF4-FFF2-40B4-BE49-F238E27FC236}">
                <a16:creationId xmlns:a16="http://schemas.microsoft.com/office/drawing/2014/main" id="{0752FD36-8587-4B49-8B09-1CCE22564DCA}"/>
              </a:ext>
            </a:extLst>
          </p:cNvPr>
          <p:cNvSpPr>
            <a:spLocks xmlns:a="http://schemas.openxmlformats.org/drawingml/2006/main" noGrp="1"/>
          </p:cNvSpPr>
          <p:nvPr/>
        </p:nvSpPr>
        <p:spPr>
          <a:xfrm xmlns:a="http://schemas.openxmlformats.org/drawingml/2006/main">
            <a:off x="990600" y="3629025"/>
            <a:ext cx="1320136"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966416E-8A3B-442F-A872-05EEF5CEEF97}"/>
              </a:ext>
            </a:extLst>
          </p:cNvPr>
          <p:cNvSpPr>
            <a:spLocks xmlns:a="http://schemas.openxmlformats.org/drawingml/2006/main" noGrp="1"/>
          </p:cNvSpPr>
          <p:nvPr/>
        </p:nvSpPr>
        <p:spPr>
          <a:xfrm xmlns:a="http://schemas.openxmlformats.org/drawingml/2006/main">
            <a:off x="990600" y="40290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sql</a:t>
            </a:r>
          </a:p>
        </p:txBody>
      </p:sp>
      <p:sp>
        <p:nvSpPr>
          <p:cNvPr id="24" name="">
            <a:extLst xmlns:a="http://schemas.openxmlformats.org/drawingml/2006/main">
              <a:ext uri="{FF2B5EF4-FFF2-40B4-BE49-F238E27FC236}">
                <a16:creationId xmlns:a16="http://schemas.microsoft.com/office/drawing/2014/main" id="{F31C20C6-2804-4F7F-AB6A-CB0ADCD04A6B}"/>
              </a:ext>
            </a:extLst>
          </p:cNvPr>
          <p:cNvSpPr>
            <a:spLocks xmlns:a="http://schemas.openxmlformats.org/drawingml/2006/main" noGrp="1"/>
          </p:cNvSpPr>
          <p:nvPr/>
        </p:nvSpPr>
        <p:spPr>
          <a:xfrm xmlns:a="http://schemas.openxmlformats.org/drawingml/2006/main">
            <a:off x="4045839" y="40290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0.1736</a:t>
            </a:r>
          </a:p>
        </p:txBody>
      </p:sp>
      <p:sp>
        <p:nvSpPr>
          <p:cNvPr id="25" name="track-sql">
            <a:extLst xmlns:a="http://schemas.openxmlformats.org/drawingml/2006/main">
              <a:ext uri="{FF2B5EF4-FFF2-40B4-BE49-F238E27FC236}">
                <a16:creationId xmlns:a16="http://schemas.microsoft.com/office/drawing/2014/main" id="{43F5B80D-DCD2-42E9-AD81-2480076E32B4}"/>
              </a:ext>
            </a:extLst>
          </p:cNvPr>
          <p:cNvSpPr>
            <a:spLocks xmlns:a="http://schemas.openxmlformats.org/drawingml/2006/main" noGrp="1"/>
          </p:cNvSpPr>
          <p:nvPr/>
        </p:nvSpPr>
        <p:spPr>
          <a:xfrm xmlns:a="http://schemas.openxmlformats.org/drawingml/2006/main">
            <a:off x="990600" y="42957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sql">
            <a:extLst xmlns:a="http://schemas.openxmlformats.org/drawingml/2006/main">
              <a:ext uri="{FF2B5EF4-FFF2-40B4-BE49-F238E27FC236}">
                <a16:creationId xmlns:a16="http://schemas.microsoft.com/office/drawing/2014/main" id="{A0BF2AE3-55A7-4E3B-848B-647828CC2BA9}"/>
              </a:ext>
            </a:extLst>
          </p:cNvPr>
          <p:cNvSpPr>
            <a:spLocks xmlns:a="http://schemas.openxmlformats.org/drawingml/2006/main" noGrp="1"/>
          </p:cNvSpPr>
          <p:nvPr/>
        </p:nvSpPr>
        <p:spPr>
          <a:xfrm xmlns:a="http://schemas.openxmlformats.org/drawingml/2006/main">
            <a:off x="990600" y="4295775"/>
            <a:ext cx="803838"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B2952E5-B34E-4666-8A3C-652404CF3902}"/>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python</a:t>
            </a:r>
          </a:p>
        </p:txBody>
      </p:sp>
      <p:sp>
        <p:nvSpPr>
          <p:cNvPr id="28" name="">
            <a:extLst xmlns:a="http://schemas.openxmlformats.org/drawingml/2006/main">
              <a:ext uri="{FF2B5EF4-FFF2-40B4-BE49-F238E27FC236}">
                <a16:creationId xmlns:a16="http://schemas.microsoft.com/office/drawing/2014/main" id="{2D51BE59-446F-4782-8C8A-E040B6E42739}"/>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9" name="track-python">
            <a:extLst xmlns:a="http://schemas.openxmlformats.org/drawingml/2006/main">
              <a:ext uri="{FF2B5EF4-FFF2-40B4-BE49-F238E27FC236}">
                <a16:creationId xmlns:a16="http://schemas.microsoft.com/office/drawing/2014/main" id="{778CA736-91DD-4A31-AE23-3B26A50A2D75}"/>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python">
            <a:extLst xmlns:a="http://schemas.openxmlformats.org/drawingml/2006/main">
              <a:ext uri="{FF2B5EF4-FFF2-40B4-BE49-F238E27FC236}">
                <a16:creationId xmlns:a16="http://schemas.microsoft.com/office/drawing/2014/main" id="{DCB5D08B-6D1F-41EF-9287-10F4751F40BF}"/>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9627B01-DF8F-401B-9BCC-1D5056D9AEC5}"/>
              </a:ext>
            </a:extLst>
          </p:cNvPr>
          <p:cNvSpPr>
            <a:spLocks xmlns:a="http://schemas.openxmlformats.org/drawingml/2006/main" noGrp="1"/>
          </p:cNvSpPr>
          <p:nvPr/>
        </p:nvSpPr>
        <p:spPr>
          <a:xfrm xmlns:a="http://schemas.openxmlformats.org/drawingml/2006/main">
            <a:off x="6400800" y="33623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java</a:t>
            </a:r>
          </a:p>
        </p:txBody>
      </p:sp>
      <p:sp>
        <p:nvSpPr>
          <p:cNvPr id="32" name="">
            <a:extLst xmlns:a="http://schemas.openxmlformats.org/drawingml/2006/main">
              <a:ext uri="{FF2B5EF4-FFF2-40B4-BE49-F238E27FC236}">
                <a16:creationId xmlns:a16="http://schemas.microsoft.com/office/drawing/2014/main" id="{45B24A6A-5EC0-4677-A2D6-2EBB96515E14}"/>
              </a:ext>
            </a:extLst>
          </p:cNvPr>
          <p:cNvSpPr>
            <a:spLocks xmlns:a="http://schemas.openxmlformats.org/drawingml/2006/main" noGrp="1"/>
          </p:cNvSpPr>
          <p:nvPr/>
        </p:nvSpPr>
        <p:spPr>
          <a:xfrm xmlns:a="http://schemas.openxmlformats.org/drawingml/2006/main">
            <a:off x="9456039" y="33623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33" name="track-java">
            <a:extLst xmlns:a="http://schemas.openxmlformats.org/drawingml/2006/main">
              <a:ext uri="{FF2B5EF4-FFF2-40B4-BE49-F238E27FC236}">
                <a16:creationId xmlns:a16="http://schemas.microsoft.com/office/drawing/2014/main" id="{C02A18DA-97D6-4416-A334-0413C94449C0}"/>
              </a:ext>
            </a:extLst>
          </p:cNvPr>
          <p:cNvSpPr>
            <a:spLocks xmlns:a="http://schemas.openxmlformats.org/drawingml/2006/main" noGrp="1"/>
          </p:cNvSpPr>
          <p:nvPr/>
        </p:nvSpPr>
        <p:spPr>
          <a:xfrm xmlns:a="http://schemas.openxmlformats.org/drawingml/2006/main">
            <a:off x="6400800" y="36290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4" name="bar-java">
            <a:extLst xmlns:a="http://schemas.openxmlformats.org/drawingml/2006/main">
              <a:ext uri="{FF2B5EF4-FFF2-40B4-BE49-F238E27FC236}">
                <a16:creationId xmlns:a16="http://schemas.microsoft.com/office/drawing/2014/main" id="{88038C7A-EC84-48EA-A655-B29794399522}"/>
              </a:ext>
            </a:extLst>
          </p:cNvPr>
          <p:cNvSpPr>
            <a:spLocks xmlns:a="http://schemas.openxmlformats.org/drawingml/2006/main" noGrp="1"/>
          </p:cNvSpPr>
          <p:nvPr/>
        </p:nvSpPr>
        <p:spPr>
          <a:xfrm xmlns:a="http://schemas.openxmlformats.org/drawingml/2006/main">
            <a:off x="6400800" y="36290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DFAF67A-BD0F-4D0C-90EC-476F33223AB3}"/>
              </a:ext>
            </a:extLst>
          </p:cNvPr>
          <p:cNvSpPr>
            <a:spLocks xmlns:a="http://schemas.openxmlformats.org/drawingml/2006/main" noGrp="1"/>
          </p:cNvSpPr>
          <p:nvPr/>
        </p:nvSpPr>
        <p:spPr>
          <a:xfrm xmlns:a="http://schemas.openxmlformats.org/drawingml/2006/main">
            <a:off x="6400800" y="40290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sql</a:t>
            </a:r>
          </a:p>
        </p:txBody>
      </p:sp>
      <p:sp>
        <p:nvSpPr>
          <p:cNvPr id="36" name="">
            <a:extLst xmlns:a="http://schemas.openxmlformats.org/drawingml/2006/main">
              <a:ext uri="{FF2B5EF4-FFF2-40B4-BE49-F238E27FC236}">
                <a16:creationId xmlns:a16="http://schemas.microsoft.com/office/drawing/2014/main" id="{107DA06C-7190-446B-9685-B13F4945640F}"/>
              </a:ext>
            </a:extLst>
          </p:cNvPr>
          <p:cNvSpPr>
            <a:spLocks xmlns:a="http://schemas.openxmlformats.org/drawingml/2006/main" noGrp="1"/>
          </p:cNvSpPr>
          <p:nvPr/>
        </p:nvSpPr>
        <p:spPr>
          <a:xfrm xmlns:a="http://schemas.openxmlformats.org/drawingml/2006/main">
            <a:off x="9456039" y="40290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37" name="track-sql">
            <a:extLst xmlns:a="http://schemas.openxmlformats.org/drawingml/2006/main">
              <a:ext uri="{FF2B5EF4-FFF2-40B4-BE49-F238E27FC236}">
                <a16:creationId xmlns:a16="http://schemas.microsoft.com/office/drawing/2014/main" id="{A44B5559-87B7-4C37-80D5-B9E11EEE1B62}"/>
              </a:ext>
            </a:extLst>
          </p:cNvPr>
          <p:cNvSpPr>
            <a:spLocks xmlns:a="http://schemas.openxmlformats.org/drawingml/2006/main" noGrp="1"/>
          </p:cNvSpPr>
          <p:nvPr/>
        </p:nvSpPr>
        <p:spPr>
          <a:xfrm xmlns:a="http://schemas.openxmlformats.org/drawingml/2006/main">
            <a:off x="6400800" y="42957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8" name="bar-sql">
            <a:extLst xmlns:a="http://schemas.openxmlformats.org/drawingml/2006/main">
              <a:ext uri="{FF2B5EF4-FFF2-40B4-BE49-F238E27FC236}">
                <a16:creationId xmlns:a16="http://schemas.microsoft.com/office/drawing/2014/main" id="{3ECA0971-EE61-4EAC-B81D-3EA75DFFD061}"/>
              </a:ext>
            </a:extLst>
          </p:cNvPr>
          <p:cNvSpPr>
            <a:spLocks xmlns:a="http://schemas.openxmlformats.org/drawingml/2006/main" noGrp="1"/>
          </p:cNvSpPr>
          <p:nvPr/>
        </p:nvSpPr>
        <p:spPr>
          <a:xfrm xmlns:a="http://schemas.openxmlformats.org/drawingml/2006/main">
            <a:off x="6400800" y="429577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38982D8E-7878-4FCB-A3DA-319CA8D19A70}"/>
              </a:ext>
            </a:extLst>
          </p:cNvPr>
          <p:cNvSpPr>
            <a:spLocks xmlns:a="http://schemas.openxmlformats.org/drawingml/2006/main" noGrp="1"/>
          </p:cNvSpPr>
          <p:nvPr/>
        </p:nvSpPr>
        <p:spPr>
          <a:xfrm xmlns:a="http://schemas.openxmlformats.org/drawingml/2006/main">
            <a:off x="990600" y="473392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78503FAC-ACD4-4931-8A0D-FF43D2F2BD93}"/>
              </a:ext>
            </a:extLst>
          </p:cNvPr>
          <p:cNvSpPr>
            <a:spLocks xmlns:a="http://schemas.openxmlformats.org/drawingml/2006/main" noGrp="1"/>
          </p:cNvSpPr>
          <p:nvPr/>
        </p:nvSpPr>
        <p:spPr>
          <a:xfrm xmlns:a="http://schemas.openxmlformats.org/drawingml/2006/main">
            <a:off x="6400800" y="473392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AA109D4-1398-4EAA-870A-0A0A1ABBCEAF}"/>
              </a:ext>
            </a:extLst>
          </p:cNvPr>
          <p:cNvSpPr>
            <a:spLocks xmlns:a="http://schemas.openxmlformats.org/drawingml/2006/main" noGrp="1"/>
          </p:cNvSpPr>
          <p:nvPr/>
        </p:nvSpPr>
        <p:spPr>
          <a:xfrm xmlns:a="http://schemas.openxmlformats.org/drawingml/2006/main">
            <a:off x="990600" y="486727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325FDC65-8A72-4CFA-9F44-659139E4A202}"/>
              </a:ext>
            </a:extLst>
          </p:cNvPr>
          <p:cNvSpPr>
            <a:spLocks xmlns:a="http://schemas.openxmlformats.org/drawingml/2006/main" noGrp="1"/>
          </p:cNvSpPr>
          <p:nvPr/>
        </p:nvSpPr>
        <p:spPr>
          <a:xfrm xmlns:a="http://schemas.openxmlformats.org/drawingml/2006/main">
            <a:off x="990600" y="51054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python</a:t>
            </a:r>
          </a:p>
        </p:txBody>
      </p:sp>
      <p:sp>
        <p:nvSpPr>
          <p:cNvPr id="43" name="">
            <a:extLst xmlns:a="http://schemas.openxmlformats.org/drawingml/2006/main">
              <a:ext uri="{FF2B5EF4-FFF2-40B4-BE49-F238E27FC236}">
                <a16:creationId xmlns:a16="http://schemas.microsoft.com/office/drawing/2014/main" id="{B95481DE-6206-404A-B1AF-A1837EB2403D}"/>
              </a:ext>
            </a:extLst>
          </p:cNvPr>
          <p:cNvSpPr>
            <a:spLocks xmlns:a="http://schemas.openxmlformats.org/drawingml/2006/main" noGrp="1"/>
          </p:cNvSpPr>
          <p:nvPr/>
        </p:nvSpPr>
        <p:spPr>
          <a:xfrm xmlns:a="http://schemas.openxmlformats.org/drawingml/2006/main">
            <a:off x="2543175" y="48672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36ED5A82-692B-41E6-A6DB-D00A13D17B99}"/>
              </a:ext>
            </a:extLst>
          </p:cNvPr>
          <p:cNvSpPr>
            <a:spLocks xmlns:a="http://schemas.openxmlformats.org/drawingml/2006/main" noGrp="1"/>
          </p:cNvSpPr>
          <p:nvPr/>
        </p:nvSpPr>
        <p:spPr>
          <a:xfrm xmlns:a="http://schemas.openxmlformats.org/drawingml/2006/main">
            <a:off x="2543175" y="51054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0.5412</a:t>
            </a:r>
          </a:p>
        </p:txBody>
      </p:sp>
      <p:sp>
        <p:nvSpPr>
          <p:cNvPr id="45" name="">
            <a:extLst xmlns:a="http://schemas.openxmlformats.org/drawingml/2006/main">
              <a:ext uri="{FF2B5EF4-FFF2-40B4-BE49-F238E27FC236}">
                <a16:creationId xmlns:a16="http://schemas.microsoft.com/office/drawing/2014/main" id="{CA7D3EC4-9278-46EA-B71A-4DFBB0F5390F}"/>
              </a:ext>
            </a:extLst>
          </p:cNvPr>
          <p:cNvSpPr>
            <a:spLocks xmlns:a="http://schemas.openxmlformats.org/drawingml/2006/main" noGrp="1"/>
          </p:cNvSpPr>
          <p:nvPr/>
        </p:nvSpPr>
        <p:spPr>
          <a:xfrm xmlns:a="http://schemas.openxmlformats.org/drawingml/2006/main">
            <a:off x="3905250" y="486727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56C7101A-5364-4E9A-BAC6-02C688D1E16E}"/>
              </a:ext>
            </a:extLst>
          </p:cNvPr>
          <p:cNvSpPr>
            <a:spLocks xmlns:a="http://schemas.openxmlformats.org/drawingml/2006/main" noGrp="1"/>
          </p:cNvSpPr>
          <p:nvPr/>
        </p:nvSpPr>
        <p:spPr>
          <a:xfrm xmlns:a="http://schemas.openxmlformats.org/drawingml/2006/main">
            <a:off x="3905250" y="5105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0.2560</a:t>
            </a:r>
          </a:p>
        </p:txBody>
      </p:sp>
      <p:sp>
        <p:nvSpPr>
          <p:cNvPr id="47" name="">
            <a:extLst xmlns:a="http://schemas.openxmlformats.org/drawingml/2006/main">
              <a:ext uri="{FF2B5EF4-FFF2-40B4-BE49-F238E27FC236}">
                <a16:creationId xmlns:a16="http://schemas.microsoft.com/office/drawing/2014/main" id="{33CE9E90-9E1B-4564-B8A9-48EE33F2764E}"/>
              </a:ext>
            </a:extLst>
          </p:cNvPr>
          <p:cNvSpPr>
            <a:spLocks xmlns:a="http://schemas.openxmlformats.org/drawingml/2006/main" noGrp="1"/>
          </p:cNvSpPr>
          <p:nvPr/>
        </p:nvSpPr>
        <p:spPr>
          <a:xfrm xmlns:a="http://schemas.openxmlformats.org/drawingml/2006/main">
            <a:off x="4953000" y="4867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12915408-0FB3-4BAF-B247-FB7AA67A0340}"/>
              </a:ext>
            </a:extLst>
          </p:cNvPr>
          <p:cNvSpPr>
            <a:spLocks xmlns:a="http://schemas.openxmlformats.org/drawingml/2006/main" noGrp="1"/>
          </p:cNvSpPr>
          <p:nvPr/>
        </p:nvSpPr>
        <p:spPr>
          <a:xfrm xmlns:a="http://schemas.openxmlformats.org/drawingml/2006/main">
            <a:off x="4953000" y="51054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B86E00"/>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41750488-5C1D-4FDD-9AF6-B11A0460D662}"/>
              </a:ext>
            </a:extLst>
          </p:cNvPr>
          <p:cNvSpPr>
            <a:spLocks xmlns:a="http://schemas.openxmlformats.org/drawingml/2006/main" noGrp="1"/>
          </p:cNvSpPr>
          <p:nvPr/>
        </p:nvSpPr>
        <p:spPr>
          <a:xfrm xmlns:a="http://schemas.openxmlformats.org/drawingml/2006/main">
            <a:off x="6400800" y="486727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50" name="">
            <a:extLst xmlns:a="http://schemas.openxmlformats.org/drawingml/2006/main">
              <a:ext uri="{FF2B5EF4-FFF2-40B4-BE49-F238E27FC236}">
                <a16:creationId xmlns:a16="http://schemas.microsoft.com/office/drawing/2014/main" id="{25689B95-76E1-4432-82BD-F41A6D1487AC}"/>
              </a:ext>
            </a:extLst>
          </p:cNvPr>
          <p:cNvSpPr>
            <a:spLocks xmlns:a="http://schemas.openxmlformats.org/drawingml/2006/main" noGrp="1"/>
          </p:cNvSpPr>
          <p:nvPr/>
        </p:nvSpPr>
        <p:spPr>
          <a:xfrm xmlns:a="http://schemas.openxmlformats.org/drawingml/2006/main">
            <a:off x="6400800" y="51054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python</a:t>
            </a:r>
          </a:p>
        </p:txBody>
      </p:sp>
      <p:sp>
        <p:nvSpPr>
          <p:cNvPr id="51" name="">
            <a:extLst xmlns:a="http://schemas.openxmlformats.org/drawingml/2006/main">
              <a:ext uri="{FF2B5EF4-FFF2-40B4-BE49-F238E27FC236}">
                <a16:creationId xmlns:a16="http://schemas.microsoft.com/office/drawing/2014/main" id="{A2361AA8-A315-4B21-973E-0CDD1AA74C0A}"/>
              </a:ext>
            </a:extLst>
          </p:cNvPr>
          <p:cNvSpPr>
            <a:spLocks xmlns:a="http://schemas.openxmlformats.org/drawingml/2006/main" noGrp="1"/>
          </p:cNvSpPr>
          <p:nvPr/>
        </p:nvSpPr>
        <p:spPr>
          <a:xfrm xmlns:a="http://schemas.openxmlformats.org/drawingml/2006/main">
            <a:off x="7953375" y="48672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52" name="">
            <a:extLst xmlns:a="http://schemas.openxmlformats.org/drawingml/2006/main">
              <a:ext uri="{FF2B5EF4-FFF2-40B4-BE49-F238E27FC236}">
                <a16:creationId xmlns:a16="http://schemas.microsoft.com/office/drawing/2014/main" id="{600F49DE-4C37-4302-80C8-C5DF9C314578}"/>
              </a:ext>
            </a:extLst>
          </p:cNvPr>
          <p:cNvSpPr>
            <a:spLocks xmlns:a="http://schemas.openxmlformats.org/drawingml/2006/main" noGrp="1"/>
          </p:cNvSpPr>
          <p:nvPr/>
        </p:nvSpPr>
        <p:spPr>
          <a:xfrm xmlns:a="http://schemas.openxmlformats.org/drawingml/2006/main">
            <a:off x="7953375" y="51054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53" name="">
            <a:extLst xmlns:a="http://schemas.openxmlformats.org/drawingml/2006/main">
              <a:ext uri="{FF2B5EF4-FFF2-40B4-BE49-F238E27FC236}">
                <a16:creationId xmlns:a16="http://schemas.microsoft.com/office/drawing/2014/main" id="{8D07115A-FC43-439E-881D-707AABC9B08D}"/>
              </a:ext>
            </a:extLst>
          </p:cNvPr>
          <p:cNvSpPr>
            <a:spLocks xmlns:a="http://schemas.openxmlformats.org/drawingml/2006/main" noGrp="1"/>
          </p:cNvSpPr>
          <p:nvPr/>
        </p:nvSpPr>
        <p:spPr>
          <a:xfrm xmlns:a="http://schemas.openxmlformats.org/drawingml/2006/main">
            <a:off x="9315450" y="486727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54" name="">
            <a:extLst xmlns:a="http://schemas.openxmlformats.org/drawingml/2006/main">
              <a:ext uri="{FF2B5EF4-FFF2-40B4-BE49-F238E27FC236}">
                <a16:creationId xmlns:a16="http://schemas.microsoft.com/office/drawing/2014/main" id="{C60EE401-2290-478F-BA65-F9D018369BF8}"/>
              </a:ext>
            </a:extLst>
          </p:cNvPr>
          <p:cNvSpPr>
            <a:spLocks xmlns:a="http://schemas.openxmlformats.org/drawingml/2006/main" noGrp="1"/>
          </p:cNvSpPr>
          <p:nvPr/>
        </p:nvSpPr>
        <p:spPr>
          <a:xfrm xmlns:a="http://schemas.openxmlformats.org/drawingml/2006/main">
            <a:off x="9315450" y="5105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55" name="">
            <a:extLst xmlns:a="http://schemas.openxmlformats.org/drawingml/2006/main">
              <a:ext uri="{FF2B5EF4-FFF2-40B4-BE49-F238E27FC236}">
                <a16:creationId xmlns:a16="http://schemas.microsoft.com/office/drawing/2014/main" id="{DAB86BFD-7405-4F93-B965-6D017C590DF1}"/>
              </a:ext>
            </a:extLst>
          </p:cNvPr>
          <p:cNvSpPr>
            <a:spLocks xmlns:a="http://schemas.openxmlformats.org/drawingml/2006/main" noGrp="1"/>
          </p:cNvSpPr>
          <p:nvPr/>
        </p:nvSpPr>
        <p:spPr>
          <a:xfrm xmlns:a="http://schemas.openxmlformats.org/drawingml/2006/main">
            <a:off x="10363200" y="4867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56" name="">
            <a:extLst xmlns:a="http://schemas.openxmlformats.org/drawingml/2006/main">
              <a:ext uri="{FF2B5EF4-FFF2-40B4-BE49-F238E27FC236}">
                <a16:creationId xmlns:a16="http://schemas.microsoft.com/office/drawing/2014/main" id="{DCBFF26D-7193-4103-B351-D0BA60DBF1C9}"/>
              </a:ext>
            </a:extLst>
          </p:cNvPr>
          <p:cNvSpPr>
            <a:spLocks xmlns:a="http://schemas.openxmlformats.org/drawingml/2006/main" noGrp="1"/>
          </p:cNvSpPr>
          <p:nvPr/>
        </p:nvSpPr>
        <p:spPr>
          <a:xfrm xmlns:a="http://schemas.openxmlformats.org/drawingml/2006/main">
            <a:off x="10363200" y="51054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57" name="">
            <a:extLst xmlns:a="http://schemas.openxmlformats.org/drawingml/2006/main">
              <a:ext uri="{FF2B5EF4-FFF2-40B4-BE49-F238E27FC236}">
                <a16:creationId xmlns:a16="http://schemas.microsoft.com/office/drawing/2014/main" id="{BB0C496C-5792-4D08-B704-B669A3423E21}"/>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python</a:t>
            </a:r>
          </a:p>
        </p:txBody>
      </p:sp>
      <p:sp>
        <p:nvSpPr>
          <p:cNvPr id="58" name="">
            <a:extLst xmlns:a="http://schemas.openxmlformats.org/drawingml/2006/main">
              <a:ext uri="{FF2B5EF4-FFF2-40B4-BE49-F238E27FC236}">
                <a16:creationId xmlns:a16="http://schemas.microsoft.com/office/drawing/2014/main" id="{EC38F17E-F361-434B-92CA-3D17B35A823F}"/>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9" name="">
            <a:extLst xmlns:a="http://schemas.openxmlformats.org/drawingml/2006/main">
              <a:ext uri="{FF2B5EF4-FFF2-40B4-BE49-F238E27FC236}">
                <a16:creationId xmlns:a16="http://schemas.microsoft.com/office/drawing/2014/main" id="{92F5F803-D322-451B-AEB7-97998887E969}"/>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11 of 12  ·  id: code_language</a:t>
            </a:r>
          </a:p>
        </p:txBody>
      </p:sp>
    </p:spTree>
    <p:extLst>
      <p:ext uri="{BB962C8B-B14F-4D97-AF65-F5344CB8AC3E}">
        <p14:creationId xmlns:p14="http://schemas.microsoft.com/office/powerpoint/2010/main" val="188180506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2" name="background">
            <a:extLst xmlns:a="http://schemas.openxmlformats.org/drawingml/2006/main">
              <a:ext uri="{FF2B5EF4-FFF2-40B4-BE49-F238E27FC236}">
                <a16:creationId xmlns:a16="http://schemas.microsoft.com/office/drawing/2014/main" id="{EBF38314-7646-4289-BC74-0D8D094261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11C97D22-1AB0-4B5C-A6FE-7FFB7EBE4ED2}"/>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EB4AC5-B60B-437E-A7E1-50B5EE0D9F83}"/>
              </a:ext>
            </a:extLst>
          </p:cNvPr>
          <p:cNvSpPr>
            <a:spLocks xmlns:a="http://schemas.openxmlformats.org/drawingml/2006/main" noGrp="1"/>
          </p:cNvSpPr>
          <p:nvPr/>
        </p:nvSpPr>
        <p:spPr>
          <a:xfrm xmlns:a="http://schemas.openxmlformats.org/drawingml/2006/main">
            <a:off x="781050" y="3429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C7293"/>
                </a:solidFill>
                <a:latin typeface="Calibri"/>
                <a:ea typeface="Calibri"/>
                <a:cs typeface="Calibri"/>
              </a:defRPr>
            </a:pPr>
            <a:r>
              <a:rPr sz="1125" b="1" i="0">
                <a:solidFill>
                  <a:srgbClr val="1C7293"/>
                </a:solidFill>
                <a:latin typeface="Calibri"/>
                <a:ea typeface="Calibri"/>
                <a:cs typeface="Calibri"/>
              </a:rPr>
              <a:t>12 · SEVERITY TRIAGE</a:t>
            </a:r>
          </a:p>
        </p:txBody>
      </p:sp>
      <p:sp>
        <p:nvSpPr>
          <p:cNvPr id="4" name="">
            <a:extLst xmlns:a="http://schemas.openxmlformats.org/drawingml/2006/main">
              <a:ext uri="{FF2B5EF4-FFF2-40B4-BE49-F238E27FC236}">
                <a16:creationId xmlns:a16="http://schemas.microsoft.com/office/drawing/2014/main" id="{50EE6F71-A305-4C52-A0AA-4948313A7E55}"/>
              </a:ext>
            </a:extLst>
          </p:cNvPr>
          <p:cNvSpPr>
            <a:spLocks xmlns:a="http://schemas.openxmlformats.org/drawingml/2006/main" noGrp="1"/>
          </p:cNvSpPr>
          <p:nvPr/>
        </p:nvSpPr>
        <p:spPr>
          <a:xfrm xmlns:a="http://schemas.openxmlformats.org/drawingml/2006/main">
            <a:off x="781050" y="666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i="0">
                <a:solidFill>
                  <a:srgbClr val="21295C"/>
                </a:solidFill>
                <a:latin typeface="Georgia"/>
                <a:ea typeface="Georgia"/>
                <a:cs typeface="Georgia"/>
              </a:defRPr>
            </a:pPr>
            <a:r>
              <a:rPr sz="2925" b="1" i="0">
                <a:solidFill>
                  <a:srgbClr val="21295C"/>
                </a:solidFill>
                <a:latin typeface="Georgia"/>
                <a:ea typeface="Georgia"/>
                <a:cs typeface="Georgia"/>
              </a:rPr>
              <a:t>What priority should this ticket receive?</a:t>
            </a:r>
          </a:p>
        </p:txBody>
      </p:sp>
      <p:sp>
        <p:nvSpPr>
          <p:cNvPr id="5" name="">
            <a:extLst xmlns:a="http://schemas.openxmlformats.org/drawingml/2006/main">
              <a:ext uri="{FF2B5EF4-FFF2-40B4-BE49-F238E27FC236}">
                <a16:creationId xmlns:a16="http://schemas.microsoft.com/office/drawing/2014/main" id="{F2823508-2822-4439-AF15-2919C751B70D}"/>
              </a:ext>
            </a:extLst>
          </p:cNvPr>
          <p:cNvSpPr>
            <a:spLocks xmlns:a="http://schemas.openxmlformats.org/drawingml/2006/main" noGrp="1"/>
          </p:cNvSpPr>
          <p:nvPr/>
        </p:nvSpPr>
        <p:spPr>
          <a:xfrm xmlns:a="http://schemas.openxmlformats.org/drawingml/2006/main">
            <a:off x="9563100" y="457200"/>
            <a:ext cx="1676400" cy="457200"/>
          </a:xfrm>
          <a:prstGeom xmlns:a="http://schemas.openxmlformats.org/drawingml/2006/main" prst="roundRect">
            <a:avLst>
              <a:gd name="adj" fmla="val 18750"/>
            </a:avLst>
          </a:prstGeom>
          <a:solidFill xmlns:a="http://schemas.openxmlformats.org/drawingml/2006/main">
            <a:srgbClr val="1E7A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69EF3A-31E5-40B8-ADAF-005067888277}"/>
              </a:ext>
            </a:extLst>
          </p:cNvPr>
          <p:cNvSpPr>
            <a:spLocks xmlns:a="http://schemas.openxmlformats.org/drawingml/2006/main" noGrp="1"/>
          </p:cNvSpPr>
          <p:nvPr/>
        </p:nvSpPr>
        <p:spPr>
          <a:xfrm xmlns:a="http://schemas.openxmlformats.org/drawingml/2006/main">
            <a:off x="9696450" y="5715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1" i="0">
                <a:solidFill>
                  <a:srgbClr val="FFFFFF"/>
                </a:solidFill>
                <a:latin typeface="Calibri"/>
                <a:ea typeface="Calibri"/>
                <a:cs typeface="Calibri"/>
              </a:defRPr>
            </a:pPr>
            <a:r>
              <a:rPr sz="1050" b="1" i="0">
                <a:solidFill>
                  <a:srgbClr val="FFFFFF"/>
                </a:solidFill>
                <a:latin typeface="Calibri"/>
                <a:ea typeface="Calibri"/>
                <a:cs typeface="Calibri"/>
              </a:rPr>
              <a:t>BOTH CORRECT</a:t>
            </a:r>
          </a:p>
        </p:txBody>
      </p:sp>
      <p:sp>
        <p:nvSpPr>
          <p:cNvPr id="7" name="">
            <a:extLst xmlns:a="http://schemas.openxmlformats.org/drawingml/2006/main">
              <a:ext uri="{FF2B5EF4-FFF2-40B4-BE49-F238E27FC236}">
                <a16:creationId xmlns:a16="http://schemas.microsoft.com/office/drawing/2014/main" id="{5EFE02C6-D243-4DB7-B9E3-D21153DF744D}"/>
              </a:ext>
            </a:extLst>
          </p:cNvPr>
          <p:cNvSpPr>
            <a:spLocks xmlns:a="http://schemas.openxmlformats.org/drawingml/2006/main" noGrp="1"/>
          </p:cNvSpPr>
          <p:nvPr/>
        </p:nvSpPr>
        <p:spPr>
          <a:xfrm xmlns:a="http://schemas.openxmlformats.org/drawingml/2006/main">
            <a:off x="781050" y="1476375"/>
            <a:ext cx="104584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8" name="">
            <a:extLst xmlns:a="http://schemas.openxmlformats.org/drawingml/2006/main">
              <a:ext uri="{FF2B5EF4-FFF2-40B4-BE49-F238E27FC236}">
                <a16:creationId xmlns:a16="http://schemas.microsoft.com/office/drawing/2014/main" id="{6BC28027-B177-47ED-8A4A-47403EEBA66C}"/>
              </a:ext>
            </a:extLst>
          </p:cNvPr>
          <p:cNvSpPr>
            <a:spLocks xmlns:a="http://schemas.openxmlformats.org/drawingml/2006/main" noGrp="1"/>
          </p:cNvSpPr>
          <p:nvPr/>
        </p:nvSpPr>
        <p:spPr>
          <a:xfrm xmlns:a="http://schemas.openxmlformats.org/drawingml/2006/main">
            <a:off x="933450" y="1590675"/>
            <a:ext cx="1015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i="0">
                <a:solidFill>
                  <a:srgbClr val="6B7A8C"/>
                </a:solidFill>
                <a:latin typeface="Consolas"/>
                <a:ea typeface="Consolas"/>
                <a:cs typeface="Consolas"/>
              </a:defRPr>
            </a:pPr>
            <a:r>
              <a:rPr sz="900" b="0" i="0">
                <a:solidFill>
                  <a:srgbClr val="6B7A8C"/>
                </a:solidFill>
                <a:latin typeface="Consolas"/>
                <a:ea typeface="Consolas"/>
                <a:cs typeface="Consolas"/>
              </a:rPr>
              <a:t>STATE  {"ticket":"Production database is completely down. All customers are unable to log in. Revenue impact ongoing."}</a:t>
            </a:r>
          </a:p>
        </p:txBody>
      </p:sp>
      <p:sp>
        <p:nvSpPr>
          <p:cNvPr id="9" name="MODERNBERT NLI-panel">
            <a:extLst xmlns:a="http://schemas.openxmlformats.org/drawingml/2006/main">
              <a:ext uri="{FF2B5EF4-FFF2-40B4-BE49-F238E27FC236}">
                <a16:creationId xmlns:a16="http://schemas.microsoft.com/office/drawing/2014/main" id="{B29F7C7B-FB10-47BD-8845-3E1A0E4350A3}"/>
              </a:ext>
            </a:extLst>
          </p:cNvPr>
          <p:cNvSpPr>
            <a:spLocks xmlns:a="http://schemas.openxmlformats.org/drawingml/2006/main" noGrp="1"/>
          </p:cNvSpPr>
          <p:nvPr/>
        </p:nvSpPr>
        <p:spPr>
          <a:xfrm xmlns:a="http://schemas.openxmlformats.org/drawingml/2006/main">
            <a:off x="7810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0" name="MODERNBERT NLI-header">
            <a:extLst xmlns:a="http://schemas.openxmlformats.org/drawingml/2006/main">
              <a:ext uri="{FF2B5EF4-FFF2-40B4-BE49-F238E27FC236}">
                <a16:creationId xmlns:a16="http://schemas.microsoft.com/office/drawing/2014/main" id="{45DFF090-049F-4C8A-A821-D380B66AAFD0}"/>
              </a:ext>
            </a:extLst>
          </p:cNvPr>
          <p:cNvSpPr>
            <a:spLocks xmlns:a="http://schemas.openxmlformats.org/drawingml/2006/main" noGrp="1"/>
          </p:cNvSpPr>
          <p:nvPr/>
        </p:nvSpPr>
        <p:spPr>
          <a:xfrm xmlns:a="http://schemas.openxmlformats.org/drawingml/2006/main">
            <a:off x="781050" y="2105025"/>
            <a:ext cx="5048250" cy="36195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C52CEEB-3A30-40B7-864E-088CEA91E72C}"/>
              </a:ext>
            </a:extLst>
          </p:cNvPr>
          <p:cNvSpPr>
            <a:spLocks xmlns:a="http://schemas.openxmlformats.org/drawingml/2006/main" noGrp="1"/>
          </p:cNvSpPr>
          <p:nvPr/>
        </p:nvSpPr>
        <p:spPr>
          <a:xfrm xmlns:a="http://schemas.openxmlformats.org/drawingml/2006/main">
            <a:off x="9334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MODERNBERT NLI</a:t>
            </a:r>
          </a:p>
        </p:txBody>
      </p:sp>
      <p:sp>
        <p:nvSpPr>
          <p:cNvPr id="12" name="TYPESAFE JEV-panel">
            <a:extLst xmlns:a="http://schemas.openxmlformats.org/drawingml/2006/main">
              <a:ext uri="{FF2B5EF4-FFF2-40B4-BE49-F238E27FC236}">
                <a16:creationId xmlns:a16="http://schemas.microsoft.com/office/drawing/2014/main" id="{FFF1BEBA-7361-43A4-A2A3-7C024588E0BB}"/>
              </a:ext>
            </a:extLst>
          </p:cNvPr>
          <p:cNvSpPr>
            <a:spLocks xmlns:a="http://schemas.openxmlformats.org/drawingml/2006/main" noGrp="1"/>
          </p:cNvSpPr>
          <p:nvPr/>
        </p:nvSpPr>
        <p:spPr>
          <a:xfrm xmlns:a="http://schemas.openxmlformats.org/drawingml/2006/main">
            <a:off x="6191250" y="2105025"/>
            <a:ext cx="5048250" cy="38290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13" name="TYPESAFE JEV-header">
            <a:extLst xmlns:a="http://schemas.openxmlformats.org/drawingml/2006/main">
              <a:ext uri="{FF2B5EF4-FFF2-40B4-BE49-F238E27FC236}">
                <a16:creationId xmlns:a16="http://schemas.microsoft.com/office/drawing/2014/main" id="{FF2812A5-2E1E-427D-9670-800CBE36E969}"/>
              </a:ext>
            </a:extLst>
          </p:cNvPr>
          <p:cNvSpPr>
            <a:spLocks xmlns:a="http://schemas.openxmlformats.org/drawingml/2006/main" noGrp="1"/>
          </p:cNvSpPr>
          <p:nvPr/>
        </p:nvSpPr>
        <p:spPr>
          <a:xfrm xmlns:a="http://schemas.openxmlformats.org/drawingml/2006/main">
            <a:off x="6191250" y="2105025"/>
            <a:ext cx="504825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3C964CE-EA56-4648-B311-1869D5102E2A}"/>
              </a:ext>
            </a:extLst>
          </p:cNvPr>
          <p:cNvSpPr>
            <a:spLocks xmlns:a="http://schemas.openxmlformats.org/drawingml/2006/main" noGrp="1"/>
          </p:cNvSpPr>
          <p:nvPr/>
        </p:nvSpPr>
        <p:spPr>
          <a:xfrm xmlns:a="http://schemas.openxmlformats.org/drawingml/2006/main">
            <a:off x="6343650" y="218122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TYPESAFE JEV</a:t>
            </a:r>
          </a:p>
        </p:txBody>
      </p:sp>
      <p:sp>
        <p:nvSpPr>
          <p:cNvPr id="15" name="">
            <a:extLst xmlns:a="http://schemas.openxmlformats.org/drawingml/2006/main">
              <a:ext uri="{FF2B5EF4-FFF2-40B4-BE49-F238E27FC236}">
                <a16:creationId xmlns:a16="http://schemas.microsoft.com/office/drawing/2014/main" id="{FDDD2579-5A03-40FA-9871-BF64A890BBDA}"/>
              </a:ext>
            </a:extLst>
          </p:cNvPr>
          <p:cNvSpPr>
            <a:spLocks xmlns:a="http://schemas.openxmlformats.org/drawingml/2006/main" noGrp="1"/>
          </p:cNvSpPr>
          <p:nvPr/>
        </p:nvSpPr>
        <p:spPr>
          <a:xfrm xmlns:a="http://schemas.openxmlformats.org/drawingml/2006/main">
            <a:off x="9906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critical</a:t>
            </a:r>
          </a:p>
        </p:txBody>
      </p:sp>
      <p:sp>
        <p:nvSpPr>
          <p:cNvPr id="16" name="">
            <a:extLst xmlns:a="http://schemas.openxmlformats.org/drawingml/2006/main">
              <a:ext uri="{FF2B5EF4-FFF2-40B4-BE49-F238E27FC236}">
                <a16:creationId xmlns:a16="http://schemas.microsoft.com/office/drawing/2014/main" id="{486CC949-EF6D-4D40-9827-2F3FBF758836}"/>
              </a:ext>
            </a:extLst>
          </p:cNvPr>
          <p:cNvSpPr>
            <a:spLocks xmlns:a="http://schemas.openxmlformats.org/drawingml/2006/main" noGrp="1"/>
          </p:cNvSpPr>
          <p:nvPr/>
        </p:nvSpPr>
        <p:spPr>
          <a:xfrm xmlns:a="http://schemas.openxmlformats.org/drawingml/2006/main">
            <a:off x="40458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0.7106</a:t>
            </a:r>
          </a:p>
        </p:txBody>
      </p:sp>
      <p:sp>
        <p:nvSpPr>
          <p:cNvPr id="17" name="track-critical">
            <a:extLst xmlns:a="http://schemas.openxmlformats.org/drawingml/2006/main">
              <a:ext uri="{FF2B5EF4-FFF2-40B4-BE49-F238E27FC236}">
                <a16:creationId xmlns:a16="http://schemas.microsoft.com/office/drawing/2014/main" id="{17AD9AC9-2475-4AD5-9F31-D64F0C61B732}"/>
              </a:ext>
            </a:extLst>
          </p:cNvPr>
          <p:cNvSpPr>
            <a:spLocks xmlns:a="http://schemas.openxmlformats.org/drawingml/2006/main" noGrp="1"/>
          </p:cNvSpPr>
          <p:nvPr/>
        </p:nvSpPr>
        <p:spPr>
          <a:xfrm xmlns:a="http://schemas.openxmlformats.org/drawingml/2006/main">
            <a:off x="9906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18" name="bar-critical">
            <a:extLst xmlns:a="http://schemas.openxmlformats.org/drawingml/2006/main">
              <a:ext uri="{FF2B5EF4-FFF2-40B4-BE49-F238E27FC236}">
                <a16:creationId xmlns:a16="http://schemas.microsoft.com/office/drawing/2014/main" id="{4DF31B09-454B-4FFF-A730-F9405FC0375D}"/>
              </a:ext>
            </a:extLst>
          </p:cNvPr>
          <p:cNvSpPr>
            <a:spLocks xmlns:a="http://schemas.openxmlformats.org/drawingml/2006/main" noGrp="1"/>
          </p:cNvSpPr>
          <p:nvPr/>
        </p:nvSpPr>
        <p:spPr>
          <a:xfrm xmlns:a="http://schemas.openxmlformats.org/drawingml/2006/main">
            <a:off x="990600" y="2962275"/>
            <a:ext cx="3289604" cy="152400"/>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E960954-085C-45DF-9D07-9563FD05F949}"/>
              </a:ext>
            </a:extLst>
          </p:cNvPr>
          <p:cNvSpPr>
            <a:spLocks xmlns:a="http://schemas.openxmlformats.org/drawingml/2006/main" noGrp="1"/>
          </p:cNvSpPr>
          <p:nvPr/>
        </p:nvSpPr>
        <p:spPr>
          <a:xfrm xmlns:a="http://schemas.openxmlformats.org/drawingml/2006/main">
            <a:off x="9906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low</a:t>
            </a:r>
          </a:p>
        </p:txBody>
      </p:sp>
      <p:sp>
        <p:nvSpPr>
          <p:cNvPr id="20" name="">
            <a:extLst xmlns:a="http://schemas.openxmlformats.org/drawingml/2006/main">
              <a:ext uri="{FF2B5EF4-FFF2-40B4-BE49-F238E27FC236}">
                <a16:creationId xmlns:a16="http://schemas.microsoft.com/office/drawing/2014/main" id="{C3E23572-E2BF-4C33-AA88-418C7067DFF9}"/>
              </a:ext>
            </a:extLst>
          </p:cNvPr>
          <p:cNvSpPr>
            <a:spLocks xmlns:a="http://schemas.openxmlformats.org/drawingml/2006/main" noGrp="1"/>
          </p:cNvSpPr>
          <p:nvPr/>
        </p:nvSpPr>
        <p:spPr>
          <a:xfrm xmlns:a="http://schemas.openxmlformats.org/drawingml/2006/main">
            <a:off x="40458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0.2894</a:t>
            </a:r>
          </a:p>
        </p:txBody>
      </p:sp>
      <p:sp>
        <p:nvSpPr>
          <p:cNvPr id="21" name="track-low">
            <a:extLst xmlns:a="http://schemas.openxmlformats.org/drawingml/2006/main">
              <a:ext uri="{FF2B5EF4-FFF2-40B4-BE49-F238E27FC236}">
                <a16:creationId xmlns:a16="http://schemas.microsoft.com/office/drawing/2014/main" id="{67406103-2CAF-4789-97B4-47B1F2E8D185}"/>
              </a:ext>
            </a:extLst>
          </p:cNvPr>
          <p:cNvSpPr>
            <a:spLocks xmlns:a="http://schemas.openxmlformats.org/drawingml/2006/main" noGrp="1"/>
          </p:cNvSpPr>
          <p:nvPr/>
        </p:nvSpPr>
        <p:spPr>
          <a:xfrm xmlns:a="http://schemas.openxmlformats.org/drawingml/2006/main">
            <a:off x="9906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2" name="bar-low">
            <a:extLst xmlns:a="http://schemas.openxmlformats.org/drawingml/2006/main">
              <a:ext uri="{FF2B5EF4-FFF2-40B4-BE49-F238E27FC236}">
                <a16:creationId xmlns:a16="http://schemas.microsoft.com/office/drawing/2014/main" id="{E8E55F98-4357-4B8F-A7E8-5F984AB8E46E}"/>
              </a:ext>
            </a:extLst>
          </p:cNvPr>
          <p:cNvSpPr>
            <a:spLocks xmlns:a="http://schemas.openxmlformats.org/drawingml/2006/main" noGrp="1"/>
          </p:cNvSpPr>
          <p:nvPr/>
        </p:nvSpPr>
        <p:spPr>
          <a:xfrm xmlns:a="http://schemas.openxmlformats.org/drawingml/2006/main">
            <a:off x="990600" y="3743325"/>
            <a:ext cx="1339546" cy="152400"/>
          </a:xfrm>
          <a:prstGeom xmlns:a="http://schemas.openxmlformats.org/drawingml/2006/main" prst="rect">
            <a:avLst/>
          </a:prstGeom>
          <a:solidFill xmlns:a="http://schemas.openxmlformats.org/drawingml/2006/main">
            <a:srgbClr val="065A82">
              <a:alpha val="43922"/>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107C394-663D-4C85-93D0-5D90CDE46E20}"/>
              </a:ext>
            </a:extLst>
          </p:cNvPr>
          <p:cNvSpPr>
            <a:spLocks xmlns:a="http://schemas.openxmlformats.org/drawingml/2006/main" noGrp="1"/>
          </p:cNvSpPr>
          <p:nvPr/>
        </p:nvSpPr>
        <p:spPr>
          <a:xfrm xmlns:a="http://schemas.openxmlformats.org/drawingml/2006/main">
            <a:off x="6400800" y="269557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1A1F2B"/>
                </a:solidFill>
                <a:latin typeface="Calibri"/>
                <a:ea typeface="Calibri"/>
                <a:cs typeface="Calibri"/>
              </a:defRPr>
            </a:pPr>
            <a:r>
              <a:rPr sz="1125" b="1" i="0">
                <a:solidFill>
                  <a:srgbClr val="1A1F2B"/>
                </a:solidFill>
                <a:latin typeface="Calibri"/>
                <a:ea typeface="Calibri"/>
                <a:cs typeface="Calibri"/>
              </a:rPr>
              <a:t>critical</a:t>
            </a:r>
          </a:p>
        </p:txBody>
      </p:sp>
      <p:sp>
        <p:nvSpPr>
          <p:cNvPr id="24" name="">
            <a:extLst xmlns:a="http://schemas.openxmlformats.org/drawingml/2006/main">
              <a:ext uri="{FF2B5EF4-FFF2-40B4-BE49-F238E27FC236}">
                <a16:creationId xmlns:a16="http://schemas.microsoft.com/office/drawing/2014/main" id="{656F5831-4F57-432F-ACB1-5C4E4E21AFC4}"/>
              </a:ext>
            </a:extLst>
          </p:cNvPr>
          <p:cNvSpPr>
            <a:spLocks xmlns:a="http://schemas.openxmlformats.org/drawingml/2006/main" noGrp="1"/>
          </p:cNvSpPr>
          <p:nvPr/>
        </p:nvSpPr>
        <p:spPr>
          <a:xfrm xmlns:a="http://schemas.openxmlformats.org/drawingml/2006/main">
            <a:off x="9456039" y="269557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i="0">
                <a:solidFill>
                  <a:srgbClr val="1A1F2B"/>
                </a:solidFill>
                <a:latin typeface="Calibri"/>
                <a:ea typeface="Calibri"/>
                <a:cs typeface="Calibri"/>
              </a:defRPr>
            </a:pPr>
            <a:r>
              <a:rPr sz="1050" b="1" i="0">
                <a:solidFill>
                  <a:srgbClr val="1A1F2B"/>
                </a:solidFill>
                <a:latin typeface="Calibri"/>
                <a:ea typeface="Calibri"/>
                <a:cs typeface="Calibri"/>
              </a:rPr>
              <a:t>1.0000</a:t>
            </a:r>
          </a:p>
        </p:txBody>
      </p:sp>
      <p:sp>
        <p:nvSpPr>
          <p:cNvPr id="25" name="track-critical">
            <a:extLst xmlns:a="http://schemas.openxmlformats.org/drawingml/2006/main">
              <a:ext uri="{FF2B5EF4-FFF2-40B4-BE49-F238E27FC236}">
                <a16:creationId xmlns:a16="http://schemas.microsoft.com/office/drawing/2014/main" id="{405487E0-138E-4407-AAA7-405947A9D453}"/>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26" name="bar-critical">
            <a:extLst xmlns:a="http://schemas.openxmlformats.org/drawingml/2006/main">
              <a:ext uri="{FF2B5EF4-FFF2-40B4-BE49-F238E27FC236}">
                <a16:creationId xmlns:a16="http://schemas.microsoft.com/office/drawing/2014/main" id="{6836F33B-495E-4066-8BE6-16141B764C51}"/>
              </a:ext>
            </a:extLst>
          </p:cNvPr>
          <p:cNvSpPr>
            <a:spLocks xmlns:a="http://schemas.openxmlformats.org/drawingml/2006/main" noGrp="1"/>
          </p:cNvSpPr>
          <p:nvPr/>
        </p:nvSpPr>
        <p:spPr>
          <a:xfrm xmlns:a="http://schemas.openxmlformats.org/drawingml/2006/main">
            <a:off x="6400800" y="2962275"/>
            <a:ext cx="4629150" cy="15240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9F4ADB5-FBB5-4338-BBC6-3D2309687E08}"/>
              </a:ext>
            </a:extLst>
          </p:cNvPr>
          <p:cNvSpPr>
            <a:spLocks xmlns:a="http://schemas.openxmlformats.org/drawingml/2006/main" noGrp="1"/>
          </p:cNvSpPr>
          <p:nvPr/>
        </p:nvSpPr>
        <p:spPr>
          <a:xfrm xmlns:a="http://schemas.openxmlformats.org/drawingml/2006/main">
            <a:off x="6400800" y="3476625"/>
            <a:ext cx="27774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i="0">
                <a:solidFill>
                  <a:srgbClr val="6B7A8C"/>
                </a:solidFill>
                <a:latin typeface="Calibri"/>
                <a:ea typeface="Calibri"/>
                <a:cs typeface="Calibri"/>
              </a:defRPr>
            </a:pPr>
            <a:r>
              <a:rPr sz="1125" b="0" i="0">
                <a:solidFill>
                  <a:srgbClr val="6B7A8C"/>
                </a:solidFill>
                <a:latin typeface="Calibri"/>
                <a:ea typeface="Calibri"/>
                <a:cs typeface="Calibri"/>
              </a:rPr>
              <a:t>low</a:t>
            </a:r>
          </a:p>
        </p:txBody>
      </p:sp>
      <p:sp>
        <p:nvSpPr>
          <p:cNvPr id="28" name="">
            <a:extLst xmlns:a="http://schemas.openxmlformats.org/drawingml/2006/main">
              <a:ext uri="{FF2B5EF4-FFF2-40B4-BE49-F238E27FC236}">
                <a16:creationId xmlns:a16="http://schemas.microsoft.com/office/drawing/2014/main" id="{209704E3-65D4-40F5-B30A-73F776D463D1}"/>
              </a:ext>
            </a:extLst>
          </p:cNvPr>
          <p:cNvSpPr>
            <a:spLocks xmlns:a="http://schemas.openxmlformats.org/drawingml/2006/main" noGrp="1"/>
          </p:cNvSpPr>
          <p:nvPr/>
        </p:nvSpPr>
        <p:spPr>
          <a:xfrm xmlns:a="http://schemas.openxmlformats.org/drawingml/2006/main">
            <a:off x="9456039" y="3476625"/>
            <a:ext cx="157391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i="0">
                <a:solidFill>
                  <a:srgbClr val="6B7A8C"/>
                </a:solidFill>
                <a:latin typeface="Calibri"/>
                <a:ea typeface="Calibri"/>
                <a:cs typeface="Calibri"/>
              </a:defRPr>
            </a:pPr>
            <a:r>
              <a:rPr sz="1050" b="0" i="0">
                <a:solidFill>
                  <a:srgbClr val="6B7A8C"/>
                </a:solidFill>
                <a:latin typeface="Calibri"/>
                <a:ea typeface="Calibri"/>
                <a:cs typeface="Calibri"/>
              </a:rPr>
              <a:t>0.0000</a:t>
            </a:r>
          </a:p>
        </p:txBody>
      </p:sp>
      <p:sp>
        <p:nvSpPr>
          <p:cNvPr id="29" name="track-low">
            <a:extLst xmlns:a="http://schemas.openxmlformats.org/drawingml/2006/main">
              <a:ext uri="{FF2B5EF4-FFF2-40B4-BE49-F238E27FC236}">
                <a16:creationId xmlns:a16="http://schemas.microsoft.com/office/drawing/2014/main" id="{383939D9-14EF-46D0-AA99-CEE62038ECBF}"/>
              </a:ext>
            </a:extLst>
          </p:cNvPr>
          <p:cNvSpPr>
            <a:spLocks xmlns:a="http://schemas.openxmlformats.org/drawingml/2006/main" noGrp="1"/>
          </p:cNvSpPr>
          <p:nvPr/>
        </p:nvSpPr>
        <p:spPr>
          <a:xfrm xmlns:a="http://schemas.openxmlformats.org/drawingml/2006/main">
            <a:off x="6400800" y="3743325"/>
            <a:ext cx="4629150" cy="152400"/>
          </a:xfrm>
          <a:prstGeom xmlns:a="http://schemas.openxmlformats.org/drawingml/2006/main" prst="rect">
            <a:avLst/>
          </a:prstGeom>
          <a:solidFill xmlns:a="http://schemas.openxmlformats.org/drawingml/2006/main">
            <a:srgbClr val="DDE4EA"/>
          </a:solidFill>
          <a:ln xmlns:a="http://schemas.openxmlformats.org/drawingml/2006/main" w="0">
            <a:noFill/>
          </a:ln>
        </p:spPr>
      </p:sp>
      <p:sp>
        <p:nvSpPr>
          <p:cNvPr id="30" name="bar-low">
            <a:extLst xmlns:a="http://schemas.openxmlformats.org/drawingml/2006/main">
              <a:ext uri="{FF2B5EF4-FFF2-40B4-BE49-F238E27FC236}">
                <a16:creationId xmlns:a16="http://schemas.microsoft.com/office/drawing/2014/main" id="{50B27347-83B5-4273-8DE6-5A4B6102972F}"/>
              </a:ext>
            </a:extLst>
          </p:cNvPr>
          <p:cNvSpPr>
            <a:spLocks xmlns:a="http://schemas.openxmlformats.org/drawingml/2006/main" noGrp="1"/>
          </p:cNvSpPr>
          <p:nvPr/>
        </p:nvSpPr>
        <p:spPr>
          <a:xfrm xmlns:a="http://schemas.openxmlformats.org/drawingml/2006/main">
            <a:off x="6400800" y="3743325"/>
            <a:ext cx="28575" cy="152400"/>
          </a:xfrm>
          <a:prstGeom xmlns:a="http://schemas.openxmlformats.org/drawingml/2006/main" prst="rect">
            <a:avLst/>
          </a:prstGeom>
          <a:solidFill xmlns:a="http://schemas.openxmlformats.org/drawingml/2006/main">
            <a:srgbClr val="815AC0">
              <a:alpha val="43922"/>
            </a:srgbClr>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C0A1B42-AC72-4C25-AF7F-C3F4526E05EB}"/>
              </a:ext>
            </a:extLst>
          </p:cNvPr>
          <p:cNvSpPr>
            <a:spLocks xmlns:a="http://schemas.openxmlformats.org/drawingml/2006/main" noGrp="1"/>
          </p:cNvSpPr>
          <p:nvPr/>
        </p:nvSpPr>
        <p:spPr>
          <a:xfrm xmlns:a="http://schemas.openxmlformats.org/drawingml/2006/main">
            <a:off x="9906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A7019A6-3506-45E2-8F0E-ECF236DE8BA0}"/>
              </a:ext>
            </a:extLst>
          </p:cNvPr>
          <p:cNvSpPr>
            <a:spLocks xmlns:a="http://schemas.openxmlformats.org/drawingml/2006/main" noGrp="1"/>
          </p:cNvSpPr>
          <p:nvPr/>
        </p:nvSpPr>
        <p:spPr>
          <a:xfrm xmlns:a="http://schemas.openxmlformats.org/drawingml/2006/main">
            <a:off x="6400800" y="4295775"/>
            <a:ext cx="4629150" cy="9525"/>
          </a:xfrm>
          <a:prstGeom xmlns:a="http://schemas.openxmlformats.org/drawingml/2006/main" prst="rect">
            <a:avLst/>
          </a:prstGeom>
          <a:solidFill xmlns:a="http://schemas.openxmlformats.org/drawingml/2006/main">
            <a:srgbClr val="D5DFE6"/>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0C7CF08-CCA8-46C0-BB5B-EAB6A6121F5C}"/>
              </a:ext>
            </a:extLst>
          </p:cNvPr>
          <p:cNvSpPr>
            <a:spLocks xmlns:a="http://schemas.openxmlformats.org/drawingml/2006/main" noGrp="1"/>
          </p:cNvSpPr>
          <p:nvPr/>
        </p:nvSpPr>
        <p:spPr>
          <a:xfrm xmlns:a="http://schemas.openxmlformats.org/drawingml/2006/main">
            <a:off x="9906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34" name="">
            <a:extLst xmlns:a="http://schemas.openxmlformats.org/drawingml/2006/main">
              <a:ext uri="{FF2B5EF4-FFF2-40B4-BE49-F238E27FC236}">
                <a16:creationId xmlns:a16="http://schemas.microsoft.com/office/drawing/2014/main" id="{16C4930C-0C2D-4200-923C-7DCDA64437C4}"/>
              </a:ext>
            </a:extLst>
          </p:cNvPr>
          <p:cNvSpPr>
            <a:spLocks xmlns:a="http://schemas.openxmlformats.org/drawingml/2006/main" noGrp="1"/>
          </p:cNvSpPr>
          <p:nvPr/>
        </p:nvSpPr>
        <p:spPr>
          <a:xfrm xmlns:a="http://schemas.openxmlformats.org/drawingml/2006/main">
            <a:off x="9906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critical</a:t>
            </a:r>
          </a:p>
        </p:txBody>
      </p:sp>
      <p:sp>
        <p:nvSpPr>
          <p:cNvPr id="35" name="">
            <a:extLst xmlns:a="http://schemas.openxmlformats.org/drawingml/2006/main">
              <a:ext uri="{FF2B5EF4-FFF2-40B4-BE49-F238E27FC236}">
                <a16:creationId xmlns:a16="http://schemas.microsoft.com/office/drawing/2014/main" id="{206D330F-6AB4-401E-BFCB-320AD59DDBDD}"/>
              </a:ext>
            </a:extLst>
          </p:cNvPr>
          <p:cNvSpPr>
            <a:spLocks xmlns:a="http://schemas.openxmlformats.org/drawingml/2006/main" noGrp="1"/>
          </p:cNvSpPr>
          <p:nvPr/>
        </p:nvSpPr>
        <p:spPr>
          <a:xfrm xmlns:a="http://schemas.openxmlformats.org/drawingml/2006/main">
            <a:off x="25431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36" name="">
            <a:extLst xmlns:a="http://schemas.openxmlformats.org/drawingml/2006/main">
              <a:ext uri="{FF2B5EF4-FFF2-40B4-BE49-F238E27FC236}">
                <a16:creationId xmlns:a16="http://schemas.microsoft.com/office/drawing/2014/main" id="{56A26C9F-ADB2-46CB-942B-97A6C667F8E1}"/>
              </a:ext>
            </a:extLst>
          </p:cNvPr>
          <p:cNvSpPr>
            <a:spLocks xmlns:a="http://schemas.openxmlformats.org/drawingml/2006/main" noGrp="1"/>
          </p:cNvSpPr>
          <p:nvPr/>
        </p:nvSpPr>
        <p:spPr>
          <a:xfrm xmlns:a="http://schemas.openxmlformats.org/drawingml/2006/main">
            <a:off x="25431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0.7106</a:t>
            </a:r>
          </a:p>
        </p:txBody>
      </p:sp>
      <p:sp>
        <p:nvSpPr>
          <p:cNvPr id="37" name="">
            <a:extLst xmlns:a="http://schemas.openxmlformats.org/drawingml/2006/main">
              <a:ext uri="{FF2B5EF4-FFF2-40B4-BE49-F238E27FC236}">
                <a16:creationId xmlns:a16="http://schemas.microsoft.com/office/drawing/2014/main" id="{BFF3DD7F-004B-42D4-9370-B2349DCD87AD}"/>
              </a:ext>
            </a:extLst>
          </p:cNvPr>
          <p:cNvSpPr>
            <a:spLocks xmlns:a="http://schemas.openxmlformats.org/drawingml/2006/main" noGrp="1"/>
          </p:cNvSpPr>
          <p:nvPr/>
        </p:nvSpPr>
        <p:spPr>
          <a:xfrm xmlns:a="http://schemas.openxmlformats.org/drawingml/2006/main">
            <a:off x="39052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38" name="">
            <a:extLst xmlns:a="http://schemas.openxmlformats.org/drawingml/2006/main">
              <a:ext uri="{FF2B5EF4-FFF2-40B4-BE49-F238E27FC236}">
                <a16:creationId xmlns:a16="http://schemas.microsoft.com/office/drawing/2014/main" id="{9B13AB30-39EF-4AB2-9835-F9CE62834C27}"/>
              </a:ext>
            </a:extLst>
          </p:cNvPr>
          <p:cNvSpPr>
            <a:spLocks xmlns:a="http://schemas.openxmlformats.org/drawingml/2006/main" noGrp="1"/>
          </p:cNvSpPr>
          <p:nvPr/>
        </p:nvSpPr>
        <p:spPr>
          <a:xfrm xmlns:a="http://schemas.openxmlformats.org/drawingml/2006/main">
            <a:off x="39052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065A82"/>
                </a:solidFill>
                <a:latin typeface="Calibri"/>
                <a:ea typeface="Calibri"/>
                <a:cs typeface="Calibri"/>
              </a:defRPr>
            </a:pPr>
            <a:r>
              <a:rPr sz="1425" b="1" i="0">
                <a:solidFill>
                  <a:srgbClr val="065A82"/>
                </a:solidFill>
                <a:latin typeface="Calibri"/>
                <a:ea typeface="Calibri"/>
                <a:cs typeface="Calibri"/>
              </a:rPr>
              <a:t>0.4213</a:t>
            </a:r>
          </a:p>
        </p:txBody>
      </p:sp>
      <p:sp>
        <p:nvSpPr>
          <p:cNvPr id="39" name="">
            <a:extLst xmlns:a="http://schemas.openxmlformats.org/drawingml/2006/main">
              <a:ext uri="{FF2B5EF4-FFF2-40B4-BE49-F238E27FC236}">
                <a16:creationId xmlns:a16="http://schemas.microsoft.com/office/drawing/2014/main" id="{156FE2AD-2374-4450-AA38-C3F8BE016FAD}"/>
              </a:ext>
            </a:extLst>
          </p:cNvPr>
          <p:cNvSpPr>
            <a:spLocks xmlns:a="http://schemas.openxmlformats.org/drawingml/2006/main" noGrp="1"/>
          </p:cNvSpPr>
          <p:nvPr/>
        </p:nvSpPr>
        <p:spPr>
          <a:xfrm xmlns:a="http://schemas.openxmlformats.org/drawingml/2006/main">
            <a:off x="49530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0" name="">
            <a:extLst xmlns:a="http://schemas.openxmlformats.org/drawingml/2006/main">
              <a:ext uri="{FF2B5EF4-FFF2-40B4-BE49-F238E27FC236}">
                <a16:creationId xmlns:a16="http://schemas.microsoft.com/office/drawing/2014/main" id="{37421411-2CB1-4A09-B24B-01C05447D5EA}"/>
              </a:ext>
            </a:extLst>
          </p:cNvPr>
          <p:cNvSpPr>
            <a:spLocks xmlns:a="http://schemas.openxmlformats.org/drawingml/2006/main" noGrp="1"/>
          </p:cNvSpPr>
          <p:nvPr/>
        </p:nvSpPr>
        <p:spPr>
          <a:xfrm xmlns:a="http://schemas.openxmlformats.org/drawingml/2006/main">
            <a:off x="49530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1" name="">
            <a:extLst xmlns:a="http://schemas.openxmlformats.org/drawingml/2006/main">
              <a:ext uri="{FF2B5EF4-FFF2-40B4-BE49-F238E27FC236}">
                <a16:creationId xmlns:a16="http://schemas.microsoft.com/office/drawing/2014/main" id="{FD03A063-C4D5-44B1-B5A8-9A5FE4D9A8F0}"/>
              </a:ext>
            </a:extLst>
          </p:cNvPr>
          <p:cNvSpPr>
            <a:spLocks xmlns:a="http://schemas.openxmlformats.org/drawingml/2006/main" noGrp="1"/>
          </p:cNvSpPr>
          <p:nvPr/>
        </p:nvSpPr>
        <p:spPr>
          <a:xfrm xmlns:a="http://schemas.openxmlformats.org/drawingml/2006/main">
            <a:off x="6400800" y="4429125"/>
            <a:ext cx="1381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PICKED</a:t>
            </a:r>
          </a:p>
        </p:txBody>
      </p:sp>
      <p:sp>
        <p:nvSpPr>
          <p:cNvPr id="42" name="">
            <a:extLst xmlns:a="http://schemas.openxmlformats.org/drawingml/2006/main">
              <a:ext uri="{FF2B5EF4-FFF2-40B4-BE49-F238E27FC236}">
                <a16:creationId xmlns:a16="http://schemas.microsoft.com/office/drawing/2014/main" id="{3B0EC254-1217-4C21-BA60-5034D0114912}"/>
              </a:ext>
            </a:extLst>
          </p:cNvPr>
          <p:cNvSpPr>
            <a:spLocks xmlns:a="http://schemas.openxmlformats.org/drawingml/2006/main" noGrp="1"/>
          </p:cNvSpPr>
          <p:nvPr/>
        </p:nvSpPr>
        <p:spPr>
          <a:xfrm xmlns:a="http://schemas.openxmlformats.org/drawingml/2006/main">
            <a:off x="6400800" y="46672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critical</a:t>
            </a:r>
          </a:p>
        </p:txBody>
      </p:sp>
      <p:sp>
        <p:nvSpPr>
          <p:cNvPr id="43" name="">
            <a:extLst xmlns:a="http://schemas.openxmlformats.org/drawingml/2006/main">
              <a:ext uri="{FF2B5EF4-FFF2-40B4-BE49-F238E27FC236}">
                <a16:creationId xmlns:a16="http://schemas.microsoft.com/office/drawing/2014/main" id="{DA73DF0F-3C76-4671-BFE9-E9831E6672F7}"/>
              </a:ext>
            </a:extLst>
          </p:cNvPr>
          <p:cNvSpPr>
            <a:spLocks xmlns:a="http://schemas.openxmlformats.org/drawingml/2006/main" noGrp="1"/>
          </p:cNvSpPr>
          <p:nvPr/>
        </p:nvSpPr>
        <p:spPr>
          <a:xfrm xmlns:a="http://schemas.openxmlformats.org/drawingml/2006/main">
            <a:off x="7953375" y="442912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TOP P</a:t>
            </a:r>
          </a:p>
        </p:txBody>
      </p:sp>
      <p:sp>
        <p:nvSpPr>
          <p:cNvPr id="44" name="">
            <a:extLst xmlns:a="http://schemas.openxmlformats.org/drawingml/2006/main">
              <a:ext uri="{FF2B5EF4-FFF2-40B4-BE49-F238E27FC236}">
                <a16:creationId xmlns:a16="http://schemas.microsoft.com/office/drawing/2014/main" id="{045284BB-E4D9-435B-80A4-0371F58F5809}"/>
              </a:ext>
            </a:extLst>
          </p:cNvPr>
          <p:cNvSpPr>
            <a:spLocks xmlns:a="http://schemas.openxmlformats.org/drawingml/2006/main" noGrp="1"/>
          </p:cNvSpPr>
          <p:nvPr/>
        </p:nvSpPr>
        <p:spPr>
          <a:xfrm xmlns:a="http://schemas.openxmlformats.org/drawingml/2006/main">
            <a:off x="7953375" y="46672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5" name="">
            <a:extLst xmlns:a="http://schemas.openxmlformats.org/drawingml/2006/main">
              <a:ext uri="{FF2B5EF4-FFF2-40B4-BE49-F238E27FC236}">
                <a16:creationId xmlns:a16="http://schemas.microsoft.com/office/drawing/2014/main" id="{44CEDD8E-299D-4D23-8C4E-73DD0CC76B16}"/>
              </a:ext>
            </a:extLst>
          </p:cNvPr>
          <p:cNvSpPr>
            <a:spLocks xmlns:a="http://schemas.openxmlformats.org/drawingml/2006/main" noGrp="1"/>
          </p:cNvSpPr>
          <p:nvPr/>
        </p:nvSpPr>
        <p:spPr>
          <a:xfrm xmlns:a="http://schemas.openxmlformats.org/drawingml/2006/main">
            <a:off x="9315450" y="4429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MARGIN</a:t>
            </a:r>
          </a:p>
        </p:txBody>
      </p:sp>
      <p:sp>
        <p:nvSpPr>
          <p:cNvPr id="46" name="">
            <a:extLst xmlns:a="http://schemas.openxmlformats.org/drawingml/2006/main">
              <a:ext uri="{FF2B5EF4-FFF2-40B4-BE49-F238E27FC236}">
                <a16:creationId xmlns:a16="http://schemas.microsoft.com/office/drawing/2014/main" id="{7D2C2D2C-2E88-422F-AB8D-2E67330CE809}"/>
              </a:ext>
            </a:extLst>
          </p:cNvPr>
          <p:cNvSpPr>
            <a:spLocks xmlns:a="http://schemas.openxmlformats.org/drawingml/2006/main" noGrp="1"/>
          </p:cNvSpPr>
          <p:nvPr/>
        </p:nvSpPr>
        <p:spPr>
          <a:xfrm xmlns:a="http://schemas.openxmlformats.org/drawingml/2006/main">
            <a:off x="9315450" y="4667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1.0000</a:t>
            </a:r>
          </a:p>
        </p:txBody>
      </p:sp>
      <p:sp>
        <p:nvSpPr>
          <p:cNvPr id="47" name="">
            <a:extLst xmlns:a="http://schemas.openxmlformats.org/drawingml/2006/main">
              <a:ext uri="{FF2B5EF4-FFF2-40B4-BE49-F238E27FC236}">
                <a16:creationId xmlns:a16="http://schemas.microsoft.com/office/drawing/2014/main" id="{E8825F4F-4D06-4DB5-8F98-74893CF4318B}"/>
              </a:ext>
            </a:extLst>
          </p:cNvPr>
          <p:cNvSpPr>
            <a:spLocks xmlns:a="http://schemas.openxmlformats.org/drawingml/2006/main" noGrp="1"/>
          </p:cNvSpPr>
          <p:nvPr/>
        </p:nvSpPr>
        <p:spPr>
          <a:xfrm xmlns:a="http://schemas.openxmlformats.org/drawingml/2006/main">
            <a:off x="10363200" y="442912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CLEARANCE</a:t>
            </a:r>
          </a:p>
        </p:txBody>
      </p:sp>
      <p:sp>
        <p:nvSpPr>
          <p:cNvPr id="48" name="">
            <a:extLst xmlns:a="http://schemas.openxmlformats.org/drawingml/2006/main">
              <a:ext uri="{FF2B5EF4-FFF2-40B4-BE49-F238E27FC236}">
                <a16:creationId xmlns:a16="http://schemas.microsoft.com/office/drawing/2014/main" id="{DA33C469-D562-4FC9-9263-5850E6A3CF3D}"/>
              </a:ext>
            </a:extLst>
          </p:cNvPr>
          <p:cNvSpPr>
            <a:spLocks xmlns:a="http://schemas.openxmlformats.org/drawingml/2006/main" noGrp="1"/>
          </p:cNvSpPr>
          <p:nvPr/>
        </p:nvSpPr>
        <p:spPr>
          <a:xfrm xmlns:a="http://schemas.openxmlformats.org/drawingml/2006/main">
            <a:off x="10363200" y="46672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1E7A4B"/>
                </a:solidFill>
                <a:latin typeface="Calibri"/>
                <a:ea typeface="Calibri"/>
                <a:cs typeface="Calibri"/>
              </a:defRPr>
            </a:pPr>
            <a:r>
              <a:rPr sz="1425" b="1" i="0">
                <a:solidFill>
                  <a:srgbClr val="1E7A4B"/>
                </a:solidFill>
                <a:latin typeface="Calibri"/>
                <a:ea typeface="Calibri"/>
                <a:cs typeface="Calibri"/>
              </a:rPr>
              <a:t>0.0000</a:t>
            </a:r>
          </a:p>
        </p:txBody>
      </p:sp>
      <p:sp>
        <p:nvSpPr>
          <p:cNvPr id="49" name="">
            <a:extLst xmlns:a="http://schemas.openxmlformats.org/drawingml/2006/main">
              <a:ext uri="{FF2B5EF4-FFF2-40B4-BE49-F238E27FC236}">
                <a16:creationId xmlns:a16="http://schemas.microsoft.com/office/drawing/2014/main" id="{F91360F3-5690-4F88-AEEF-76363AB62F5A}"/>
              </a:ext>
            </a:extLst>
          </p:cNvPr>
          <p:cNvSpPr>
            <a:spLocks xmlns:a="http://schemas.openxmlformats.org/drawingml/2006/main" noGrp="1"/>
          </p:cNvSpPr>
          <p:nvPr/>
        </p:nvSpPr>
        <p:spPr>
          <a:xfrm xmlns:a="http://schemas.openxmlformats.org/drawingml/2006/main">
            <a:off x="781050" y="61817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6B7A8C"/>
                </a:solidFill>
                <a:latin typeface="Calibri"/>
                <a:ea typeface="Calibri"/>
                <a:cs typeface="Calibri"/>
              </a:defRPr>
            </a:pPr>
            <a:r>
              <a:rPr sz="975" b="1" i="0">
                <a:solidFill>
                  <a:srgbClr val="6B7A8C"/>
                </a:solidFill>
                <a:latin typeface="Calibri"/>
                <a:ea typeface="Calibri"/>
                <a:cs typeface="Calibri"/>
              </a:rPr>
              <a:t>Expected: critical</a:t>
            </a:r>
          </a:p>
        </p:txBody>
      </p:sp>
      <p:sp>
        <p:nvSpPr>
          <p:cNvPr id="50" name="">
            <a:extLst xmlns:a="http://schemas.openxmlformats.org/drawingml/2006/main">
              <a:ext uri="{FF2B5EF4-FFF2-40B4-BE49-F238E27FC236}">
                <a16:creationId xmlns:a16="http://schemas.microsoft.com/office/drawing/2014/main" id="{F0B2ADEA-D23F-4719-921C-FD41B0BC3B26}"/>
              </a:ext>
            </a:extLst>
          </p:cNvPr>
          <p:cNvSpPr>
            <a:spLocks xmlns:a="http://schemas.openxmlformats.org/drawingml/2006/main" noGrp="1"/>
          </p:cNvSpPr>
          <p:nvPr/>
        </p:nvSpPr>
        <p:spPr>
          <a:xfrm xmlns:a="http://schemas.openxmlformats.org/drawingml/2006/main">
            <a:off x="6191250" y="6181725"/>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1">
                <a:solidFill>
                  <a:srgbClr val="815AC0"/>
                </a:solidFill>
                <a:latin typeface="Calibri"/>
                <a:ea typeface="Calibri"/>
                <a:cs typeface="Calibri"/>
              </a:defRPr>
            </a:pPr>
            <a:r>
              <a:rPr sz="975" b="0" i="1">
                <a:solidFill>
                  <a:srgbClr val="815AC0"/>
                </a:solidFill>
                <a:latin typeface="Calibri"/>
                <a:ea typeface="Calibri"/>
                <a:cs typeface="Calibri"/>
              </a:rPr>
              <a:t>TypeSafe API confidence: 1.0000</a:t>
            </a:r>
          </a:p>
        </p:txBody>
      </p:sp>
      <p:sp>
        <p:nvSpPr>
          <p:cNvPr id="51" name="">
            <a:extLst xmlns:a="http://schemas.openxmlformats.org/drawingml/2006/main">
              <a:ext uri="{FF2B5EF4-FFF2-40B4-BE49-F238E27FC236}">
                <a16:creationId xmlns:a16="http://schemas.microsoft.com/office/drawing/2014/main" id="{2ACA1BA2-E49A-4CBD-A2F8-07F9E2421488}"/>
              </a:ext>
            </a:extLst>
          </p:cNvPr>
          <p:cNvSpPr>
            <a:spLocks xmlns:a="http://schemas.openxmlformats.org/drawingml/2006/main" noGrp="1"/>
          </p:cNvSpPr>
          <p:nvPr/>
        </p:nvSpPr>
        <p:spPr>
          <a:xfrm xmlns:a="http://schemas.openxmlformats.org/drawingml/2006/main">
            <a:off x="781050" y="6543675"/>
            <a:ext cx="1045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i="0">
                <a:solidFill>
                  <a:srgbClr val="90A2B4"/>
                </a:solidFill>
                <a:latin typeface="Calibri"/>
                <a:ea typeface="Calibri"/>
                <a:cs typeface="Calibri"/>
              </a:defRPr>
            </a:pPr>
            <a:r>
              <a:rPr sz="750" b="0" i="0">
                <a:solidFill>
                  <a:srgbClr val="90A2B4"/>
                </a:solidFill>
                <a:latin typeface="Calibri"/>
                <a:ea typeface="Calibri"/>
                <a:cs typeface="Calibri"/>
              </a:rPr>
              <a:t>case 12 of 12  ·  id: urgency_triage</a:t>
            </a:r>
          </a:p>
        </p:txBody>
      </p:sp>
    </p:spTree>
    <p:extLst>
      <p:ext uri="{BB962C8B-B14F-4D97-AF65-F5344CB8AC3E}">
        <p14:creationId xmlns:p14="http://schemas.microsoft.com/office/powerpoint/2010/main" val="155715049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7" name="background">
            <a:extLst xmlns:a="http://schemas.openxmlformats.org/drawingml/2006/main">
              <a:ext uri="{FF2B5EF4-FFF2-40B4-BE49-F238E27FC236}">
                <a16:creationId xmlns:a16="http://schemas.microsoft.com/office/drawing/2014/main" id="{26C0EC6E-06D5-4B18-85CC-439AF5AAFE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2BEF7B90-5450-4310-B27E-0FE900518A66}"/>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79ABAB-69FB-4BF3-9DEF-53A7BAD2904A}"/>
              </a:ext>
            </a:extLst>
          </p:cNvPr>
          <p:cNvSpPr>
            <a:spLocks xmlns:a="http://schemas.openxmlformats.org/drawingml/2006/main" noGrp="1"/>
          </p:cNvSpPr>
          <p:nvPr/>
        </p:nvSpPr>
        <p:spPr>
          <a:xfrm xmlns:a="http://schemas.openxmlformats.org/drawingml/2006/main">
            <a:off x="781050" y="40005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i="0">
                <a:solidFill>
                  <a:srgbClr val="21295C"/>
                </a:solidFill>
                <a:latin typeface="Georgia"/>
                <a:ea typeface="Georgia"/>
                <a:cs typeface="Georgia"/>
              </a:defRPr>
            </a:pPr>
            <a:r>
              <a:rPr sz="3150" b="1" i="0">
                <a:solidFill>
                  <a:srgbClr val="21295C"/>
                </a:solidFill>
                <a:latin typeface="Georgia"/>
                <a:ea typeface="Georgia"/>
                <a:cs typeface="Georgia"/>
              </a:rPr>
              <a:t>All twelve results</a:t>
            </a:r>
          </a:p>
        </p:txBody>
      </p:sp>
      <p:sp>
        <p:nvSpPr>
          <p:cNvPr id="4" name="">
            <a:extLst xmlns:a="http://schemas.openxmlformats.org/drawingml/2006/main">
              <a:ext uri="{FF2B5EF4-FFF2-40B4-BE49-F238E27FC236}">
                <a16:creationId xmlns:a16="http://schemas.microsoft.com/office/drawing/2014/main" id="{08740246-B370-4AFA-8C5D-710614B64401}"/>
              </a:ext>
            </a:extLst>
          </p:cNvPr>
          <p:cNvSpPr>
            <a:spLocks xmlns:a="http://schemas.openxmlformats.org/drawingml/2006/main" noGrp="1"/>
          </p:cNvSpPr>
          <p:nvPr/>
        </p:nvSpPr>
        <p:spPr>
          <a:xfrm xmlns:a="http://schemas.openxmlformats.org/drawingml/2006/main">
            <a:off x="781050" y="9429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i="1">
                <a:solidFill>
                  <a:srgbClr val="6B7A8C"/>
                </a:solidFill>
                <a:latin typeface="Calibri"/>
                <a:ea typeface="Calibri"/>
                <a:cs typeface="Calibri"/>
              </a:defRPr>
            </a:pPr>
            <a:r>
              <a:rPr sz="1350" b="0" i="1">
                <a:solidFill>
                  <a:srgbClr val="6B7A8C"/>
                </a:solidFill>
                <a:latin typeface="Calibri"/>
                <a:ea typeface="Calibri"/>
                <a:cs typeface="Calibri"/>
              </a:rPr>
              <a:t>Both scorers ranked every expected answer first. Their probability separation differs</a:t>
            </a:r>
          </a:p>
        </p:txBody>
      </p:sp>
      <p:graphicFrame>
        <p:nvGraphicFramePr>
          <p:cNvPr id="13" name=""/>
          <p:cNvGraphicFramePr/>
          <p:nvPr/>
        </p:nvGraphicFramePr>
        <p:xfrm>
          <a:off xmlns:a="http://schemas.openxmlformats.org/drawingml/2006/main" x="781050" y="1466850"/>
          <a:ext xmlns:a="http://schemas.openxmlformats.org/drawingml/2006/main" cx="10458450" cy="4533900"/>
        </p:xfrm>
        <a:graphic xmlns:a="http://schemas.openxmlformats.org/drawingml/2006/main">
          <a:graphicData uri="http://schemas.openxmlformats.org/drawingml/2006/table">
            <a:tbl>
              <a:tblPr firstRow="1" bandRow="1"/>
              <a:tblGrid>
                <a:gridCol w="2133600"/>
                <a:gridCol w="1009650"/>
                <a:gridCol w="1104900"/>
                <a:gridCol w="762000"/>
                <a:gridCol w="876300"/>
                <a:gridCol w="1200150"/>
                <a:gridCol w="704850"/>
                <a:gridCol w="876300"/>
              </a:tblGrid>
              <a:tr h="342900">
                <a:tc>
                  <a:txBody>
                    <a:bodyPr/>
                    <a:lstStyle/>
                    <a:p>
                      <a:r>
                        <a:rPr sz="900" b="1">
                          <a:solidFill>
                            <a:srgbClr val="FFFFFF"/>
                          </a:solidFill>
                          <a:latin typeface="Calibri"/>
                          <a:ea typeface="Calibri"/>
                          <a:cs typeface="Calibri"/>
                        </a:rPr>
                        <a:t>Reasoning</a:t>
                      </a:r>
                    </a:p>
                  </a:txBody>
                  <a:tcPr marL="76200" marR="57150" marT="38100" marB="38100" anchor="ctr">
                    <a:solidFill>
                      <a:srgbClr val="21295C"/>
                    </a:solidFill>
                  </a:tcPr>
                </a:tc>
                <a:tc>
                  <a:txBody>
                    <a:bodyPr/>
                    <a:lstStyle/>
                    <a:p>
                      <a:r>
                        <a:rPr sz="900" b="1">
                          <a:solidFill>
                            <a:srgbClr val="FFFFFF"/>
                          </a:solidFill>
                          <a:latin typeface="Calibri"/>
                          <a:ea typeface="Calibri"/>
                          <a:cs typeface="Calibri"/>
                        </a:rPr>
                        <a:t>Expected</a:t>
                      </a:r>
                    </a:p>
                  </a:txBody>
                  <a:tcPr marL="76200" marR="57150" marT="38100" marB="38100" anchor="ctr">
                    <a:solidFill>
                      <a:srgbClr val="21295C"/>
                    </a:solidFill>
                  </a:tcPr>
                </a:tc>
                <a:tc>
                  <a:txBody>
                    <a:bodyPr/>
                    <a:lstStyle/>
                    <a:p>
                      <a:r>
                        <a:rPr sz="900" b="1">
                          <a:solidFill>
                            <a:srgbClr val="FFFFFF"/>
                          </a:solidFill>
                          <a:latin typeface="Calibri"/>
                          <a:ea typeface="Calibri"/>
                          <a:cs typeface="Calibri"/>
                        </a:rPr>
                        <a:t>Local pick</a:t>
                      </a:r>
                    </a:p>
                  </a:txBody>
                  <a:tcPr marL="76200" marR="57150" marT="38100" marB="38100" anchor="ctr">
                    <a:solidFill>
                      <a:srgbClr val="21295C"/>
                    </a:solidFill>
                  </a:tcPr>
                </a:tc>
                <a:tc>
                  <a:txBody>
                    <a:bodyPr/>
                    <a:lstStyle/>
                    <a:p>
                      <a:r>
                        <a:rPr sz="900" b="1">
                          <a:solidFill>
                            <a:srgbClr val="FFFFFF"/>
                          </a:solidFill>
                          <a:latin typeface="Calibri"/>
                          <a:ea typeface="Calibri"/>
                          <a:cs typeface="Calibri"/>
                        </a:rPr>
                        <a:t>Local p</a:t>
                      </a:r>
                    </a:p>
                  </a:txBody>
                  <a:tcPr marL="76200" marR="57150" marT="38100" marB="38100" anchor="ctr">
                    <a:solidFill>
                      <a:srgbClr val="21295C"/>
                    </a:solidFill>
                  </a:tcPr>
                </a:tc>
                <a:tc>
                  <a:txBody>
                    <a:bodyPr/>
                    <a:lstStyle/>
                    <a:p>
                      <a:r>
                        <a:rPr sz="900" b="1">
                          <a:solidFill>
                            <a:srgbClr val="FFFFFF"/>
                          </a:solidFill>
                          <a:latin typeface="Calibri"/>
                          <a:ea typeface="Calibri"/>
                          <a:cs typeface="Calibri"/>
                        </a:rPr>
                        <a:t>Local margin</a:t>
                      </a:r>
                    </a:p>
                  </a:txBody>
                  <a:tcPr marL="76200" marR="57150" marT="38100" marB="38100" anchor="ctr">
                    <a:solidFill>
                      <a:srgbClr val="21295C"/>
                    </a:solidFill>
                  </a:tcPr>
                </a:tc>
                <a:tc>
                  <a:txBody>
                    <a:bodyPr/>
                    <a:lstStyle/>
                    <a:p>
                      <a:r>
                        <a:rPr sz="900" b="1">
                          <a:solidFill>
                            <a:srgbClr val="FFFFFF"/>
                          </a:solidFill>
                          <a:latin typeface="Calibri"/>
                          <a:ea typeface="Calibri"/>
                          <a:cs typeface="Calibri"/>
                        </a:rPr>
                        <a:t>TypeSafe pick</a:t>
                      </a:r>
                    </a:p>
                  </a:txBody>
                  <a:tcPr marL="76200" marR="57150" marT="38100" marB="38100" anchor="ctr">
                    <a:solidFill>
                      <a:srgbClr val="21295C"/>
                    </a:solidFill>
                  </a:tcPr>
                </a:tc>
                <a:tc>
                  <a:txBody>
                    <a:bodyPr/>
                    <a:lstStyle/>
                    <a:p>
                      <a:r>
                        <a:rPr sz="900" b="1">
                          <a:solidFill>
                            <a:srgbClr val="FFFFFF"/>
                          </a:solidFill>
                          <a:latin typeface="Calibri"/>
                          <a:ea typeface="Calibri"/>
                          <a:cs typeface="Calibri"/>
                        </a:rPr>
                        <a:t>TS p</a:t>
                      </a:r>
                    </a:p>
                  </a:txBody>
                  <a:tcPr marL="76200" marR="57150" marT="38100" marB="38100" anchor="ctr">
                    <a:solidFill>
                      <a:srgbClr val="21295C"/>
                    </a:solidFill>
                  </a:tcPr>
                </a:tc>
                <a:tc>
                  <a:txBody>
                    <a:bodyPr/>
                    <a:lstStyle/>
                    <a:p>
                      <a:r>
                        <a:rPr sz="900" b="1">
                          <a:solidFill>
                            <a:srgbClr val="FFFFFF"/>
                          </a:solidFill>
                          <a:latin typeface="Calibri"/>
                          <a:ea typeface="Calibri"/>
                          <a:cs typeface="Calibri"/>
                        </a:rPr>
                        <a:t>JEV margin</a:t>
                      </a:r>
                    </a:p>
                  </a:txBody>
                  <a:tcPr marL="76200" marR="57150" marT="38100" marB="38100" anchor="ctr">
                    <a:solidFill>
                      <a:srgbClr val="21295C"/>
                    </a:solidFill>
                  </a:tcPr>
                </a:tc>
              </a:tr>
              <a:tr h="349568">
                <a:tc>
                  <a:txBody>
                    <a:bodyPr/>
                    <a:lstStyle/>
                    <a:p>
                      <a:r>
                        <a:rPr sz="863">
                          <a:solidFill>
                            <a:srgbClr val="1A1F2B"/>
                          </a:solidFill>
                          <a:latin typeface="Calibri"/>
                          <a:ea typeface="Calibri"/>
                          <a:cs typeface="Calibri"/>
                        </a:rPr>
                        <a:t>lexical sentiment</a:t>
                      </a:r>
                    </a:p>
                  </a:txBody>
                  <a:tcPr marL="76200" marR="57150" marT="28575" marB="28575" anchor="ctr"/>
                </a:tc>
                <a:tc>
                  <a:txBody>
                    <a:bodyPr/>
                    <a:lstStyle/>
                    <a:p>
                      <a:r>
                        <a:rPr sz="863">
                          <a:solidFill>
                            <a:srgbClr val="1A1F2B"/>
                          </a:solidFill>
                          <a:latin typeface="Calibri"/>
                          <a:ea typeface="Calibri"/>
                          <a:cs typeface="Calibri"/>
                        </a:rPr>
                        <a:t>positive</a:t>
                      </a:r>
                    </a:p>
                  </a:txBody>
                  <a:tcPr marL="76200" marR="57150" marT="28575" marB="28575" anchor="ctr"/>
                </a:tc>
                <a:tc>
                  <a:txBody>
                    <a:bodyPr/>
                    <a:lstStyle/>
                    <a:p>
                      <a:r>
                        <a:rPr sz="863" b="1">
                          <a:solidFill>
                            <a:srgbClr val="065A82"/>
                          </a:solidFill>
                          <a:latin typeface="Calibri"/>
                          <a:ea typeface="Calibri"/>
                          <a:cs typeface="Calibri"/>
                        </a:rPr>
                        <a:t>positive</a:t>
                      </a:r>
                    </a:p>
                  </a:txBody>
                  <a:tcPr marL="76200" marR="57150" marT="28575" marB="28575" anchor="ctr"/>
                </a:tc>
                <a:tc>
                  <a:txBody>
                    <a:bodyPr/>
                    <a:lstStyle/>
                    <a:p>
                      <a:r>
                        <a:rPr sz="863">
                          <a:solidFill>
                            <a:srgbClr val="1A1F2B"/>
                          </a:solidFill>
                          <a:latin typeface="Calibri"/>
                          <a:ea typeface="Calibri"/>
                          <a:cs typeface="Calibri"/>
                        </a:rPr>
                        <a:t>0.9862</a:t>
                      </a:r>
                    </a:p>
                  </a:txBody>
                  <a:tcPr marL="76200" marR="57150" marT="28575" marB="28575" anchor="ctr"/>
                </a:tc>
                <a:tc>
                  <a:txBody>
                    <a:bodyPr/>
                    <a:lstStyle/>
                    <a:p>
                      <a:r>
                        <a:rPr sz="863" b="1">
                          <a:solidFill>
                            <a:srgbClr val="1E7A4B"/>
                          </a:solidFill>
                          <a:latin typeface="Calibri"/>
                          <a:ea typeface="Calibri"/>
                          <a:cs typeface="Calibri"/>
                        </a:rPr>
                        <a:t>0.9723</a:t>
                      </a:r>
                    </a:p>
                  </a:txBody>
                  <a:tcPr marL="76200" marR="57150" marT="28575" marB="28575" anchor="ctr"/>
                </a:tc>
                <a:tc>
                  <a:txBody>
                    <a:bodyPr/>
                    <a:lstStyle/>
                    <a:p>
                      <a:r>
                        <a:rPr sz="863" b="1">
                          <a:solidFill>
                            <a:srgbClr val="815AC0"/>
                          </a:solidFill>
                          <a:latin typeface="Calibri"/>
                          <a:ea typeface="Calibri"/>
                          <a:cs typeface="Calibri"/>
                        </a:rPr>
                        <a:t>positive</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r h="349568">
                <a:tc>
                  <a:txBody>
                    <a:bodyPr/>
                    <a:lstStyle/>
                    <a:p>
                      <a:r>
                        <a:rPr sz="863">
                          <a:solidFill>
                            <a:srgbClr val="1A1F2B"/>
                          </a:solidFill>
                          <a:latin typeface="Calibri"/>
                          <a:ea typeface="Calibri"/>
                          <a:cs typeface="Calibri"/>
                        </a:rPr>
                        <a:t>arithmetic</a:t>
                      </a:r>
                    </a:p>
                  </a:txBody>
                  <a:tcPr marL="76200" marR="57150" marT="28575" marB="28575" anchor="ctr"/>
                </a:tc>
                <a:tc>
                  <a:txBody>
                    <a:bodyPr/>
                    <a:lstStyle/>
                    <a:p>
                      <a:r>
                        <a:rPr sz="863">
                          <a:solidFill>
                            <a:srgbClr val="1A1F2B"/>
                          </a:solidFill>
                          <a:latin typeface="Calibri"/>
                          <a:ea typeface="Calibri"/>
                          <a:cs typeface="Calibri"/>
                        </a:rPr>
                        <a:t>four</a:t>
                      </a:r>
                    </a:p>
                  </a:txBody>
                  <a:tcPr marL="76200" marR="57150" marT="28575" marB="28575" anchor="ctr"/>
                </a:tc>
                <a:tc>
                  <a:txBody>
                    <a:bodyPr/>
                    <a:lstStyle/>
                    <a:p>
                      <a:r>
                        <a:rPr sz="863" b="1">
                          <a:solidFill>
                            <a:srgbClr val="065A82"/>
                          </a:solidFill>
                          <a:latin typeface="Calibri"/>
                          <a:ea typeface="Calibri"/>
                          <a:cs typeface="Calibri"/>
                        </a:rPr>
                        <a:t>four</a:t>
                      </a:r>
                    </a:p>
                  </a:txBody>
                  <a:tcPr marL="76200" marR="57150" marT="28575" marB="28575" anchor="ctr"/>
                </a:tc>
                <a:tc>
                  <a:txBody>
                    <a:bodyPr/>
                    <a:lstStyle/>
                    <a:p>
                      <a:r>
                        <a:rPr sz="863">
                          <a:solidFill>
                            <a:srgbClr val="1A1F2B"/>
                          </a:solidFill>
                          <a:latin typeface="Calibri"/>
                          <a:ea typeface="Calibri"/>
                          <a:cs typeface="Calibri"/>
                        </a:rPr>
                        <a:t>0.3854</a:t>
                      </a:r>
                    </a:p>
                  </a:txBody>
                  <a:tcPr marL="76200" marR="57150" marT="28575" marB="28575" anchor="ctr"/>
                </a:tc>
                <a:tc>
                  <a:txBody>
                    <a:bodyPr/>
                    <a:lstStyle/>
                    <a:p>
                      <a:r>
                        <a:rPr sz="863" b="1">
                          <a:solidFill>
                            <a:srgbClr val="B86E00"/>
                          </a:solidFill>
                          <a:latin typeface="Calibri"/>
                          <a:ea typeface="Calibri"/>
                          <a:cs typeface="Calibri"/>
                        </a:rPr>
                        <a:t>0.0733</a:t>
                      </a:r>
                    </a:p>
                  </a:txBody>
                  <a:tcPr marL="76200" marR="57150" marT="28575" marB="28575" anchor="ctr"/>
                </a:tc>
                <a:tc>
                  <a:txBody>
                    <a:bodyPr/>
                    <a:lstStyle/>
                    <a:p>
                      <a:r>
                        <a:rPr sz="863" b="1">
                          <a:solidFill>
                            <a:srgbClr val="815AC0"/>
                          </a:solidFill>
                          <a:latin typeface="Calibri"/>
                          <a:ea typeface="Calibri"/>
                          <a:cs typeface="Calibri"/>
                        </a:rPr>
                        <a:t>four</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r h="349568">
                <a:tc>
                  <a:txBody>
                    <a:bodyPr/>
                    <a:lstStyle/>
                    <a:p>
                      <a:r>
                        <a:rPr sz="863">
                          <a:solidFill>
                            <a:srgbClr val="1A1F2B"/>
                          </a:solidFill>
                          <a:latin typeface="Calibri"/>
                          <a:ea typeface="Calibri"/>
                          <a:cs typeface="Calibri"/>
                        </a:rPr>
                        <a:t>world knowledge</a:t>
                      </a:r>
                    </a:p>
                  </a:txBody>
                  <a:tcPr marL="76200" marR="57150" marT="28575" marB="28575" anchor="ctr"/>
                </a:tc>
                <a:tc>
                  <a:txBody>
                    <a:bodyPr/>
                    <a:lstStyle/>
                    <a:p>
                      <a:r>
                        <a:rPr sz="863">
                          <a:solidFill>
                            <a:srgbClr val="1A1F2B"/>
                          </a:solidFill>
                          <a:latin typeface="Calibri"/>
                          <a:ea typeface="Calibri"/>
                          <a:cs typeface="Calibri"/>
                        </a:rPr>
                        <a:t>paris</a:t>
                      </a:r>
                    </a:p>
                  </a:txBody>
                  <a:tcPr marL="76200" marR="57150" marT="28575" marB="28575" anchor="ctr"/>
                </a:tc>
                <a:tc>
                  <a:txBody>
                    <a:bodyPr/>
                    <a:lstStyle/>
                    <a:p>
                      <a:r>
                        <a:rPr sz="863" b="1">
                          <a:solidFill>
                            <a:srgbClr val="065A82"/>
                          </a:solidFill>
                          <a:latin typeface="Calibri"/>
                          <a:ea typeface="Calibri"/>
                          <a:cs typeface="Calibri"/>
                        </a:rPr>
                        <a:t>paris</a:t>
                      </a:r>
                    </a:p>
                  </a:txBody>
                  <a:tcPr marL="76200" marR="57150" marT="28575" marB="28575" anchor="ctr"/>
                </a:tc>
                <a:tc>
                  <a:txBody>
                    <a:bodyPr/>
                    <a:lstStyle/>
                    <a:p>
                      <a:r>
                        <a:rPr sz="863">
                          <a:solidFill>
                            <a:srgbClr val="1A1F2B"/>
                          </a:solidFill>
                          <a:latin typeface="Calibri"/>
                          <a:ea typeface="Calibri"/>
                          <a:cs typeface="Calibri"/>
                        </a:rPr>
                        <a:t>0.4442</a:t>
                      </a:r>
                    </a:p>
                  </a:txBody>
                  <a:tcPr marL="76200" marR="57150" marT="28575" marB="28575" anchor="ctr"/>
                </a:tc>
                <a:tc>
                  <a:txBody>
                    <a:bodyPr/>
                    <a:lstStyle/>
                    <a:p>
                      <a:r>
                        <a:rPr sz="863" b="1">
                          <a:solidFill>
                            <a:srgbClr val="B86E00"/>
                          </a:solidFill>
                          <a:latin typeface="Calibri"/>
                          <a:ea typeface="Calibri"/>
                          <a:cs typeface="Calibri"/>
                        </a:rPr>
                        <a:t>0.1441</a:t>
                      </a:r>
                    </a:p>
                  </a:txBody>
                  <a:tcPr marL="76200" marR="57150" marT="28575" marB="28575" anchor="ctr"/>
                </a:tc>
                <a:tc>
                  <a:txBody>
                    <a:bodyPr/>
                    <a:lstStyle/>
                    <a:p>
                      <a:r>
                        <a:rPr sz="863" b="1">
                          <a:solidFill>
                            <a:srgbClr val="815AC0"/>
                          </a:solidFill>
                          <a:latin typeface="Calibri"/>
                          <a:ea typeface="Calibri"/>
                          <a:cs typeface="Calibri"/>
                        </a:rPr>
                        <a:t>paris</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r h="349568">
                <a:tc>
                  <a:txBody>
                    <a:bodyPr/>
                    <a:lstStyle/>
                    <a:p>
                      <a:r>
                        <a:rPr sz="863">
                          <a:solidFill>
                            <a:srgbClr val="1A1F2B"/>
                          </a:solidFill>
                          <a:latin typeface="Calibri"/>
                          <a:ea typeface="Calibri"/>
                          <a:cs typeface="Calibri"/>
                        </a:rPr>
                        <a:t>taxonomy</a:t>
                      </a:r>
                    </a:p>
                  </a:txBody>
                  <a:tcPr marL="76200" marR="57150" marT="28575" marB="28575" anchor="ctr"/>
                </a:tc>
                <a:tc>
                  <a:txBody>
                    <a:bodyPr/>
                    <a:lstStyle/>
                    <a:p>
                      <a:r>
                        <a:rPr sz="863">
                          <a:solidFill>
                            <a:srgbClr val="1A1F2B"/>
                          </a:solidFill>
                          <a:latin typeface="Calibri"/>
                          <a:ea typeface="Calibri"/>
                          <a:cs typeface="Calibri"/>
                        </a:rPr>
                        <a:t>mammal</a:t>
                      </a:r>
                    </a:p>
                  </a:txBody>
                  <a:tcPr marL="76200" marR="57150" marT="28575" marB="28575" anchor="ctr"/>
                </a:tc>
                <a:tc>
                  <a:txBody>
                    <a:bodyPr/>
                    <a:lstStyle/>
                    <a:p>
                      <a:r>
                        <a:rPr sz="863" b="1">
                          <a:solidFill>
                            <a:srgbClr val="065A82"/>
                          </a:solidFill>
                          <a:latin typeface="Calibri"/>
                          <a:ea typeface="Calibri"/>
                          <a:cs typeface="Calibri"/>
                        </a:rPr>
                        <a:t>mammal</a:t>
                      </a:r>
                    </a:p>
                  </a:txBody>
                  <a:tcPr marL="76200" marR="57150" marT="28575" marB="28575" anchor="ctr"/>
                </a:tc>
                <a:tc>
                  <a:txBody>
                    <a:bodyPr/>
                    <a:lstStyle/>
                    <a:p>
                      <a:r>
                        <a:rPr sz="863">
                          <a:solidFill>
                            <a:srgbClr val="1A1F2B"/>
                          </a:solidFill>
                          <a:latin typeface="Calibri"/>
                          <a:ea typeface="Calibri"/>
                          <a:cs typeface="Calibri"/>
                        </a:rPr>
                        <a:t>0.6424</a:t>
                      </a:r>
                    </a:p>
                  </a:txBody>
                  <a:tcPr marL="76200" marR="57150" marT="28575" marB="28575" anchor="ctr"/>
                </a:tc>
                <a:tc>
                  <a:txBody>
                    <a:bodyPr/>
                    <a:lstStyle/>
                    <a:p>
                      <a:r>
                        <a:rPr sz="863" b="1">
                          <a:solidFill>
                            <a:srgbClr val="B86E00"/>
                          </a:solidFill>
                          <a:latin typeface="Calibri"/>
                          <a:ea typeface="Calibri"/>
                          <a:cs typeface="Calibri"/>
                        </a:rPr>
                        <a:t>0.4338</a:t>
                      </a:r>
                    </a:p>
                  </a:txBody>
                  <a:tcPr marL="76200" marR="57150" marT="28575" marB="28575" anchor="ctr"/>
                </a:tc>
                <a:tc>
                  <a:txBody>
                    <a:bodyPr/>
                    <a:lstStyle/>
                    <a:p>
                      <a:r>
                        <a:rPr sz="863" b="1">
                          <a:solidFill>
                            <a:srgbClr val="815AC0"/>
                          </a:solidFill>
                          <a:latin typeface="Calibri"/>
                          <a:ea typeface="Calibri"/>
                          <a:cs typeface="Calibri"/>
                        </a:rPr>
                        <a:t>mammal</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r h="349568">
                <a:tc>
                  <a:txBody>
                    <a:bodyPr/>
                    <a:lstStyle/>
                    <a:p>
                      <a:r>
                        <a:rPr sz="863">
                          <a:solidFill>
                            <a:srgbClr val="1A1F2B"/>
                          </a:solidFill>
                          <a:latin typeface="Calibri"/>
                          <a:ea typeface="Calibri"/>
                          <a:cs typeface="Calibri"/>
                        </a:rPr>
                        <a:t>negation handling</a:t>
                      </a:r>
                    </a:p>
                  </a:txBody>
                  <a:tcPr marL="76200" marR="57150" marT="28575" marB="28575" anchor="ctr"/>
                </a:tc>
                <a:tc>
                  <a:txBody>
                    <a:bodyPr/>
                    <a:lstStyle/>
                    <a:p>
                      <a:r>
                        <a:rPr sz="863">
                          <a:solidFill>
                            <a:srgbClr val="1A1F2B"/>
                          </a:solidFill>
                          <a:latin typeface="Calibri"/>
                          <a:ea typeface="Calibri"/>
                          <a:cs typeface="Calibri"/>
                        </a:rPr>
                        <a:t>stopped</a:t>
                      </a:r>
                    </a:p>
                  </a:txBody>
                  <a:tcPr marL="76200" marR="57150" marT="28575" marB="28575" anchor="ctr"/>
                </a:tc>
                <a:tc>
                  <a:txBody>
                    <a:bodyPr/>
                    <a:lstStyle/>
                    <a:p>
                      <a:r>
                        <a:rPr sz="863" b="1">
                          <a:solidFill>
                            <a:srgbClr val="065A82"/>
                          </a:solidFill>
                          <a:latin typeface="Calibri"/>
                          <a:ea typeface="Calibri"/>
                          <a:cs typeface="Calibri"/>
                        </a:rPr>
                        <a:t>stopped</a:t>
                      </a:r>
                    </a:p>
                  </a:txBody>
                  <a:tcPr marL="76200" marR="57150" marT="28575" marB="28575" anchor="ctr"/>
                </a:tc>
                <a:tc>
                  <a:txBody>
                    <a:bodyPr/>
                    <a:lstStyle/>
                    <a:p>
                      <a:r>
                        <a:rPr sz="863">
                          <a:solidFill>
                            <a:srgbClr val="1A1F2B"/>
                          </a:solidFill>
                          <a:latin typeface="Calibri"/>
                          <a:ea typeface="Calibri"/>
                          <a:cs typeface="Calibri"/>
                        </a:rPr>
                        <a:t>0.7969</a:t>
                      </a:r>
                    </a:p>
                  </a:txBody>
                  <a:tcPr marL="76200" marR="57150" marT="28575" marB="28575" anchor="ctr"/>
                </a:tc>
                <a:tc>
                  <a:txBody>
                    <a:bodyPr/>
                    <a:lstStyle/>
                    <a:p>
                      <a:r>
                        <a:rPr sz="863" b="1">
                          <a:solidFill>
                            <a:srgbClr val="1E7A4B"/>
                          </a:solidFill>
                          <a:latin typeface="Calibri"/>
                          <a:ea typeface="Calibri"/>
                          <a:cs typeface="Calibri"/>
                        </a:rPr>
                        <a:t>0.5939</a:t>
                      </a:r>
                    </a:p>
                  </a:txBody>
                  <a:tcPr marL="76200" marR="57150" marT="28575" marB="28575" anchor="ctr"/>
                </a:tc>
                <a:tc>
                  <a:txBody>
                    <a:bodyPr/>
                    <a:lstStyle/>
                    <a:p>
                      <a:r>
                        <a:rPr sz="863" b="1">
                          <a:solidFill>
                            <a:srgbClr val="815AC0"/>
                          </a:solidFill>
                          <a:latin typeface="Calibri"/>
                          <a:ea typeface="Calibri"/>
                          <a:cs typeface="Calibri"/>
                        </a:rPr>
                        <a:t>stopped</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r h="349568">
                <a:tc>
                  <a:txBody>
                    <a:bodyPr/>
                    <a:lstStyle/>
                    <a:p>
                      <a:r>
                        <a:rPr sz="863">
                          <a:solidFill>
                            <a:srgbClr val="1A1F2B"/>
                          </a:solidFill>
                          <a:latin typeface="Calibri"/>
                          <a:ea typeface="Calibri"/>
                          <a:cs typeface="Calibri"/>
                        </a:rPr>
                        <a:t>temporal ordering</a:t>
                      </a:r>
                    </a:p>
                  </a:txBody>
                  <a:tcPr marL="76200" marR="57150" marT="28575" marB="28575" anchor="ctr"/>
                </a:tc>
                <a:tc>
                  <a:txBody>
                    <a:bodyPr/>
                    <a:lstStyle/>
                    <a:p>
                      <a:r>
                        <a:rPr sz="863">
                          <a:solidFill>
                            <a:srgbClr val="1A1F2B"/>
                          </a:solidFill>
                          <a:latin typeface="Calibri"/>
                          <a:ea typeface="Calibri"/>
                          <a:cs typeface="Calibri"/>
                        </a:rPr>
                        <a:t>ordering</a:t>
                      </a:r>
                    </a:p>
                  </a:txBody>
                  <a:tcPr marL="76200" marR="57150" marT="28575" marB="28575" anchor="ctr"/>
                </a:tc>
                <a:tc>
                  <a:txBody>
                    <a:bodyPr/>
                    <a:lstStyle/>
                    <a:p>
                      <a:r>
                        <a:rPr sz="863" b="1">
                          <a:solidFill>
                            <a:srgbClr val="065A82"/>
                          </a:solidFill>
                          <a:latin typeface="Calibri"/>
                          <a:ea typeface="Calibri"/>
                          <a:cs typeface="Calibri"/>
                        </a:rPr>
                        <a:t>ordering</a:t>
                      </a:r>
                    </a:p>
                  </a:txBody>
                  <a:tcPr marL="76200" marR="57150" marT="28575" marB="28575" anchor="ctr"/>
                </a:tc>
                <a:tc>
                  <a:txBody>
                    <a:bodyPr/>
                    <a:lstStyle/>
                    <a:p>
                      <a:r>
                        <a:rPr sz="863">
                          <a:solidFill>
                            <a:srgbClr val="1A1F2B"/>
                          </a:solidFill>
                          <a:latin typeface="Calibri"/>
                          <a:ea typeface="Calibri"/>
                          <a:cs typeface="Calibri"/>
                        </a:rPr>
                        <a:t>0.7870</a:t>
                      </a:r>
                    </a:p>
                  </a:txBody>
                  <a:tcPr marL="76200" marR="57150" marT="28575" marB="28575" anchor="ctr"/>
                </a:tc>
                <a:tc>
                  <a:txBody>
                    <a:bodyPr/>
                    <a:lstStyle/>
                    <a:p>
                      <a:r>
                        <a:rPr sz="863" b="1">
                          <a:solidFill>
                            <a:srgbClr val="1E7A4B"/>
                          </a:solidFill>
                          <a:latin typeface="Calibri"/>
                          <a:ea typeface="Calibri"/>
                          <a:cs typeface="Calibri"/>
                        </a:rPr>
                        <a:t>0.5739</a:t>
                      </a:r>
                    </a:p>
                  </a:txBody>
                  <a:tcPr marL="76200" marR="57150" marT="28575" marB="28575" anchor="ctr"/>
                </a:tc>
                <a:tc>
                  <a:txBody>
                    <a:bodyPr/>
                    <a:lstStyle/>
                    <a:p>
                      <a:r>
                        <a:rPr sz="863" b="1">
                          <a:solidFill>
                            <a:srgbClr val="815AC0"/>
                          </a:solidFill>
                          <a:latin typeface="Calibri"/>
                          <a:ea typeface="Calibri"/>
                          <a:cs typeface="Calibri"/>
                        </a:rPr>
                        <a:t>ordering</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r h="349568">
                <a:tc>
                  <a:txBody>
                    <a:bodyPr/>
                    <a:lstStyle/>
                    <a:p>
                      <a:r>
                        <a:rPr sz="863">
                          <a:solidFill>
                            <a:srgbClr val="1A1F2B"/>
                          </a:solidFill>
                          <a:latin typeface="Calibri"/>
                          <a:ea typeface="Calibri"/>
                          <a:cs typeface="Calibri"/>
                        </a:rPr>
                        <a:t>unit comparison</a:t>
                      </a:r>
                    </a:p>
                  </a:txBody>
                  <a:tcPr marL="76200" marR="57150" marT="28575" marB="28575" anchor="ctr"/>
                </a:tc>
                <a:tc>
                  <a:txBody>
                    <a:bodyPr/>
                    <a:lstStyle/>
                    <a:p>
                      <a:r>
                        <a:rPr sz="863">
                          <a:solidFill>
                            <a:srgbClr val="1A1F2B"/>
                          </a:solidFill>
                          <a:latin typeface="Calibri"/>
                          <a:ea typeface="Calibri"/>
                          <a:cs typeface="Calibri"/>
                        </a:rPr>
                        <a:t>kilometre</a:t>
                      </a:r>
                    </a:p>
                  </a:txBody>
                  <a:tcPr marL="76200" marR="57150" marT="28575" marB="28575" anchor="ctr"/>
                </a:tc>
                <a:tc>
                  <a:txBody>
                    <a:bodyPr/>
                    <a:lstStyle/>
                    <a:p>
                      <a:r>
                        <a:rPr sz="863" b="1">
                          <a:solidFill>
                            <a:srgbClr val="065A82"/>
                          </a:solidFill>
                          <a:latin typeface="Calibri"/>
                          <a:ea typeface="Calibri"/>
                          <a:cs typeface="Calibri"/>
                        </a:rPr>
                        <a:t>kilometre</a:t>
                      </a:r>
                    </a:p>
                  </a:txBody>
                  <a:tcPr marL="76200" marR="57150" marT="28575" marB="28575" anchor="ctr"/>
                </a:tc>
                <a:tc>
                  <a:txBody>
                    <a:bodyPr/>
                    <a:lstStyle/>
                    <a:p>
                      <a:r>
                        <a:rPr sz="863">
                          <a:solidFill>
                            <a:srgbClr val="1A1F2B"/>
                          </a:solidFill>
                          <a:latin typeface="Calibri"/>
                          <a:ea typeface="Calibri"/>
                          <a:cs typeface="Calibri"/>
                        </a:rPr>
                        <a:t>0.6142</a:t>
                      </a:r>
                    </a:p>
                  </a:txBody>
                  <a:tcPr marL="76200" marR="57150" marT="28575" marB="28575" anchor="ctr"/>
                </a:tc>
                <a:tc>
                  <a:txBody>
                    <a:bodyPr/>
                    <a:lstStyle/>
                    <a:p>
                      <a:r>
                        <a:rPr sz="863" b="1">
                          <a:solidFill>
                            <a:srgbClr val="B86E00"/>
                          </a:solidFill>
                          <a:latin typeface="Calibri"/>
                          <a:ea typeface="Calibri"/>
                          <a:cs typeface="Calibri"/>
                        </a:rPr>
                        <a:t>0.2283</a:t>
                      </a:r>
                    </a:p>
                  </a:txBody>
                  <a:tcPr marL="76200" marR="57150" marT="28575" marB="28575" anchor="ctr"/>
                </a:tc>
                <a:tc>
                  <a:txBody>
                    <a:bodyPr/>
                    <a:lstStyle/>
                    <a:p>
                      <a:r>
                        <a:rPr sz="863" b="1">
                          <a:solidFill>
                            <a:srgbClr val="815AC0"/>
                          </a:solidFill>
                          <a:latin typeface="Calibri"/>
                          <a:ea typeface="Calibri"/>
                          <a:cs typeface="Calibri"/>
                        </a:rPr>
                        <a:t>kilometre</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r h="349568">
                <a:tc>
                  <a:txBody>
                    <a:bodyPr/>
                    <a:lstStyle/>
                    <a:p>
                      <a:r>
                        <a:rPr sz="863">
                          <a:solidFill>
                            <a:srgbClr val="1A1F2B"/>
                          </a:solidFill>
                          <a:latin typeface="Calibri"/>
                          <a:ea typeface="Calibri"/>
                          <a:cs typeface="Calibri"/>
                        </a:rPr>
                        <a:t>intent classification</a:t>
                      </a:r>
                    </a:p>
                  </a:txBody>
                  <a:tcPr marL="76200" marR="57150" marT="28575" marB="28575" anchor="ctr"/>
                </a:tc>
                <a:tc>
                  <a:txBody>
                    <a:bodyPr/>
                    <a:lstStyle/>
                    <a:p>
                      <a:r>
                        <a:rPr sz="863">
                          <a:solidFill>
                            <a:srgbClr val="1A1F2B"/>
                          </a:solidFill>
                          <a:latin typeface="Calibri"/>
                          <a:ea typeface="Calibri"/>
                          <a:cs typeface="Calibri"/>
                        </a:rPr>
                        <a:t>spam</a:t>
                      </a:r>
                    </a:p>
                  </a:txBody>
                  <a:tcPr marL="76200" marR="57150" marT="28575" marB="28575" anchor="ctr"/>
                </a:tc>
                <a:tc>
                  <a:txBody>
                    <a:bodyPr/>
                    <a:lstStyle/>
                    <a:p>
                      <a:r>
                        <a:rPr sz="863" b="1">
                          <a:solidFill>
                            <a:srgbClr val="065A82"/>
                          </a:solidFill>
                          <a:latin typeface="Calibri"/>
                          <a:ea typeface="Calibri"/>
                          <a:cs typeface="Calibri"/>
                        </a:rPr>
                        <a:t>spam</a:t>
                      </a:r>
                    </a:p>
                  </a:txBody>
                  <a:tcPr marL="76200" marR="57150" marT="28575" marB="28575" anchor="ctr"/>
                </a:tc>
                <a:tc>
                  <a:txBody>
                    <a:bodyPr/>
                    <a:lstStyle/>
                    <a:p>
                      <a:r>
                        <a:rPr sz="863">
                          <a:solidFill>
                            <a:srgbClr val="1A1F2B"/>
                          </a:solidFill>
                          <a:latin typeface="Calibri"/>
                          <a:ea typeface="Calibri"/>
                          <a:cs typeface="Calibri"/>
                        </a:rPr>
                        <a:t>0.7420</a:t>
                      </a:r>
                    </a:p>
                  </a:txBody>
                  <a:tcPr marL="76200" marR="57150" marT="28575" marB="28575" anchor="ctr"/>
                </a:tc>
                <a:tc>
                  <a:txBody>
                    <a:bodyPr/>
                    <a:lstStyle/>
                    <a:p>
                      <a:r>
                        <a:rPr sz="863" b="1">
                          <a:solidFill>
                            <a:srgbClr val="1E7A4B"/>
                          </a:solidFill>
                          <a:latin typeface="Calibri"/>
                          <a:ea typeface="Calibri"/>
                          <a:cs typeface="Calibri"/>
                        </a:rPr>
                        <a:t>0.4841</a:t>
                      </a:r>
                    </a:p>
                  </a:txBody>
                  <a:tcPr marL="76200" marR="57150" marT="28575" marB="28575" anchor="ctr"/>
                </a:tc>
                <a:tc>
                  <a:txBody>
                    <a:bodyPr/>
                    <a:lstStyle/>
                    <a:p>
                      <a:r>
                        <a:rPr sz="863" b="1">
                          <a:solidFill>
                            <a:srgbClr val="815AC0"/>
                          </a:solidFill>
                          <a:latin typeface="Calibri"/>
                          <a:ea typeface="Calibri"/>
                          <a:cs typeface="Calibri"/>
                        </a:rPr>
                        <a:t>spam</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r h="349568">
                <a:tc>
                  <a:txBody>
                    <a:bodyPr/>
                    <a:lstStyle/>
                    <a:p>
                      <a:r>
                        <a:rPr sz="863">
                          <a:solidFill>
                            <a:srgbClr val="1A1F2B"/>
                          </a:solidFill>
                          <a:latin typeface="Calibri"/>
                          <a:ea typeface="Calibri"/>
                          <a:cs typeface="Calibri"/>
                        </a:rPr>
                        <a:t>language identification</a:t>
                      </a:r>
                    </a:p>
                  </a:txBody>
                  <a:tcPr marL="76200" marR="57150" marT="28575" marB="28575" anchor="ctr"/>
                </a:tc>
                <a:tc>
                  <a:txBody>
                    <a:bodyPr/>
                    <a:lstStyle/>
                    <a:p>
                      <a:r>
                        <a:rPr sz="863">
                          <a:solidFill>
                            <a:srgbClr val="1A1F2B"/>
                          </a:solidFill>
                          <a:latin typeface="Calibri"/>
                          <a:ea typeface="Calibri"/>
                          <a:cs typeface="Calibri"/>
                        </a:rPr>
                        <a:t>french</a:t>
                      </a:r>
                    </a:p>
                  </a:txBody>
                  <a:tcPr marL="76200" marR="57150" marT="28575" marB="28575" anchor="ctr"/>
                </a:tc>
                <a:tc>
                  <a:txBody>
                    <a:bodyPr/>
                    <a:lstStyle/>
                    <a:p>
                      <a:r>
                        <a:rPr sz="863" b="1">
                          <a:solidFill>
                            <a:srgbClr val="065A82"/>
                          </a:solidFill>
                          <a:latin typeface="Calibri"/>
                          <a:ea typeface="Calibri"/>
                          <a:cs typeface="Calibri"/>
                        </a:rPr>
                        <a:t>french</a:t>
                      </a:r>
                    </a:p>
                  </a:txBody>
                  <a:tcPr marL="76200" marR="57150" marT="28575" marB="28575" anchor="ctr"/>
                </a:tc>
                <a:tc>
                  <a:txBody>
                    <a:bodyPr/>
                    <a:lstStyle/>
                    <a:p>
                      <a:r>
                        <a:rPr sz="863">
                          <a:solidFill>
                            <a:srgbClr val="1A1F2B"/>
                          </a:solidFill>
                          <a:latin typeface="Calibri"/>
                          <a:ea typeface="Calibri"/>
                          <a:cs typeface="Calibri"/>
                        </a:rPr>
                        <a:t>0.5975</a:t>
                      </a:r>
                    </a:p>
                  </a:txBody>
                  <a:tcPr marL="76200" marR="57150" marT="28575" marB="28575" anchor="ctr"/>
                </a:tc>
                <a:tc>
                  <a:txBody>
                    <a:bodyPr/>
                    <a:lstStyle/>
                    <a:p>
                      <a:r>
                        <a:rPr sz="863" b="1">
                          <a:solidFill>
                            <a:srgbClr val="B86E00"/>
                          </a:solidFill>
                          <a:latin typeface="Calibri"/>
                          <a:ea typeface="Calibri"/>
                          <a:cs typeface="Calibri"/>
                        </a:rPr>
                        <a:t>0.3639</a:t>
                      </a:r>
                    </a:p>
                  </a:txBody>
                  <a:tcPr marL="76200" marR="57150" marT="28575" marB="28575" anchor="ctr"/>
                </a:tc>
                <a:tc>
                  <a:txBody>
                    <a:bodyPr/>
                    <a:lstStyle/>
                    <a:p>
                      <a:r>
                        <a:rPr sz="863" b="1">
                          <a:solidFill>
                            <a:srgbClr val="815AC0"/>
                          </a:solidFill>
                          <a:latin typeface="Calibri"/>
                          <a:ea typeface="Calibri"/>
                          <a:cs typeface="Calibri"/>
                        </a:rPr>
                        <a:t>french</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r h="349568">
                <a:tc>
                  <a:txBody>
                    <a:bodyPr/>
                    <a:lstStyle/>
                    <a:p>
                      <a:r>
                        <a:rPr sz="863">
                          <a:solidFill>
                            <a:srgbClr val="1A1F2B"/>
                          </a:solidFill>
                          <a:latin typeface="Calibri"/>
                          <a:ea typeface="Calibri"/>
                          <a:cs typeface="Calibri"/>
                        </a:rPr>
                        <a:t>physical reasoning</a:t>
                      </a:r>
                    </a:p>
                  </a:txBody>
                  <a:tcPr marL="76200" marR="57150" marT="28575" marB="28575" anchor="ctr"/>
                </a:tc>
                <a:tc>
                  <a:txBody>
                    <a:bodyPr/>
                    <a:lstStyle/>
                    <a:p>
                      <a:r>
                        <a:rPr sz="863">
                          <a:solidFill>
                            <a:srgbClr val="1A1F2B"/>
                          </a:solidFill>
                          <a:latin typeface="Calibri"/>
                          <a:ea typeface="Calibri"/>
                          <a:cs typeface="Calibri"/>
                        </a:rPr>
                        <a:t>sink</a:t>
                      </a:r>
                    </a:p>
                  </a:txBody>
                  <a:tcPr marL="76200" marR="57150" marT="28575" marB="28575" anchor="ctr"/>
                </a:tc>
                <a:tc>
                  <a:txBody>
                    <a:bodyPr/>
                    <a:lstStyle/>
                    <a:p>
                      <a:r>
                        <a:rPr sz="863" b="1">
                          <a:solidFill>
                            <a:srgbClr val="065A82"/>
                          </a:solidFill>
                          <a:latin typeface="Calibri"/>
                          <a:ea typeface="Calibri"/>
                          <a:cs typeface="Calibri"/>
                        </a:rPr>
                        <a:t>sink</a:t>
                      </a:r>
                    </a:p>
                  </a:txBody>
                  <a:tcPr marL="76200" marR="57150" marT="28575" marB="28575" anchor="ctr"/>
                </a:tc>
                <a:tc>
                  <a:txBody>
                    <a:bodyPr/>
                    <a:lstStyle/>
                    <a:p>
                      <a:r>
                        <a:rPr sz="863">
                          <a:solidFill>
                            <a:srgbClr val="1A1F2B"/>
                          </a:solidFill>
                          <a:latin typeface="Calibri"/>
                          <a:ea typeface="Calibri"/>
                          <a:cs typeface="Calibri"/>
                        </a:rPr>
                        <a:t>0.5293</a:t>
                      </a:r>
                    </a:p>
                  </a:txBody>
                  <a:tcPr marL="76200" marR="57150" marT="28575" marB="28575" anchor="ctr"/>
                </a:tc>
                <a:tc>
                  <a:txBody>
                    <a:bodyPr/>
                    <a:lstStyle/>
                    <a:p>
                      <a:r>
                        <a:rPr sz="863" b="1">
                          <a:solidFill>
                            <a:srgbClr val="B86E00"/>
                          </a:solidFill>
                          <a:latin typeface="Calibri"/>
                          <a:ea typeface="Calibri"/>
                          <a:cs typeface="Calibri"/>
                        </a:rPr>
                        <a:t>0.0585</a:t>
                      </a:r>
                    </a:p>
                  </a:txBody>
                  <a:tcPr marL="76200" marR="57150" marT="28575" marB="28575" anchor="ctr"/>
                </a:tc>
                <a:tc>
                  <a:txBody>
                    <a:bodyPr/>
                    <a:lstStyle/>
                    <a:p>
                      <a:r>
                        <a:rPr sz="863" b="1">
                          <a:solidFill>
                            <a:srgbClr val="815AC0"/>
                          </a:solidFill>
                          <a:latin typeface="Calibri"/>
                          <a:ea typeface="Calibri"/>
                          <a:cs typeface="Calibri"/>
                        </a:rPr>
                        <a:t>sink</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r h="349568">
                <a:tc>
                  <a:txBody>
                    <a:bodyPr/>
                    <a:lstStyle/>
                    <a:p>
                      <a:r>
                        <a:rPr sz="863">
                          <a:solidFill>
                            <a:srgbClr val="1A1F2B"/>
                          </a:solidFill>
                          <a:latin typeface="Calibri"/>
                          <a:ea typeface="Calibri"/>
                          <a:cs typeface="Calibri"/>
                        </a:rPr>
                        <a:t>code recognition</a:t>
                      </a:r>
                    </a:p>
                  </a:txBody>
                  <a:tcPr marL="76200" marR="57150" marT="28575" marB="28575" anchor="ctr"/>
                </a:tc>
                <a:tc>
                  <a:txBody>
                    <a:bodyPr/>
                    <a:lstStyle/>
                    <a:p>
                      <a:r>
                        <a:rPr sz="863">
                          <a:solidFill>
                            <a:srgbClr val="1A1F2B"/>
                          </a:solidFill>
                          <a:latin typeface="Calibri"/>
                          <a:ea typeface="Calibri"/>
                          <a:cs typeface="Calibri"/>
                        </a:rPr>
                        <a:t>python</a:t>
                      </a:r>
                    </a:p>
                  </a:txBody>
                  <a:tcPr marL="76200" marR="57150" marT="28575" marB="28575" anchor="ctr"/>
                </a:tc>
                <a:tc>
                  <a:txBody>
                    <a:bodyPr/>
                    <a:lstStyle/>
                    <a:p>
                      <a:r>
                        <a:rPr sz="863" b="1">
                          <a:solidFill>
                            <a:srgbClr val="065A82"/>
                          </a:solidFill>
                          <a:latin typeface="Calibri"/>
                          <a:ea typeface="Calibri"/>
                          <a:cs typeface="Calibri"/>
                        </a:rPr>
                        <a:t>python</a:t>
                      </a:r>
                    </a:p>
                  </a:txBody>
                  <a:tcPr marL="76200" marR="57150" marT="28575" marB="28575" anchor="ctr"/>
                </a:tc>
                <a:tc>
                  <a:txBody>
                    <a:bodyPr/>
                    <a:lstStyle/>
                    <a:p>
                      <a:r>
                        <a:rPr sz="863">
                          <a:solidFill>
                            <a:srgbClr val="1A1F2B"/>
                          </a:solidFill>
                          <a:latin typeface="Calibri"/>
                          <a:ea typeface="Calibri"/>
                          <a:cs typeface="Calibri"/>
                        </a:rPr>
                        <a:t>0.5412</a:t>
                      </a:r>
                    </a:p>
                  </a:txBody>
                  <a:tcPr marL="76200" marR="57150" marT="28575" marB="28575" anchor="ctr"/>
                </a:tc>
                <a:tc>
                  <a:txBody>
                    <a:bodyPr/>
                    <a:lstStyle/>
                    <a:p>
                      <a:r>
                        <a:rPr sz="863" b="1">
                          <a:solidFill>
                            <a:srgbClr val="B86E00"/>
                          </a:solidFill>
                          <a:latin typeface="Calibri"/>
                          <a:ea typeface="Calibri"/>
                          <a:cs typeface="Calibri"/>
                        </a:rPr>
                        <a:t>0.2560</a:t>
                      </a:r>
                    </a:p>
                  </a:txBody>
                  <a:tcPr marL="76200" marR="57150" marT="28575" marB="28575" anchor="ctr"/>
                </a:tc>
                <a:tc>
                  <a:txBody>
                    <a:bodyPr/>
                    <a:lstStyle/>
                    <a:p>
                      <a:r>
                        <a:rPr sz="863" b="1">
                          <a:solidFill>
                            <a:srgbClr val="815AC0"/>
                          </a:solidFill>
                          <a:latin typeface="Calibri"/>
                          <a:ea typeface="Calibri"/>
                          <a:cs typeface="Calibri"/>
                        </a:rPr>
                        <a:t>python</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r h="349568">
                <a:tc>
                  <a:txBody>
                    <a:bodyPr/>
                    <a:lstStyle/>
                    <a:p>
                      <a:r>
                        <a:rPr sz="863">
                          <a:solidFill>
                            <a:srgbClr val="1A1F2B"/>
                          </a:solidFill>
                          <a:latin typeface="Calibri"/>
                          <a:ea typeface="Calibri"/>
                          <a:cs typeface="Calibri"/>
                        </a:rPr>
                        <a:t>severity triage</a:t>
                      </a:r>
                    </a:p>
                  </a:txBody>
                  <a:tcPr marL="76200" marR="57150" marT="28575" marB="28575" anchor="ctr"/>
                </a:tc>
                <a:tc>
                  <a:txBody>
                    <a:bodyPr/>
                    <a:lstStyle/>
                    <a:p>
                      <a:r>
                        <a:rPr sz="863">
                          <a:solidFill>
                            <a:srgbClr val="1A1F2B"/>
                          </a:solidFill>
                          <a:latin typeface="Calibri"/>
                          <a:ea typeface="Calibri"/>
                          <a:cs typeface="Calibri"/>
                        </a:rPr>
                        <a:t>critical</a:t>
                      </a:r>
                    </a:p>
                  </a:txBody>
                  <a:tcPr marL="76200" marR="57150" marT="28575" marB="28575" anchor="ctr"/>
                </a:tc>
                <a:tc>
                  <a:txBody>
                    <a:bodyPr/>
                    <a:lstStyle/>
                    <a:p>
                      <a:r>
                        <a:rPr sz="863" b="1">
                          <a:solidFill>
                            <a:srgbClr val="065A82"/>
                          </a:solidFill>
                          <a:latin typeface="Calibri"/>
                          <a:ea typeface="Calibri"/>
                          <a:cs typeface="Calibri"/>
                        </a:rPr>
                        <a:t>critical</a:t>
                      </a:r>
                    </a:p>
                  </a:txBody>
                  <a:tcPr marL="76200" marR="57150" marT="28575" marB="28575" anchor="ctr"/>
                </a:tc>
                <a:tc>
                  <a:txBody>
                    <a:bodyPr/>
                    <a:lstStyle/>
                    <a:p>
                      <a:r>
                        <a:rPr sz="863">
                          <a:solidFill>
                            <a:srgbClr val="1A1F2B"/>
                          </a:solidFill>
                          <a:latin typeface="Calibri"/>
                          <a:ea typeface="Calibri"/>
                          <a:cs typeface="Calibri"/>
                        </a:rPr>
                        <a:t>0.7106</a:t>
                      </a:r>
                    </a:p>
                  </a:txBody>
                  <a:tcPr marL="76200" marR="57150" marT="28575" marB="28575" anchor="ctr"/>
                </a:tc>
                <a:tc>
                  <a:txBody>
                    <a:bodyPr/>
                    <a:lstStyle/>
                    <a:p>
                      <a:r>
                        <a:rPr sz="863" b="1">
                          <a:solidFill>
                            <a:srgbClr val="1E7A4B"/>
                          </a:solidFill>
                          <a:latin typeface="Calibri"/>
                          <a:ea typeface="Calibri"/>
                          <a:cs typeface="Calibri"/>
                        </a:rPr>
                        <a:t>0.4213</a:t>
                      </a:r>
                    </a:p>
                  </a:txBody>
                  <a:tcPr marL="76200" marR="57150" marT="28575" marB="28575" anchor="ctr"/>
                </a:tc>
                <a:tc>
                  <a:txBody>
                    <a:bodyPr/>
                    <a:lstStyle/>
                    <a:p>
                      <a:r>
                        <a:rPr sz="863" b="1">
                          <a:solidFill>
                            <a:srgbClr val="815AC0"/>
                          </a:solidFill>
                          <a:latin typeface="Calibri"/>
                          <a:ea typeface="Calibri"/>
                          <a:cs typeface="Calibri"/>
                        </a:rPr>
                        <a:t>critical</a:t>
                      </a:r>
                    </a:p>
                  </a:txBody>
                  <a:tcPr marL="76200" marR="57150" marT="28575" marB="28575" anchor="ctr"/>
                </a:tc>
                <a:tc>
                  <a:txBody>
                    <a:bodyPr/>
                    <a:lstStyle/>
                    <a:p>
                      <a:r>
                        <a:rPr sz="863">
                          <a:solidFill>
                            <a:srgbClr val="1A1F2B"/>
                          </a:solidFill>
                          <a:latin typeface="Calibri"/>
                          <a:ea typeface="Calibri"/>
                          <a:cs typeface="Calibri"/>
                        </a:rPr>
                        <a:t>1.0000</a:t>
                      </a:r>
                    </a:p>
                  </a:txBody>
                  <a:tcPr marL="76200" marR="57150" marT="28575" marB="28575" anchor="ctr"/>
                </a:tc>
                <a:tc>
                  <a:txBody>
                    <a:bodyPr/>
                    <a:lstStyle/>
                    <a:p>
                      <a:r>
                        <a:rPr sz="863" b="1">
                          <a:solidFill>
                            <a:srgbClr val="1E7A4B"/>
                          </a:solidFill>
                          <a:latin typeface="Calibri"/>
                          <a:ea typeface="Calibri"/>
                          <a:cs typeface="Calibri"/>
                        </a:rPr>
                        <a:t>1.0000</a:t>
                      </a:r>
                    </a:p>
                  </a:txBody>
                  <a:tcPr marL="76200" marR="57150" marT="28575" marB="28575" anchor="ctr"/>
                </a:tc>
              </a:tr>
            </a:tbl>
          </a:graphicData>
        </a:graphic>
      </p:graphicFrame>
      <p:sp>
        <p:nvSpPr>
          <p:cNvPr id="6" name="">
            <a:extLst xmlns:a="http://schemas.openxmlformats.org/drawingml/2006/main">
              <a:ext uri="{FF2B5EF4-FFF2-40B4-BE49-F238E27FC236}">
                <a16:creationId xmlns:a16="http://schemas.microsoft.com/office/drawing/2014/main" id="{D12DA615-227C-41F9-9B00-21B089F078B2}"/>
              </a:ext>
            </a:extLst>
          </p:cNvPr>
          <p:cNvSpPr>
            <a:spLocks xmlns:a="http://schemas.openxmlformats.org/drawingml/2006/main" noGrp="1"/>
          </p:cNvSpPr>
          <p:nvPr/>
        </p:nvSpPr>
        <p:spPr>
          <a:xfrm xmlns:a="http://schemas.openxmlformats.org/drawingml/2006/main">
            <a:off x="781050" y="6219825"/>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i="0">
                <a:solidFill>
                  <a:srgbClr val="21295C"/>
                </a:solidFill>
                <a:latin typeface="Calibri"/>
                <a:ea typeface="Calibri"/>
                <a:cs typeface="Calibri"/>
              </a:defRPr>
            </a:pPr>
            <a:r>
              <a:rPr sz="1275" b="1" i="0">
                <a:solidFill>
                  <a:srgbClr val="21295C"/>
                </a:solidFill>
                <a:latin typeface="Calibri"/>
                <a:ea typeface="Calibri"/>
                <a:cs typeface="Calibri"/>
              </a:rPr>
              <a:t>Clearance: 0.0% for both  ·  Average margin: ModernBERT 38.4%, TypeSafe.ai JEV 100.0%</a:t>
            </a:r>
          </a:p>
        </p:txBody>
      </p:sp>
    </p:spTree>
    <p:extLst>
      <p:ext uri="{BB962C8B-B14F-4D97-AF65-F5344CB8AC3E}">
        <p14:creationId xmlns:p14="http://schemas.microsoft.com/office/powerpoint/2010/main" val="99975543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7" name="background">
            <a:extLst xmlns:a="http://schemas.openxmlformats.org/drawingml/2006/main">
              <a:ext uri="{FF2B5EF4-FFF2-40B4-BE49-F238E27FC236}">
                <a16:creationId xmlns:a16="http://schemas.microsoft.com/office/drawing/2014/main" id="{E82AA492-135C-43A1-A77C-39B2694210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533DE42B-7C3F-46B0-9178-C9CAA2B4DB3A}"/>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C6C9FC-346F-4489-8EFE-268C55516637}"/>
              </a:ext>
            </a:extLst>
          </p:cNvPr>
          <p:cNvSpPr>
            <a:spLocks xmlns:a="http://schemas.openxmlformats.org/drawingml/2006/main" noGrp="1"/>
          </p:cNvSpPr>
          <p:nvPr/>
        </p:nvSpPr>
        <p:spPr>
          <a:xfrm xmlns:a="http://schemas.openxmlformats.org/drawingml/2006/main">
            <a:off x="781050" y="400050"/>
            <a:ext cx="1045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21295C"/>
                </a:solidFill>
                <a:latin typeface="Georgia"/>
                <a:ea typeface="Georgia"/>
                <a:cs typeface="Georgia"/>
              </a:defRPr>
            </a:pPr>
            <a:r>
              <a:rPr sz="2850" b="1" i="0">
                <a:solidFill>
                  <a:srgbClr val="21295C"/>
                </a:solidFill>
                <a:latin typeface="Georgia"/>
                <a:ea typeface="Georgia"/>
                <a:cs typeface="Georgia"/>
              </a:rPr>
              <a:t>Tool calling results 1–15</a:t>
            </a:r>
          </a:p>
        </p:txBody>
      </p:sp>
      <p:sp>
        <p:nvSpPr>
          <p:cNvPr id="4" name="">
            <a:extLst xmlns:a="http://schemas.openxmlformats.org/drawingml/2006/main">
              <a:ext uri="{FF2B5EF4-FFF2-40B4-BE49-F238E27FC236}">
                <a16:creationId xmlns:a16="http://schemas.microsoft.com/office/drawing/2014/main" id="{3237A52C-7B70-4FE6-89AD-3A8A1B157657}"/>
              </a:ext>
            </a:extLst>
          </p:cNvPr>
          <p:cNvSpPr>
            <a:spLocks xmlns:a="http://schemas.openxmlformats.org/drawingml/2006/main" noGrp="1"/>
          </p:cNvSpPr>
          <p:nvPr/>
        </p:nvSpPr>
        <p:spPr>
          <a:xfrm xmlns:a="http://schemas.openxmlformats.org/drawingml/2006/main">
            <a:off x="781050" y="933450"/>
            <a:ext cx="10458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1">
                <a:solidFill>
                  <a:srgbClr val="6B7A8C"/>
                </a:solidFill>
                <a:latin typeface="Calibri"/>
                <a:ea typeface="Calibri"/>
                <a:cs typeface="Calibri"/>
              </a:defRPr>
            </a:pPr>
            <a:r>
              <a:rPr sz="1275" b="0" i="1">
                <a:solidFill>
                  <a:srgbClr val="6B7A8C"/>
                </a:solidFill>
                <a:latin typeface="Calibri"/>
                <a:ea typeface="Calibri"/>
                <a:cs typeface="Calibri"/>
              </a:rPr>
              <a:t>Top-ranked route for every BFCL-derived case</a:t>
            </a:r>
          </a:p>
        </p:txBody>
      </p:sp>
      <p:graphicFrame>
        <p:nvGraphicFramePr>
          <p:cNvPr id="11" name=""/>
          <p:cNvGraphicFramePr/>
          <p:nvPr/>
        </p:nvGraphicFramePr>
        <p:xfrm>
          <a:off xmlns:a="http://schemas.openxmlformats.org/drawingml/2006/main" x="781050" y="1409700"/>
          <a:ext xmlns:a="http://schemas.openxmlformats.org/drawingml/2006/main" cx="10458450" cy="4686300"/>
        </p:xfrm>
        <a:graphic xmlns:a="http://schemas.openxmlformats.org/drawingml/2006/main">
          <a:graphicData uri="http://schemas.openxmlformats.org/drawingml/2006/table">
            <a:tbl>
              <a:tblPr firstRow="1" bandRow="1"/>
              <a:tblGrid>
                <a:gridCol w="1219200"/>
                <a:gridCol w="2095500"/>
                <a:gridCol w="2095500"/>
                <a:gridCol w="1143000"/>
                <a:gridCol w="2095500"/>
                <a:gridCol w="1143000"/>
                <a:gridCol w="857250"/>
              </a:tblGrid>
              <a:tr h="323850">
                <a:tc>
                  <a:txBody>
                    <a:bodyPr/>
                    <a:lstStyle/>
                    <a:p>
                      <a:r>
                        <a:rPr sz="863" b="1">
                          <a:solidFill>
                            <a:srgbClr val="FFFFFF"/>
                          </a:solidFill>
                          <a:latin typeface="Calibri"/>
                          <a:ea typeface="Calibri"/>
                          <a:cs typeface="Calibri"/>
                        </a:rPr>
                        <a:t>Case</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Expected route</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ModernBERT route</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p / margin</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TypeSafe.ai JEV route</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p / margin</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Correct</a:t>
                      </a:r>
                    </a:p>
                  </a:txBody>
                  <a:tcPr marL="57150" marR="47625" marT="28575" marB="28575" anchor="ctr">
                    <a:solidFill>
                      <a:srgbClr val="21295C"/>
                    </a:solidFill>
                  </a:tcPr>
                </a:tc>
              </a:tr>
              <a:tr h="290513">
                <a:tc>
                  <a:txBody>
                    <a:bodyPr/>
                    <a:lstStyle/>
                    <a:p>
                      <a:r>
                        <a:rPr sz="788">
                          <a:solidFill>
                            <a:srgbClr val="1A1F2B"/>
                          </a:solidFill>
                          <a:latin typeface="Calibri"/>
                          <a:ea typeface="Calibri"/>
                          <a:cs typeface="Calibri"/>
                        </a:rPr>
                        <a:t>multiple_0</a:t>
                      </a:r>
                    </a:p>
                  </a:txBody>
                  <a:tcPr marL="57150" marR="47625" marT="19050" marB="19050" anchor="ctr"/>
                </a:tc>
                <a:tc>
                  <a:txBody>
                    <a:bodyPr/>
                    <a:lstStyle/>
                    <a:p>
                      <a:r>
                        <a:rPr sz="788">
                          <a:solidFill>
                            <a:srgbClr val="1A1F2B"/>
                          </a:solidFill>
                          <a:latin typeface="Calibri"/>
                          <a:ea typeface="Calibri"/>
                          <a:cs typeface="Calibri"/>
                        </a:rPr>
                        <a:t>triangle_properties.get</a:t>
                      </a:r>
                    </a:p>
                  </a:txBody>
                  <a:tcPr marL="57150" marR="47625" marT="19050" marB="19050" anchor="ctr"/>
                </a:tc>
                <a:tc>
                  <a:txBody>
                    <a:bodyPr/>
                    <a:lstStyle/>
                    <a:p>
                      <a:r>
                        <a:rPr sz="788">
                          <a:solidFill>
                            <a:srgbClr val="065A82"/>
                          </a:solidFill>
                          <a:latin typeface="Calibri"/>
                          <a:ea typeface="Calibri"/>
                          <a:cs typeface="Calibri"/>
                        </a:rPr>
                        <a:t>triangle_properties.get</a:t>
                      </a:r>
                    </a:p>
                  </a:txBody>
                  <a:tcPr marL="57150" marR="47625" marT="19050" marB="19050" anchor="ctr"/>
                </a:tc>
                <a:tc>
                  <a:txBody>
                    <a:bodyPr/>
                    <a:lstStyle/>
                    <a:p>
                      <a:r>
                        <a:rPr sz="788">
                          <a:solidFill>
                            <a:srgbClr val="1A1F2B"/>
                          </a:solidFill>
                          <a:latin typeface="Calibri"/>
                          <a:ea typeface="Calibri"/>
                          <a:cs typeface="Calibri"/>
                        </a:rPr>
                        <a:t>0.610 / 0.220</a:t>
                      </a:r>
                    </a:p>
                  </a:txBody>
                  <a:tcPr marL="57150" marR="47625" marT="19050" marB="19050" anchor="ctr"/>
                </a:tc>
                <a:tc>
                  <a:txBody>
                    <a:bodyPr/>
                    <a:lstStyle/>
                    <a:p>
                      <a:r>
                        <a:rPr sz="788">
                          <a:solidFill>
                            <a:srgbClr val="815AC0"/>
                          </a:solidFill>
                          <a:latin typeface="Calibri"/>
                          <a:ea typeface="Calibri"/>
                          <a:cs typeface="Calibri"/>
                        </a:rPr>
                        <a:t>triangle_properties.get</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multiple_1</a:t>
                      </a:r>
                    </a:p>
                  </a:txBody>
                  <a:tcPr marL="57150" marR="47625" marT="19050" marB="19050" anchor="ctr"/>
                </a:tc>
                <a:tc>
                  <a:txBody>
                    <a:bodyPr/>
                    <a:lstStyle/>
                    <a:p>
                      <a:r>
                        <a:rPr sz="788">
                          <a:solidFill>
                            <a:srgbClr val="1A1F2B"/>
                          </a:solidFill>
                          <a:latin typeface="Calibri"/>
                          <a:ea typeface="Calibri"/>
                          <a:cs typeface="Calibri"/>
                        </a:rPr>
                        <a:t>math.triangle_area_heron</a:t>
                      </a:r>
                    </a:p>
                  </a:txBody>
                  <a:tcPr marL="57150" marR="47625" marT="19050" marB="19050" anchor="ctr"/>
                </a:tc>
                <a:tc>
                  <a:txBody>
                    <a:bodyPr/>
                    <a:lstStyle/>
                    <a:p>
                      <a:r>
                        <a:rPr sz="788">
                          <a:solidFill>
                            <a:srgbClr val="065A82"/>
                          </a:solidFill>
                          <a:latin typeface="Calibri"/>
                          <a:ea typeface="Calibri"/>
                          <a:cs typeface="Calibri"/>
                        </a:rPr>
                        <a:t>math.triangle_area_heron</a:t>
                      </a:r>
                    </a:p>
                  </a:txBody>
                  <a:tcPr marL="57150" marR="47625" marT="19050" marB="19050" anchor="ctr"/>
                </a:tc>
                <a:tc>
                  <a:txBody>
                    <a:bodyPr/>
                    <a:lstStyle/>
                    <a:p>
                      <a:r>
                        <a:rPr sz="788">
                          <a:solidFill>
                            <a:srgbClr val="1A1F2B"/>
                          </a:solidFill>
                          <a:latin typeface="Calibri"/>
                          <a:ea typeface="Calibri"/>
                          <a:cs typeface="Calibri"/>
                        </a:rPr>
                        <a:t>0.400 / 0.058</a:t>
                      </a:r>
                    </a:p>
                  </a:txBody>
                  <a:tcPr marL="57150" marR="47625" marT="19050" marB="19050" anchor="ctr"/>
                </a:tc>
                <a:tc>
                  <a:txBody>
                    <a:bodyPr/>
                    <a:lstStyle/>
                    <a:p>
                      <a:r>
                        <a:rPr sz="788">
                          <a:solidFill>
                            <a:srgbClr val="815AC0"/>
                          </a:solidFill>
                          <a:latin typeface="Calibri"/>
                          <a:ea typeface="Calibri"/>
                          <a:cs typeface="Calibri"/>
                        </a:rPr>
                        <a:t>math.triangle_area_heron</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multiple_2</a:t>
                      </a:r>
                    </a:p>
                  </a:txBody>
                  <a:tcPr marL="57150" marR="47625" marT="19050" marB="19050" anchor="ctr"/>
                </a:tc>
                <a:tc>
                  <a:txBody>
                    <a:bodyPr/>
                    <a:lstStyle/>
                    <a:p>
                      <a:r>
                        <a:rPr sz="788">
                          <a:solidFill>
                            <a:srgbClr val="1A1F2B"/>
                          </a:solidFill>
                          <a:latin typeface="Calibri"/>
                          <a:ea typeface="Calibri"/>
                          <a:cs typeface="Calibri"/>
                        </a:rPr>
                        <a:t>country_info.capital</a:t>
                      </a:r>
                    </a:p>
                  </a:txBody>
                  <a:tcPr marL="57150" marR="47625" marT="19050" marB="19050" anchor="ctr"/>
                </a:tc>
                <a:tc>
                  <a:txBody>
                    <a:bodyPr/>
                    <a:lstStyle/>
                    <a:p>
                      <a:r>
                        <a:rPr sz="788">
                          <a:solidFill>
                            <a:srgbClr val="065A82"/>
                          </a:solidFill>
                          <a:latin typeface="Calibri"/>
                          <a:ea typeface="Calibri"/>
                          <a:cs typeface="Calibri"/>
                        </a:rPr>
                        <a:t>country_info.largest_city</a:t>
                      </a:r>
                    </a:p>
                  </a:txBody>
                  <a:tcPr marL="57150" marR="47625" marT="19050" marB="19050" anchor="ctr"/>
                </a:tc>
                <a:tc>
                  <a:txBody>
                    <a:bodyPr/>
                    <a:lstStyle/>
                    <a:p>
                      <a:r>
                        <a:rPr sz="788">
                          <a:solidFill>
                            <a:srgbClr val="1A1F2B"/>
                          </a:solidFill>
                          <a:latin typeface="Calibri"/>
                          <a:ea typeface="Calibri"/>
                          <a:cs typeface="Calibri"/>
                        </a:rPr>
                        <a:t>0.355 / 0.001</a:t>
                      </a:r>
                    </a:p>
                  </a:txBody>
                  <a:tcPr marL="57150" marR="47625" marT="19050" marB="19050" anchor="ctr"/>
                </a:tc>
                <a:tc>
                  <a:txBody>
                    <a:bodyPr/>
                    <a:lstStyle/>
                    <a:p>
                      <a:r>
                        <a:rPr sz="788">
                          <a:solidFill>
                            <a:srgbClr val="815AC0"/>
                          </a:solidFill>
                          <a:latin typeface="Calibri"/>
                          <a:ea typeface="Calibri"/>
                          <a:cs typeface="Calibri"/>
                        </a:rPr>
                        <a:t>country_info.capital</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A33A3A"/>
                          </a:solidFill>
                          <a:latin typeface="Calibri"/>
                          <a:ea typeface="Calibri"/>
                          <a:cs typeface="Calibri"/>
                        </a:rPr>
                        <a:t>no / yes</a:t>
                      </a:r>
                    </a:p>
                  </a:txBody>
                  <a:tcPr marL="57150" marR="47625" marT="19050" marB="19050" anchor="ctr"/>
                </a:tc>
              </a:tr>
              <a:tr h="290513">
                <a:tc>
                  <a:txBody>
                    <a:bodyPr/>
                    <a:lstStyle/>
                    <a:p>
                      <a:r>
                        <a:rPr sz="788">
                          <a:solidFill>
                            <a:srgbClr val="1A1F2B"/>
                          </a:solidFill>
                          <a:latin typeface="Calibri"/>
                          <a:ea typeface="Calibri"/>
                          <a:cs typeface="Calibri"/>
                        </a:rPr>
                        <a:t>multiple_3</a:t>
                      </a:r>
                    </a:p>
                  </a:txBody>
                  <a:tcPr marL="57150" marR="47625" marT="19050" marB="19050" anchor="ctr"/>
                </a:tc>
                <a:tc>
                  <a:txBody>
                    <a:bodyPr/>
                    <a:lstStyle/>
                    <a:p>
                      <a:r>
                        <a:rPr sz="788">
                          <a:solidFill>
                            <a:srgbClr val="1A1F2B"/>
                          </a:solidFill>
                          <a:latin typeface="Calibri"/>
                          <a:ea typeface="Calibri"/>
                          <a:cs typeface="Calibri"/>
                        </a:rPr>
                        <a:t>EuclideanDistance.calculate</a:t>
                      </a:r>
                    </a:p>
                  </a:txBody>
                  <a:tcPr marL="57150" marR="47625" marT="19050" marB="19050" anchor="ctr"/>
                </a:tc>
                <a:tc>
                  <a:txBody>
                    <a:bodyPr/>
                    <a:lstStyle/>
                    <a:p>
                      <a:r>
                        <a:rPr sz="788">
                          <a:solidFill>
                            <a:srgbClr val="065A82"/>
                          </a:solidFill>
                          <a:latin typeface="Calibri"/>
                          <a:ea typeface="Calibri"/>
                          <a:cs typeface="Calibri"/>
                        </a:rPr>
                        <a:t>EuclideanDistance.calculate</a:t>
                      </a:r>
                    </a:p>
                  </a:txBody>
                  <a:tcPr marL="57150" marR="47625" marT="19050" marB="19050" anchor="ctr"/>
                </a:tc>
                <a:tc>
                  <a:txBody>
                    <a:bodyPr/>
                    <a:lstStyle/>
                    <a:p>
                      <a:r>
                        <a:rPr sz="788">
                          <a:solidFill>
                            <a:srgbClr val="1A1F2B"/>
                          </a:solidFill>
                          <a:latin typeface="Calibri"/>
                          <a:ea typeface="Calibri"/>
                          <a:cs typeface="Calibri"/>
                        </a:rPr>
                        <a:t>0.540 / 0.079</a:t>
                      </a:r>
                    </a:p>
                  </a:txBody>
                  <a:tcPr marL="57150" marR="47625" marT="19050" marB="19050" anchor="ctr"/>
                </a:tc>
                <a:tc>
                  <a:txBody>
                    <a:bodyPr/>
                    <a:lstStyle/>
                    <a:p>
                      <a:r>
                        <a:rPr sz="788">
                          <a:solidFill>
                            <a:srgbClr val="815AC0"/>
                          </a:solidFill>
                          <a:latin typeface="Calibri"/>
                          <a:ea typeface="Calibri"/>
                          <a:cs typeface="Calibri"/>
                        </a:rPr>
                        <a:t>EuclideanDistance.calculate</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multiple_4</a:t>
                      </a:r>
                    </a:p>
                  </a:txBody>
                  <a:tcPr marL="57150" marR="47625" marT="19050" marB="19050" anchor="ctr"/>
                </a:tc>
                <a:tc>
                  <a:txBody>
                    <a:bodyPr/>
                    <a:lstStyle/>
                    <a:p>
                      <a:r>
                        <a:rPr sz="788">
                          <a:solidFill>
                            <a:srgbClr val="1A1F2B"/>
                          </a:solidFill>
                          <a:latin typeface="Calibri"/>
                          <a:ea typeface="Calibri"/>
                          <a:cs typeface="Calibri"/>
                        </a:rPr>
                        <a:t>kinematics.calculate_displacement</a:t>
                      </a:r>
                    </a:p>
                  </a:txBody>
                  <a:tcPr marL="57150" marR="47625" marT="19050" marB="19050" anchor="ctr"/>
                </a:tc>
                <a:tc>
                  <a:txBody>
                    <a:bodyPr/>
                    <a:lstStyle/>
                    <a:p>
                      <a:r>
                        <a:rPr sz="788">
                          <a:solidFill>
                            <a:srgbClr val="065A82"/>
                          </a:solidFill>
                          <a:latin typeface="Calibri"/>
                          <a:ea typeface="Calibri"/>
                          <a:cs typeface="Calibri"/>
                        </a:rPr>
                        <a:t>kinematics.calculate_final_speed</a:t>
                      </a:r>
                    </a:p>
                  </a:txBody>
                  <a:tcPr marL="57150" marR="47625" marT="19050" marB="19050" anchor="ctr"/>
                </a:tc>
                <a:tc>
                  <a:txBody>
                    <a:bodyPr/>
                    <a:lstStyle/>
                    <a:p>
                      <a:r>
                        <a:rPr sz="788">
                          <a:solidFill>
                            <a:srgbClr val="1A1F2B"/>
                          </a:solidFill>
                          <a:latin typeface="Calibri"/>
                          <a:ea typeface="Calibri"/>
                          <a:cs typeface="Calibri"/>
                        </a:rPr>
                        <a:t>0.514 / 0.028</a:t>
                      </a:r>
                    </a:p>
                  </a:txBody>
                  <a:tcPr marL="57150" marR="47625" marT="19050" marB="19050" anchor="ctr"/>
                </a:tc>
                <a:tc>
                  <a:txBody>
                    <a:bodyPr/>
                    <a:lstStyle/>
                    <a:p>
                      <a:r>
                        <a:rPr sz="788">
                          <a:solidFill>
                            <a:srgbClr val="815AC0"/>
                          </a:solidFill>
                          <a:latin typeface="Calibri"/>
                          <a:ea typeface="Calibri"/>
                          <a:cs typeface="Calibri"/>
                        </a:rPr>
                        <a:t>kinematics.calculate_displacement</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A33A3A"/>
                          </a:solidFill>
                          <a:latin typeface="Calibri"/>
                          <a:ea typeface="Calibri"/>
                          <a:cs typeface="Calibri"/>
                        </a:rPr>
                        <a:t>no / yes</a:t>
                      </a:r>
                    </a:p>
                  </a:txBody>
                  <a:tcPr marL="57150" marR="47625" marT="19050" marB="19050" anchor="ctr"/>
                </a:tc>
              </a:tr>
              <a:tr h="290513">
                <a:tc>
                  <a:txBody>
                    <a:bodyPr/>
                    <a:lstStyle/>
                    <a:p>
                      <a:r>
                        <a:rPr sz="788">
                          <a:solidFill>
                            <a:srgbClr val="1A1F2B"/>
                          </a:solidFill>
                          <a:latin typeface="Calibri"/>
                          <a:ea typeface="Calibri"/>
                          <a:cs typeface="Calibri"/>
                        </a:rPr>
                        <a:t>multiple_5</a:t>
                      </a:r>
                    </a:p>
                  </a:txBody>
                  <a:tcPr marL="57150" marR="47625" marT="19050" marB="19050" anchor="ctr"/>
                </a:tc>
                <a:tc>
                  <a:txBody>
                    <a:bodyPr/>
                    <a:lstStyle/>
                    <a:p>
                      <a:r>
                        <a:rPr sz="788">
                          <a:solidFill>
                            <a:srgbClr val="1A1F2B"/>
                          </a:solidFill>
                          <a:latin typeface="Calibri"/>
                          <a:ea typeface="Calibri"/>
                          <a:cs typeface="Calibri"/>
                        </a:rPr>
                        <a:t>weather.get_by_coordinates_date</a:t>
                      </a:r>
                    </a:p>
                  </a:txBody>
                  <a:tcPr marL="57150" marR="47625" marT="19050" marB="19050" anchor="ctr"/>
                </a:tc>
                <a:tc>
                  <a:txBody>
                    <a:bodyPr/>
                    <a:lstStyle/>
                    <a:p>
                      <a:r>
                        <a:rPr sz="788">
                          <a:solidFill>
                            <a:srgbClr val="065A82"/>
                          </a:solidFill>
                          <a:latin typeface="Calibri"/>
                          <a:ea typeface="Calibri"/>
                          <a:cs typeface="Calibri"/>
                        </a:rPr>
                        <a:t>weather.get_by_coordinates_date</a:t>
                      </a:r>
                    </a:p>
                  </a:txBody>
                  <a:tcPr marL="57150" marR="47625" marT="19050" marB="19050" anchor="ctr"/>
                </a:tc>
                <a:tc>
                  <a:txBody>
                    <a:bodyPr/>
                    <a:lstStyle/>
                    <a:p>
                      <a:r>
                        <a:rPr sz="788">
                          <a:solidFill>
                            <a:srgbClr val="1A1F2B"/>
                          </a:solidFill>
                          <a:latin typeface="Calibri"/>
                          <a:ea typeface="Calibri"/>
                          <a:cs typeface="Calibri"/>
                        </a:rPr>
                        <a:t>0.375 / 0.005</a:t>
                      </a:r>
                    </a:p>
                  </a:txBody>
                  <a:tcPr marL="57150" marR="47625" marT="19050" marB="19050" anchor="ctr"/>
                </a:tc>
                <a:tc>
                  <a:txBody>
                    <a:bodyPr/>
                    <a:lstStyle/>
                    <a:p>
                      <a:r>
                        <a:rPr sz="788">
                          <a:solidFill>
                            <a:srgbClr val="815AC0"/>
                          </a:solidFill>
                          <a:latin typeface="Calibri"/>
                          <a:ea typeface="Calibri"/>
                          <a:cs typeface="Calibri"/>
                        </a:rPr>
                        <a:t>weather.get_by_coordinates_date</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multiple_6</a:t>
                      </a:r>
                    </a:p>
                  </a:txBody>
                  <a:tcPr marL="57150" marR="47625" marT="19050" marB="19050" anchor="ctr"/>
                </a:tc>
                <a:tc>
                  <a:txBody>
                    <a:bodyPr/>
                    <a:lstStyle/>
                    <a:p>
                      <a:r>
                        <a:rPr sz="788">
                          <a:solidFill>
                            <a:srgbClr val="1A1F2B"/>
                          </a:solidFill>
                          <a:latin typeface="Calibri"/>
                          <a:ea typeface="Calibri"/>
                          <a:cs typeface="Calibri"/>
                        </a:rPr>
                        <a:t>capacitance_calculator.calculate</a:t>
                      </a:r>
                    </a:p>
                  </a:txBody>
                  <a:tcPr marL="57150" marR="47625" marT="19050" marB="19050" anchor="ctr"/>
                </a:tc>
                <a:tc>
                  <a:txBody>
                    <a:bodyPr/>
                    <a:lstStyle/>
                    <a:p>
                      <a:r>
                        <a:rPr sz="788">
                          <a:solidFill>
                            <a:srgbClr val="065A82"/>
                          </a:solidFill>
                          <a:latin typeface="Calibri"/>
                          <a:ea typeface="Calibri"/>
                          <a:cs typeface="Calibri"/>
                        </a:rPr>
                        <a:t>capacitance_calculator.calculate</a:t>
                      </a:r>
                    </a:p>
                  </a:txBody>
                  <a:tcPr marL="57150" marR="47625" marT="19050" marB="19050" anchor="ctr"/>
                </a:tc>
                <a:tc>
                  <a:txBody>
                    <a:bodyPr/>
                    <a:lstStyle/>
                    <a:p>
                      <a:r>
                        <a:rPr sz="788">
                          <a:solidFill>
                            <a:srgbClr val="1A1F2B"/>
                          </a:solidFill>
                          <a:latin typeface="Calibri"/>
                          <a:ea typeface="Calibri"/>
                          <a:cs typeface="Calibri"/>
                        </a:rPr>
                        <a:t>0.430 / 0.085</a:t>
                      </a:r>
                    </a:p>
                  </a:txBody>
                  <a:tcPr marL="57150" marR="47625" marT="19050" marB="19050" anchor="ctr"/>
                </a:tc>
                <a:tc>
                  <a:txBody>
                    <a:bodyPr/>
                    <a:lstStyle/>
                    <a:p>
                      <a:r>
                        <a:rPr sz="788">
                          <a:solidFill>
                            <a:srgbClr val="815AC0"/>
                          </a:solidFill>
                          <a:latin typeface="Calibri"/>
                          <a:ea typeface="Calibri"/>
                          <a:cs typeface="Calibri"/>
                        </a:rPr>
                        <a:t>capacitance_calculator.calculate</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multiple_7</a:t>
                      </a:r>
                    </a:p>
                  </a:txBody>
                  <a:tcPr marL="57150" marR="47625" marT="19050" marB="19050" anchor="ctr"/>
                </a:tc>
                <a:tc>
                  <a:txBody>
                    <a:bodyPr/>
                    <a:lstStyle/>
                    <a:p>
                      <a:r>
                        <a:rPr sz="788">
                          <a:solidFill>
                            <a:srgbClr val="1A1F2B"/>
                          </a:solidFill>
                          <a:latin typeface="Calibri"/>
                          <a:ea typeface="Calibri"/>
                          <a:cs typeface="Calibri"/>
                        </a:rPr>
                        <a:t>wildlife_population.assess_growth</a:t>
                      </a:r>
                    </a:p>
                  </a:txBody>
                  <a:tcPr marL="57150" marR="47625" marT="19050" marB="19050" anchor="ctr"/>
                </a:tc>
                <a:tc>
                  <a:txBody>
                    <a:bodyPr/>
                    <a:lstStyle/>
                    <a:p>
                      <a:r>
                        <a:rPr sz="788">
                          <a:solidFill>
                            <a:srgbClr val="065A82"/>
                          </a:solidFill>
                          <a:latin typeface="Calibri"/>
                          <a:ea typeface="Calibri"/>
                          <a:cs typeface="Calibri"/>
                        </a:rPr>
                        <a:t>wildlife_population.assess_growth</a:t>
                      </a:r>
                    </a:p>
                  </a:txBody>
                  <a:tcPr marL="57150" marR="47625" marT="19050" marB="19050" anchor="ctr"/>
                </a:tc>
                <a:tc>
                  <a:txBody>
                    <a:bodyPr/>
                    <a:lstStyle/>
                    <a:p>
                      <a:r>
                        <a:rPr sz="788">
                          <a:solidFill>
                            <a:srgbClr val="1A1F2B"/>
                          </a:solidFill>
                          <a:latin typeface="Calibri"/>
                          <a:ea typeface="Calibri"/>
                          <a:cs typeface="Calibri"/>
                        </a:rPr>
                        <a:t>0.576 / 0.151</a:t>
                      </a:r>
                    </a:p>
                  </a:txBody>
                  <a:tcPr marL="57150" marR="47625" marT="19050" marB="19050" anchor="ctr"/>
                </a:tc>
                <a:tc>
                  <a:txBody>
                    <a:bodyPr/>
                    <a:lstStyle/>
                    <a:p>
                      <a:r>
                        <a:rPr sz="788">
                          <a:solidFill>
                            <a:srgbClr val="815AC0"/>
                          </a:solidFill>
                          <a:latin typeface="Calibri"/>
                          <a:ea typeface="Calibri"/>
                          <a:cs typeface="Calibri"/>
                        </a:rPr>
                        <a:t>wildlife_population.assess_growth</a:t>
                      </a:r>
                    </a:p>
                  </a:txBody>
                  <a:tcPr marL="57150" marR="47625" marT="19050" marB="19050" anchor="ctr"/>
                </a:tc>
                <a:tc>
                  <a:txBody>
                    <a:bodyPr/>
                    <a:lstStyle/>
                    <a:p>
                      <a:r>
                        <a:rPr sz="788">
                          <a:solidFill>
                            <a:srgbClr val="1A1F2B"/>
                          </a:solidFill>
                          <a:latin typeface="Calibri"/>
                          <a:ea typeface="Calibri"/>
                          <a:cs typeface="Calibri"/>
                        </a:rPr>
                        <a:t>0.700 / 0.400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multiple_8</a:t>
                      </a:r>
                    </a:p>
                  </a:txBody>
                  <a:tcPr marL="57150" marR="47625" marT="19050" marB="19050" anchor="ctr"/>
                </a:tc>
                <a:tc>
                  <a:txBody>
                    <a:bodyPr/>
                    <a:lstStyle/>
                    <a:p>
                      <a:r>
                        <a:rPr sz="788">
                          <a:solidFill>
                            <a:srgbClr val="1A1F2B"/>
                          </a:solidFill>
                          <a:latin typeface="Calibri"/>
                          <a:ea typeface="Calibri"/>
                          <a:cs typeface="Calibri"/>
                        </a:rPr>
                        <a:t>realestate.find_properties</a:t>
                      </a:r>
                    </a:p>
                  </a:txBody>
                  <a:tcPr marL="57150" marR="47625" marT="19050" marB="19050" anchor="ctr"/>
                </a:tc>
                <a:tc>
                  <a:txBody>
                    <a:bodyPr/>
                    <a:lstStyle/>
                    <a:p>
                      <a:r>
                        <a:rPr sz="788">
                          <a:solidFill>
                            <a:srgbClr val="065A82"/>
                          </a:solidFill>
                          <a:latin typeface="Calibri"/>
                          <a:ea typeface="Calibri"/>
                          <a:cs typeface="Calibri"/>
                        </a:rPr>
                        <a:t>realestate.find_properties</a:t>
                      </a:r>
                    </a:p>
                  </a:txBody>
                  <a:tcPr marL="57150" marR="47625" marT="19050" marB="19050" anchor="ctr"/>
                </a:tc>
                <a:tc>
                  <a:txBody>
                    <a:bodyPr/>
                    <a:lstStyle/>
                    <a:p>
                      <a:r>
                        <a:rPr sz="788">
                          <a:solidFill>
                            <a:srgbClr val="1A1F2B"/>
                          </a:solidFill>
                          <a:latin typeface="Calibri"/>
                          <a:ea typeface="Calibri"/>
                          <a:cs typeface="Calibri"/>
                        </a:rPr>
                        <a:t>0.546 / 0.092</a:t>
                      </a:r>
                    </a:p>
                  </a:txBody>
                  <a:tcPr marL="57150" marR="47625" marT="19050" marB="19050" anchor="ctr"/>
                </a:tc>
                <a:tc>
                  <a:txBody>
                    <a:bodyPr/>
                    <a:lstStyle/>
                    <a:p>
                      <a:r>
                        <a:rPr sz="788">
                          <a:solidFill>
                            <a:srgbClr val="815AC0"/>
                          </a:solidFill>
                          <a:latin typeface="Calibri"/>
                          <a:ea typeface="Calibri"/>
                          <a:cs typeface="Calibri"/>
                        </a:rPr>
                        <a:t>realestate.find_properties</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multiple_9</a:t>
                      </a:r>
                    </a:p>
                  </a:txBody>
                  <a:tcPr marL="57150" marR="47625" marT="19050" marB="19050" anchor="ctr"/>
                </a:tc>
                <a:tc>
                  <a:txBody>
                    <a:bodyPr/>
                    <a:lstStyle/>
                    <a:p>
                      <a:r>
                        <a:rPr sz="788">
                          <a:solidFill>
                            <a:srgbClr val="1A1F2B"/>
                          </a:solidFill>
                          <a:latin typeface="Calibri"/>
                          <a:ea typeface="Calibri"/>
                          <a:cs typeface="Calibri"/>
                        </a:rPr>
                        <a:t>calculate_average</a:t>
                      </a:r>
                    </a:p>
                  </a:txBody>
                  <a:tcPr marL="57150" marR="47625" marT="19050" marB="19050" anchor="ctr"/>
                </a:tc>
                <a:tc>
                  <a:txBody>
                    <a:bodyPr/>
                    <a:lstStyle/>
                    <a:p>
                      <a:r>
                        <a:rPr sz="788">
                          <a:solidFill>
                            <a:srgbClr val="065A82"/>
                          </a:solidFill>
                          <a:latin typeface="Calibri"/>
                          <a:ea typeface="Calibri"/>
                          <a:cs typeface="Calibri"/>
                        </a:rPr>
                        <a:t>calculate_average</a:t>
                      </a:r>
                    </a:p>
                  </a:txBody>
                  <a:tcPr marL="57150" marR="47625" marT="19050" marB="19050" anchor="ctr"/>
                </a:tc>
                <a:tc>
                  <a:txBody>
                    <a:bodyPr/>
                    <a:lstStyle/>
                    <a:p>
                      <a:r>
                        <a:rPr sz="788">
                          <a:solidFill>
                            <a:srgbClr val="1A1F2B"/>
                          </a:solidFill>
                          <a:latin typeface="Calibri"/>
                          <a:ea typeface="Calibri"/>
                          <a:cs typeface="Calibri"/>
                        </a:rPr>
                        <a:t>0.451 / 0.166</a:t>
                      </a:r>
                    </a:p>
                  </a:txBody>
                  <a:tcPr marL="57150" marR="47625" marT="19050" marB="19050" anchor="ctr"/>
                </a:tc>
                <a:tc>
                  <a:txBody>
                    <a:bodyPr/>
                    <a:lstStyle/>
                    <a:p>
                      <a:r>
                        <a:rPr sz="788">
                          <a:solidFill>
                            <a:srgbClr val="815AC0"/>
                          </a:solidFill>
                          <a:latin typeface="Calibri"/>
                          <a:ea typeface="Calibri"/>
                          <a:cs typeface="Calibri"/>
                        </a:rPr>
                        <a:t>calculate_average</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multiple_10</a:t>
                      </a:r>
                    </a:p>
                  </a:txBody>
                  <a:tcPr marL="57150" marR="47625" marT="19050" marB="19050" anchor="ctr"/>
                </a:tc>
                <a:tc>
                  <a:txBody>
                    <a:bodyPr/>
                    <a:lstStyle/>
                    <a:p>
                      <a:r>
                        <a:rPr sz="788">
                          <a:solidFill>
                            <a:srgbClr val="1A1F2B"/>
                          </a:solidFill>
                          <a:latin typeface="Calibri"/>
                          <a:ea typeface="Calibri"/>
                          <a:cs typeface="Calibri"/>
                        </a:rPr>
                        <a:t>database.modify_columns</a:t>
                      </a:r>
                    </a:p>
                  </a:txBody>
                  <a:tcPr marL="57150" marR="47625" marT="19050" marB="19050" anchor="ctr"/>
                </a:tc>
                <a:tc>
                  <a:txBody>
                    <a:bodyPr/>
                    <a:lstStyle/>
                    <a:p>
                      <a:r>
                        <a:rPr sz="788">
                          <a:solidFill>
                            <a:srgbClr val="065A82"/>
                          </a:solidFill>
                          <a:latin typeface="Calibri"/>
                          <a:ea typeface="Calibri"/>
                          <a:cs typeface="Calibri"/>
                        </a:rPr>
                        <a:t>database.modify_columns</a:t>
                      </a:r>
                    </a:p>
                  </a:txBody>
                  <a:tcPr marL="57150" marR="47625" marT="19050" marB="19050" anchor="ctr"/>
                </a:tc>
                <a:tc>
                  <a:txBody>
                    <a:bodyPr/>
                    <a:lstStyle/>
                    <a:p>
                      <a:r>
                        <a:rPr sz="788">
                          <a:solidFill>
                            <a:srgbClr val="1A1F2B"/>
                          </a:solidFill>
                          <a:latin typeface="Calibri"/>
                          <a:ea typeface="Calibri"/>
                          <a:cs typeface="Calibri"/>
                        </a:rPr>
                        <a:t>0.598 / 0.195</a:t>
                      </a:r>
                    </a:p>
                  </a:txBody>
                  <a:tcPr marL="57150" marR="47625" marT="19050" marB="19050" anchor="ctr"/>
                </a:tc>
                <a:tc>
                  <a:txBody>
                    <a:bodyPr/>
                    <a:lstStyle/>
                    <a:p>
                      <a:r>
                        <a:rPr sz="788">
                          <a:solidFill>
                            <a:srgbClr val="815AC0"/>
                          </a:solidFill>
                          <a:latin typeface="Calibri"/>
                          <a:ea typeface="Calibri"/>
                          <a:cs typeface="Calibri"/>
                        </a:rPr>
                        <a:t>database.modify_columns</a:t>
                      </a:r>
                    </a:p>
                  </a:txBody>
                  <a:tcPr marL="57150" marR="47625" marT="19050" marB="19050" anchor="ctr"/>
                </a:tc>
                <a:tc>
                  <a:txBody>
                    <a:bodyPr/>
                    <a:lstStyle/>
                    <a:p>
                      <a:r>
                        <a:rPr sz="788">
                          <a:solidFill>
                            <a:srgbClr val="1A1F2B"/>
                          </a:solidFill>
                          <a:latin typeface="Calibri"/>
                          <a:ea typeface="Calibri"/>
                          <a:cs typeface="Calibri"/>
                        </a:rPr>
                        <a:t>0.970 / 0.940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multiple_11</a:t>
                      </a:r>
                    </a:p>
                  </a:txBody>
                  <a:tcPr marL="57150" marR="47625" marT="19050" marB="19050" anchor="ctr"/>
                </a:tc>
                <a:tc>
                  <a:txBody>
                    <a:bodyPr/>
                    <a:lstStyle/>
                    <a:p>
                      <a:r>
                        <a:rPr sz="788">
                          <a:solidFill>
                            <a:srgbClr val="1A1F2B"/>
                          </a:solidFill>
                          <a:latin typeface="Calibri"/>
                          <a:ea typeface="Calibri"/>
                          <a:cs typeface="Calibri"/>
                        </a:rPr>
                        <a:t>math_roots.quadratic</a:t>
                      </a:r>
                    </a:p>
                  </a:txBody>
                  <a:tcPr marL="57150" marR="47625" marT="19050" marB="19050" anchor="ctr"/>
                </a:tc>
                <a:tc>
                  <a:txBody>
                    <a:bodyPr/>
                    <a:lstStyle/>
                    <a:p>
                      <a:r>
                        <a:rPr sz="788">
                          <a:solidFill>
                            <a:srgbClr val="065A82"/>
                          </a:solidFill>
                          <a:latin typeface="Calibri"/>
                          <a:ea typeface="Calibri"/>
                          <a:cs typeface="Calibri"/>
                        </a:rPr>
                        <a:t>math.roots.polynomial</a:t>
                      </a:r>
                    </a:p>
                  </a:txBody>
                  <a:tcPr marL="57150" marR="47625" marT="19050" marB="19050" anchor="ctr"/>
                </a:tc>
                <a:tc>
                  <a:txBody>
                    <a:bodyPr/>
                    <a:lstStyle/>
                    <a:p>
                      <a:r>
                        <a:rPr sz="788">
                          <a:solidFill>
                            <a:srgbClr val="1A1F2B"/>
                          </a:solidFill>
                          <a:latin typeface="Calibri"/>
                          <a:ea typeface="Calibri"/>
                          <a:cs typeface="Calibri"/>
                        </a:rPr>
                        <a:t>0.344 / 0.015</a:t>
                      </a:r>
                    </a:p>
                  </a:txBody>
                  <a:tcPr marL="57150" marR="47625" marT="19050" marB="19050" anchor="ctr"/>
                </a:tc>
                <a:tc>
                  <a:txBody>
                    <a:bodyPr/>
                    <a:lstStyle/>
                    <a:p>
                      <a:r>
                        <a:rPr sz="788">
                          <a:solidFill>
                            <a:srgbClr val="815AC0"/>
                          </a:solidFill>
                          <a:latin typeface="Calibri"/>
                          <a:ea typeface="Calibri"/>
                          <a:cs typeface="Calibri"/>
                        </a:rPr>
                        <a:t>math_roots.quadratic</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A33A3A"/>
                          </a:solidFill>
                          <a:latin typeface="Calibri"/>
                          <a:ea typeface="Calibri"/>
                          <a:cs typeface="Calibri"/>
                        </a:rPr>
                        <a:t>no / yes</a:t>
                      </a:r>
                    </a:p>
                  </a:txBody>
                  <a:tcPr marL="57150" marR="47625" marT="19050" marB="19050" anchor="ctr"/>
                </a:tc>
              </a:tr>
              <a:tr h="290513">
                <a:tc>
                  <a:txBody>
                    <a:bodyPr/>
                    <a:lstStyle/>
                    <a:p>
                      <a:r>
                        <a:rPr sz="788">
                          <a:solidFill>
                            <a:srgbClr val="1A1F2B"/>
                          </a:solidFill>
                          <a:latin typeface="Calibri"/>
                          <a:ea typeface="Calibri"/>
                          <a:cs typeface="Calibri"/>
                        </a:rPr>
                        <a:t>multiple_12</a:t>
                      </a:r>
                    </a:p>
                  </a:txBody>
                  <a:tcPr marL="57150" marR="47625" marT="19050" marB="19050" anchor="ctr"/>
                </a:tc>
                <a:tc>
                  <a:txBody>
                    <a:bodyPr/>
                    <a:lstStyle/>
                    <a:p>
                      <a:r>
                        <a:rPr sz="788">
                          <a:solidFill>
                            <a:srgbClr val="1A1F2B"/>
                          </a:solidFill>
                          <a:latin typeface="Calibri"/>
                          <a:ea typeface="Calibri"/>
                          <a:cs typeface="Calibri"/>
                        </a:rPr>
                        <a:t>corporate_finance.calculate_YOY_growth_rate</a:t>
                      </a:r>
                    </a:p>
                  </a:txBody>
                  <a:tcPr marL="57150" marR="47625" marT="19050" marB="19050" anchor="ctr"/>
                </a:tc>
                <a:tc>
                  <a:txBody>
                    <a:bodyPr/>
                    <a:lstStyle/>
                    <a:p>
                      <a:r>
                        <a:rPr sz="788">
                          <a:solidFill>
                            <a:srgbClr val="065A82"/>
                          </a:solidFill>
                          <a:latin typeface="Calibri"/>
                          <a:ea typeface="Calibri"/>
                          <a:cs typeface="Calibri"/>
                        </a:rPr>
                        <a:t>corporate_finance.calculate_YOY_growth_rate</a:t>
                      </a:r>
                    </a:p>
                  </a:txBody>
                  <a:tcPr marL="57150" marR="47625" marT="19050" marB="19050" anchor="ctr"/>
                </a:tc>
                <a:tc>
                  <a:txBody>
                    <a:bodyPr/>
                    <a:lstStyle/>
                    <a:p>
                      <a:r>
                        <a:rPr sz="788">
                          <a:solidFill>
                            <a:srgbClr val="1A1F2B"/>
                          </a:solidFill>
                          <a:latin typeface="Calibri"/>
                          <a:ea typeface="Calibri"/>
                          <a:cs typeface="Calibri"/>
                        </a:rPr>
                        <a:t>0.442 / 0.158</a:t>
                      </a:r>
                    </a:p>
                  </a:txBody>
                  <a:tcPr marL="57150" marR="47625" marT="19050" marB="19050" anchor="ctr"/>
                </a:tc>
                <a:tc>
                  <a:txBody>
                    <a:bodyPr/>
                    <a:lstStyle/>
                    <a:p>
                      <a:r>
                        <a:rPr sz="788">
                          <a:solidFill>
                            <a:srgbClr val="815AC0"/>
                          </a:solidFill>
                          <a:latin typeface="Calibri"/>
                          <a:ea typeface="Calibri"/>
                          <a:cs typeface="Calibri"/>
                        </a:rPr>
                        <a:t>corporate_finance.calculate_YOY_growth_rate</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multiple_13</a:t>
                      </a:r>
                    </a:p>
                  </a:txBody>
                  <a:tcPr marL="57150" marR="47625" marT="19050" marB="19050" anchor="ctr"/>
                </a:tc>
                <a:tc>
                  <a:txBody>
                    <a:bodyPr/>
                    <a:lstStyle/>
                    <a:p>
                      <a:r>
                        <a:rPr sz="788">
                          <a:solidFill>
                            <a:srgbClr val="1A1F2B"/>
                          </a:solidFill>
                          <a:latin typeface="Calibri"/>
                          <a:ea typeface="Calibri"/>
                          <a:cs typeface="Calibri"/>
                        </a:rPr>
                        <a:t>corporate_finance.revenue_forecast</a:t>
                      </a:r>
                    </a:p>
                  </a:txBody>
                  <a:tcPr marL="57150" marR="47625" marT="19050" marB="19050" anchor="ctr"/>
                </a:tc>
                <a:tc>
                  <a:txBody>
                    <a:bodyPr/>
                    <a:lstStyle/>
                    <a:p>
                      <a:r>
                        <a:rPr sz="788">
                          <a:solidFill>
                            <a:srgbClr val="065A82"/>
                          </a:solidFill>
                          <a:latin typeface="Calibri"/>
                          <a:ea typeface="Calibri"/>
                          <a:cs typeface="Calibri"/>
                        </a:rPr>
                        <a:t>corporate_finance.revenue_forecast</a:t>
                      </a:r>
                    </a:p>
                  </a:txBody>
                  <a:tcPr marL="57150" marR="47625" marT="19050" marB="19050" anchor="ctr"/>
                </a:tc>
                <a:tc>
                  <a:txBody>
                    <a:bodyPr/>
                    <a:lstStyle/>
                    <a:p>
                      <a:r>
                        <a:rPr sz="788">
                          <a:solidFill>
                            <a:srgbClr val="1A1F2B"/>
                          </a:solidFill>
                          <a:latin typeface="Calibri"/>
                          <a:ea typeface="Calibri"/>
                          <a:cs typeface="Calibri"/>
                        </a:rPr>
                        <a:t>0.580 / 0.161</a:t>
                      </a:r>
                    </a:p>
                  </a:txBody>
                  <a:tcPr marL="57150" marR="47625" marT="19050" marB="19050" anchor="ctr"/>
                </a:tc>
                <a:tc>
                  <a:txBody>
                    <a:bodyPr/>
                    <a:lstStyle/>
                    <a:p>
                      <a:r>
                        <a:rPr sz="788">
                          <a:solidFill>
                            <a:srgbClr val="815AC0"/>
                          </a:solidFill>
                          <a:latin typeface="Calibri"/>
                          <a:ea typeface="Calibri"/>
                          <a:cs typeface="Calibri"/>
                        </a:rPr>
                        <a:t>corporate_finance.revenue_forecast</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multiple_14</a:t>
                      </a:r>
                    </a:p>
                  </a:txBody>
                  <a:tcPr marL="57150" marR="47625" marT="19050" marB="19050" anchor="ctr"/>
                </a:tc>
                <a:tc>
                  <a:txBody>
                    <a:bodyPr/>
                    <a:lstStyle/>
                    <a:p>
                      <a:r>
                        <a:rPr sz="788">
                          <a:solidFill>
                            <a:srgbClr val="1A1F2B"/>
                          </a:solidFill>
                          <a:latin typeface="Calibri"/>
                          <a:ea typeface="Calibri"/>
                          <a:cs typeface="Calibri"/>
                        </a:rPr>
                        <a:t>finance.property_depreciation</a:t>
                      </a:r>
                    </a:p>
                  </a:txBody>
                  <a:tcPr marL="57150" marR="47625" marT="19050" marB="19050" anchor="ctr"/>
                </a:tc>
                <a:tc>
                  <a:txBody>
                    <a:bodyPr/>
                    <a:lstStyle/>
                    <a:p>
                      <a:r>
                        <a:rPr sz="788">
                          <a:solidFill>
                            <a:srgbClr val="065A82"/>
                          </a:solidFill>
                          <a:latin typeface="Calibri"/>
                          <a:ea typeface="Calibri"/>
                          <a:cs typeface="Calibri"/>
                        </a:rPr>
                        <a:t>finance.property_depreciation</a:t>
                      </a:r>
                    </a:p>
                  </a:txBody>
                  <a:tcPr marL="57150" marR="47625" marT="19050" marB="19050" anchor="ctr"/>
                </a:tc>
                <a:tc>
                  <a:txBody>
                    <a:bodyPr/>
                    <a:lstStyle/>
                    <a:p>
                      <a:r>
                        <a:rPr sz="788">
                          <a:solidFill>
                            <a:srgbClr val="1A1F2B"/>
                          </a:solidFill>
                          <a:latin typeface="Calibri"/>
                          <a:ea typeface="Calibri"/>
                          <a:cs typeface="Calibri"/>
                        </a:rPr>
                        <a:t>0.510 / 0.252</a:t>
                      </a:r>
                    </a:p>
                  </a:txBody>
                  <a:tcPr marL="57150" marR="47625" marT="19050" marB="19050" anchor="ctr"/>
                </a:tc>
                <a:tc>
                  <a:txBody>
                    <a:bodyPr/>
                    <a:lstStyle/>
                    <a:p>
                      <a:r>
                        <a:rPr sz="788">
                          <a:solidFill>
                            <a:srgbClr val="815AC0"/>
                          </a:solidFill>
                          <a:latin typeface="Calibri"/>
                          <a:ea typeface="Calibri"/>
                          <a:cs typeface="Calibri"/>
                        </a:rPr>
                        <a:t>finance.property_depreciation</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bl>
          </a:graphicData>
        </a:graphic>
      </p:graphicFrame>
      <p:sp>
        <p:nvSpPr>
          <p:cNvPr id="6" name="">
            <a:extLst xmlns:a="http://schemas.openxmlformats.org/drawingml/2006/main">
              <a:ext uri="{FF2B5EF4-FFF2-40B4-BE49-F238E27FC236}">
                <a16:creationId xmlns:a16="http://schemas.microsoft.com/office/drawing/2014/main" id="{9853C5BA-CEE5-4C35-AE38-7E846497EB43}"/>
              </a:ext>
            </a:extLst>
          </p:cNvPr>
          <p:cNvSpPr>
            <a:spLocks xmlns:a="http://schemas.openxmlformats.org/drawingml/2006/main" noGrp="1"/>
          </p:cNvSpPr>
          <p:nvPr/>
        </p:nvSpPr>
        <p:spPr>
          <a:xfrm xmlns:a="http://schemas.openxmlformats.org/drawingml/2006/main">
            <a:off x="781050" y="6296025"/>
            <a:ext cx="10458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38" b="0" i="1">
                <a:solidFill>
                  <a:srgbClr val="6B7A8C"/>
                </a:solidFill>
                <a:latin typeface="Calibri"/>
                <a:ea typeface="Calibri"/>
                <a:cs typeface="Calibri"/>
              </a:defRPr>
            </a:pPr>
            <a:r>
              <a:rPr sz="938" b="0" i="1">
                <a:solidFill>
                  <a:srgbClr val="6B7A8C"/>
                </a:solidFill>
                <a:latin typeface="Calibri"/>
                <a:ea typeface="Calibri"/>
                <a:cs typeface="Calibri"/>
              </a:rPr>
              <a:t>Correct column reports ModernBERT / TypeSafe.ai JEV. Full schemas and probability distributions remain in the JSON artifacts.</a:t>
            </a:r>
          </a:p>
        </p:txBody>
      </p:sp>
    </p:spTree>
    <p:extLst>
      <p:ext uri="{BB962C8B-B14F-4D97-AF65-F5344CB8AC3E}">
        <p14:creationId xmlns:p14="http://schemas.microsoft.com/office/powerpoint/2010/main" val="42111043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7" name="background">
            <a:extLst xmlns:a="http://schemas.openxmlformats.org/drawingml/2006/main">
              <a:ext uri="{FF2B5EF4-FFF2-40B4-BE49-F238E27FC236}">
                <a16:creationId xmlns:a16="http://schemas.microsoft.com/office/drawing/2014/main" id="{1985C60B-B116-4ED6-87A5-BAE567FE43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C939EECD-BAEB-4395-B7A9-46C9837AAB20}"/>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D86E4A0-769C-4A90-9D9E-9775E6836291}"/>
              </a:ext>
            </a:extLst>
          </p:cNvPr>
          <p:cNvSpPr>
            <a:spLocks xmlns:a="http://schemas.openxmlformats.org/drawingml/2006/main" noGrp="1"/>
          </p:cNvSpPr>
          <p:nvPr/>
        </p:nvSpPr>
        <p:spPr>
          <a:xfrm xmlns:a="http://schemas.openxmlformats.org/drawingml/2006/main">
            <a:off x="781050" y="400050"/>
            <a:ext cx="1045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21295C"/>
                </a:solidFill>
                <a:latin typeface="Georgia"/>
                <a:ea typeface="Georgia"/>
                <a:cs typeface="Georgia"/>
              </a:defRPr>
            </a:pPr>
            <a:r>
              <a:rPr sz="2850" b="1" i="0">
                <a:solidFill>
                  <a:srgbClr val="21295C"/>
                </a:solidFill>
                <a:latin typeface="Georgia"/>
                <a:ea typeface="Georgia"/>
                <a:cs typeface="Georgia"/>
              </a:rPr>
              <a:t>Tool calling results 16–30</a:t>
            </a:r>
          </a:p>
        </p:txBody>
      </p:sp>
      <p:sp>
        <p:nvSpPr>
          <p:cNvPr id="4" name="">
            <a:extLst xmlns:a="http://schemas.openxmlformats.org/drawingml/2006/main">
              <a:ext uri="{FF2B5EF4-FFF2-40B4-BE49-F238E27FC236}">
                <a16:creationId xmlns:a16="http://schemas.microsoft.com/office/drawing/2014/main" id="{09EFE5D3-C649-4FFD-A6F6-7B826062F385}"/>
              </a:ext>
            </a:extLst>
          </p:cNvPr>
          <p:cNvSpPr>
            <a:spLocks xmlns:a="http://schemas.openxmlformats.org/drawingml/2006/main" noGrp="1"/>
          </p:cNvSpPr>
          <p:nvPr/>
        </p:nvSpPr>
        <p:spPr>
          <a:xfrm xmlns:a="http://schemas.openxmlformats.org/drawingml/2006/main">
            <a:off x="781050" y="933450"/>
            <a:ext cx="10458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1">
                <a:solidFill>
                  <a:srgbClr val="6B7A8C"/>
                </a:solidFill>
                <a:latin typeface="Calibri"/>
                <a:ea typeface="Calibri"/>
                <a:cs typeface="Calibri"/>
              </a:defRPr>
            </a:pPr>
            <a:r>
              <a:rPr sz="1275" b="0" i="1">
                <a:solidFill>
                  <a:srgbClr val="6B7A8C"/>
                </a:solidFill>
                <a:latin typeface="Calibri"/>
                <a:ea typeface="Calibri"/>
                <a:cs typeface="Calibri"/>
              </a:rPr>
              <a:t>Top-ranked route for every BFCL-derived case</a:t>
            </a:r>
          </a:p>
        </p:txBody>
      </p:sp>
      <p:graphicFrame>
        <p:nvGraphicFramePr>
          <p:cNvPr id="11" name=""/>
          <p:cNvGraphicFramePr/>
          <p:nvPr/>
        </p:nvGraphicFramePr>
        <p:xfrm>
          <a:off xmlns:a="http://schemas.openxmlformats.org/drawingml/2006/main" x="781050" y="1409700"/>
          <a:ext xmlns:a="http://schemas.openxmlformats.org/drawingml/2006/main" cx="10458450" cy="4686300"/>
        </p:xfrm>
        <a:graphic xmlns:a="http://schemas.openxmlformats.org/drawingml/2006/main">
          <a:graphicData uri="http://schemas.openxmlformats.org/drawingml/2006/table">
            <a:tbl>
              <a:tblPr firstRow="1" bandRow="1"/>
              <a:tblGrid>
                <a:gridCol w="1219200"/>
                <a:gridCol w="2095500"/>
                <a:gridCol w="2095500"/>
                <a:gridCol w="1143000"/>
                <a:gridCol w="2095500"/>
                <a:gridCol w="1143000"/>
                <a:gridCol w="857250"/>
              </a:tblGrid>
              <a:tr h="323850">
                <a:tc>
                  <a:txBody>
                    <a:bodyPr/>
                    <a:lstStyle/>
                    <a:p>
                      <a:r>
                        <a:rPr sz="863" b="1">
                          <a:solidFill>
                            <a:srgbClr val="FFFFFF"/>
                          </a:solidFill>
                          <a:latin typeface="Calibri"/>
                          <a:ea typeface="Calibri"/>
                          <a:cs typeface="Calibri"/>
                        </a:rPr>
                        <a:t>Case</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Expected route</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ModernBERT route</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p / margin</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TypeSafe.ai JEV route</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p / margin</a:t>
                      </a:r>
                    </a:p>
                  </a:txBody>
                  <a:tcPr marL="57150" marR="47625" marT="28575" marB="28575" anchor="ctr">
                    <a:solidFill>
                      <a:srgbClr val="21295C"/>
                    </a:solidFill>
                  </a:tcPr>
                </a:tc>
                <a:tc>
                  <a:txBody>
                    <a:bodyPr/>
                    <a:lstStyle/>
                    <a:p>
                      <a:r>
                        <a:rPr sz="863" b="1">
                          <a:solidFill>
                            <a:srgbClr val="FFFFFF"/>
                          </a:solidFill>
                          <a:latin typeface="Calibri"/>
                          <a:ea typeface="Calibri"/>
                          <a:cs typeface="Calibri"/>
                        </a:rPr>
                        <a:t>Correct</a:t>
                      </a:r>
                    </a:p>
                  </a:txBody>
                  <a:tcPr marL="57150" marR="47625" marT="28575" marB="28575" anchor="ctr">
                    <a:solidFill>
                      <a:srgbClr val="21295C"/>
                    </a:solidFill>
                  </a:tcPr>
                </a:tc>
              </a:tr>
              <a:tr h="290513">
                <a:tc>
                  <a:txBody>
                    <a:bodyPr/>
                    <a:lstStyle/>
                    <a:p>
                      <a:r>
                        <a:rPr sz="788">
                          <a:solidFill>
                            <a:srgbClr val="1A1F2B"/>
                          </a:solidFill>
                          <a:latin typeface="Calibri"/>
                          <a:ea typeface="Calibri"/>
                          <a:cs typeface="Calibri"/>
                        </a:rPr>
                        <a:t>multiple_15</a:t>
                      </a:r>
                    </a:p>
                  </a:txBody>
                  <a:tcPr marL="57150" marR="47625" marT="19050" marB="19050" anchor="ctr"/>
                </a:tc>
                <a:tc>
                  <a:txBody>
                    <a:bodyPr/>
                    <a:lstStyle/>
                    <a:p>
                      <a:r>
                        <a:rPr sz="788">
                          <a:solidFill>
                            <a:srgbClr val="1A1F2B"/>
                          </a:solidFill>
                          <a:latin typeface="Calibri"/>
                          <a:ea typeface="Calibri"/>
                          <a:cs typeface="Calibri"/>
                        </a:rPr>
                        <a:t>solarFarm.potential</a:t>
                      </a:r>
                    </a:p>
                  </a:txBody>
                  <a:tcPr marL="57150" marR="47625" marT="19050" marB="19050" anchor="ctr"/>
                </a:tc>
                <a:tc>
                  <a:txBody>
                    <a:bodyPr/>
                    <a:lstStyle/>
                    <a:p>
                      <a:r>
                        <a:rPr sz="788">
                          <a:solidFill>
                            <a:srgbClr val="065A82"/>
                          </a:solidFill>
                          <a:latin typeface="Calibri"/>
                          <a:ea typeface="Calibri"/>
                          <a:cs typeface="Calibri"/>
                        </a:rPr>
                        <a:t>solarFarm.potential</a:t>
                      </a:r>
                    </a:p>
                  </a:txBody>
                  <a:tcPr marL="57150" marR="47625" marT="19050" marB="19050" anchor="ctr"/>
                </a:tc>
                <a:tc>
                  <a:txBody>
                    <a:bodyPr/>
                    <a:lstStyle/>
                    <a:p>
                      <a:r>
                        <a:rPr sz="788">
                          <a:solidFill>
                            <a:srgbClr val="1A1F2B"/>
                          </a:solidFill>
                          <a:latin typeface="Calibri"/>
                          <a:ea typeface="Calibri"/>
                          <a:cs typeface="Calibri"/>
                        </a:rPr>
                        <a:t>0.525 / 0.050</a:t>
                      </a:r>
                    </a:p>
                  </a:txBody>
                  <a:tcPr marL="57150" marR="47625" marT="19050" marB="19050" anchor="ctr"/>
                </a:tc>
                <a:tc>
                  <a:txBody>
                    <a:bodyPr/>
                    <a:lstStyle/>
                    <a:p>
                      <a:r>
                        <a:rPr sz="788">
                          <a:solidFill>
                            <a:srgbClr val="815AC0"/>
                          </a:solidFill>
                          <a:latin typeface="Calibri"/>
                          <a:ea typeface="Calibri"/>
                          <a:cs typeface="Calibri"/>
                        </a:rPr>
                        <a:t>solarFarm.potential</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multiple_16</a:t>
                      </a:r>
                    </a:p>
                  </a:txBody>
                  <a:tcPr marL="57150" marR="47625" marT="19050" marB="19050" anchor="ctr"/>
                </a:tc>
                <a:tc>
                  <a:txBody>
                    <a:bodyPr/>
                    <a:lstStyle/>
                    <a:p>
                      <a:r>
                        <a:rPr sz="788">
                          <a:solidFill>
                            <a:srgbClr val="1A1F2B"/>
                          </a:solidFill>
                          <a:latin typeface="Calibri"/>
                          <a:ea typeface="Calibri"/>
                          <a:cs typeface="Calibri"/>
                        </a:rPr>
                        <a:t>population_genetics.calculate_ne</a:t>
                      </a:r>
                    </a:p>
                  </a:txBody>
                  <a:tcPr marL="57150" marR="47625" marT="19050" marB="19050" anchor="ctr"/>
                </a:tc>
                <a:tc>
                  <a:txBody>
                    <a:bodyPr/>
                    <a:lstStyle/>
                    <a:p>
                      <a:r>
                        <a:rPr sz="788">
                          <a:solidFill>
                            <a:srgbClr val="065A82"/>
                          </a:solidFill>
                          <a:latin typeface="Calibri"/>
                          <a:ea typeface="Calibri"/>
                          <a:cs typeface="Calibri"/>
                        </a:rPr>
                        <a:t>population_genetics.calculate_ne</a:t>
                      </a:r>
                    </a:p>
                  </a:txBody>
                  <a:tcPr marL="57150" marR="47625" marT="19050" marB="19050" anchor="ctr"/>
                </a:tc>
                <a:tc>
                  <a:txBody>
                    <a:bodyPr/>
                    <a:lstStyle/>
                    <a:p>
                      <a:r>
                        <a:rPr sz="788">
                          <a:solidFill>
                            <a:srgbClr val="1A1F2B"/>
                          </a:solidFill>
                          <a:latin typeface="Calibri"/>
                          <a:ea typeface="Calibri"/>
                          <a:cs typeface="Calibri"/>
                        </a:rPr>
                        <a:t>0.415 / 0.119</a:t>
                      </a:r>
                    </a:p>
                  </a:txBody>
                  <a:tcPr marL="57150" marR="47625" marT="19050" marB="19050" anchor="ctr"/>
                </a:tc>
                <a:tc>
                  <a:txBody>
                    <a:bodyPr/>
                    <a:lstStyle/>
                    <a:p>
                      <a:r>
                        <a:rPr sz="788">
                          <a:solidFill>
                            <a:srgbClr val="815AC0"/>
                          </a:solidFill>
                          <a:latin typeface="Calibri"/>
                          <a:ea typeface="Calibri"/>
                          <a:cs typeface="Calibri"/>
                        </a:rPr>
                        <a:t>population_genetics.calculate_ne</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multiple_17</a:t>
                      </a:r>
                    </a:p>
                  </a:txBody>
                  <a:tcPr marL="57150" marR="47625" marT="19050" marB="19050" anchor="ctr"/>
                </a:tc>
                <a:tc>
                  <a:txBody>
                    <a:bodyPr/>
                    <a:lstStyle/>
                    <a:p>
                      <a:r>
                        <a:rPr sz="788">
                          <a:solidFill>
                            <a:srgbClr val="1A1F2B"/>
                          </a:solidFill>
                          <a:latin typeface="Calibri"/>
                          <a:ea typeface="Calibri"/>
                          <a:cs typeface="Calibri"/>
                        </a:rPr>
                        <a:t>currency_conversion.get_rate</a:t>
                      </a:r>
                    </a:p>
                  </a:txBody>
                  <a:tcPr marL="57150" marR="47625" marT="19050" marB="19050" anchor="ctr"/>
                </a:tc>
                <a:tc>
                  <a:txBody>
                    <a:bodyPr/>
                    <a:lstStyle/>
                    <a:p>
                      <a:r>
                        <a:rPr sz="788">
                          <a:solidFill>
                            <a:srgbClr val="065A82"/>
                          </a:solidFill>
                          <a:latin typeface="Calibri"/>
                          <a:ea typeface="Calibri"/>
                          <a:cs typeface="Calibri"/>
                        </a:rPr>
                        <a:t>currency_conversion.get_rate</a:t>
                      </a:r>
                    </a:p>
                  </a:txBody>
                  <a:tcPr marL="57150" marR="47625" marT="19050" marB="19050" anchor="ctr"/>
                </a:tc>
                <a:tc>
                  <a:txBody>
                    <a:bodyPr/>
                    <a:lstStyle/>
                    <a:p>
                      <a:r>
                        <a:rPr sz="788">
                          <a:solidFill>
                            <a:srgbClr val="1A1F2B"/>
                          </a:solidFill>
                          <a:latin typeface="Calibri"/>
                          <a:ea typeface="Calibri"/>
                          <a:cs typeface="Calibri"/>
                        </a:rPr>
                        <a:t>0.338 / 0.005</a:t>
                      </a:r>
                    </a:p>
                  </a:txBody>
                  <a:tcPr marL="57150" marR="47625" marT="19050" marB="19050" anchor="ctr"/>
                </a:tc>
                <a:tc>
                  <a:txBody>
                    <a:bodyPr/>
                    <a:lstStyle/>
                    <a:p>
                      <a:r>
                        <a:rPr sz="788">
                          <a:solidFill>
                            <a:srgbClr val="815AC0"/>
                          </a:solidFill>
                          <a:latin typeface="Calibri"/>
                          <a:ea typeface="Calibri"/>
                          <a:cs typeface="Calibri"/>
                        </a:rPr>
                        <a:t>currency_conversion.get_rate</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multiple_18</a:t>
                      </a:r>
                    </a:p>
                  </a:txBody>
                  <a:tcPr marL="57150" marR="47625" marT="19050" marB="19050" anchor="ctr"/>
                </a:tc>
                <a:tc>
                  <a:txBody>
                    <a:bodyPr/>
                    <a:lstStyle/>
                    <a:p>
                      <a:r>
                        <a:rPr sz="788">
                          <a:solidFill>
                            <a:srgbClr val="1A1F2B"/>
                          </a:solidFill>
                          <a:latin typeface="Calibri"/>
                          <a:ea typeface="Calibri"/>
                          <a:cs typeface="Calibri"/>
                        </a:rPr>
                        <a:t>european_history.battle_details</a:t>
                      </a:r>
                    </a:p>
                  </a:txBody>
                  <a:tcPr marL="57150" marR="47625" marT="19050" marB="19050" anchor="ctr"/>
                </a:tc>
                <a:tc>
                  <a:txBody>
                    <a:bodyPr/>
                    <a:lstStyle/>
                    <a:p>
                      <a:r>
                        <a:rPr sz="788">
                          <a:solidFill>
                            <a:srgbClr val="065A82"/>
                          </a:solidFill>
                          <a:latin typeface="Calibri"/>
                          <a:ea typeface="Calibri"/>
                          <a:cs typeface="Calibri"/>
                        </a:rPr>
                        <a:t>european_history.battle_details</a:t>
                      </a:r>
                    </a:p>
                  </a:txBody>
                  <a:tcPr marL="57150" marR="47625" marT="19050" marB="19050" anchor="ctr"/>
                </a:tc>
                <a:tc>
                  <a:txBody>
                    <a:bodyPr/>
                    <a:lstStyle/>
                    <a:p>
                      <a:r>
                        <a:rPr sz="788">
                          <a:solidFill>
                            <a:srgbClr val="1A1F2B"/>
                          </a:solidFill>
                          <a:latin typeface="Calibri"/>
                          <a:ea typeface="Calibri"/>
                          <a:cs typeface="Calibri"/>
                        </a:rPr>
                        <a:t>0.344 / 0.011</a:t>
                      </a:r>
                    </a:p>
                  </a:txBody>
                  <a:tcPr marL="57150" marR="47625" marT="19050" marB="19050" anchor="ctr"/>
                </a:tc>
                <a:tc>
                  <a:txBody>
                    <a:bodyPr/>
                    <a:lstStyle/>
                    <a:p>
                      <a:r>
                        <a:rPr sz="788">
                          <a:solidFill>
                            <a:srgbClr val="815AC0"/>
                          </a:solidFill>
                          <a:latin typeface="Calibri"/>
                          <a:ea typeface="Calibri"/>
                          <a:cs typeface="Calibri"/>
                        </a:rPr>
                        <a:t>european_history.battle_details</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multiple_19</a:t>
                      </a:r>
                    </a:p>
                  </a:txBody>
                  <a:tcPr marL="57150" marR="47625" marT="19050" marB="19050" anchor="ctr"/>
                </a:tc>
                <a:tc>
                  <a:txBody>
                    <a:bodyPr/>
                    <a:lstStyle/>
                    <a:p>
                      <a:r>
                        <a:rPr sz="788">
                          <a:solidFill>
                            <a:srgbClr val="1A1F2B"/>
                          </a:solidFill>
                          <a:latin typeface="Calibri"/>
                          <a:ea typeface="Calibri"/>
                          <a:cs typeface="Calibri"/>
                        </a:rPr>
                        <a:t>religion_history.get_schisms</a:t>
                      </a:r>
                    </a:p>
                  </a:txBody>
                  <a:tcPr marL="57150" marR="47625" marT="19050" marB="19050" anchor="ctr"/>
                </a:tc>
                <a:tc>
                  <a:txBody>
                    <a:bodyPr/>
                    <a:lstStyle/>
                    <a:p>
                      <a:r>
                        <a:rPr sz="788">
                          <a:solidFill>
                            <a:srgbClr val="065A82"/>
                          </a:solidFill>
                          <a:latin typeface="Calibri"/>
                          <a:ea typeface="Calibri"/>
                          <a:cs typeface="Calibri"/>
                        </a:rPr>
                        <a:t>religion_history.get_schisms</a:t>
                      </a:r>
                    </a:p>
                  </a:txBody>
                  <a:tcPr marL="57150" marR="47625" marT="19050" marB="19050" anchor="ctr"/>
                </a:tc>
                <a:tc>
                  <a:txBody>
                    <a:bodyPr/>
                    <a:lstStyle/>
                    <a:p>
                      <a:r>
                        <a:rPr sz="788">
                          <a:solidFill>
                            <a:srgbClr val="1A1F2B"/>
                          </a:solidFill>
                          <a:latin typeface="Calibri"/>
                          <a:ea typeface="Calibri"/>
                          <a:cs typeface="Calibri"/>
                        </a:rPr>
                        <a:t>0.364 / 0.038</a:t>
                      </a:r>
                    </a:p>
                  </a:txBody>
                  <a:tcPr marL="57150" marR="47625" marT="19050" marB="19050" anchor="ctr"/>
                </a:tc>
                <a:tc>
                  <a:txBody>
                    <a:bodyPr/>
                    <a:lstStyle/>
                    <a:p>
                      <a:r>
                        <a:rPr sz="788">
                          <a:solidFill>
                            <a:srgbClr val="815AC0"/>
                          </a:solidFill>
                          <a:latin typeface="Calibri"/>
                          <a:ea typeface="Calibri"/>
                          <a:cs typeface="Calibri"/>
                        </a:rPr>
                        <a:t>religion_history.get_schisms</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irrelevance_0</a:t>
                      </a:r>
                    </a:p>
                  </a:txBody>
                  <a:tcPr marL="57150" marR="47625" marT="19050" marB="19050" anchor="ctr"/>
                </a:tc>
                <a:tc>
                  <a:txBody>
                    <a:bodyPr/>
                    <a:lstStyle/>
                    <a:p>
                      <a:r>
                        <a:rPr sz="788">
                          <a:solidFill>
                            <a:srgbClr val="1A1F2B"/>
                          </a:solidFill>
                          <a:latin typeface="Calibri"/>
                          <a:ea typeface="Calibri"/>
                          <a:cs typeface="Calibri"/>
                        </a:rPr>
                        <a:t>no tool</a:t>
                      </a:r>
                    </a:p>
                  </a:txBody>
                  <a:tcPr marL="57150" marR="47625" marT="19050" marB="19050" anchor="ctr"/>
                </a:tc>
                <a:tc>
                  <a:txBody>
                    <a:bodyPr/>
                    <a:lstStyle/>
                    <a:p>
                      <a:r>
                        <a:rPr sz="788">
                          <a:solidFill>
                            <a:srgbClr val="065A82"/>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0.548 / 0.096</a:t>
                      </a:r>
                    </a:p>
                  </a:txBody>
                  <a:tcPr marL="57150" marR="47625" marT="19050" marB="19050" anchor="ctr"/>
                </a:tc>
                <a:tc>
                  <a:txBody>
                    <a:bodyPr/>
                    <a:lstStyle/>
                    <a:p>
                      <a:r>
                        <a:rPr sz="788">
                          <a:solidFill>
                            <a:srgbClr val="815AC0"/>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irrelevance_20</a:t>
                      </a:r>
                    </a:p>
                  </a:txBody>
                  <a:tcPr marL="57150" marR="47625" marT="19050" marB="19050" anchor="ctr"/>
                </a:tc>
                <a:tc>
                  <a:txBody>
                    <a:bodyPr/>
                    <a:lstStyle/>
                    <a:p>
                      <a:r>
                        <a:rPr sz="788">
                          <a:solidFill>
                            <a:srgbClr val="1A1F2B"/>
                          </a:solidFill>
                          <a:latin typeface="Calibri"/>
                          <a:ea typeface="Calibri"/>
                          <a:cs typeface="Calibri"/>
                        </a:rPr>
                        <a:t>no tool</a:t>
                      </a:r>
                    </a:p>
                  </a:txBody>
                  <a:tcPr marL="57150" marR="47625" marT="19050" marB="19050" anchor="ctr"/>
                </a:tc>
                <a:tc>
                  <a:txBody>
                    <a:bodyPr/>
                    <a:lstStyle/>
                    <a:p>
                      <a:r>
                        <a:rPr sz="788">
                          <a:solidFill>
                            <a:srgbClr val="065A82"/>
                          </a:solidFill>
                          <a:latin typeface="Calibri"/>
                          <a:ea typeface="Calibri"/>
                          <a:cs typeface="Calibri"/>
                        </a:rPr>
                        <a:t>currency_converter</a:t>
                      </a:r>
                    </a:p>
                  </a:txBody>
                  <a:tcPr marL="57150" marR="47625" marT="19050" marB="19050" anchor="ctr"/>
                </a:tc>
                <a:tc>
                  <a:txBody>
                    <a:bodyPr/>
                    <a:lstStyle/>
                    <a:p>
                      <a:r>
                        <a:rPr sz="788">
                          <a:solidFill>
                            <a:srgbClr val="1A1F2B"/>
                          </a:solidFill>
                          <a:latin typeface="Calibri"/>
                          <a:ea typeface="Calibri"/>
                          <a:cs typeface="Calibri"/>
                        </a:rPr>
                        <a:t>0.501 / 0.002</a:t>
                      </a:r>
                    </a:p>
                  </a:txBody>
                  <a:tcPr marL="57150" marR="47625" marT="19050" marB="19050" anchor="ctr"/>
                </a:tc>
                <a:tc>
                  <a:txBody>
                    <a:bodyPr/>
                    <a:lstStyle/>
                    <a:p>
                      <a:r>
                        <a:rPr sz="788">
                          <a:solidFill>
                            <a:srgbClr val="815AC0"/>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A33A3A"/>
                          </a:solidFill>
                          <a:latin typeface="Calibri"/>
                          <a:ea typeface="Calibri"/>
                          <a:cs typeface="Calibri"/>
                        </a:rPr>
                        <a:t>no / yes</a:t>
                      </a:r>
                    </a:p>
                  </a:txBody>
                  <a:tcPr marL="57150" marR="47625" marT="19050" marB="19050" anchor="ctr"/>
                </a:tc>
              </a:tr>
              <a:tr h="290513">
                <a:tc>
                  <a:txBody>
                    <a:bodyPr/>
                    <a:lstStyle/>
                    <a:p>
                      <a:r>
                        <a:rPr sz="788">
                          <a:solidFill>
                            <a:srgbClr val="1A1F2B"/>
                          </a:solidFill>
                          <a:latin typeface="Calibri"/>
                          <a:ea typeface="Calibri"/>
                          <a:cs typeface="Calibri"/>
                        </a:rPr>
                        <a:t>irrelevance_40</a:t>
                      </a:r>
                    </a:p>
                  </a:txBody>
                  <a:tcPr marL="57150" marR="47625" marT="19050" marB="19050" anchor="ctr"/>
                </a:tc>
                <a:tc>
                  <a:txBody>
                    <a:bodyPr/>
                    <a:lstStyle/>
                    <a:p>
                      <a:r>
                        <a:rPr sz="788">
                          <a:solidFill>
                            <a:srgbClr val="1A1F2B"/>
                          </a:solidFill>
                          <a:latin typeface="Calibri"/>
                          <a:ea typeface="Calibri"/>
                          <a:cs typeface="Calibri"/>
                        </a:rPr>
                        <a:t>no tool</a:t>
                      </a:r>
                    </a:p>
                  </a:txBody>
                  <a:tcPr marL="57150" marR="47625" marT="19050" marB="19050" anchor="ctr"/>
                </a:tc>
                <a:tc>
                  <a:txBody>
                    <a:bodyPr/>
                    <a:lstStyle/>
                    <a:p>
                      <a:r>
                        <a:rPr sz="788">
                          <a:solidFill>
                            <a:srgbClr val="065A82"/>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0.539 / 0.078</a:t>
                      </a:r>
                    </a:p>
                  </a:txBody>
                  <a:tcPr marL="57150" marR="47625" marT="19050" marB="19050" anchor="ctr"/>
                </a:tc>
                <a:tc>
                  <a:txBody>
                    <a:bodyPr/>
                    <a:lstStyle/>
                    <a:p>
                      <a:r>
                        <a:rPr sz="788">
                          <a:solidFill>
                            <a:srgbClr val="815AC0"/>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irrelevance_60</a:t>
                      </a:r>
                    </a:p>
                  </a:txBody>
                  <a:tcPr marL="57150" marR="47625" marT="19050" marB="19050" anchor="ctr"/>
                </a:tc>
                <a:tc>
                  <a:txBody>
                    <a:bodyPr/>
                    <a:lstStyle/>
                    <a:p>
                      <a:r>
                        <a:rPr sz="788">
                          <a:solidFill>
                            <a:srgbClr val="1A1F2B"/>
                          </a:solidFill>
                          <a:latin typeface="Calibri"/>
                          <a:ea typeface="Calibri"/>
                          <a:cs typeface="Calibri"/>
                        </a:rPr>
                        <a:t>no tool</a:t>
                      </a:r>
                    </a:p>
                  </a:txBody>
                  <a:tcPr marL="57150" marR="47625" marT="19050" marB="19050" anchor="ctr"/>
                </a:tc>
                <a:tc>
                  <a:txBody>
                    <a:bodyPr/>
                    <a:lstStyle/>
                    <a:p>
                      <a:r>
                        <a:rPr sz="788">
                          <a:solidFill>
                            <a:srgbClr val="065A82"/>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0.507 / 0.013</a:t>
                      </a:r>
                    </a:p>
                  </a:txBody>
                  <a:tcPr marL="57150" marR="47625" marT="19050" marB="19050" anchor="ctr"/>
                </a:tc>
                <a:tc>
                  <a:txBody>
                    <a:bodyPr/>
                    <a:lstStyle/>
                    <a:p>
                      <a:r>
                        <a:rPr sz="788">
                          <a:solidFill>
                            <a:srgbClr val="815AC0"/>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0.970 / 0.940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irrelevance_80</a:t>
                      </a:r>
                    </a:p>
                  </a:txBody>
                  <a:tcPr marL="57150" marR="47625" marT="19050" marB="19050" anchor="ctr"/>
                </a:tc>
                <a:tc>
                  <a:txBody>
                    <a:bodyPr/>
                    <a:lstStyle/>
                    <a:p>
                      <a:r>
                        <a:rPr sz="788">
                          <a:solidFill>
                            <a:srgbClr val="1A1F2B"/>
                          </a:solidFill>
                          <a:latin typeface="Calibri"/>
                          <a:ea typeface="Calibri"/>
                          <a:cs typeface="Calibri"/>
                        </a:rPr>
                        <a:t>no tool</a:t>
                      </a:r>
                    </a:p>
                  </a:txBody>
                  <a:tcPr marL="57150" marR="47625" marT="19050" marB="19050" anchor="ctr"/>
                </a:tc>
                <a:tc>
                  <a:txBody>
                    <a:bodyPr/>
                    <a:lstStyle/>
                    <a:p>
                      <a:r>
                        <a:rPr sz="788">
                          <a:solidFill>
                            <a:srgbClr val="065A82"/>
                          </a:solidFill>
                          <a:latin typeface="Calibri"/>
                          <a:ea typeface="Calibri"/>
                          <a:cs typeface="Calibri"/>
                        </a:rPr>
                        <a:t>stock_ticker</a:t>
                      </a:r>
                    </a:p>
                  </a:txBody>
                  <a:tcPr marL="57150" marR="47625" marT="19050" marB="19050" anchor="ctr"/>
                </a:tc>
                <a:tc>
                  <a:txBody>
                    <a:bodyPr/>
                    <a:lstStyle/>
                    <a:p>
                      <a:r>
                        <a:rPr sz="788">
                          <a:solidFill>
                            <a:srgbClr val="1A1F2B"/>
                          </a:solidFill>
                          <a:latin typeface="Calibri"/>
                          <a:ea typeface="Calibri"/>
                          <a:cs typeface="Calibri"/>
                        </a:rPr>
                        <a:t>0.531 / 0.063</a:t>
                      </a:r>
                    </a:p>
                  </a:txBody>
                  <a:tcPr marL="57150" marR="47625" marT="19050" marB="19050" anchor="ctr"/>
                </a:tc>
                <a:tc>
                  <a:txBody>
                    <a:bodyPr/>
                    <a:lstStyle/>
                    <a:p>
                      <a:r>
                        <a:rPr sz="788">
                          <a:solidFill>
                            <a:srgbClr val="815AC0"/>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A33A3A"/>
                          </a:solidFill>
                          <a:latin typeface="Calibri"/>
                          <a:ea typeface="Calibri"/>
                          <a:cs typeface="Calibri"/>
                        </a:rPr>
                        <a:t>no / yes</a:t>
                      </a:r>
                    </a:p>
                  </a:txBody>
                  <a:tcPr marL="57150" marR="47625" marT="19050" marB="19050" anchor="ctr"/>
                </a:tc>
              </a:tr>
              <a:tr h="290513">
                <a:tc>
                  <a:txBody>
                    <a:bodyPr/>
                    <a:lstStyle/>
                    <a:p>
                      <a:r>
                        <a:rPr sz="788">
                          <a:solidFill>
                            <a:srgbClr val="1A1F2B"/>
                          </a:solidFill>
                          <a:latin typeface="Calibri"/>
                          <a:ea typeface="Calibri"/>
                          <a:cs typeface="Calibri"/>
                        </a:rPr>
                        <a:t>irrelevance_100</a:t>
                      </a:r>
                    </a:p>
                  </a:txBody>
                  <a:tcPr marL="57150" marR="47625" marT="19050" marB="19050" anchor="ctr"/>
                </a:tc>
                <a:tc>
                  <a:txBody>
                    <a:bodyPr/>
                    <a:lstStyle/>
                    <a:p>
                      <a:r>
                        <a:rPr sz="788">
                          <a:solidFill>
                            <a:srgbClr val="1A1F2B"/>
                          </a:solidFill>
                          <a:latin typeface="Calibri"/>
                          <a:ea typeface="Calibri"/>
                          <a:cs typeface="Calibri"/>
                        </a:rPr>
                        <a:t>no tool</a:t>
                      </a:r>
                    </a:p>
                  </a:txBody>
                  <a:tcPr marL="57150" marR="47625" marT="19050" marB="19050" anchor="ctr"/>
                </a:tc>
                <a:tc>
                  <a:txBody>
                    <a:bodyPr/>
                    <a:lstStyle/>
                    <a:p>
                      <a:r>
                        <a:rPr sz="788">
                          <a:solidFill>
                            <a:srgbClr val="065A82"/>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0.633 / 0.265</a:t>
                      </a:r>
                    </a:p>
                  </a:txBody>
                  <a:tcPr marL="57150" marR="47625" marT="19050" marB="19050" anchor="ctr"/>
                </a:tc>
                <a:tc>
                  <a:txBody>
                    <a:bodyPr/>
                    <a:lstStyle/>
                    <a:p>
                      <a:r>
                        <a:rPr sz="788">
                          <a:solidFill>
                            <a:srgbClr val="815AC0"/>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irrelevance_120</a:t>
                      </a:r>
                    </a:p>
                  </a:txBody>
                  <a:tcPr marL="57150" marR="47625" marT="19050" marB="19050" anchor="ctr"/>
                </a:tc>
                <a:tc>
                  <a:txBody>
                    <a:bodyPr/>
                    <a:lstStyle/>
                    <a:p>
                      <a:r>
                        <a:rPr sz="788">
                          <a:solidFill>
                            <a:srgbClr val="1A1F2B"/>
                          </a:solidFill>
                          <a:latin typeface="Calibri"/>
                          <a:ea typeface="Calibri"/>
                          <a:cs typeface="Calibri"/>
                        </a:rPr>
                        <a:t>no tool</a:t>
                      </a:r>
                    </a:p>
                  </a:txBody>
                  <a:tcPr marL="57150" marR="47625" marT="19050" marB="19050" anchor="ctr"/>
                </a:tc>
                <a:tc>
                  <a:txBody>
                    <a:bodyPr/>
                    <a:lstStyle/>
                    <a:p>
                      <a:r>
                        <a:rPr sz="788">
                          <a:solidFill>
                            <a:srgbClr val="065A82"/>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0.538 / 0.076</a:t>
                      </a:r>
                    </a:p>
                  </a:txBody>
                  <a:tcPr marL="57150" marR="47625" marT="19050" marB="19050" anchor="ctr"/>
                </a:tc>
                <a:tc>
                  <a:txBody>
                    <a:bodyPr/>
                    <a:lstStyle/>
                    <a:p>
                      <a:r>
                        <a:rPr sz="788">
                          <a:solidFill>
                            <a:srgbClr val="815AC0"/>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irrelevance_140</a:t>
                      </a:r>
                    </a:p>
                  </a:txBody>
                  <a:tcPr marL="57150" marR="47625" marT="19050" marB="19050" anchor="ctr"/>
                </a:tc>
                <a:tc>
                  <a:txBody>
                    <a:bodyPr/>
                    <a:lstStyle/>
                    <a:p>
                      <a:r>
                        <a:rPr sz="788">
                          <a:solidFill>
                            <a:srgbClr val="1A1F2B"/>
                          </a:solidFill>
                          <a:latin typeface="Calibri"/>
                          <a:ea typeface="Calibri"/>
                          <a:cs typeface="Calibri"/>
                        </a:rPr>
                        <a:t>no tool</a:t>
                      </a:r>
                    </a:p>
                  </a:txBody>
                  <a:tcPr marL="57150" marR="47625" marT="19050" marB="19050" anchor="ctr"/>
                </a:tc>
                <a:tc>
                  <a:txBody>
                    <a:bodyPr/>
                    <a:lstStyle/>
                    <a:p>
                      <a:r>
                        <a:rPr sz="788">
                          <a:solidFill>
                            <a:srgbClr val="065A82"/>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0.520 / 0.040</a:t>
                      </a:r>
                    </a:p>
                  </a:txBody>
                  <a:tcPr marL="57150" marR="47625" marT="19050" marB="19050" anchor="ctr"/>
                </a:tc>
                <a:tc>
                  <a:txBody>
                    <a:bodyPr/>
                    <a:lstStyle/>
                    <a:p>
                      <a:r>
                        <a:rPr sz="788">
                          <a:solidFill>
                            <a:srgbClr val="815AC0"/>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1.000 / 1.000</a:t>
                      </a:r>
                    </a:p>
                  </a:txBody>
                  <a:tcPr marL="57150" marR="47625" marT="19050" marB="19050" anchor="ctr"/>
                </a:tc>
                <a:tc>
                  <a:txBody>
                    <a:bodyPr/>
                    <a:lstStyle/>
                    <a:p>
                      <a:r>
                        <a:rPr sz="788" b="1">
                          <a:solidFill>
                            <a:srgbClr val="1E7A4B"/>
                          </a:solidFill>
                          <a:latin typeface="Calibri"/>
                          <a:ea typeface="Calibri"/>
                          <a:cs typeface="Calibri"/>
                        </a:rPr>
                        <a:t>yes / yes</a:t>
                      </a:r>
                    </a:p>
                  </a:txBody>
                  <a:tcPr marL="57150" marR="47625" marT="19050" marB="19050" anchor="ctr"/>
                </a:tc>
              </a:tr>
              <a:tr h="290513">
                <a:tc>
                  <a:txBody>
                    <a:bodyPr/>
                    <a:lstStyle/>
                    <a:p>
                      <a:r>
                        <a:rPr sz="788">
                          <a:solidFill>
                            <a:srgbClr val="1A1F2B"/>
                          </a:solidFill>
                          <a:latin typeface="Calibri"/>
                          <a:ea typeface="Calibri"/>
                          <a:cs typeface="Calibri"/>
                        </a:rPr>
                        <a:t>irrelevance_160</a:t>
                      </a:r>
                    </a:p>
                  </a:txBody>
                  <a:tcPr marL="57150" marR="47625" marT="19050" marB="19050" anchor="ctr"/>
                </a:tc>
                <a:tc>
                  <a:txBody>
                    <a:bodyPr/>
                    <a:lstStyle/>
                    <a:p>
                      <a:r>
                        <a:rPr sz="788">
                          <a:solidFill>
                            <a:srgbClr val="1A1F2B"/>
                          </a:solidFill>
                          <a:latin typeface="Calibri"/>
                          <a:ea typeface="Calibri"/>
                          <a:cs typeface="Calibri"/>
                        </a:rPr>
                        <a:t>no tool</a:t>
                      </a:r>
                    </a:p>
                  </a:txBody>
                  <a:tcPr marL="57150" marR="47625" marT="19050" marB="19050" anchor="ctr"/>
                </a:tc>
                <a:tc>
                  <a:txBody>
                    <a:bodyPr/>
                    <a:lstStyle/>
                    <a:p>
                      <a:r>
                        <a:rPr sz="788">
                          <a:solidFill>
                            <a:srgbClr val="065A82"/>
                          </a:solidFill>
                          <a:latin typeface="Calibri"/>
                          <a:ea typeface="Calibri"/>
                          <a:cs typeface="Calibri"/>
                        </a:rPr>
                        <a:t>most_frequent_visitor</a:t>
                      </a:r>
                    </a:p>
                  </a:txBody>
                  <a:tcPr marL="57150" marR="47625" marT="19050" marB="19050" anchor="ctr"/>
                </a:tc>
                <a:tc>
                  <a:txBody>
                    <a:bodyPr/>
                    <a:lstStyle/>
                    <a:p>
                      <a:r>
                        <a:rPr sz="788">
                          <a:solidFill>
                            <a:srgbClr val="1A1F2B"/>
                          </a:solidFill>
                          <a:latin typeface="Calibri"/>
                          <a:ea typeface="Calibri"/>
                          <a:cs typeface="Calibri"/>
                        </a:rPr>
                        <a:t>0.538 / 0.076</a:t>
                      </a:r>
                    </a:p>
                  </a:txBody>
                  <a:tcPr marL="57150" marR="47625" marT="19050" marB="19050" anchor="ctr"/>
                </a:tc>
                <a:tc>
                  <a:txBody>
                    <a:bodyPr/>
                    <a:lstStyle/>
                    <a:p>
                      <a:r>
                        <a:rPr sz="788">
                          <a:solidFill>
                            <a:srgbClr val="815AC0"/>
                          </a:solidFill>
                          <a:latin typeface="Calibri"/>
                          <a:ea typeface="Calibri"/>
                          <a:cs typeface="Calibri"/>
                        </a:rPr>
                        <a:t>no tool</a:t>
                      </a:r>
                    </a:p>
                  </a:txBody>
                  <a:tcPr marL="57150" marR="47625" marT="19050" marB="19050" anchor="ctr"/>
                </a:tc>
                <a:tc>
                  <a:txBody>
                    <a:bodyPr/>
                    <a:lstStyle/>
                    <a:p>
                      <a:r>
                        <a:rPr sz="788">
                          <a:solidFill>
                            <a:srgbClr val="1A1F2B"/>
                          </a:solidFill>
                          <a:latin typeface="Calibri"/>
                          <a:ea typeface="Calibri"/>
                          <a:cs typeface="Calibri"/>
                        </a:rPr>
                        <a:t>0.950 / 0.900</a:t>
                      </a:r>
                    </a:p>
                  </a:txBody>
                  <a:tcPr marL="57150" marR="47625" marT="19050" marB="19050" anchor="ctr"/>
                </a:tc>
                <a:tc>
                  <a:txBody>
                    <a:bodyPr/>
                    <a:lstStyle/>
                    <a:p>
                      <a:r>
                        <a:rPr sz="788" b="1">
                          <a:solidFill>
                            <a:srgbClr val="A33A3A"/>
                          </a:solidFill>
                          <a:latin typeface="Calibri"/>
                          <a:ea typeface="Calibri"/>
                          <a:cs typeface="Calibri"/>
                        </a:rPr>
                        <a:t>no / yes</a:t>
                      </a:r>
                    </a:p>
                  </a:txBody>
                  <a:tcPr marL="57150" marR="47625" marT="19050" marB="19050" anchor="ctr"/>
                </a:tc>
              </a:tr>
              <a:tr h="290513">
                <a:tc>
                  <a:txBody>
                    <a:bodyPr/>
                    <a:lstStyle/>
                    <a:p>
                      <a:r>
                        <a:rPr sz="788">
                          <a:solidFill>
                            <a:srgbClr val="1A1F2B"/>
                          </a:solidFill>
                          <a:latin typeface="Calibri"/>
                          <a:ea typeface="Calibri"/>
                          <a:cs typeface="Calibri"/>
                        </a:rPr>
                        <a:t>irrelevance_180</a:t>
                      </a:r>
                    </a:p>
                  </a:txBody>
                  <a:tcPr marL="57150" marR="47625" marT="19050" marB="19050" anchor="ctr"/>
                </a:tc>
                <a:tc>
                  <a:txBody>
                    <a:bodyPr/>
                    <a:lstStyle/>
                    <a:p>
                      <a:r>
                        <a:rPr sz="788">
                          <a:solidFill>
                            <a:srgbClr val="1A1F2B"/>
                          </a:solidFill>
                          <a:latin typeface="Calibri"/>
                          <a:ea typeface="Calibri"/>
                          <a:cs typeface="Calibri"/>
                        </a:rPr>
                        <a:t>no tool</a:t>
                      </a:r>
                    </a:p>
                  </a:txBody>
                  <a:tcPr marL="57150" marR="47625" marT="19050" marB="19050" anchor="ctr"/>
                </a:tc>
                <a:tc>
                  <a:txBody>
                    <a:bodyPr/>
                    <a:lstStyle/>
                    <a:p>
                      <a:r>
                        <a:rPr sz="788">
                          <a:solidFill>
                            <a:srgbClr val="065A82"/>
                          </a:solidFill>
                          <a:latin typeface="Calibri"/>
                          <a:ea typeface="Calibri"/>
                          <a:cs typeface="Calibri"/>
                        </a:rPr>
                        <a:t>sports_analyzer.get_schedule</a:t>
                      </a:r>
                    </a:p>
                  </a:txBody>
                  <a:tcPr marL="57150" marR="47625" marT="19050" marB="19050" anchor="ctr"/>
                </a:tc>
                <a:tc>
                  <a:txBody>
                    <a:bodyPr/>
                    <a:lstStyle/>
                    <a:p>
                      <a:r>
                        <a:rPr sz="788">
                          <a:solidFill>
                            <a:srgbClr val="1A1F2B"/>
                          </a:solidFill>
                          <a:latin typeface="Calibri"/>
                          <a:ea typeface="Calibri"/>
                          <a:cs typeface="Calibri"/>
                        </a:rPr>
                        <a:t>0.501 / 0.003</a:t>
                      </a:r>
                    </a:p>
                  </a:txBody>
                  <a:tcPr marL="57150" marR="47625" marT="19050" marB="19050" anchor="ctr"/>
                </a:tc>
                <a:tc>
                  <a:txBody>
                    <a:bodyPr/>
                    <a:lstStyle/>
                    <a:p>
                      <a:r>
                        <a:rPr sz="788">
                          <a:solidFill>
                            <a:srgbClr val="815AC0"/>
                          </a:solidFill>
                          <a:latin typeface="Calibri"/>
                          <a:ea typeface="Calibri"/>
                          <a:cs typeface="Calibri"/>
                        </a:rPr>
                        <a:t>sports_analyzer.get_schedule</a:t>
                      </a:r>
                    </a:p>
                  </a:txBody>
                  <a:tcPr marL="57150" marR="47625" marT="19050" marB="19050" anchor="ctr"/>
                </a:tc>
                <a:tc>
                  <a:txBody>
                    <a:bodyPr/>
                    <a:lstStyle/>
                    <a:p>
                      <a:r>
                        <a:rPr sz="788">
                          <a:solidFill>
                            <a:srgbClr val="1A1F2B"/>
                          </a:solidFill>
                          <a:latin typeface="Calibri"/>
                          <a:ea typeface="Calibri"/>
                          <a:cs typeface="Calibri"/>
                        </a:rPr>
                        <a:t>0.720 / 0.440</a:t>
                      </a:r>
                    </a:p>
                  </a:txBody>
                  <a:tcPr marL="57150" marR="47625" marT="19050" marB="19050" anchor="ctr"/>
                </a:tc>
                <a:tc>
                  <a:txBody>
                    <a:bodyPr/>
                    <a:lstStyle/>
                    <a:p>
                      <a:r>
                        <a:rPr sz="788" b="1">
                          <a:solidFill>
                            <a:srgbClr val="A33A3A"/>
                          </a:solidFill>
                          <a:latin typeface="Calibri"/>
                          <a:ea typeface="Calibri"/>
                          <a:cs typeface="Calibri"/>
                        </a:rPr>
                        <a:t>no / no</a:t>
                      </a:r>
                    </a:p>
                  </a:txBody>
                  <a:tcPr marL="57150" marR="47625" marT="19050" marB="19050" anchor="ctr"/>
                </a:tc>
              </a:tr>
            </a:tbl>
          </a:graphicData>
        </a:graphic>
      </p:graphicFrame>
      <p:sp>
        <p:nvSpPr>
          <p:cNvPr id="6" name="">
            <a:extLst xmlns:a="http://schemas.openxmlformats.org/drawingml/2006/main">
              <a:ext uri="{FF2B5EF4-FFF2-40B4-BE49-F238E27FC236}">
                <a16:creationId xmlns:a16="http://schemas.microsoft.com/office/drawing/2014/main" id="{EF9FE283-DA1E-428B-A823-D67A3453FAA3}"/>
              </a:ext>
            </a:extLst>
          </p:cNvPr>
          <p:cNvSpPr>
            <a:spLocks xmlns:a="http://schemas.openxmlformats.org/drawingml/2006/main" noGrp="1"/>
          </p:cNvSpPr>
          <p:nvPr/>
        </p:nvSpPr>
        <p:spPr>
          <a:xfrm xmlns:a="http://schemas.openxmlformats.org/drawingml/2006/main">
            <a:off x="781050" y="6296025"/>
            <a:ext cx="10458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38" b="0" i="1">
                <a:solidFill>
                  <a:srgbClr val="6B7A8C"/>
                </a:solidFill>
                <a:latin typeface="Calibri"/>
                <a:ea typeface="Calibri"/>
                <a:cs typeface="Calibri"/>
              </a:defRPr>
            </a:pPr>
            <a:r>
              <a:rPr sz="938" b="0" i="1">
                <a:solidFill>
                  <a:srgbClr val="6B7A8C"/>
                </a:solidFill>
                <a:latin typeface="Calibri"/>
                <a:ea typeface="Calibri"/>
                <a:cs typeface="Calibri"/>
              </a:rPr>
              <a:t>Correct column reports ModernBERT / TypeSafe.ai JEV. Full schemas and probability distributions remain in the JSON artifacts.</a:t>
            </a:r>
          </a:p>
        </p:txBody>
      </p:sp>
    </p:spTree>
    <p:extLst>
      <p:ext uri="{BB962C8B-B14F-4D97-AF65-F5344CB8AC3E}">
        <p14:creationId xmlns:p14="http://schemas.microsoft.com/office/powerpoint/2010/main" val="427470530"/>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DDF2E4D-A68E-4B85-9004-9A0BF2D8BB4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4F7F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D0DFD70A-CEEB-490E-8D5E-E4DDE9FB6004}"/>
              </a:ext>
            </a:extLst>
          </p:cNvPr>
          <p:cNvSpPr>
            <a:spLocks xmlns:a="http://schemas.openxmlformats.org/drawingml/2006/main" noGrp="1"/>
          </p:cNvSpPr>
          <p:nvPr/>
        </p:nvSpPr>
        <p:spPr>
          <a:xfrm xmlns:a="http://schemas.openxmlformats.org/drawingml/2006/main">
            <a:off x="0" y="0"/>
            <a:ext cx="256032" cy="6858000"/>
          </a:xfrm>
          <a:prstGeom xmlns:a="http://schemas.openxmlformats.org/drawingml/2006/main" prst="rect">
            <a:avLst/>
          </a:prstGeom>
          <a:solidFill xmlns:a="http://schemas.openxmlformats.org/drawingml/2006/main">
            <a:srgbClr val="1C729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F9BB5696-E939-48E2-A1D7-1BC1D48AD3B7}"/>
              </a:ext>
            </a:extLst>
          </p:cNvPr>
          <p:cNvSpPr>
            <a:spLocks xmlns:a="http://schemas.openxmlformats.org/drawingml/2006/main" noGrp="1"/>
          </p:cNvSpPr>
          <p:nvPr/>
        </p:nvSpPr>
        <p:spPr>
          <a:xfrm xmlns:a="http://schemas.openxmlformats.org/drawingml/2006/main">
            <a:off x="777240" y="365760"/>
            <a:ext cx="1051560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3000" b="1" i="0">
                <a:solidFill>
                  <a:srgbClr val="21295C"/>
                </a:solidFill>
                <a:latin typeface="Georgia"/>
                <a:ea typeface="Georgia"/>
                <a:cs typeface="Georgia"/>
              </a:rPr>
              <a:t>Appendix A1 · Building the premise / hypothesis pairs</a:t>
            </a:r>
          </a:p>
        </p:txBody>
      </p:sp>
      <p:sp>
        <p:nvSpPr>
          <p:cNvPr id="5" name="TextBox 4">
            <a:extLst xmlns:a="http://schemas.openxmlformats.org/drawingml/2006/main">
              <a:ext uri="{FF2B5EF4-FFF2-40B4-BE49-F238E27FC236}">
                <a16:creationId xmlns:a16="http://schemas.microsoft.com/office/drawing/2014/main" id="{4EC64C4A-BD64-4E2A-813A-FBBC565395E7}"/>
              </a:ext>
            </a:extLst>
          </p:cNvPr>
          <p:cNvSpPr>
            <a:spLocks xmlns:a="http://schemas.openxmlformats.org/drawingml/2006/main" noGrp="1"/>
          </p:cNvSpPr>
          <p:nvPr/>
        </p:nvSpPr>
        <p:spPr>
          <a:xfrm xmlns:a="http://schemas.openxmlformats.org/drawingml/2006/main">
            <a:off x="777240" y="914400"/>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1300" b="0" i="1">
                <a:solidFill>
                  <a:srgbClr val="6B7A8C"/>
                </a:solidFill>
                <a:latin typeface="Calibri"/>
                <a:ea typeface="Calibri"/>
                <a:cs typeface="Calibri"/>
              </a:rPr>
              <a:t>poc/zero_shot_decision_poc.py — _build_comparisons()  ·  this is the entire "prompt"</a:t>
            </a:r>
          </a:p>
        </p:txBody>
      </p:sp>
      <p:sp>
        <p:nvSpPr>
          <p:cNvPr id="6" name="Rectangle 5">
            <a:extLst xmlns:a="http://schemas.openxmlformats.org/drawingml/2006/main">
              <a:ext uri="{FF2B5EF4-FFF2-40B4-BE49-F238E27FC236}">
                <a16:creationId xmlns:a16="http://schemas.microsoft.com/office/drawing/2014/main" id="{D6C643CF-370D-46C4-B527-3E1F94379E91}"/>
              </a:ext>
            </a:extLst>
          </p:cNvPr>
          <p:cNvSpPr>
            <a:spLocks xmlns:a="http://schemas.openxmlformats.org/drawingml/2006/main" noGrp="1"/>
          </p:cNvSpPr>
          <p:nvPr/>
        </p:nvSpPr>
        <p:spPr>
          <a:xfrm xmlns:a="http://schemas.openxmlformats.org/drawingml/2006/main">
            <a:off x="777240" y="1371600"/>
            <a:ext cx="5193792" cy="347472"/>
          </a:xfrm>
          <a:prstGeom xmlns:a="http://schemas.openxmlformats.org/drawingml/2006/main" prst="rect">
            <a:avLst/>
          </a:prstGeom>
          <a:solidFill xmlns:a="http://schemas.openxmlformats.org/drawingml/2006/main">
            <a:srgbClr val="065A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3799632-1D8E-4559-8111-D292D3D8613B}"/>
              </a:ext>
            </a:extLst>
          </p:cNvPr>
          <p:cNvSpPr>
            <a:spLocks xmlns:a="http://schemas.openxmlformats.org/drawingml/2006/main" noGrp="1"/>
          </p:cNvSpPr>
          <p:nvPr/>
        </p:nvSpPr>
        <p:spPr>
          <a:xfrm xmlns:a="http://schemas.openxmlformats.org/drawingml/2006/main">
            <a:off x="914400" y="1435608"/>
            <a:ext cx="4919472" cy="23774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1050" b="1" i="0">
                <a:solidFill>
                  <a:srgbClr val="FFFFFF"/>
                </a:solidFill>
                <a:latin typeface="Consolas"/>
                <a:ea typeface="Consolas"/>
                <a:cs typeface="Consolas"/>
              </a:rPr>
              <a:t>premise — identical for every option</a:t>
            </a:r>
          </a:p>
        </p:txBody>
      </p:sp>
      <p:sp>
        <p:nvSpPr>
          <p:cNvPr id="8" name="Rectangle 7">
            <a:extLst xmlns:a="http://schemas.openxmlformats.org/drawingml/2006/main">
              <a:ext uri="{FF2B5EF4-FFF2-40B4-BE49-F238E27FC236}">
                <a16:creationId xmlns:a16="http://schemas.microsoft.com/office/drawing/2014/main" id="{A9E80670-CAF1-4255-81D8-1BE92E7CA4BB}"/>
              </a:ext>
            </a:extLst>
          </p:cNvPr>
          <p:cNvSpPr>
            <a:spLocks xmlns:a="http://schemas.openxmlformats.org/drawingml/2006/main" noGrp="1"/>
          </p:cNvSpPr>
          <p:nvPr/>
        </p:nvSpPr>
        <p:spPr>
          <a:xfrm xmlns:a="http://schemas.openxmlformats.org/drawingml/2006/main">
            <a:off x="777240" y="1719072"/>
            <a:ext cx="5193792" cy="4160520"/>
          </a:xfrm>
          <a:prstGeom xmlns:a="http://schemas.openxmlformats.org/drawingml/2006/main" prst="rect">
            <a:avLst/>
          </a:prstGeom>
          <a:solidFill xmlns:a="http://schemas.openxmlformats.org/drawingml/2006/main">
            <a:srgbClr val="1B223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F3BE298A-692B-4D67-966B-E46417565EB2}"/>
              </a:ext>
            </a:extLst>
          </p:cNvPr>
          <p:cNvSpPr>
            <a:spLocks xmlns:a="http://schemas.openxmlformats.org/drawingml/2006/main" noGrp="1"/>
          </p:cNvSpPr>
          <p:nvPr/>
        </p:nvSpPr>
        <p:spPr>
          <a:xfrm xmlns:a="http://schemas.openxmlformats.org/drawingml/2006/main">
            <a:off x="941832" y="1847088"/>
            <a:ext cx="4864607" cy="39044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850" b="0" i="0">
                <a:solidFill>
                  <a:srgbClr val="7FB08A"/>
                </a:solidFill>
                <a:latin typeface="Consolas"/>
                <a:ea typeface="Consolas"/>
                <a:cs typeface="Consolas"/>
              </a:rPr>
              <a:t># The state is serialised ONCE and reused for every option, so the</a:t>
            </a:r>
          </a:p>
          <a:p xmlns:a="http://schemas.openxmlformats.org/drawingml/2006/main">
            <a:pPr algn="l">
              <a:lnSpc>
                <a:spcPct val="110000"/>
              </a:lnSpc>
              <a:buNone/>
            </a:pPr>
            <a:r>
              <a:rPr sz="850" b="0" i="0">
                <a:solidFill>
                  <a:srgbClr val="7FB08A"/>
                </a:solidFill>
                <a:latin typeface="Consolas"/>
                <a:ea typeface="Consolas"/>
                <a:cs typeface="Consolas"/>
              </a:rPr>
              <a:t># only thing that varies across candidates is the hypothesis.</a:t>
            </a:r>
          </a:p>
          <a:p xmlns:a="http://schemas.openxmlformats.org/drawingml/2006/main">
            <a:pPr algn="l">
              <a:lnSpc>
                <a:spcPct val="110000"/>
              </a:lnSpc>
              <a:buNone/>
            </a:pPr>
            <a:r>
              <a:rPr sz="850" b="0" i="0">
                <a:solidFill>
                  <a:srgbClr val="E6EDF3"/>
                </a:solidFill>
                <a:latin typeface="Consolas"/>
                <a:ea typeface="Consolas"/>
                <a:cs typeface="Consolas"/>
              </a:rPr>
              <a:t>state_text = json.dumps(</a:t>
            </a:r>
          </a:p>
          <a:p xmlns:a="http://schemas.openxmlformats.org/drawingml/2006/main">
            <a:pPr algn="l">
              <a:lnSpc>
                <a:spcPct val="110000"/>
              </a:lnSpc>
              <a:buNone/>
            </a:pPr>
            <a:r>
              <a:rPr sz="850" b="0" i="0">
                <a:solidFill>
                  <a:srgbClr val="E6EDF3"/>
                </a:solidFill>
                <a:latin typeface="Consolas"/>
                <a:ea typeface="Consolas"/>
                <a:cs typeface="Consolas"/>
              </a:rPr>
              <a:t>    request.state,</a:t>
            </a:r>
          </a:p>
          <a:p xmlns:a="http://schemas.openxmlformats.org/drawingml/2006/main">
            <a:pPr algn="l">
              <a:lnSpc>
                <a:spcPct val="110000"/>
              </a:lnSpc>
              <a:buNone/>
            </a:pPr>
            <a:r>
              <a:rPr sz="850" b="0" i="0">
                <a:solidFill>
                  <a:srgbClr val="E6EDF3"/>
                </a:solidFill>
                <a:latin typeface="Consolas"/>
                <a:ea typeface="Consolas"/>
                <a:cs typeface="Consolas"/>
              </a:rPr>
              <a:t>    sort_keys=True,        # deterministic -&gt; reproducible scores</a:t>
            </a:r>
          </a:p>
          <a:p xmlns:a="http://schemas.openxmlformats.org/drawingml/2006/main">
            <a:pPr algn="l">
              <a:lnSpc>
                <a:spcPct val="110000"/>
              </a:lnSpc>
              <a:buNone/>
            </a:pPr>
            <a:r>
              <a:rPr sz="850" b="0" i="0">
                <a:solidFill>
                  <a:srgbClr val="E6EDF3"/>
                </a:solidFill>
                <a:latin typeface="Consolas"/>
                <a:ea typeface="Consolas"/>
                <a:cs typeface="Consolas"/>
              </a:rPr>
              <a:t>    ensure_ascii=False,</a:t>
            </a:r>
          </a:p>
          <a:p xmlns:a="http://schemas.openxmlformats.org/drawingml/2006/main">
            <a:pPr algn="l">
              <a:lnSpc>
                <a:spcPct val="110000"/>
              </a:lnSpc>
              <a:buNone/>
            </a:pPr>
            <a:r>
              <a:rPr sz="850" b="0" i="0">
                <a:solidFill>
                  <a:srgbClr val="E6EDF3"/>
                </a:solidFill>
                <a:latin typeface="Consolas"/>
                <a:ea typeface="Consolas"/>
                <a:cs typeface="Consolas"/>
              </a:rPr>
              <a:t>    separators=(",", ":"),  # compact: fewer tokens per pair</a:t>
            </a:r>
          </a:p>
          <a:p xmlns:a="http://schemas.openxmlformats.org/drawingml/2006/main">
            <a:pPr algn="l">
              <a:lnSpc>
                <a:spcPct val="110000"/>
              </a:lnSpc>
              <a:buNone/>
            </a:pPr>
            <a:r>
              <a:rPr sz="850" b="0" i="0">
                <a:solidFill>
                  <a:srgbClr val="E6EDF3"/>
                </a:solidFill>
                <a:latin typeface="Consolas"/>
                <a:ea typeface="Consolas"/>
                <a:cs typeface="Consolas"/>
              </a:rPr>
              <a:t>)</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E6EDF3"/>
                </a:solidFill>
                <a:latin typeface="Consolas"/>
                <a:ea typeface="Consolas"/>
                <a:cs typeface="Consolas"/>
              </a:rPr>
              <a:t>premise = (</a:t>
            </a:r>
          </a:p>
          <a:p xmlns:a="http://schemas.openxmlformats.org/drawingml/2006/main">
            <a:pPr algn="l">
              <a:lnSpc>
                <a:spcPct val="110000"/>
              </a:lnSpc>
              <a:buNone/>
            </a:pPr>
            <a:r>
              <a:rPr sz="850" b="0" i="0">
                <a:solidFill>
                  <a:srgbClr val="E6EDF3"/>
                </a:solidFill>
                <a:latin typeface="Consolas"/>
                <a:ea typeface="Consolas"/>
                <a:cs typeface="Consolas"/>
              </a:rPr>
              <a:t>    f"State evidence:\n{state_text}\n\n"</a:t>
            </a:r>
          </a:p>
          <a:p xmlns:a="http://schemas.openxmlformats.org/drawingml/2006/main">
            <a:pPr algn="l">
              <a:lnSpc>
                <a:spcPct val="110000"/>
              </a:lnSpc>
              <a:buNone/>
            </a:pPr>
            <a:r>
              <a:rPr sz="850" b="0" i="0">
                <a:solidFill>
                  <a:srgbClr val="E6EDF3"/>
                </a:solidFill>
                <a:latin typeface="Consolas"/>
                <a:ea typeface="Consolas"/>
                <a:cs typeface="Consolas"/>
              </a:rPr>
              <a:t>    f"Decision question:\n{decision.question}"</a:t>
            </a:r>
          </a:p>
          <a:p xmlns:a="http://schemas.openxmlformats.org/drawingml/2006/main">
            <a:pPr algn="l">
              <a:lnSpc>
                <a:spcPct val="110000"/>
              </a:lnSpc>
              <a:buNone/>
            </a:pPr>
            <a:r>
              <a:rPr sz="850" b="0" i="0">
                <a:solidFill>
                  <a:srgbClr val="E6EDF3"/>
                </a:solidFill>
                <a:latin typeface="Consolas"/>
                <a:ea typeface="Consolas"/>
                <a:cs typeface="Consolas"/>
              </a:rPr>
              <a:t>)</a:t>
            </a:r>
          </a:p>
        </p:txBody>
      </p:sp>
      <p:sp>
        <p:nvSpPr>
          <p:cNvPr id="10" name="TextBox 9">
            <a:extLst xmlns:a="http://schemas.openxmlformats.org/drawingml/2006/main">
              <a:ext uri="{FF2B5EF4-FFF2-40B4-BE49-F238E27FC236}">
                <a16:creationId xmlns:a16="http://schemas.microsoft.com/office/drawing/2014/main" id="{1AA882D0-3FB8-41CB-BDFA-D2C2E77C88DE}"/>
              </a:ext>
            </a:extLst>
          </p:cNvPr>
          <p:cNvSpPr>
            <a:spLocks xmlns:a="http://schemas.openxmlformats.org/drawingml/2006/main" noGrp="1"/>
          </p:cNvSpPr>
          <p:nvPr/>
        </p:nvSpPr>
        <p:spPr>
          <a:xfrm xmlns:a="http://schemas.openxmlformats.org/drawingml/2006/main">
            <a:off x="777240" y="5952744"/>
            <a:ext cx="5193792"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1100" b="0" i="1">
                <a:solidFill>
                  <a:srgbClr val="065A82"/>
                </a:solidFill>
                <a:latin typeface="Calibri"/>
                <a:ea typeface="Calibri"/>
                <a:cs typeface="Calibri"/>
              </a:rPr>
              <a:t>Sorting keys makes the premise deterministic: the same state always produces the same string, so scores are reproducible run to run.</a:t>
            </a:r>
          </a:p>
        </p:txBody>
      </p:sp>
      <p:sp>
        <p:nvSpPr>
          <p:cNvPr id="11" name="Rectangle 10">
            <a:extLst xmlns:a="http://schemas.openxmlformats.org/drawingml/2006/main">
              <a:ext uri="{FF2B5EF4-FFF2-40B4-BE49-F238E27FC236}">
                <a16:creationId xmlns:a16="http://schemas.microsoft.com/office/drawing/2014/main" id="{5BE290B4-F539-4625-B269-49AC263E105C}"/>
              </a:ext>
            </a:extLst>
          </p:cNvPr>
          <p:cNvSpPr>
            <a:spLocks xmlns:a="http://schemas.openxmlformats.org/drawingml/2006/main" noGrp="1"/>
          </p:cNvSpPr>
          <p:nvPr/>
        </p:nvSpPr>
        <p:spPr>
          <a:xfrm xmlns:a="http://schemas.openxmlformats.org/drawingml/2006/main">
            <a:off x="6190488" y="1371600"/>
            <a:ext cx="5193792" cy="347472"/>
          </a:xfrm>
          <a:prstGeom xmlns:a="http://schemas.openxmlformats.org/drawingml/2006/main" prst="rect">
            <a:avLst/>
          </a:prstGeom>
          <a:solidFill xmlns:a="http://schemas.openxmlformats.org/drawingml/2006/main">
            <a:srgbClr val="065A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3B07920-0A68-4A8C-B637-3B05D2936E61}"/>
              </a:ext>
            </a:extLst>
          </p:cNvPr>
          <p:cNvSpPr>
            <a:spLocks xmlns:a="http://schemas.openxmlformats.org/drawingml/2006/main" noGrp="1"/>
          </p:cNvSpPr>
          <p:nvPr/>
        </p:nvSpPr>
        <p:spPr>
          <a:xfrm xmlns:a="http://schemas.openxmlformats.org/drawingml/2006/main">
            <a:off x="6327648" y="1435608"/>
            <a:ext cx="4919472" cy="23774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1050" b="1" i="0">
                <a:solidFill>
                  <a:srgbClr val="FFFFFF"/>
                </a:solidFill>
                <a:latin typeface="Consolas"/>
                <a:ea typeface="Consolas"/>
                <a:cs typeface="Consolas"/>
              </a:rPr>
              <a:t>hypothesis — one per candidate option</a:t>
            </a:r>
          </a:p>
        </p:txBody>
      </p:sp>
      <p:sp>
        <p:nvSpPr>
          <p:cNvPr id="13" name="Rectangle 12">
            <a:extLst xmlns:a="http://schemas.openxmlformats.org/drawingml/2006/main">
              <a:ext uri="{FF2B5EF4-FFF2-40B4-BE49-F238E27FC236}">
                <a16:creationId xmlns:a16="http://schemas.microsoft.com/office/drawing/2014/main" id="{E2648A8A-EF1E-411F-9BF0-CF01D120A990}"/>
              </a:ext>
            </a:extLst>
          </p:cNvPr>
          <p:cNvSpPr>
            <a:spLocks xmlns:a="http://schemas.openxmlformats.org/drawingml/2006/main" noGrp="1"/>
          </p:cNvSpPr>
          <p:nvPr/>
        </p:nvSpPr>
        <p:spPr>
          <a:xfrm xmlns:a="http://schemas.openxmlformats.org/drawingml/2006/main">
            <a:off x="6190488" y="1719072"/>
            <a:ext cx="5193792" cy="4160520"/>
          </a:xfrm>
          <a:prstGeom xmlns:a="http://schemas.openxmlformats.org/drawingml/2006/main" prst="rect">
            <a:avLst/>
          </a:prstGeom>
          <a:solidFill xmlns:a="http://schemas.openxmlformats.org/drawingml/2006/main">
            <a:srgbClr val="1B223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D6117A1E-0308-4966-BDBB-A04E5BBF9F72}"/>
              </a:ext>
            </a:extLst>
          </p:cNvPr>
          <p:cNvSpPr>
            <a:spLocks xmlns:a="http://schemas.openxmlformats.org/drawingml/2006/main" noGrp="1"/>
          </p:cNvSpPr>
          <p:nvPr/>
        </p:nvSpPr>
        <p:spPr>
          <a:xfrm xmlns:a="http://schemas.openxmlformats.org/drawingml/2006/main">
            <a:off x="6355079" y="1847088"/>
            <a:ext cx="4864607" cy="39044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850" b="0" i="0">
                <a:solidFill>
                  <a:srgbClr val="E6EDF3"/>
                </a:solidFill>
                <a:latin typeface="Consolas"/>
                <a:ea typeface="Consolas"/>
                <a:cs typeface="Consolas"/>
              </a:rPr>
              <a:t>for candidate in decision.candidates:</a:t>
            </a:r>
          </a:p>
          <a:p xmlns:a="http://schemas.openxmlformats.org/drawingml/2006/main">
            <a:pPr algn="l">
              <a:lnSpc>
                <a:spcPct val="110000"/>
              </a:lnSpc>
              <a:buNone/>
            </a:pPr>
            <a:r>
              <a:rPr sz="850" b="0" i="0">
                <a:solidFill>
                  <a:srgbClr val="E6EDF3"/>
                </a:solidFill>
                <a:latin typeface="Consolas"/>
                <a:ea typeface="Consolas"/>
                <a:cs typeface="Consolas"/>
              </a:rPr>
              <a:t>    noun = "option" if decision.kind == "choice" else "score level"</a:t>
            </a:r>
          </a:p>
          <a:p xmlns:a="http://schemas.openxmlformats.org/drawingml/2006/main">
            <a:pPr algn="l">
              <a:lnSpc>
                <a:spcPct val="110000"/>
              </a:lnSpc>
              <a:buNone/>
            </a:pPr>
            <a:r>
              <a:rPr sz="850" b="0" i="0">
                <a:solidFill>
                  <a:srgbClr val="E6EDF3"/>
                </a:solidFill>
                <a:latin typeface="Consolas"/>
                <a:ea typeface="Consolas"/>
                <a:cs typeface="Consolas"/>
              </a:rPr>
              <a:t>    comparisons.append(</a:t>
            </a:r>
          </a:p>
          <a:p xmlns:a="http://schemas.openxmlformats.org/drawingml/2006/main">
            <a:pPr algn="l">
              <a:lnSpc>
                <a:spcPct val="110000"/>
              </a:lnSpc>
              <a:buNone/>
            </a:pPr>
            <a:r>
              <a:rPr sz="850" b="0" i="0">
                <a:solidFill>
                  <a:srgbClr val="E6EDF3"/>
                </a:solidFill>
                <a:latin typeface="Consolas"/>
                <a:ea typeface="Consolas"/>
                <a:cs typeface="Consolas"/>
              </a:rPr>
              <a:t>        Comparison(</a:t>
            </a:r>
          </a:p>
          <a:p xmlns:a="http://schemas.openxmlformats.org/drawingml/2006/main">
            <a:pPr algn="l">
              <a:lnSpc>
                <a:spcPct val="110000"/>
              </a:lnSpc>
              <a:buNone/>
            </a:pPr>
            <a:r>
              <a:rPr sz="850" b="0" i="0">
                <a:solidFill>
                  <a:srgbClr val="E6EDF3"/>
                </a:solidFill>
                <a:latin typeface="Consolas"/>
                <a:ea typeface="Consolas"/>
                <a:cs typeface="Consolas"/>
              </a:rPr>
              <a:t>            decision_id=decision.identifier,</a:t>
            </a:r>
          </a:p>
          <a:p xmlns:a="http://schemas.openxmlformats.org/drawingml/2006/main">
            <a:pPr algn="l">
              <a:lnSpc>
                <a:spcPct val="110000"/>
              </a:lnSpc>
              <a:buNone/>
            </a:pPr>
            <a:r>
              <a:rPr sz="850" b="0" i="0">
                <a:solidFill>
                  <a:srgbClr val="E6EDF3"/>
                </a:solidFill>
                <a:latin typeface="Consolas"/>
                <a:ea typeface="Consolas"/>
                <a:cs typeface="Consolas"/>
              </a:rPr>
              <a:t>            candidate_id=candidate.identifier,</a:t>
            </a:r>
          </a:p>
          <a:p xmlns:a="http://schemas.openxmlformats.org/drawingml/2006/main">
            <a:pPr algn="l">
              <a:lnSpc>
                <a:spcPct val="110000"/>
              </a:lnSpc>
              <a:buNone/>
            </a:pPr>
            <a:r>
              <a:rPr sz="850" b="0" i="0">
                <a:solidFill>
                  <a:srgbClr val="E6EDF3"/>
                </a:solidFill>
                <a:latin typeface="Consolas"/>
                <a:ea typeface="Consolas"/>
                <a:cs typeface="Consolas"/>
              </a:rPr>
              <a:t>            premise=premise,</a:t>
            </a:r>
          </a:p>
          <a:p xmlns:a="http://schemas.openxmlformats.org/drawingml/2006/main">
            <a:pPr algn="l">
              <a:lnSpc>
                <a:spcPct val="110000"/>
              </a:lnSpc>
              <a:buNone/>
            </a:pPr>
            <a:r>
              <a:rPr sz="850" b="0" i="0">
                <a:solidFill>
                  <a:srgbClr val="7FB08A"/>
                </a:solidFill>
                <a:latin typeface="Consolas"/>
                <a:ea typeface="Consolas"/>
                <a:cs typeface="Consolas"/>
              </a:rPr>
              <a:t>            # Asserted as TRUE on purpose: the NLI head is asked</a:t>
            </a:r>
          </a:p>
          <a:p xmlns:a="http://schemas.openxmlformats.org/drawingml/2006/main">
            <a:pPr algn="l">
              <a:lnSpc>
                <a:spcPct val="110000"/>
              </a:lnSpc>
              <a:buNone/>
            </a:pPr>
            <a:r>
              <a:rPr sz="850" b="0" i="0">
                <a:solidFill>
                  <a:srgbClr val="7FB08A"/>
                </a:solidFill>
                <a:latin typeface="Consolas"/>
                <a:ea typeface="Consolas"/>
                <a:cs typeface="Consolas"/>
              </a:rPr>
              <a:t>            # 'does the premise entail this claim?' -- so each option</a:t>
            </a:r>
          </a:p>
          <a:p xmlns:a="http://schemas.openxmlformats.org/drawingml/2006/main">
            <a:pPr algn="l">
              <a:lnSpc>
                <a:spcPct val="110000"/>
              </a:lnSpc>
              <a:buNone/>
            </a:pPr>
            <a:r>
              <a:rPr sz="850" b="0" i="0">
                <a:solidFill>
                  <a:srgbClr val="7FB08A"/>
                </a:solidFill>
                <a:latin typeface="Consolas"/>
                <a:ea typeface="Consolas"/>
                <a:cs typeface="Consolas"/>
              </a:rPr>
              <a:t>            # is phrased as a positive statement to be tested.</a:t>
            </a:r>
          </a:p>
          <a:p xmlns:a="http://schemas.openxmlformats.org/drawingml/2006/main">
            <a:pPr algn="l">
              <a:lnSpc>
                <a:spcPct val="110000"/>
              </a:lnSpc>
              <a:buNone/>
            </a:pPr>
            <a:r>
              <a:rPr sz="850" b="0" i="0">
                <a:solidFill>
                  <a:srgbClr val="E6EDF3"/>
                </a:solidFill>
                <a:latin typeface="Consolas"/>
                <a:ea typeface="Consolas"/>
                <a:cs typeface="Consolas"/>
              </a:rPr>
              <a:t>            hypothesis=(</a:t>
            </a:r>
          </a:p>
          <a:p xmlns:a="http://schemas.openxmlformats.org/drawingml/2006/main">
            <a:pPr algn="l">
              <a:lnSpc>
                <a:spcPct val="110000"/>
              </a:lnSpc>
              <a:buNone/>
            </a:pPr>
            <a:r>
              <a:rPr sz="850" b="0" i="0">
                <a:solidFill>
                  <a:srgbClr val="E6EDF3"/>
                </a:solidFill>
                <a:latin typeface="Consolas"/>
                <a:ea typeface="Consolas"/>
                <a:cs typeface="Consolas"/>
              </a:rPr>
              <a:t>                f"The correct {noun} is '{candidate.identifier}'. "</a:t>
            </a:r>
          </a:p>
          <a:p xmlns:a="http://schemas.openxmlformats.org/drawingml/2006/main">
            <a:pPr algn="l">
              <a:lnSpc>
                <a:spcPct val="110000"/>
              </a:lnSpc>
              <a:buNone/>
            </a:pPr>
            <a:r>
              <a:rPr sz="850" b="0" i="0">
                <a:solidFill>
                  <a:srgbClr val="E6EDF3"/>
                </a:solidFill>
                <a:latin typeface="Consolas"/>
                <a:ea typeface="Consolas"/>
                <a:cs typeface="Consolas"/>
              </a:rPr>
              <a:t>                f"Definition: {candidate.description}"</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E6EDF3"/>
                </a:solidFill>
                <a:latin typeface="Consolas"/>
                <a:ea typeface="Consolas"/>
                <a:cs typeface="Consolas"/>
              </a:rPr>
              <a:t>            numeric_value=candidate.numeric_value,</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E6EDF3"/>
                </a:solidFill>
                <a:latin typeface="Consolas"/>
                <a:ea typeface="Consolas"/>
                <a:cs typeface="Consolas"/>
              </a:rPr>
              <a:t>    )</a:t>
            </a:r>
          </a:p>
        </p:txBody>
      </p:sp>
      <p:sp>
        <p:nvSpPr>
          <p:cNvPr id="15" name="TextBox 14">
            <a:extLst xmlns:a="http://schemas.openxmlformats.org/drawingml/2006/main">
              <a:ext uri="{FF2B5EF4-FFF2-40B4-BE49-F238E27FC236}">
                <a16:creationId xmlns:a16="http://schemas.microsoft.com/office/drawing/2014/main" id="{62E1F97D-22C4-48D5-BE7B-143E13D2D4D3}"/>
              </a:ext>
            </a:extLst>
          </p:cNvPr>
          <p:cNvSpPr>
            <a:spLocks xmlns:a="http://schemas.openxmlformats.org/drawingml/2006/main" noGrp="1"/>
          </p:cNvSpPr>
          <p:nvPr/>
        </p:nvSpPr>
        <p:spPr>
          <a:xfrm xmlns:a="http://schemas.openxmlformats.org/drawingml/2006/main">
            <a:off x="6190488" y="5952744"/>
            <a:ext cx="5193792"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1100" b="0" i="1">
                <a:solidFill>
                  <a:srgbClr val="065A82"/>
                </a:solidFill>
                <a:latin typeface="Calibri"/>
                <a:ea typeface="Calibri"/>
                <a:cs typeface="Calibri"/>
              </a:rPr>
              <a:t>The option DESCRIPTION carries the semantics, not the id. A bare label like 'positive' gives the NLI head almost nothing to entail against.</a:t>
            </a:r>
          </a:p>
        </p:txBody>
      </p:sp>
    </p:spTree>
    <p:extLst>
      <p:ext uri="{BB962C8B-B14F-4D97-AF65-F5344CB8AC3E}">
        <p14:creationId xmlns:p14="http://schemas.microsoft.com/office/powerpoint/2010/main" val="196514339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56C43A9-1139-4068-A27D-6286EB901C0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4F7F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AF9A9701-A02B-4D4A-84D0-E617FFC4DDEC}"/>
              </a:ext>
            </a:extLst>
          </p:cNvPr>
          <p:cNvSpPr>
            <a:spLocks xmlns:a="http://schemas.openxmlformats.org/drawingml/2006/main" noGrp="1"/>
          </p:cNvSpPr>
          <p:nvPr/>
        </p:nvSpPr>
        <p:spPr>
          <a:xfrm xmlns:a="http://schemas.openxmlformats.org/drawingml/2006/main">
            <a:off x="0" y="0"/>
            <a:ext cx="256032" cy="6858000"/>
          </a:xfrm>
          <a:prstGeom xmlns:a="http://schemas.openxmlformats.org/drawingml/2006/main" prst="rect">
            <a:avLst/>
          </a:prstGeom>
          <a:solidFill xmlns:a="http://schemas.openxmlformats.org/drawingml/2006/main">
            <a:srgbClr val="1C729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D58039C-942F-44B0-8F0A-E731448C60CD}"/>
              </a:ext>
            </a:extLst>
          </p:cNvPr>
          <p:cNvSpPr>
            <a:spLocks xmlns:a="http://schemas.openxmlformats.org/drawingml/2006/main" noGrp="1"/>
          </p:cNvSpPr>
          <p:nvPr/>
        </p:nvSpPr>
        <p:spPr>
          <a:xfrm xmlns:a="http://schemas.openxmlformats.org/drawingml/2006/main">
            <a:off x="777240" y="365760"/>
            <a:ext cx="1051560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3000" b="1" i="0">
                <a:solidFill>
                  <a:srgbClr val="21295C"/>
                </a:solidFill>
                <a:latin typeface="Georgia"/>
                <a:ea typeface="Georgia"/>
                <a:cs typeface="Georgia"/>
              </a:rPr>
              <a:t>Appendix A2 · The forward pass</a:t>
            </a:r>
          </a:p>
        </p:txBody>
      </p:sp>
      <p:sp>
        <p:nvSpPr>
          <p:cNvPr id="5" name="TextBox 4">
            <a:extLst xmlns:a="http://schemas.openxmlformats.org/drawingml/2006/main">
              <a:ext uri="{FF2B5EF4-FFF2-40B4-BE49-F238E27FC236}">
                <a16:creationId xmlns:a16="http://schemas.microsoft.com/office/drawing/2014/main" id="{E11EA0CE-BDBC-4C80-8C19-E698CE12E208}"/>
              </a:ext>
            </a:extLst>
          </p:cNvPr>
          <p:cNvSpPr>
            <a:spLocks xmlns:a="http://schemas.openxmlformats.org/drawingml/2006/main" noGrp="1"/>
          </p:cNvSpPr>
          <p:nvPr/>
        </p:nvSpPr>
        <p:spPr>
          <a:xfrm xmlns:a="http://schemas.openxmlformats.org/drawingml/2006/main">
            <a:off x="777240" y="914400"/>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1300" b="0" i="1">
                <a:solidFill>
                  <a:srgbClr val="6B7A8C"/>
                </a:solidFill>
                <a:latin typeface="Calibri"/>
                <a:ea typeface="Calibri"/>
                <a:cs typeface="Calibri"/>
              </a:rPr>
              <a:t>poc/zero_shot_decision_poc.py — TransformersNliScorer.score()  ·  no text generation anywhere</a:t>
            </a:r>
          </a:p>
        </p:txBody>
      </p:sp>
      <p:sp>
        <p:nvSpPr>
          <p:cNvPr id="6" name="Rectangle 5">
            <a:extLst xmlns:a="http://schemas.openxmlformats.org/drawingml/2006/main">
              <a:ext uri="{FF2B5EF4-FFF2-40B4-BE49-F238E27FC236}">
                <a16:creationId xmlns:a16="http://schemas.microsoft.com/office/drawing/2014/main" id="{E832939E-74A8-4E8B-815C-38A0AB603D2D}"/>
              </a:ext>
            </a:extLst>
          </p:cNvPr>
          <p:cNvSpPr>
            <a:spLocks xmlns:a="http://schemas.openxmlformats.org/drawingml/2006/main" noGrp="1"/>
          </p:cNvSpPr>
          <p:nvPr/>
        </p:nvSpPr>
        <p:spPr>
          <a:xfrm xmlns:a="http://schemas.openxmlformats.org/drawingml/2006/main">
            <a:off x="777240" y="1371600"/>
            <a:ext cx="5193792" cy="347472"/>
          </a:xfrm>
          <a:prstGeom xmlns:a="http://schemas.openxmlformats.org/drawingml/2006/main" prst="rect">
            <a:avLst/>
          </a:prstGeom>
          <a:solidFill xmlns:a="http://schemas.openxmlformats.org/drawingml/2006/main">
            <a:srgbClr val="065A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F227A62D-02FD-4A6C-9086-6DC778C3C68B}"/>
              </a:ext>
            </a:extLst>
          </p:cNvPr>
          <p:cNvSpPr>
            <a:spLocks xmlns:a="http://schemas.openxmlformats.org/drawingml/2006/main" noGrp="1"/>
          </p:cNvSpPr>
          <p:nvPr/>
        </p:nvSpPr>
        <p:spPr>
          <a:xfrm xmlns:a="http://schemas.openxmlformats.org/drawingml/2006/main">
            <a:off x="914400" y="1435608"/>
            <a:ext cx="4919472" cy="23774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1050" b="1" i="0">
                <a:solidFill>
                  <a:srgbClr val="FFFFFF"/>
                </a:solidFill>
                <a:latin typeface="Consolas"/>
                <a:ea typeface="Consolas"/>
                <a:cs typeface="Consolas"/>
              </a:rPr>
              <a:t>batched inference over all pairs</a:t>
            </a:r>
          </a:p>
        </p:txBody>
      </p:sp>
      <p:sp>
        <p:nvSpPr>
          <p:cNvPr id="8" name="Rectangle 7">
            <a:extLst xmlns:a="http://schemas.openxmlformats.org/drawingml/2006/main">
              <a:ext uri="{FF2B5EF4-FFF2-40B4-BE49-F238E27FC236}">
                <a16:creationId xmlns:a16="http://schemas.microsoft.com/office/drawing/2014/main" id="{ECF5247B-86E8-415C-AB27-1950DB198752}"/>
              </a:ext>
            </a:extLst>
          </p:cNvPr>
          <p:cNvSpPr>
            <a:spLocks xmlns:a="http://schemas.openxmlformats.org/drawingml/2006/main" noGrp="1"/>
          </p:cNvSpPr>
          <p:nvPr/>
        </p:nvSpPr>
        <p:spPr>
          <a:xfrm xmlns:a="http://schemas.openxmlformats.org/drawingml/2006/main">
            <a:off x="777240" y="1719072"/>
            <a:ext cx="5193792" cy="4160520"/>
          </a:xfrm>
          <a:prstGeom xmlns:a="http://schemas.openxmlformats.org/drawingml/2006/main" prst="rect">
            <a:avLst/>
          </a:prstGeom>
          <a:solidFill xmlns:a="http://schemas.openxmlformats.org/drawingml/2006/main">
            <a:srgbClr val="1B223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99C0F177-3DB6-4835-8D17-7BB9859DAE56}"/>
              </a:ext>
            </a:extLst>
          </p:cNvPr>
          <p:cNvSpPr>
            <a:spLocks xmlns:a="http://schemas.openxmlformats.org/drawingml/2006/main" noGrp="1"/>
          </p:cNvSpPr>
          <p:nvPr/>
        </p:nvSpPr>
        <p:spPr>
          <a:xfrm xmlns:a="http://schemas.openxmlformats.org/drawingml/2006/main">
            <a:off x="941832" y="1847088"/>
            <a:ext cx="4864607" cy="39044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850" b="0" i="0">
                <a:solidFill>
                  <a:srgbClr val="E6EDF3"/>
                </a:solidFill>
                <a:latin typeface="Consolas"/>
                <a:ea typeface="Consolas"/>
                <a:cs typeface="Consolas"/>
              </a:rPr>
              <a:t>for start in range(0, len(comparisons), self._batch_size):</a:t>
            </a:r>
          </a:p>
          <a:p xmlns:a="http://schemas.openxmlformats.org/drawingml/2006/main">
            <a:pPr algn="l">
              <a:lnSpc>
                <a:spcPct val="110000"/>
              </a:lnSpc>
              <a:buNone/>
            </a:pPr>
            <a:r>
              <a:rPr sz="850" b="0" i="0">
                <a:solidFill>
                  <a:srgbClr val="E6EDF3"/>
                </a:solidFill>
                <a:latin typeface="Consolas"/>
                <a:ea typeface="Consolas"/>
                <a:cs typeface="Consolas"/>
              </a:rPr>
              <a:t>    chunk = comparisons[start:start + self._batch_size]</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7FB08A"/>
                </a:solidFill>
                <a:latin typeface="Consolas"/>
                <a:ea typeface="Consolas"/>
                <a:cs typeface="Consolas"/>
              </a:rPr>
              <a:t>    # Premises and hypotheses are passed as TWO lists -- the</a:t>
            </a:r>
          </a:p>
          <a:p xmlns:a="http://schemas.openxmlformats.org/drawingml/2006/main">
            <a:pPr algn="l">
              <a:lnSpc>
                <a:spcPct val="110000"/>
              </a:lnSpc>
              <a:buNone/>
            </a:pPr>
            <a:r>
              <a:rPr sz="850" b="0" i="0">
                <a:solidFill>
                  <a:srgbClr val="7FB08A"/>
                </a:solidFill>
                <a:latin typeface="Consolas"/>
                <a:ea typeface="Consolas"/>
                <a:cs typeface="Consolas"/>
              </a:rPr>
              <a:t>    # tokenizer joins each pair with [SEP], which is the input</a:t>
            </a:r>
          </a:p>
          <a:p xmlns:a="http://schemas.openxmlformats.org/drawingml/2006/main">
            <a:pPr algn="l">
              <a:lnSpc>
                <a:spcPct val="110000"/>
              </a:lnSpc>
              <a:buNone/>
            </a:pPr>
            <a:r>
              <a:rPr sz="850" b="0" i="0">
                <a:solidFill>
                  <a:srgbClr val="7FB08A"/>
                </a:solidFill>
                <a:latin typeface="Consolas"/>
                <a:ea typeface="Consolas"/>
                <a:cs typeface="Consolas"/>
              </a:rPr>
              <a:t>    # format an NLI cross-encoder is trained on.</a:t>
            </a:r>
          </a:p>
          <a:p xmlns:a="http://schemas.openxmlformats.org/drawingml/2006/main">
            <a:pPr algn="l">
              <a:lnSpc>
                <a:spcPct val="110000"/>
              </a:lnSpc>
              <a:buNone/>
            </a:pPr>
            <a:r>
              <a:rPr sz="850" b="0" i="0">
                <a:solidFill>
                  <a:srgbClr val="E6EDF3"/>
                </a:solidFill>
                <a:latin typeface="Consolas"/>
                <a:ea typeface="Consolas"/>
                <a:cs typeface="Consolas"/>
              </a:rPr>
              <a:t>    encoded = self._tokenizer(</a:t>
            </a:r>
          </a:p>
          <a:p xmlns:a="http://schemas.openxmlformats.org/drawingml/2006/main">
            <a:pPr algn="l">
              <a:lnSpc>
                <a:spcPct val="110000"/>
              </a:lnSpc>
              <a:buNone/>
            </a:pPr>
            <a:r>
              <a:rPr sz="850" b="0" i="0">
                <a:solidFill>
                  <a:srgbClr val="E6EDF3"/>
                </a:solidFill>
                <a:latin typeface="Consolas"/>
                <a:ea typeface="Consolas"/>
                <a:cs typeface="Consolas"/>
              </a:rPr>
              <a:t>        [c.premise for c in chunk],</a:t>
            </a:r>
          </a:p>
          <a:p xmlns:a="http://schemas.openxmlformats.org/drawingml/2006/main">
            <a:pPr algn="l">
              <a:lnSpc>
                <a:spcPct val="110000"/>
              </a:lnSpc>
              <a:buNone/>
            </a:pPr>
            <a:r>
              <a:rPr sz="850" b="0" i="0">
                <a:solidFill>
                  <a:srgbClr val="E6EDF3"/>
                </a:solidFill>
                <a:latin typeface="Consolas"/>
                <a:ea typeface="Consolas"/>
                <a:cs typeface="Consolas"/>
              </a:rPr>
              <a:t>        [c.hypothesis for c in chunk],</a:t>
            </a:r>
          </a:p>
          <a:p xmlns:a="http://schemas.openxmlformats.org/drawingml/2006/main">
            <a:pPr algn="l">
              <a:lnSpc>
                <a:spcPct val="110000"/>
              </a:lnSpc>
              <a:buNone/>
            </a:pPr>
            <a:r>
              <a:rPr sz="850" b="0" i="0">
                <a:solidFill>
                  <a:srgbClr val="E6EDF3"/>
                </a:solidFill>
                <a:latin typeface="Consolas"/>
                <a:ea typeface="Consolas"/>
                <a:cs typeface="Consolas"/>
              </a:rPr>
              <a:t>        padding=True, truncation=True, return_tensors="pt",</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E6EDF3"/>
                </a:solidFill>
                <a:latin typeface="Consolas"/>
                <a:ea typeface="Consolas"/>
                <a:cs typeface="Consolas"/>
              </a:rPr>
              <a:t>    encoded = {k: v.to(self._device) for k, v in encoded.items()}</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E6EDF3"/>
                </a:solidFill>
                <a:latin typeface="Consolas"/>
                <a:ea typeface="Consolas"/>
                <a:cs typeface="Consolas"/>
              </a:rPr>
              <a:t>    with self._torch.inference_mode():   # no autograd graph</a:t>
            </a:r>
          </a:p>
          <a:p xmlns:a="http://schemas.openxmlformats.org/drawingml/2006/main">
            <a:pPr algn="l">
              <a:lnSpc>
                <a:spcPct val="110000"/>
              </a:lnSpc>
              <a:buNone/>
            </a:pPr>
            <a:r>
              <a:rPr sz="850" b="0" i="0">
                <a:solidFill>
                  <a:srgbClr val="E6EDF3"/>
                </a:solidFill>
                <a:latin typeface="Consolas"/>
                <a:ea typeface="Consolas"/>
                <a:cs typeface="Consolas"/>
              </a:rPr>
              <a:t>        logits = self._model(**encoded).logits</a:t>
            </a:r>
          </a:p>
          <a:p xmlns:a="http://schemas.openxmlformats.org/drawingml/2006/main">
            <a:pPr algn="l">
              <a:lnSpc>
                <a:spcPct val="110000"/>
              </a:lnSpc>
              <a:buNone/>
            </a:pPr>
            <a:r>
              <a:rPr sz="850" b="0" i="0">
                <a:solidFill>
                  <a:srgbClr val="E6EDF3"/>
                </a:solidFill>
                <a:latin typeface="Consolas"/>
                <a:ea typeface="Consolas"/>
                <a:cs typeface="Consolas"/>
              </a:rPr>
              <a:t>        probabilities = self._torch.softmax(logits, dim=-1)</a:t>
            </a:r>
          </a:p>
        </p:txBody>
      </p:sp>
      <p:sp>
        <p:nvSpPr>
          <p:cNvPr id="10" name="TextBox 9">
            <a:extLst xmlns:a="http://schemas.openxmlformats.org/drawingml/2006/main">
              <a:ext uri="{FF2B5EF4-FFF2-40B4-BE49-F238E27FC236}">
                <a16:creationId xmlns:a16="http://schemas.microsoft.com/office/drawing/2014/main" id="{B584EB44-6CAC-4BAC-B2E6-2475D5534D33}"/>
              </a:ext>
            </a:extLst>
          </p:cNvPr>
          <p:cNvSpPr>
            <a:spLocks xmlns:a="http://schemas.openxmlformats.org/drawingml/2006/main" noGrp="1"/>
          </p:cNvSpPr>
          <p:nvPr/>
        </p:nvSpPr>
        <p:spPr>
          <a:xfrm xmlns:a="http://schemas.openxmlformats.org/drawingml/2006/main">
            <a:off x="777240" y="5952744"/>
            <a:ext cx="5193792"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1100" b="0" i="1">
                <a:solidFill>
                  <a:srgbClr val="065A82"/>
                </a:solidFill>
                <a:latin typeface="Calibri"/>
                <a:ea typeface="Calibri"/>
                <a:cs typeface="Calibri"/>
              </a:rPr>
              <a:t>All pairs for a decision go through together, so cost scales with batches rather than with options. inference_mode() disables autograd bookkeeping — measurably faster and lower-memory than no_grad().</a:t>
            </a:r>
          </a:p>
        </p:txBody>
      </p:sp>
      <p:sp>
        <p:nvSpPr>
          <p:cNvPr id="11" name="Rectangle 10">
            <a:extLst xmlns:a="http://schemas.openxmlformats.org/drawingml/2006/main">
              <a:ext uri="{FF2B5EF4-FFF2-40B4-BE49-F238E27FC236}">
                <a16:creationId xmlns:a16="http://schemas.microsoft.com/office/drawing/2014/main" id="{3AC873C7-8AE6-404A-B4DD-DA631186FC4E}"/>
              </a:ext>
            </a:extLst>
          </p:cNvPr>
          <p:cNvSpPr>
            <a:spLocks xmlns:a="http://schemas.openxmlformats.org/drawingml/2006/main" noGrp="1"/>
          </p:cNvSpPr>
          <p:nvPr/>
        </p:nvSpPr>
        <p:spPr>
          <a:xfrm xmlns:a="http://schemas.openxmlformats.org/drawingml/2006/main">
            <a:off x="6190488" y="1371600"/>
            <a:ext cx="5193792" cy="347472"/>
          </a:xfrm>
          <a:prstGeom xmlns:a="http://schemas.openxmlformats.org/drawingml/2006/main" prst="rect">
            <a:avLst/>
          </a:prstGeom>
          <a:solidFill xmlns:a="http://schemas.openxmlformats.org/drawingml/2006/main">
            <a:srgbClr val="065A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B39CAD9-8607-4C08-8D15-DBD27D62D554}"/>
              </a:ext>
            </a:extLst>
          </p:cNvPr>
          <p:cNvSpPr>
            <a:spLocks xmlns:a="http://schemas.openxmlformats.org/drawingml/2006/main" noGrp="1"/>
          </p:cNvSpPr>
          <p:nvPr/>
        </p:nvSpPr>
        <p:spPr>
          <a:xfrm xmlns:a="http://schemas.openxmlformats.org/drawingml/2006/main">
            <a:off x="6327648" y="1435608"/>
            <a:ext cx="4919472" cy="23774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1050" b="1" i="0">
                <a:solidFill>
                  <a:srgbClr val="FFFFFF"/>
                </a:solidFill>
                <a:latin typeface="Consolas"/>
                <a:ea typeface="Consolas"/>
                <a:cs typeface="Consolas"/>
              </a:rPr>
              <a:t>reading the entailment channel</a:t>
            </a:r>
          </a:p>
        </p:txBody>
      </p:sp>
      <p:sp>
        <p:nvSpPr>
          <p:cNvPr id="13" name="Rectangle 12">
            <a:extLst xmlns:a="http://schemas.openxmlformats.org/drawingml/2006/main">
              <a:ext uri="{FF2B5EF4-FFF2-40B4-BE49-F238E27FC236}">
                <a16:creationId xmlns:a16="http://schemas.microsoft.com/office/drawing/2014/main" id="{DFFD97C2-2BB0-47F5-AD13-108E5D4D6193}"/>
              </a:ext>
            </a:extLst>
          </p:cNvPr>
          <p:cNvSpPr>
            <a:spLocks xmlns:a="http://schemas.openxmlformats.org/drawingml/2006/main" noGrp="1"/>
          </p:cNvSpPr>
          <p:nvPr/>
        </p:nvSpPr>
        <p:spPr>
          <a:xfrm xmlns:a="http://schemas.openxmlformats.org/drawingml/2006/main">
            <a:off x="6190488" y="1719072"/>
            <a:ext cx="5193792" cy="4160520"/>
          </a:xfrm>
          <a:prstGeom xmlns:a="http://schemas.openxmlformats.org/drawingml/2006/main" prst="rect">
            <a:avLst/>
          </a:prstGeom>
          <a:solidFill xmlns:a="http://schemas.openxmlformats.org/drawingml/2006/main">
            <a:srgbClr val="1B223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A35098FA-A746-4527-8394-68EAAF1B9DC8}"/>
              </a:ext>
            </a:extLst>
          </p:cNvPr>
          <p:cNvSpPr>
            <a:spLocks xmlns:a="http://schemas.openxmlformats.org/drawingml/2006/main" noGrp="1"/>
          </p:cNvSpPr>
          <p:nvPr/>
        </p:nvSpPr>
        <p:spPr>
          <a:xfrm xmlns:a="http://schemas.openxmlformats.org/drawingml/2006/main">
            <a:off x="6355079" y="1847088"/>
            <a:ext cx="4864607" cy="39044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850" b="0" i="0">
                <a:solidFill>
                  <a:srgbClr val="E6EDF3"/>
                </a:solidFill>
                <a:latin typeface="Consolas"/>
                <a:ea typeface="Consolas"/>
                <a:cs typeface="Consolas"/>
              </a:rPr>
              <a:t>for row_logits, row_probabilities in zip(</a:t>
            </a:r>
          </a:p>
          <a:p xmlns:a="http://schemas.openxmlformats.org/drawingml/2006/main">
            <a:pPr algn="l">
              <a:lnSpc>
                <a:spcPct val="110000"/>
              </a:lnSpc>
              <a:buNone/>
            </a:pPr>
            <a:r>
              <a:rPr sz="850" b="0" i="0">
                <a:solidFill>
                  <a:srgbClr val="E6EDF3"/>
                </a:solidFill>
                <a:latin typeface="Consolas"/>
                <a:ea typeface="Consolas"/>
                <a:cs typeface="Consolas"/>
              </a:rPr>
              <a:t>    logits, probabilities, strict=True   # length mismatch = bug</a:t>
            </a:r>
          </a:p>
          <a:p xmlns:a="http://schemas.openxmlformats.org/drawingml/2006/main">
            <a:pPr algn="l">
              <a:lnSpc>
                <a:spcPct val="110000"/>
              </a:lnSpc>
              <a:buNone/>
            </a:pPr>
            <a:r>
              <a:rPr sz="850" b="0" i="0">
                <a:solidFill>
                  <a:srgbClr val="E6EDF3"/>
                </a:solidFill>
                <a:latin typeface="Consolas"/>
                <a:ea typeface="Consolas"/>
                <a:cs typeface="Consolas"/>
              </a:rPr>
              <a:t>):</a:t>
            </a:r>
          </a:p>
          <a:p xmlns:a="http://schemas.openxmlformats.org/drawingml/2006/main">
            <a:pPr algn="l">
              <a:lnSpc>
                <a:spcPct val="110000"/>
              </a:lnSpc>
              <a:buNone/>
            </a:pPr>
            <a:r>
              <a:rPr sz="850" b="0" i="0">
                <a:solidFill>
                  <a:srgbClr val="E6EDF3"/>
                </a:solidFill>
                <a:latin typeface="Consolas"/>
                <a:ea typeface="Consolas"/>
                <a:cs typeface="Consolas"/>
              </a:rPr>
              <a:t>    evidence.append(</a:t>
            </a:r>
          </a:p>
          <a:p xmlns:a="http://schemas.openxmlformats.org/drawingml/2006/main">
            <a:pPr algn="l">
              <a:lnSpc>
                <a:spcPct val="110000"/>
              </a:lnSpc>
              <a:buNone/>
            </a:pPr>
            <a:r>
              <a:rPr sz="850" b="0" i="0">
                <a:solidFill>
                  <a:srgbClr val="E6EDF3"/>
                </a:solidFill>
                <a:latin typeface="Consolas"/>
                <a:ea typeface="Consolas"/>
                <a:cs typeface="Consolas"/>
              </a:rPr>
              <a:t>        NliEvidence(</a:t>
            </a:r>
          </a:p>
          <a:p xmlns:a="http://schemas.openxmlformats.org/drawingml/2006/main">
            <a:pPr algn="l">
              <a:lnSpc>
                <a:spcPct val="110000"/>
              </a:lnSpc>
              <a:buNone/>
            </a:pPr>
            <a:r>
              <a:rPr sz="850" b="0" i="0">
                <a:solidFill>
                  <a:srgbClr val="7FB08A"/>
                </a:solidFill>
                <a:latin typeface="Consolas"/>
                <a:ea typeface="Consolas"/>
                <a:cs typeface="Consolas"/>
              </a:rPr>
              <a:t>            # Index comes from config.label2id, NOT a constant:</a:t>
            </a:r>
          </a:p>
          <a:p xmlns:a="http://schemas.openxmlformats.org/drawingml/2006/main">
            <a:pPr algn="l">
              <a:lnSpc>
                <a:spcPct val="110000"/>
              </a:lnSpc>
              <a:buNone/>
            </a:pPr>
            <a:r>
              <a:rPr sz="850" b="0" i="0">
                <a:solidFill>
                  <a:srgbClr val="7FB08A"/>
                </a:solidFill>
                <a:latin typeface="Consolas"/>
                <a:ea typeface="Consolas"/>
                <a:cs typeface="Consolas"/>
              </a:rPr>
              <a:t>            # label order differs between NLI checkpoints.</a:t>
            </a:r>
          </a:p>
          <a:p xmlns:a="http://schemas.openxmlformats.org/drawingml/2006/main">
            <a:pPr algn="l">
              <a:lnSpc>
                <a:spcPct val="110000"/>
              </a:lnSpc>
              <a:buNone/>
            </a:pPr>
            <a:r>
              <a:rPr sz="850" b="0" i="0">
                <a:solidFill>
                  <a:srgbClr val="E6EDF3"/>
                </a:solidFill>
                <a:latin typeface="Consolas"/>
                <a:ea typeface="Consolas"/>
                <a:cs typeface="Consolas"/>
              </a:rPr>
              <a:t>            entailment_logit=float(</a:t>
            </a:r>
          </a:p>
          <a:p xmlns:a="http://schemas.openxmlformats.org/drawingml/2006/main">
            <a:pPr algn="l">
              <a:lnSpc>
                <a:spcPct val="110000"/>
              </a:lnSpc>
              <a:buNone/>
            </a:pPr>
            <a:r>
              <a:rPr sz="850" b="0" i="0">
                <a:solidFill>
                  <a:srgbClr val="E6EDF3"/>
                </a:solidFill>
                <a:latin typeface="Consolas"/>
                <a:ea typeface="Consolas"/>
                <a:cs typeface="Consolas"/>
              </a:rPr>
              <a:t>                row_logits[self._entailment_index].item()</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E6EDF3"/>
                </a:solidFill>
                <a:latin typeface="Consolas"/>
                <a:ea typeface="Consolas"/>
                <a:cs typeface="Consolas"/>
              </a:rPr>
              <a:t>            entailment_probability=float(</a:t>
            </a:r>
          </a:p>
          <a:p xmlns:a="http://schemas.openxmlformats.org/drawingml/2006/main">
            <a:pPr algn="l">
              <a:lnSpc>
                <a:spcPct val="110000"/>
              </a:lnSpc>
              <a:buNone/>
            </a:pPr>
            <a:r>
              <a:rPr sz="850" b="0" i="0">
                <a:solidFill>
                  <a:srgbClr val="E6EDF3"/>
                </a:solidFill>
                <a:latin typeface="Consolas"/>
                <a:ea typeface="Consolas"/>
                <a:cs typeface="Consolas"/>
              </a:rPr>
              <a:t>                row_probabilities[self._entailment_index].item()</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7FB08A"/>
                </a:solidFill>
                <a:latin typeface="Consolas"/>
                <a:ea typeface="Consolas"/>
                <a:cs typeface="Consolas"/>
              </a:rPr>
              <a:t># Device selection: cuda -&gt; mps (Apple GPU) -&gt; cpu</a:t>
            </a:r>
          </a:p>
          <a:p xmlns:a="http://schemas.openxmlformats.org/drawingml/2006/main">
            <a:pPr algn="l">
              <a:lnSpc>
                <a:spcPct val="110000"/>
              </a:lnSpc>
              <a:buNone/>
            </a:pPr>
            <a:r>
              <a:rPr sz="850" b="0" i="0">
                <a:solidFill>
                  <a:srgbClr val="E6EDF3"/>
                </a:solidFill>
                <a:latin typeface="Consolas"/>
                <a:ea typeface="Consolas"/>
                <a:cs typeface="Consolas"/>
              </a:rPr>
              <a:t>return evidence</a:t>
            </a:r>
          </a:p>
        </p:txBody>
      </p:sp>
      <p:sp>
        <p:nvSpPr>
          <p:cNvPr id="15" name="TextBox 14">
            <a:extLst xmlns:a="http://schemas.openxmlformats.org/drawingml/2006/main">
              <a:ext uri="{FF2B5EF4-FFF2-40B4-BE49-F238E27FC236}">
                <a16:creationId xmlns:a16="http://schemas.microsoft.com/office/drawing/2014/main" id="{A4A428EF-3C99-49F0-A4D0-FF9A0CBC8EBC}"/>
              </a:ext>
            </a:extLst>
          </p:cNvPr>
          <p:cNvSpPr>
            <a:spLocks xmlns:a="http://schemas.openxmlformats.org/drawingml/2006/main" noGrp="1"/>
          </p:cNvSpPr>
          <p:nvPr/>
        </p:nvSpPr>
        <p:spPr>
          <a:xfrm xmlns:a="http://schemas.openxmlformats.org/drawingml/2006/main">
            <a:off x="6190488" y="5952744"/>
            <a:ext cx="5193792"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1100" b="0" i="1">
                <a:solidFill>
                  <a:srgbClr val="065A82"/>
                </a:solidFill>
                <a:latin typeface="Calibri"/>
                <a:ea typeface="Calibri"/>
                <a:cs typeface="Calibri"/>
              </a:rPr>
              <a:t>_entailment_index is resolved from config.label2id rather than hardcoded, so a model with reversed label order still works. Both the logit and the per-pair probability are kept.</a:t>
            </a:r>
          </a:p>
        </p:txBody>
      </p:sp>
    </p:spTree>
    <p:extLst>
      <p:ext uri="{BB962C8B-B14F-4D97-AF65-F5344CB8AC3E}">
        <p14:creationId xmlns:p14="http://schemas.microsoft.com/office/powerpoint/2010/main" val="17070694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614DB4E-03BE-4AF1-A571-0D0817FD1CD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4F7F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EDD03493-F940-4A6B-AA18-808789CADE8A}"/>
              </a:ext>
            </a:extLst>
          </p:cNvPr>
          <p:cNvSpPr>
            <a:spLocks xmlns:a="http://schemas.openxmlformats.org/drawingml/2006/main" noGrp="1"/>
          </p:cNvSpPr>
          <p:nvPr/>
        </p:nvSpPr>
        <p:spPr>
          <a:xfrm xmlns:a="http://schemas.openxmlformats.org/drawingml/2006/main">
            <a:off x="0" y="0"/>
            <a:ext cx="256032" cy="6858000"/>
          </a:xfrm>
          <a:prstGeom xmlns:a="http://schemas.openxmlformats.org/drawingml/2006/main" prst="rect">
            <a:avLst/>
          </a:prstGeom>
          <a:solidFill xmlns:a="http://schemas.openxmlformats.org/drawingml/2006/main">
            <a:srgbClr val="1C729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848FAF5F-E242-4574-AAA4-9200F0F1BF96}"/>
              </a:ext>
            </a:extLst>
          </p:cNvPr>
          <p:cNvSpPr>
            <a:spLocks xmlns:a="http://schemas.openxmlformats.org/drawingml/2006/main" noGrp="1"/>
          </p:cNvSpPr>
          <p:nvPr/>
        </p:nvSpPr>
        <p:spPr>
          <a:xfrm xmlns:a="http://schemas.openxmlformats.org/drawingml/2006/main">
            <a:off x="777240" y="365760"/>
            <a:ext cx="1051560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3000" b="1" i="0">
                <a:solidFill>
                  <a:srgbClr val="21295C"/>
                </a:solidFill>
                <a:latin typeface="Georgia"/>
                <a:ea typeface="Georgia"/>
                <a:cs typeface="Georgia"/>
              </a:rPr>
              <a:t>Appendix A3 · From logits to a decision</a:t>
            </a:r>
          </a:p>
        </p:txBody>
      </p:sp>
      <p:sp>
        <p:nvSpPr>
          <p:cNvPr id="5" name="TextBox 4">
            <a:extLst xmlns:a="http://schemas.openxmlformats.org/drawingml/2006/main">
              <a:ext uri="{FF2B5EF4-FFF2-40B4-BE49-F238E27FC236}">
                <a16:creationId xmlns:a16="http://schemas.microsoft.com/office/drawing/2014/main" id="{AD40D4AC-1FE0-44D0-BF99-215C153D37CF}"/>
              </a:ext>
            </a:extLst>
          </p:cNvPr>
          <p:cNvSpPr>
            <a:spLocks xmlns:a="http://schemas.openxmlformats.org/drawingml/2006/main" noGrp="1"/>
          </p:cNvSpPr>
          <p:nvPr/>
        </p:nvSpPr>
        <p:spPr>
          <a:xfrm xmlns:a="http://schemas.openxmlformats.org/drawingml/2006/main">
            <a:off x="777240" y="914400"/>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1300" b="0" i="1">
                <a:solidFill>
                  <a:srgbClr val="6B7A8C"/>
                </a:solidFill>
                <a:latin typeface="Calibri"/>
                <a:ea typeface="Calibri"/>
                <a:cs typeface="Calibri"/>
              </a:rPr>
              <a:t>poc/zero_shot_decision_poc.py — softmax across options, then the abstention gate</a:t>
            </a:r>
          </a:p>
        </p:txBody>
      </p:sp>
      <p:sp>
        <p:nvSpPr>
          <p:cNvPr id="6" name="Rectangle 5">
            <a:extLst xmlns:a="http://schemas.openxmlformats.org/drawingml/2006/main">
              <a:ext uri="{FF2B5EF4-FFF2-40B4-BE49-F238E27FC236}">
                <a16:creationId xmlns:a16="http://schemas.microsoft.com/office/drawing/2014/main" id="{4007AD05-F893-4282-B4AA-CE9C37239B5B}"/>
              </a:ext>
            </a:extLst>
          </p:cNvPr>
          <p:cNvSpPr>
            <a:spLocks xmlns:a="http://schemas.openxmlformats.org/drawingml/2006/main" noGrp="1"/>
          </p:cNvSpPr>
          <p:nvPr/>
        </p:nvSpPr>
        <p:spPr>
          <a:xfrm xmlns:a="http://schemas.openxmlformats.org/drawingml/2006/main">
            <a:off x="777240" y="1371600"/>
            <a:ext cx="5193792" cy="347472"/>
          </a:xfrm>
          <a:prstGeom xmlns:a="http://schemas.openxmlformats.org/drawingml/2006/main" prst="rect">
            <a:avLst/>
          </a:prstGeom>
          <a:solidFill xmlns:a="http://schemas.openxmlformats.org/drawingml/2006/main">
            <a:srgbClr val="065A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2A29871-C93B-4CD1-A312-8D4219BAAD1A}"/>
              </a:ext>
            </a:extLst>
          </p:cNvPr>
          <p:cNvSpPr>
            <a:spLocks xmlns:a="http://schemas.openxmlformats.org/drawingml/2006/main" noGrp="1"/>
          </p:cNvSpPr>
          <p:nvPr/>
        </p:nvSpPr>
        <p:spPr>
          <a:xfrm xmlns:a="http://schemas.openxmlformats.org/drawingml/2006/main">
            <a:off x="914400" y="1435608"/>
            <a:ext cx="4919472" cy="23774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1050" b="1" i="0">
                <a:solidFill>
                  <a:srgbClr val="FFFFFF"/>
                </a:solidFill>
                <a:latin typeface="Consolas"/>
                <a:ea typeface="Consolas"/>
                <a:cs typeface="Consolas"/>
              </a:rPr>
              <a:t>cross-option softmax</a:t>
            </a:r>
          </a:p>
        </p:txBody>
      </p:sp>
      <p:sp>
        <p:nvSpPr>
          <p:cNvPr id="8" name="Rectangle 7">
            <a:extLst xmlns:a="http://schemas.openxmlformats.org/drawingml/2006/main">
              <a:ext uri="{FF2B5EF4-FFF2-40B4-BE49-F238E27FC236}">
                <a16:creationId xmlns:a16="http://schemas.microsoft.com/office/drawing/2014/main" id="{60C74B61-EE89-4B8D-B163-01BA6DD1A197}"/>
              </a:ext>
            </a:extLst>
          </p:cNvPr>
          <p:cNvSpPr>
            <a:spLocks xmlns:a="http://schemas.openxmlformats.org/drawingml/2006/main" noGrp="1"/>
          </p:cNvSpPr>
          <p:nvPr/>
        </p:nvSpPr>
        <p:spPr>
          <a:xfrm xmlns:a="http://schemas.openxmlformats.org/drawingml/2006/main">
            <a:off x="777240" y="1719072"/>
            <a:ext cx="5193792" cy="4160520"/>
          </a:xfrm>
          <a:prstGeom xmlns:a="http://schemas.openxmlformats.org/drawingml/2006/main" prst="rect">
            <a:avLst/>
          </a:prstGeom>
          <a:solidFill xmlns:a="http://schemas.openxmlformats.org/drawingml/2006/main">
            <a:srgbClr val="1B223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BEEFD31C-FEB3-4F90-A531-E8352B42BADB}"/>
              </a:ext>
            </a:extLst>
          </p:cNvPr>
          <p:cNvSpPr>
            <a:spLocks xmlns:a="http://schemas.openxmlformats.org/drawingml/2006/main" noGrp="1"/>
          </p:cNvSpPr>
          <p:nvPr/>
        </p:nvSpPr>
        <p:spPr>
          <a:xfrm xmlns:a="http://schemas.openxmlformats.org/drawingml/2006/main">
            <a:off x="941832" y="1847088"/>
            <a:ext cx="4864607" cy="39044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850" b="0" i="0">
                <a:solidFill>
                  <a:srgbClr val="E6EDF3"/>
                </a:solidFill>
                <a:latin typeface="Consolas"/>
                <a:ea typeface="Consolas"/>
                <a:cs typeface="Consolas"/>
              </a:rPr>
              <a:t>def _softmax(logits: Sequence[float]) -&gt; list[float]:</a:t>
            </a:r>
          </a:p>
          <a:p xmlns:a="http://schemas.openxmlformats.org/drawingml/2006/main">
            <a:pPr algn="l">
              <a:lnSpc>
                <a:spcPct val="110000"/>
              </a:lnSpc>
              <a:buNone/>
            </a:pPr>
            <a:r>
              <a:rPr sz="850" b="0" i="0">
                <a:solidFill>
                  <a:srgbClr val="7FB08A"/>
                </a:solidFill>
                <a:latin typeface="Consolas"/>
                <a:ea typeface="Consolas"/>
                <a:cs typeface="Consolas"/>
              </a:rPr>
              <a:t>    # Subtract the max before exp() -- standard guard against</a:t>
            </a:r>
          </a:p>
          <a:p xmlns:a="http://schemas.openxmlformats.org/drawingml/2006/main">
            <a:pPr algn="l">
              <a:lnSpc>
                <a:spcPct val="110000"/>
              </a:lnSpc>
              <a:buNone/>
            </a:pPr>
            <a:r>
              <a:rPr sz="850" b="0" i="0">
                <a:solidFill>
                  <a:srgbClr val="7FB08A"/>
                </a:solidFill>
                <a:latin typeface="Consolas"/>
                <a:ea typeface="Consolas"/>
                <a:cs typeface="Consolas"/>
              </a:rPr>
              <a:t>    # overflow on large positive logits.</a:t>
            </a:r>
          </a:p>
          <a:p xmlns:a="http://schemas.openxmlformats.org/drawingml/2006/main">
            <a:pPr algn="l">
              <a:lnSpc>
                <a:spcPct val="110000"/>
              </a:lnSpc>
              <a:buNone/>
            </a:pPr>
            <a:r>
              <a:rPr sz="850" b="0" i="0">
                <a:solidFill>
                  <a:srgbClr val="E6EDF3"/>
                </a:solidFill>
                <a:latin typeface="Consolas"/>
                <a:ea typeface="Consolas"/>
                <a:cs typeface="Consolas"/>
              </a:rPr>
              <a:t>    maximum = max(logits)</a:t>
            </a:r>
          </a:p>
          <a:p xmlns:a="http://schemas.openxmlformats.org/drawingml/2006/main">
            <a:pPr algn="l">
              <a:lnSpc>
                <a:spcPct val="110000"/>
              </a:lnSpc>
              <a:buNone/>
            </a:pPr>
            <a:r>
              <a:rPr sz="850" b="0" i="0">
                <a:solidFill>
                  <a:srgbClr val="E6EDF3"/>
                </a:solidFill>
                <a:latin typeface="Consolas"/>
                <a:ea typeface="Consolas"/>
                <a:cs typeface="Consolas"/>
              </a:rPr>
              <a:t>    exponentials = [math.exp(logit - maximum) for logit in logits]</a:t>
            </a:r>
          </a:p>
          <a:p xmlns:a="http://schemas.openxmlformats.org/drawingml/2006/main">
            <a:pPr algn="l">
              <a:lnSpc>
                <a:spcPct val="110000"/>
              </a:lnSpc>
              <a:buNone/>
            </a:pPr>
            <a:r>
              <a:rPr sz="850" b="0" i="0">
                <a:solidFill>
                  <a:srgbClr val="E6EDF3"/>
                </a:solidFill>
                <a:latin typeface="Consolas"/>
                <a:ea typeface="Consolas"/>
                <a:cs typeface="Consolas"/>
              </a:rPr>
              <a:t>    total = sum(exponentials)</a:t>
            </a:r>
          </a:p>
          <a:p xmlns:a="http://schemas.openxmlformats.org/drawingml/2006/main">
            <a:pPr algn="l">
              <a:lnSpc>
                <a:spcPct val="110000"/>
              </a:lnSpc>
              <a:buNone/>
            </a:pPr>
            <a:r>
              <a:rPr sz="850" b="0" i="0">
                <a:solidFill>
                  <a:srgbClr val="E6EDF3"/>
                </a:solidFill>
                <a:latin typeface="Consolas"/>
                <a:ea typeface="Consolas"/>
                <a:cs typeface="Consolas"/>
              </a:rPr>
              <a:t>    return [value / total for value in exponentials]</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7FB08A"/>
                </a:solidFill>
                <a:latin typeface="Consolas"/>
                <a:ea typeface="Consolas"/>
                <a:cs typeface="Consolas"/>
              </a:rPr>
              <a:t># NOTE: applied ACROSS the options of one decision, not across</a:t>
            </a:r>
          </a:p>
          <a:p xmlns:a="http://schemas.openxmlformats.org/drawingml/2006/main">
            <a:pPr algn="l">
              <a:lnSpc>
                <a:spcPct val="110000"/>
              </a:lnSpc>
              <a:buNone/>
            </a:pPr>
            <a:r>
              <a:rPr sz="850" b="0" i="0">
                <a:solidFill>
                  <a:srgbClr val="7FB08A"/>
                </a:solidFill>
                <a:latin typeface="Consolas"/>
                <a:ea typeface="Consolas"/>
                <a:cs typeface="Consolas"/>
              </a:rPr>
              <a:t># the model's own entailment/not_entailment axis. That is what</a:t>
            </a:r>
          </a:p>
          <a:p xmlns:a="http://schemas.openxmlformats.org/drawingml/2006/main">
            <a:pPr algn="l">
              <a:lnSpc>
                <a:spcPct val="110000"/>
              </a:lnSpc>
              <a:buNone/>
            </a:pPr>
            <a:r>
              <a:rPr sz="850" b="0" i="0">
                <a:solidFill>
                  <a:srgbClr val="7FB08A"/>
                </a:solidFill>
                <a:latin typeface="Consolas"/>
                <a:ea typeface="Consolas"/>
                <a:cs typeface="Consolas"/>
              </a:rPr>
              <a:t># turns N independent entailment scores into one distribution.</a:t>
            </a:r>
          </a:p>
        </p:txBody>
      </p:sp>
      <p:sp>
        <p:nvSpPr>
          <p:cNvPr id="10" name="TextBox 9">
            <a:extLst xmlns:a="http://schemas.openxmlformats.org/drawingml/2006/main">
              <a:ext uri="{FF2B5EF4-FFF2-40B4-BE49-F238E27FC236}">
                <a16:creationId xmlns:a16="http://schemas.microsoft.com/office/drawing/2014/main" id="{285747E7-6CFC-4AFA-8F89-4B77C4B59245}"/>
              </a:ext>
            </a:extLst>
          </p:cNvPr>
          <p:cNvSpPr>
            <a:spLocks xmlns:a="http://schemas.openxmlformats.org/drawingml/2006/main" noGrp="1"/>
          </p:cNvSpPr>
          <p:nvPr/>
        </p:nvSpPr>
        <p:spPr>
          <a:xfrm xmlns:a="http://schemas.openxmlformats.org/drawingml/2006/main">
            <a:off x="777240" y="5952744"/>
            <a:ext cx="5193792"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1100" b="0" i="1">
                <a:solidFill>
                  <a:srgbClr val="065A82"/>
                </a:solidFill>
                <a:latin typeface="Calibri"/>
                <a:ea typeface="Calibri"/>
                <a:cs typeface="Calibri"/>
              </a:rPr>
              <a:t>This is what makes confidence depend on option COUNT: mass is shared across candidates, so a 3-way 0.44 and a 2-way 0.79 can be equally strong evidence.</a:t>
            </a:r>
          </a:p>
        </p:txBody>
      </p:sp>
      <p:sp>
        <p:nvSpPr>
          <p:cNvPr id="11" name="Rectangle 10">
            <a:extLst xmlns:a="http://schemas.openxmlformats.org/drawingml/2006/main">
              <a:ext uri="{FF2B5EF4-FFF2-40B4-BE49-F238E27FC236}">
                <a16:creationId xmlns:a16="http://schemas.microsoft.com/office/drawing/2014/main" id="{7BDB1DD2-6520-44B2-A064-558E264BD005}"/>
              </a:ext>
            </a:extLst>
          </p:cNvPr>
          <p:cNvSpPr>
            <a:spLocks xmlns:a="http://schemas.openxmlformats.org/drawingml/2006/main" noGrp="1"/>
          </p:cNvSpPr>
          <p:nvPr/>
        </p:nvSpPr>
        <p:spPr>
          <a:xfrm xmlns:a="http://schemas.openxmlformats.org/drawingml/2006/main">
            <a:off x="6190488" y="1371600"/>
            <a:ext cx="5193792" cy="347472"/>
          </a:xfrm>
          <a:prstGeom xmlns:a="http://schemas.openxmlformats.org/drawingml/2006/main" prst="rect">
            <a:avLst/>
          </a:prstGeom>
          <a:solidFill xmlns:a="http://schemas.openxmlformats.org/drawingml/2006/main">
            <a:srgbClr val="065A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4816BF8-293B-4735-AA5D-15B9D2EE0AA2}"/>
              </a:ext>
            </a:extLst>
          </p:cNvPr>
          <p:cNvSpPr>
            <a:spLocks xmlns:a="http://schemas.openxmlformats.org/drawingml/2006/main" noGrp="1"/>
          </p:cNvSpPr>
          <p:nvPr/>
        </p:nvSpPr>
        <p:spPr>
          <a:xfrm xmlns:a="http://schemas.openxmlformats.org/drawingml/2006/main">
            <a:off x="6327648" y="1435608"/>
            <a:ext cx="4919472" cy="23774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1050" b="1" i="0">
                <a:solidFill>
                  <a:srgbClr val="FFFFFF"/>
                </a:solidFill>
                <a:latin typeface="Consolas"/>
                <a:ea typeface="Consolas"/>
                <a:cs typeface="Consolas"/>
              </a:rPr>
              <a:t>the abstention gate</a:t>
            </a:r>
          </a:p>
        </p:txBody>
      </p:sp>
      <p:sp>
        <p:nvSpPr>
          <p:cNvPr id="13" name="Rectangle 12">
            <a:extLst xmlns:a="http://schemas.openxmlformats.org/drawingml/2006/main">
              <a:ext uri="{FF2B5EF4-FFF2-40B4-BE49-F238E27FC236}">
                <a16:creationId xmlns:a16="http://schemas.microsoft.com/office/drawing/2014/main" id="{5FB12050-2D83-46C2-B72B-E3352F9AC2D0}"/>
              </a:ext>
            </a:extLst>
          </p:cNvPr>
          <p:cNvSpPr>
            <a:spLocks xmlns:a="http://schemas.openxmlformats.org/drawingml/2006/main" noGrp="1"/>
          </p:cNvSpPr>
          <p:nvPr/>
        </p:nvSpPr>
        <p:spPr>
          <a:xfrm xmlns:a="http://schemas.openxmlformats.org/drawingml/2006/main">
            <a:off x="6190488" y="1719072"/>
            <a:ext cx="5193792" cy="4160520"/>
          </a:xfrm>
          <a:prstGeom xmlns:a="http://schemas.openxmlformats.org/drawingml/2006/main" prst="rect">
            <a:avLst/>
          </a:prstGeom>
          <a:solidFill xmlns:a="http://schemas.openxmlformats.org/drawingml/2006/main">
            <a:srgbClr val="1B223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B3DF3212-32FD-46A8-8B82-48D137C0630B}"/>
              </a:ext>
            </a:extLst>
          </p:cNvPr>
          <p:cNvSpPr>
            <a:spLocks xmlns:a="http://schemas.openxmlformats.org/drawingml/2006/main" noGrp="1"/>
          </p:cNvSpPr>
          <p:nvPr/>
        </p:nvSpPr>
        <p:spPr>
          <a:xfrm xmlns:a="http://schemas.openxmlformats.org/drawingml/2006/main">
            <a:off x="6355079" y="1847088"/>
            <a:ext cx="4864607" cy="39044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850" b="0" i="0">
                <a:solidFill>
                  <a:srgbClr val="7FB08A"/>
                </a:solidFill>
                <a:latin typeface="Consolas"/>
                <a:ea typeface="Consolas"/>
                <a:cs typeface="Consolas"/>
              </a:rPr>
              <a:t># A correct-but-unconfident pick is still not safe to act on,</a:t>
            </a:r>
          </a:p>
          <a:p xmlns:a="http://schemas.openxmlformats.org/drawingml/2006/main">
            <a:pPr algn="l">
              <a:lnSpc>
                <a:spcPct val="110000"/>
              </a:lnSpc>
              <a:buNone/>
            </a:pPr>
            <a:r>
              <a:rPr sz="850" b="0" i="0">
                <a:solidFill>
                  <a:srgbClr val="7FB08A"/>
                </a:solidFill>
                <a:latin typeface="Consolas"/>
                <a:ea typeface="Consolas"/>
                <a:cs typeface="Consolas"/>
              </a:rPr>
              <a:t># so the answer is withheld unless BOTH gates clear.</a:t>
            </a:r>
          </a:p>
          <a:p xmlns:a="http://schemas.openxmlformats.org/drawingml/2006/main">
            <a:pPr algn="l">
              <a:lnSpc>
                <a:spcPct val="110000"/>
              </a:lnSpc>
              <a:buNone/>
            </a:pPr>
            <a:r>
              <a:rPr sz="850" b="0" i="0">
                <a:solidFill>
                  <a:srgbClr val="E6EDF3"/>
                </a:solidFill>
                <a:latin typeface="Consolas"/>
                <a:ea typeface="Consolas"/>
                <a:cs typeface="Consolas"/>
              </a:rPr>
              <a:t>top_probability = probabilities[0]</a:t>
            </a:r>
          </a:p>
          <a:p xmlns:a="http://schemas.openxmlformats.org/drawingml/2006/main">
            <a:pPr algn="l">
              <a:lnSpc>
                <a:spcPct val="110000"/>
              </a:lnSpc>
              <a:buNone/>
            </a:pPr>
            <a:r>
              <a:rPr sz="850" b="0" i="0">
                <a:solidFill>
                  <a:srgbClr val="E6EDF3"/>
                </a:solidFill>
                <a:latin typeface="Consolas"/>
                <a:ea typeface="Consolas"/>
                <a:cs typeface="Consolas"/>
              </a:rPr>
              <a:t>top_two_margin = probabilities[0] - probabilities[1]</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E6EDF3"/>
                </a:solidFill>
                <a:latin typeface="Consolas"/>
                <a:ea typeface="Consolas"/>
                <a:cs typeface="Consolas"/>
              </a:rPr>
              <a:t>review_required = (</a:t>
            </a:r>
          </a:p>
          <a:p xmlns:a="http://schemas.openxmlformats.org/drawingml/2006/main">
            <a:pPr algn="l">
              <a:lnSpc>
                <a:spcPct val="110000"/>
              </a:lnSpc>
              <a:buNone/>
            </a:pPr>
            <a:r>
              <a:rPr sz="850" b="0" i="0">
                <a:solidFill>
                  <a:srgbClr val="E6EDF3"/>
                </a:solidFill>
                <a:latin typeface="Consolas"/>
                <a:ea typeface="Consolas"/>
                <a:cs typeface="Consolas"/>
              </a:rPr>
              <a:t>    top_probability &lt; decision.minimum_probability   # 0.65</a:t>
            </a:r>
          </a:p>
          <a:p xmlns:a="http://schemas.openxmlformats.org/drawingml/2006/main">
            <a:pPr algn="l">
              <a:lnSpc>
                <a:spcPct val="110000"/>
              </a:lnSpc>
              <a:buNone/>
            </a:pPr>
            <a:r>
              <a:rPr sz="850" b="0" i="0">
                <a:solidFill>
                  <a:srgbClr val="E6EDF3"/>
                </a:solidFill>
                <a:latin typeface="Consolas"/>
                <a:ea typeface="Consolas"/>
                <a:cs typeface="Consolas"/>
              </a:rPr>
              <a:t>    or top_two_margin &lt; decision.minimum_margin      # 0.15</a:t>
            </a:r>
          </a:p>
          <a:p xmlns:a="http://schemas.openxmlformats.org/drawingml/2006/main">
            <a:pPr algn="l">
              <a:lnSpc>
                <a:spcPct val="110000"/>
              </a:lnSpc>
              <a:buNone/>
            </a:pPr>
            <a:r>
              <a:rPr sz="850" b="0" i="0">
                <a:solidFill>
                  <a:srgbClr val="E6EDF3"/>
                </a:solidFill>
                <a:latin typeface="Consolas"/>
                <a:ea typeface="Consolas"/>
                <a:cs typeface="Consolas"/>
              </a:rPr>
              <a:t>)</a:t>
            </a:r>
          </a:p>
          <a:p xmlns:a="http://schemas.openxmlformats.org/drawingml/2006/main">
            <a:pPr algn="l">
              <a:lnSpc>
                <a:spcPct val="110000"/>
              </a:lnSpc>
              <a:buNone/>
            </a:pPr>
            <a:r>
              <a:rPr sz="850" b="0" i="0">
                <a:solidFill>
                  <a:srgbClr val="E6EDF3"/>
                </a:solidFill>
                <a:latin typeface="Consolas"/>
                <a:ea typeface="Consolas"/>
                <a:cs typeface="Consolas"/>
              </a:rPr>
              <a:t> </a:t>
            </a:r>
          </a:p>
          <a:p xmlns:a="http://schemas.openxmlformats.org/drawingml/2006/main">
            <a:pPr algn="l">
              <a:lnSpc>
                <a:spcPct val="110000"/>
              </a:lnSpc>
              <a:buNone/>
            </a:pPr>
            <a:r>
              <a:rPr sz="850" b="0" i="0">
                <a:solidFill>
                  <a:srgbClr val="7FB08A"/>
                </a:solidFill>
                <a:latin typeface="Consolas"/>
                <a:ea typeface="Consolas"/>
                <a:cs typeface="Consolas"/>
              </a:rPr>
              <a:t># 'answer' is None when gated; 'recommended_option' always</a:t>
            </a:r>
          </a:p>
          <a:p xmlns:a="http://schemas.openxmlformats.org/drawingml/2006/main">
            <a:pPr algn="l">
              <a:lnSpc>
                <a:spcPct val="110000"/>
              </a:lnSpc>
              <a:buNone/>
            </a:pPr>
            <a:r>
              <a:rPr sz="850" b="0" i="0">
                <a:solidFill>
                  <a:srgbClr val="7FB08A"/>
                </a:solidFill>
                <a:latin typeface="Consolas"/>
                <a:ea typeface="Consolas"/>
                <a:cs typeface="Consolas"/>
              </a:rPr>
              <a:t># holds the top-ranked candidate, so the caller can show a</a:t>
            </a:r>
          </a:p>
          <a:p xmlns:a="http://schemas.openxmlformats.org/drawingml/2006/main">
            <a:pPr algn="l">
              <a:lnSpc>
                <a:spcPct val="110000"/>
              </a:lnSpc>
              <a:buNone/>
            </a:pPr>
            <a:r>
              <a:rPr sz="850" b="0" i="0">
                <a:solidFill>
                  <a:srgbClr val="7FB08A"/>
                </a:solidFill>
                <a:latin typeface="Consolas"/>
                <a:ea typeface="Consolas"/>
                <a:cs typeface="Consolas"/>
              </a:rPr>
              <a:t># suggestion to a reviewer without it reading as a decision.</a:t>
            </a:r>
          </a:p>
          <a:p xmlns:a="http://schemas.openxmlformats.org/drawingml/2006/main">
            <a:pPr algn="l">
              <a:lnSpc>
                <a:spcPct val="110000"/>
              </a:lnSpc>
              <a:buNone/>
            </a:pPr>
            <a:r>
              <a:rPr sz="850" b="0" i="0">
                <a:solidFill>
                  <a:srgbClr val="E6EDF3"/>
                </a:solidFill>
                <a:latin typeface="Consolas"/>
                <a:ea typeface="Consolas"/>
                <a:cs typeface="Consolas"/>
              </a:rPr>
              <a:t>return {</a:t>
            </a:r>
          </a:p>
          <a:p xmlns:a="http://schemas.openxmlformats.org/drawingml/2006/main">
            <a:pPr algn="l">
              <a:lnSpc>
                <a:spcPct val="110000"/>
              </a:lnSpc>
              <a:buNone/>
            </a:pPr>
            <a:r>
              <a:rPr sz="850" b="0" i="0">
                <a:solidFill>
                  <a:srgbClr val="E6EDF3"/>
                </a:solidFill>
                <a:latin typeface="Consolas"/>
                <a:ea typeface="Consolas"/>
                <a:cs typeface="Consolas"/>
              </a:rPr>
              <a:t>    "answer": None if review_required else best.candidate_id,</a:t>
            </a:r>
          </a:p>
          <a:p xmlns:a="http://schemas.openxmlformats.org/drawingml/2006/main">
            <a:pPr algn="l">
              <a:lnSpc>
                <a:spcPct val="110000"/>
              </a:lnSpc>
              <a:buNone/>
            </a:pPr>
            <a:r>
              <a:rPr sz="850" b="0" i="0">
                <a:solidFill>
                  <a:srgbClr val="E6EDF3"/>
                </a:solidFill>
                <a:latin typeface="Consolas"/>
                <a:ea typeface="Consolas"/>
                <a:cs typeface="Consolas"/>
              </a:rPr>
              <a:t>    "recommended_option": best.candidate_id,</a:t>
            </a:r>
          </a:p>
          <a:p xmlns:a="http://schemas.openxmlformats.org/drawingml/2006/main">
            <a:pPr algn="l">
              <a:lnSpc>
                <a:spcPct val="110000"/>
              </a:lnSpc>
              <a:buNone/>
            </a:pPr>
            <a:r>
              <a:rPr sz="850" b="0" i="0">
                <a:solidFill>
                  <a:srgbClr val="E6EDF3"/>
                </a:solidFill>
                <a:latin typeface="Consolas"/>
                <a:ea typeface="Consolas"/>
                <a:cs typeface="Consolas"/>
              </a:rPr>
              <a:t>    "review_required": review_required,</a:t>
            </a:r>
          </a:p>
          <a:p xmlns:a="http://schemas.openxmlformats.org/drawingml/2006/main">
            <a:pPr algn="l">
              <a:lnSpc>
                <a:spcPct val="110000"/>
              </a:lnSpc>
              <a:buNone/>
            </a:pPr>
            <a:r>
              <a:rPr sz="850" b="0" i="0">
                <a:solidFill>
                  <a:srgbClr val="E6EDF3"/>
                </a:solidFill>
                <a:latin typeface="Consolas"/>
                <a:ea typeface="Consolas"/>
                <a:cs typeface="Consolas"/>
              </a:rPr>
              <a:t>}</a:t>
            </a:r>
          </a:p>
        </p:txBody>
      </p:sp>
      <p:sp>
        <p:nvSpPr>
          <p:cNvPr id="15" name="TextBox 14">
            <a:extLst xmlns:a="http://schemas.openxmlformats.org/drawingml/2006/main">
              <a:ext uri="{FF2B5EF4-FFF2-40B4-BE49-F238E27FC236}">
                <a16:creationId xmlns:a16="http://schemas.microsoft.com/office/drawing/2014/main" id="{4821FE80-D67E-4934-A9A9-C122C78846E2}"/>
              </a:ext>
            </a:extLst>
          </p:cNvPr>
          <p:cNvSpPr>
            <a:spLocks xmlns:a="http://schemas.openxmlformats.org/drawingml/2006/main" noGrp="1"/>
          </p:cNvSpPr>
          <p:nvPr/>
        </p:nvSpPr>
        <p:spPr>
          <a:xfrm xmlns:a="http://schemas.openxmlformats.org/drawingml/2006/main">
            <a:off x="6190488" y="5952744"/>
            <a:ext cx="5193792"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10000"/>
              </a:lnSpc>
              <a:buNone/>
            </a:pPr>
            <a:r>
              <a:rPr sz="1100" b="0" i="1">
                <a:solidFill>
                  <a:srgbClr val="065A82"/>
                </a:solidFill>
                <a:latin typeface="Calibri"/>
                <a:ea typeface="Calibri"/>
                <a:cs typeface="Calibri"/>
              </a:rPr>
              <a:t>Two independent conditions. Confidence alone would pass a 0.66 vs 0.34 coin flip; margin alone would pass 0.20 vs 0.05. Requiring both is what makes 'no answer' a deliberate outcome rather than a failure.</a:t>
            </a:r>
          </a:p>
        </p:txBody>
      </p:sp>
    </p:spTree>
    <p:extLst>
      <p:ext uri="{BB962C8B-B14F-4D97-AF65-F5344CB8AC3E}">
        <p14:creationId xmlns:p14="http://schemas.microsoft.com/office/powerpoint/2010/main" val="50536544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 name="background">
            <a:extLst xmlns:a="http://schemas.openxmlformats.org/drawingml/2006/main">
              <a:ext uri="{FF2B5EF4-FFF2-40B4-BE49-F238E27FC236}">
                <a16:creationId xmlns:a16="http://schemas.microsoft.com/office/drawing/2014/main" id="{C348688A-44C5-4479-ADC2-33F2791373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32AC8A3A-79EA-41C2-BB4F-41295CDFB284}"/>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D1ABF90-5811-4D47-AA3E-D522D219FC89}"/>
              </a:ext>
            </a:extLst>
          </p:cNvPr>
          <p:cNvSpPr>
            <a:spLocks xmlns:a="http://schemas.openxmlformats.org/drawingml/2006/main" noGrp="1"/>
          </p:cNvSpPr>
          <p:nvPr/>
        </p:nvSpPr>
        <p:spPr>
          <a:xfrm xmlns:a="http://schemas.openxmlformats.org/drawingml/2006/main">
            <a:off x="781050" y="400050"/>
            <a:ext cx="10458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1" i="0">
                <a:solidFill>
                  <a:srgbClr val="21295C"/>
                </a:solidFill>
                <a:latin typeface="Georgia"/>
                <a:ea typeface="Georgia"/>
                <a:cs typeface="Georgia"/>
              </a:defRPr>
            </a:pPr>
            <a:r>
              <a:rPr sz="2850" b="1" i="0">
                <a:solidFill>
                  <a:srgbClr val="21295C"/>
                </a:solidFill>
                <a:latin typeface="Georgia"/>
                <a:ea typeface="Georgia"/>
                <a:cs typeface="Georgia"/>
              </a:rPr>
              <a:t>Appendix B1 · Calling the TypeSafe System One API</a:t>
            </a:r>
          </a:p>
        </p:txBody>
      </p:sp>
      <p:sp>
        <p:nvSpPr>
          <p:cNvPr id="4" name="">
            <a:extLst xmlns:a="http://schemas.openxmlformats.org/drawingml/2006/main">
              <a:ext uri="{FF2B5EF4-FFF2-40B4-BE49-F238E27FC236}">
                <a16:creationId xmlns:a16="http://schemas.microsoft.com/office/drawing/2014/main" id="{FCA2AE1E-D853-4004-92E1-D2B906E9E74A}"/>
              </a:ext>
            </a:extLst>
          </p:cNvPr>
          <p:cNvSpPr>
            <a:spLocks xmlns:a="http://schemas.openxmlformats.org/drawingml/2006/main" noGrp="1"/>
          </p:cNvSpPr>
          <p:nvPr/>
        </p:nvSpPr>
        <p:spPr>
          <a:xfrm xmlns:a="http://schemas.openxmlformats.org/drawingml/2006/main">
            <a:off x="781050" y="962025"/>
            <a:ext cx="1045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i="1">
                <a:solidFill>
                  <a:srgbClr val="6B7A8C"/>
                </a:solidFill>
                <a:latin typeface="Calibri"/>
                <a:ea typeface="Calibri"/>
                <a:cs typeface="Calibri"/>
              </a:defRPr>
            </a:pPr>
            <a:r>
              <a:rPr sz="1275" b="0" i="1">
                <a:solidFill>
                  <a:srgbClr val="6B7A8C"/>
                </a:solidFill>
                <a:latin typeface="Calibri"/>
                <a:ea typeface="Calibri"/>
                <a:cs typeface="Calibri"/>
              </a:rPr>
              <a:t>One POST per benchmark case because each question has a different state</a:t>
            </a:r>
          </a:p>
        </p:txBody>
      </p:sp>
      <p:sp>
        <p:nvSpPr>
          <p:cNvPr id="5" name="">
            <a:extLst xmlns:a="http://schemas.openxmlformats.org/drawingml/2006/main">
              <a:ext uri="{FF2B5EF4-FFF2-40B4-BE49-F238E27FC236}">
                <a16:creationId xmlns:a16="http://schemas.microsoft.com/office/drawing/2014/main" id="{80E5FF4E-9A6C-40A5-AAC5-3905D3DDCAB5}"/>
              </a:ext>
            </a:extLst>
          </p:cNvPr>
          <p:cNvSpPr>
            <a:spLocks xmlns:a="http://schemas.openxmlformats.org/drawingml/2006/main" noGrp="1"/>
          </p:cNvSpPr>
          <p:nvPr/>
        </p:nvSpPr>
        <p:spPr>
          <a:xfrm xmlns:a="http://schemas.openxmlformats.org/drawingml/2006/main">
            <a:off x="781050" y="1495425"/>
            <a:ext cx="7067550" cy="4552950"/>
          </a:xfrm>
          <a:prstGeom xmlns:a="http://schemas.openxmlformats.org/drawingml/2006/main" prst="rect">
            <a:avLst/>
          </a:prstGeom>
          <a:solidFill xmlns:a="http://schemas.openxmlformats.org/drawingml/2006/main">
            <a:srgbClr val="1D26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7826BF-41F1-4B9E-913E-19B533D9BFB6}"/>
              </a:ext>
            </a:extLst>
          </p:cNvPr>
          <p:cNvSpPr>
            <a:spLocks xmlns:a="http://schemas.openxmlformats.org/drawingml/2006/main" noGrp="1"/>
          </p:cNvSpPr>
          <p:nvPr/>
        </p:nvSpPr>
        <p:spPr>
          <a:xfrm xmlns:a="http://schemas.openxmlformats.org/drawingml/2006/main">
            <a:off x="971550" y="1676400"/>
            <a:ext cx="6686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8FC7DC"/>
                </a:solidFill>
                <a:latin typeface="Calibri"/>
                <a:ea typeface="Calibri"/>
                <a:cs typeface="Calibri"/>
              </a:defRPr>
            </a:pPr>
            <a:r>
              <a:rPr sz="975" b="1" i="0">
                <a:solidFill>
                  <a:srgbClr val="8FC7DC"/>
                </a:solidFill>
                <a:latin typeface="Calibri"/>
                <a:ea typeface="Calibri"/>
                <a:cs typeface="Calibri"/>
              </a:rPr>
              <a:t>CURL + REQUEST BODY</a:t>
            </a:r>
          </a:p>
        </p:txBody>
      </p:sp>
      <p:sp>
        <p:nvSpPr>
          <p:cNvPr id="7" name="">
            <a:extLst xmlns:a="http://schemas.openxmlformats.org/drawingml/2006/main">
              <a:ext uri="{FF2B5EF4-FFF2-40B4-BE49-F238E27FC236}">
                <a16:creationId xmlns:a16="http://schemas.microsoft.com/office/drawing/2014/main" id="{3271A6D9-93EF-408E-A07E-3677E9BB2181}"/>
              </a:ext>
            </a:extLst>
          </p:cNvPr>
          <p:cNvSpPr>
            <a:spLocks xmlns:a="http://schemas.openxmlformats.org/drawingml/2006/main" noGrp="1"/>
          </p:cNvSpPr>
          <p:nvPr/>
        </p:nvSpPr>
        <p:spPr>
          <a:xfrm xmlns:a="http://schemas.openxmlformats.org/drawingml/2006/main">
            <a:off x="990600" y="2009775"/>
            <a:ext cx="6629400" cy="384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export TYPESAFE_API_KEY='…'</a:t>
            </a:r>
          </a:p>
          <a:p xmlns:a="http://schemas.openxmlformats.org/drawingml/2006/main">
            <a:r>
              <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curl -sS https://api.typesafe.ai/v1/systemone \</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-H "Authorization: Bearer $TYPESAFE_API_KEY" \</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-H "Content-Type: application/json" \</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--data-binary @request.json</a:t>
            </a:r>
          </a:p>
          <a:p xmlns:a="http://schemas.openxmlformats.org/drawingml/2006/main">
            <a:r>
              <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request.json</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"model": "jev-latest",</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"state": {"expression": "2 + 2"},</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"questions": {</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"arithmetic": {</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"type": "choice",</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"instructions": "What is the value of 2 + 2?",</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"criteria": {</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"seven": "The answer is seven.",</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"four": "The answer is four.",</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"twelve": "The answer is twelve."</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a:t>
            </a:r>
          </a:p>
          <a:p xmlns:a="http://schemas.openxmlformats.org/drawingml/2006/main">
            <a:pPr algn="l">
              <a:lnSpc>
                <a:spcPct val="93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a:t>
            </a:r>
          </a:p>
        </p:txBody>
      </p:sp>
      <p:sp>
        <p:nvSpPr>
          <p:cNvPr id="8" name="BENCHMARK INTEGRATION-panel">
            <a:extLst xmlns:a="http://schemas.openxmlformats.org/drawingml/2006/main">
              <a:ext uri="{FF2B5EF4-FFF2-40B4-BE49-F238E27FC236}">
                <a16:creationId xmlns:a16="http://schemas.microsoft.com/office/drawing/2014/main" id="{5BE9641E-67C2-4FD5-B5C9-5DB943CD67FD}"/>
              </a:ext>
            </a:extLst>
          </p:cNvPr>
          <p:cNvSpPr>
            <a:spLocks xmlns:a="http://schemas.openxmlformats.org/drawingml/2006/main" noGrp="1"/>
          </p:cNvSpPr>
          <p:nvPr/>
        </p:nvSpPr>
        <p:spPr>
          <a:xfrm xmlns:a="http://schemas.openxmlformats.org/drawingml/2006/main">
            <a:off x="8153400" y="1495425"/>
            <a:ext cx="3086100" cy="45529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6"/>
            </a:solidFill>
            <a:prstDash val="solid"/>
          </a:ln>
        </p:spPr>
      </p:sp>
      <p:sp>
        <p:nvSpPr>
          <p:cNvPr id="9" name="BENCHMARK INTEGRATION-header">
            <a:extLst xmlns:a="http://schemas.openxmlformats.org/drawingml/2006/main">
              <a:ext uri="{FF2B5EF4-FFF2-40B4-BE49-F238E27FC236}">
                <a16:creationId xmlns:a16="http://schemas.microsoft.com/office/drawing/2014/main" id="{2933506B-8620-4405-97C6-6242DE22115C}"/>
              </a:ext>
            </a:extLst>
          </p:cNvPr>
          <p:cNvSpPr>
            <a:spLocks xmlns:a="http://schemas.openxmlformats.org/drawingml/2006/main" noGrp="1"/>
          </p:cNvSpPr>
          <p:nvPr/>
        </p:nvSpPr>
        <p:spPr>
          <a:xfrm xmlns:a="http://schemas.openxmlformats.org/drawingml/2006/main">
            <a:off x="8153400" y="1495425"/>
            <a:ext cx="3086100" cy="361950"/>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226372D-2B92-4857-9373-A8B015C893F6}"/>
              </a:ext>
            </a:extLst>
          </p:cNvPr>
          <p:cNvSpPr>
            <a:spLocks xmlns:a="http://schemas.openxmlformats.org/drawingml/2006/main" noGrp="1"/>
          </p:cNvSpPr>
          <p:nvPr/>
        </p:nvSpPr>
        <p:spPr>
          <a:xfrm xmlns:a="http://schemas.openxmlformats.org/drawingml/2006/main">
            <a:off x="8305800" y="1571625"/>
            <a:ext cx="2781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BENCHMARK INTEGRATION</a:t>
            </a:r>
          </a:p>
        </p:txBody>
      </p:sp>
      <p:sp>
        <p:nvSpPr>
          <p:cNvPr id="11" name="">
            <a:extLst xmlns:a="http://schemas.openxmlformats.org/drawingml/2006/main">
              <a:ext uri="{FF2B5EF4-FFF2-40B4-BE49-F238E27FC236}">
                <a16:creationId xmlns:a16="http://schemas.microsoft.com/office/drawing/2014/main" id="{44EC6086-10CD-4C4C-B909-D46B47A941BD}"/>
              </a:ext>
            </a:extLst>
          </p:cNvPr>
          <p:cNvSpPr>
            <a:spLocks xmlns:a="http://schemas.openxmlformats.org/drawingml/2006/main" noGrp="1"/>
          </p:cNvSpPr>
          <p:nvPr/>
        </p:nvSpPr>
        <p:spPr>
          <a:xfrm xmlns:a="http://schemas.openxmlformats.org/drawingml/2006/main">
            <a:off x="8401050" y="2095500"/>
            <a:ext cx="2571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ENDPOINT</a:t>
            </a:r>
          </a:p>
        </p:txBody>
      </p:sp>
      <p:sp>
        <p:nvSpPr>
          <p:cNvPr id="12" name="">
            <a:extLst xmlns:a="http://schemas.openxmlformats.org/drawingml/2006/main">
              <a:ext uri="{FF2B5EF4-FFF2-40B4-BE49-F238E27FC236}">
                <a16:creationId xmlns:a16="http://schemas.microsoft.com/office/drawing/2014/main" id="{7332B338-4D9A-485C-8CE6-11BB1E5DFF74}"/>
              </a:ext>
            </a:extLst>
          </p:cNvPr>
          <p:cNvSpPr>
            <a:spLocks xmlns:a="http://schemas.openxmlformats.org/drawingml/2006/main" noGrp="1"/>
          </p:cNvSpPr>
          <p:nvPr/>
        </p:nvSpPr>
        <p:spPr>
          <a:xfrm xmlns:a="http://schemas.openxmlformats.org/drawingml/2006/main">
            <a:off x="8401050" y="2333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/v1/systemone</a:t>
            </a:r>
          </a:p>
        </p:txBody>
      </p:sp>
      <p:sp>
        <p:nvSpPr>
          <p:cNvPr id="13" name="">
            <a:extLst xmlns:a="http://schemas.openxmlformats.org/drawingml/2006/main">
              <a:ext uri="{FF2B5EF4-FFF2-40B4-BE49-F238E27FC236}">
                <a16:creationId xmlns:a16="http://schemas.microsoft.com/office/drawing/2014/main" id="{A4772B62-0E8F-4B6F-BD69-F9FBDE1432E3}"/>
              </a:ext>
            </a:extLst>
          </p:cNvPr>
          <p:cNvSpPr>
            <a:spLocks xmlns:a="http://schemas.openxmlformats.org/drawingml/2006/main" noGrp="1"/>
          </p:cNvSpPr>
          <p:nvPr/>
        </p:nvSpPr>
        <p:spPr>
          <a:xfrm xmlns:a="http://schemas.openxmlformats.org/drawingml/2006/main">
            <a:off x="8401050" y="2800350"/>
            <a:ext cx="2571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RESOLVED MODEL</a:t>
            </a:r>
          </a:p>
        </p:txBody>
      </p:sp>
      <p:sp>
        <p:nvSpPr>
          <p:cNvPr id="14" name="">
            <a:extLst xmlns:a="http://schemas.openxmlformats.org/drawingml/2006/main">
              <a:ext uri="{FF2B5EF4-FFF2-40B4-BE49-F238E27FC236}">
                <a16:creationId xmlns:a16="http://schemas.microsoft.com/office/drawing/2014/main" id="{6D2337C0-DC4C-4D78-86A5-4C1B5CFEB702}"/>
              </a:ext>
            </a:extLst>
          </p:cNvPr>
          <p:cNvSpPr>
            <a:spLocks xmlns:a="http://schemas.openxmlformats.org/drawingml/2006/main" noGrp="1"/>
          </p:cNvSpPr>
          <p:nvPr/>
        </p:nvSpPr>
        <p:spPr>
          <a:xfrm xmlns:a="http://schemas.openxmlformats.org/drawingml/2006/main">
            <a:off x="8401050" y="30384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jev-1.13.0</a:t>
            </a:r>
          </a:p>
        </p:txBody>
      </p:sp>
      <p:sp>
        <p:nvSpPr>
          <p:cNvPr id="15" name="">
            <a:extLst xmlns:a="http://schemas.openxmlformats.org/drawingml/2006/main">
              <a:ext uri="{FF2B5EF4-FFF2-40B4-BE49-F238E27FC236}">
                <a16:creationId xmlns:a16="http://schemas.microsoft.com/office/drawing/2014/main" id="{56A87491-BA6F-4C10-A12B-EDCE0A59E897}"/>
              </a:ext>
            </a:extLst>
          </p:cNvPr>
          <p:cNvSpPr>
            <a:spLocks xmlns:a="http://schemas.openxmlformats.org/drawingml/2006/main" noGrp="1"/>
          </p:cNvSpPr>
          <p:nvPr/>
        </p:nvSpPr>
        <p:spPr>
          <a:xfrm xmlns:a="http://schemas.openxmlformats.org/drawingml/2006/main">
            <a:off x="8401050" y="3505200"/>
            <a:ext cx="2571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 b="1" i="0">
                <a:solidFill>
                  <a:srgbClr val="6B7A8C"/>
                </a:solidFill>
                <a:latin typeface="Calibri"/>
                <a:ea typeface="Calibri"/>
                <a:cs typeface="Calibri"/>
              </a:defRPr>
            </a:pPr>
            <a:r>
              <a:rPr sz="825" b="1" i="0">
                <a:solidFill>
                  <a:srgbClr val="6B7A8C"/>
                </a:solidFill>
                <a:latin typeface="Calibri"/>
                <a:ea typeface="Calibri"/>
                <a:cs typeface="Calibri"/>
              </a:rPr>
              <a:t>QUESTION TYPE</a:t>
            </a:r>
          </a:p>
        </p:txBody>
      </p:sp>
      <p:sp>
        <p:nvSpPr>
          <p:cNvPr id="16" name="">
            <a:extLst xmlns:a="http://schemas.openxmlformats.org/drawingml/2006/main">
              <a:ext uri="{FF2B5EF4-FFF2-40B4-BE49-F238E27FC236}">
                <a16:creationId xmlns:a16="http://schemas.microsoft.com/office/drawing/2014/main" id="{46AAD8F9-A5AC-4A07-9D60-A20227369590}"/>
              </a:ext>
            </a:extLst>
          </p:cNvPr>
          <p:cNvSpPr>
            <a:spLocks xmlns:a="http://schemas.openxmlformats.org/drawingml/2006/main" noGrp="1"/>
          </p:cNvSpPr>
          <p:nvPr/>
        </p:nvSpPr>
        <p:spPr>
          <a:xfrm xmlns:a="http://schemas.openxmlformats.org/drawingml/2006/main">
            <a:off x="8401050" y="37433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i="0">
                <a:solidFill>
                  <a:srgbClr val="815AC0"/>
                </a:solidFill>
                <a:latin typeface="Calibri"/>
                <a:ea typeface="Calibri"/>
                <a:cs typeface="Calibri"/>
              </a:defRPr>
            </a:pPr>
            <a:r>
              <a:rPr sz="1425" b="1" i="0">
                <a:solidFill>
                  <a:srgbClr val="815AC0"/>
                </a:solidFill>
                <a:latin typeface="Calibri"/>
                <a:ea typeface="Calibri"/>
                <a:cs typeface="Calibri"/>
              </a:rPr>
              <a:t>choice</a:t>
            </a:r>
          </a:p>
        </p:txBody>
      </p:sp>
      <p:sp>
        <p:nvSpPr>
          <p:cNvPr id="17" name="">
            <a:extLst xmlns:a="http://schemas.openxmlformats.org/drawingml/2006/main">
              <a:ext uri="{FF2B5EF4-FFF2-40B4-BE49-F238E27FC236}">
                <a16:creationId xmlns:a16="http://schemas.microsoft.com/office/drawing/2014/main" id="{CF70F117-A423-4BC5-8D6F-DEB64D205AF4}"/>
              </a:ext>
            </a:extLst>
          </p:cNvPr>
          <p:cNvSpPr>
            <a:spLocks xmlns:a="http://schemas.openxmlformats.org/drawingml/2006/main" noGrp="1"/>
          </p:cNvSpPr>
          <p:nvPr/>
        </p:nvSpPr>
        <p:spPr>
          <a:xfrm xmlns:a="http://schemas.openxmlformats.org/drawingml/2006/main">
            <a:off x="8401050" y="4248150"/>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i="0">
                <a:solidFill>
                  <a:srgbClr val="1A1F2B"/>
                </a:solidFill>
                <a:latin typeface="Calibri"/>
                <a:ea typeface="Calibri"/>
                <a:cs typeface="Calibri"/>
              </a:defRPr>
            </a:pPr>
            <a:r>
              <a:rPr sz="1050" b="0" i="0">
                <a:solidFill>
                  <a:srgbClr val="1A1F2B"/>
                </a:solidFill>
                <a:latin typeface="Calibri"/>
                <a:ea typeface="Calibri"/>
                <a:cs typeface="Calibri"/>
              </a:rPr>
              <a:t>The option descriptions are sent as criteria, preserving the same semantic labels used by ModernBERT.</a:t>
            </a:r>
          </a:p>
        </p:txBody>
      </p:sp>
      <p:sp>
        <p:nvSpPr>
          <p:cNvPr id="18" name="">
            <a:extLst xmlns:a="http://schemas.openxmlformats.org/drawingml/2006/main">
              <a:ext uri="{FF2B5EF4-FFF2-40B4-BE49-F238E27FC236}">
                <a16:creationId xmlns:a16="http://schemas.microsoft.com/office/drawing/2014/main" id="{CD769593-3880-41E7-8426-CBDC961F23CE}"/>
              </a:ext>
            </a:extLst>
          </p:cNvPr>
          <p:cNvSpPr>
            <a:spLocks xmlns:a="http://schemas.openxmlformats.org/drawingml/2006/main" noGrp="1"/>
          </p:cNvSpPr>
          <p:nvPr/>
        </p:nvSpPr>
        <p:spPr>
          <a:xfrm xmlns:a="http://schemas.openxmlformats.org/drawingml/2006/main">
            <a:off x="8401050" y="5143500"/>
            <a:ext cx="2571750" cy="628650"/>
          </a:xfrm>
          <a:prstGeom xmlns:a="http://schemas.openxmlformats.org/drawingml/2006/main" prst="rect">
            <a:avLst/>
          </a:prstGeom>
          <a:solidFill xmlns:a="http://schemas.openxmlformats.org/drawingml/2006/main">
            <a:srgbClr val="F1ECFA"/>
          </a:solidFill>
          <a:ln xmlns:a="http://schemas.openxmlformats.org/drawingml/2006/main" w="9525">
            <a:solidFill>
              <a:srgbClr val="D8CBEF"/>
            </a:solidFill>
            <a:prstDash val="solid"/>
          </a:ln>
        </p:spPr>
      </p:sp>
      <p:sp>
        <p:nvSpPr>
          <p:cNvPr id="19" name="">
            <a:extLst xmlns:a="http://schemas.openxmlformats.org/drawingml/2006/main">
              <a:ext uri="{FF2B5EF4-FFF2-40B4-BE49-F238E27FC236}">
                <a16:creationId xmlns:a16="http://schemas.microsoft.com/office/drawing/2014/main" id="{12A7DF4C-34DF-4512-AFA8-72D0219B4885}"/>
              </a:ext>
            </a:extLst>
          </p:cNvPr>
          <p:cNvSpPr>
            <a:spLocks xmlns:a="http://schemas.openxmlformats.org/drawingml/2006/main" noGrp="1"/>
          </p:cNvSpPr>
          <p:nvPr/>
        </p:nvSpPr>
        <p:spPr>
          <a:xfrm xmlns:a="http://schemas.openxmlformats.org/drawingml/2006/main">
            <a:off x="8515350" y="52768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88" b="1" i="0">
                <a:solidFill>
                  <a:srgbClr val="815AC0"/>
                </a:solidFill>
                <a:latin typeface="Consolas"/>
                <a:ea typeface="Consolas"/>
                <a:cs typeface="Consolas"/>
              </a:defRPr>
            </a:pPr>
            <a:r>
              <a:rPr sz="788" b="1" i="0">
                <a:solidFill>
                  <a:srgbClr val="815AC0"/>
                </a:solidFill>
                <a:latin typeface="Consolas"/>
                <a:ea typeface="Consolas"/>
                <a:cs typeface="Consolas"/>
              </a:rPr>
              <a:t>python3 poc/typesafe_decision_poc.py</a:t>
            </a:r>
          </a:p>
          <a:p xmlns:a="http://schemas.openxmlformats.org/drawingml/2006/main">
            <a:pPr algn="l">
              <a:buNone/>
              <a:defRPr sz="788" b="1" i="0">
                <a:solidFill>
                  <a:srgbClr val="815AC0"/>
                </a:solidFill>
                <a:latin typeface="Consolas"/>
                <a:ea typeface="Consolas"/>
                <a:cs typeface="Consolas"/>
              </a:defRPr>
            </a:pPr>
            <a:r>
              <a:rPr sz="788" b="1" i="0">
                <a:solidFill>
                  <a:srgbClr val="815AC0"/>
                </a:solidFill>
                <a:latin typeface="Consolas"/>
                <a:ea typeface="Consolas"/>
                <a:cs typeface="Consolas"/>
              </a:rPr>
              <a:t>  --output … --raw-output …</a:t>
            </a:r>
          </a:p>
        </p:txBody>
      </p:sp>
      <p:sp>
        <p:nvSpPr>
          <p:cNvPr id="20" name="">
            <a:extLst xmlns:a="http://schemas.openxmlformats.org/drawingml/2006/main">
              <a:ext uri="{FF2B5EF4-FFF2-40B4-BE49-F238E27FC236}">
                <a16:creationId xmlns:a16="http://schemas.microsoft.com/office/drawing/2014/main" id="{967B7104-E42A-47F2-94E7-C0206D2AE927}"/>
              </a:ext>
            </a:extLst>
          </p:cNvPr>
          <p:cNvSpPr>
            <a:spLocks xmlns:a="http://schemas.openxmlformats.org/drawingml/2006/main" noGrp="1"/>
          </p:cNvSpPr>
          <p:nvPr/>
        </p:nvSpPr>
        <p:spPr>
          <a:xfrm xmlns:a="http://schemas.openxmlformats.org/drawingml/2006/main">
            <a:off x="781050" y="6286500"/>
            <a:ext cx="10458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13" b="0" i="1">
                <a:solidFill>
                  <a:srgbClr val="065A82"/>
                </a:solidFill>
                <a:latin typeface="Calibri"/>
                <a:ea typeface="Calibri"/>
                <a:cs typeface="Calibri"/>
              </a:defRPr>
            </a:pPr>
            <a:r>
              <a:rPr sz="1013" b="0" i="1">
                <a:solidFill>
                  <a:srgbClr val="065A82"/>
                </a:solidFill>
                <a:latin typeface="Calibri"/>
                <a:ea typeface="Calibri"/>
                <a:cs typeface="Calibri"/>
              </a:rPr>
              <a:t>Authorization header only—the saved audit file never contains the API key</a:t>
            </a:r>
          </a:p>
        </p:txBody>
      </p:sp>
    </p:spTree>
    <p:extLst>
      <p:ext uri="{BB962C8B-B14F-4D97-AF65-F5344CB8AC3E}">
        <p14:creationId xmlns:p14="http://schemas.microsoft.com/office/powerpoint/2010/main" val="142484383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3" name="background">
            <a:extLst xmlns:a="http://schemas.openxmlformats.org/drawingml/2006/main">
              <a:ext uri="{FF2B5EF4-FFF2-40B4-BE49-F238E27FC236}">
                <a16:creationId xmlns:a16="http://schemas.microsoft.com/office/drawing/2014/main" id="{7C429785-FCE3-42E0-A4C0-4C1DDE3BA5E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74545D07-D600-4CBF-90CC-0DC4C8EC551B}"/>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7DF9CA-7923-4A7E-BE28-4A6FBAC37ADA}"/>
              </a:ext>
            </a:extLst>
          </p:cNvPr>
          <p:cNvSpPr>
            <a:spLocks xmlns:a="http://schemas.openxmlformats.org/drawingml/2006/main" noGrp="1"/>
          </p:cNvSpPr>
          <p:nvPr/>
        </p:nvSpPr>
        <p:spPr>
          <a:xfrm xmlns:a="http://schemas.openxmlformats.org/drawingml/2006/main">
            <a:off x="781050" y="400050"/>
            <a:ext cx="10458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1" i="0">
                <a:solidFill>
                  <a:srgbClr val="21295C"/>
                </a:solidFill>
                <a:latin typeface="Georgia"/>
                <a:ea typeface="Georgia"/>
                <a:cs typeface="Georgia"/>
              </a:defRPr>
            </a:pPr>
            <a:r>
              <a:rPr sz="2850" b="1" i="0">
                <a:solidFill>
                  <a:srgbClr val="21295C"/>
                </a:solidFill>
                <a:latin typeface="Georgia"/>
                <a:ea typeface="Georgia"/>
                <a:cs typeface="Georgia"/>
              </a:rPr>
              <a:t>Appendix B2 · What the TypeSafe 1.0000 means</a:t>
            </a:r>
          </a:p>
        </p:txBody>
      </p:sp>
      <p:sp>
        <p:nvSpPr>
          <p:cNvPr id="4" name="">
            <a:extLst xmlns:a="http://schemas.openxmlformats.org/drawingml/2006/main">
              <a:ext uri="{FF2B5EF4-FFF2-40B4-BE49-F238E27FC236}">
                <a16:creationId xmlns:a16="http://schemas.microsoft.com/office/drawing/2014/main" id="{57822B70-26BE-4641-9547-2DE4D5EDE86E}"/>
              </a:ext>
            </a:extLst>
          </p:cNvPr>
          <p:cNvSpPr>
            <a:spLocks xmlns:a="http://schemas.openxmlformats.org/drawingml/2006/main" noGrp="1"/>
          </p:cNvSpPr>
          <p:nvPr/>
        </p:nvSpPr>
        <p:spPr>
          <a:xfrm xmlns:a="http://schemas.openxmlformats.org/drawingml/2006/main">
            <a:off x="781050" y="962025"/>
            <a:ext cx="1045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i="1">
                <a:solidFill>
                  <a:srgbClr val="6B7A8C"/>
                </a:solidFill>
                <a:latin typeface="Calibri"/>
                <a:ea typeface="Calibri"/>
                <a:cs typeface="Calibri"/>
              </a:defRPr>
            </a:pPr>
            <a:r>
              <a:rPr sz="1275" b="0" i="1">
                <a:solidFill>
                  <a:srgbClr val="6B7A8C"/>
                </a:solidFill>
                <a:latin typeface="Calibri"/>
                <a:ea typeface="Calibri"/>
                <a:cs typeface="Calibri"/>
              </a:rPr>
              <a:t>It was returned by the API—not created by local metric calculations</a:t>
            </a:r>
          </a:p>
        </p:txBody>
      </p:sp>
      <p:sp>
        <p:nvSpPr>
          <p:cNvPr id="5" name="">
            <a:extLst xmlns:a="http://schemas.openxmlformats.org/drawingml/2006/main">
              <a:ext uri="{FF2B5EF4-FFF2-40B4-BE49-F238E27FC236}">
                <a16:creationId xmlns:a16="http://schemas.microsoft.com/office/drawing/2014/main" id="{58FC83F1-9565-4FC5-8FCD-1D64E43077A3}"/>
              </a:ext>
            </a:extLst>
          </p:cNvPr>
          <p:cNvSpPr>
            <a:spLocks xmlns:a="http://schemas.openxmlformats.org/drawingml/2006/main" noGrp="1"/>
          </p:cNvSpPr>
          <p:nvPr/>
        </p:nvSpPr>
        <p:spPr>
          <a:xfrm xmlns:a="http://schemas.openxmlformats.org/drawingml/2006/main">
            <a:off x="781050" y="1495425"/>
            <a:ext cx="5257800" cy="4514850"/>
          </a:xfrm>
          <a:prstGeom xmlns:a="http://schemas.openxmlformats.org/drawingml/2006/main" prst="rect">
            <a:avLst/>
          </a:prstGeom>
          <a:solidFill xmlns:a="http://schemas.openxmlformats.org/drawingml/2006/main">
            <a:srgbClr val="1D26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C95CC2B-D5D0-436A-87AB-ECF95B55ADFA}"/>
              </a:ext>
            </a:extLst>
          </p:cNvPr>
          <p:cNvSpPr>
            <a:spLocks xmlns:a="http://schemas.openxmlformats.org/drawingml/2006/main" noGrp="1"/>
          </p:cNvSpPr>
          <p:nvPr/>
        </p:nvSpPr>
        <p:spPr>
          <a:xfrm xmlns:a="http://schemas.openxmlformats.org/drawingml/2006/main">
            <a:off x="971550" y="1676400"/>
            <a:ext cx="487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i="0">
                <a:solidFill>
                  <a:srgbClr val="8FC7DC"/>
                </a:solidFill>
                <a:latin typeface="Calibri"/>
                <a:ea typeface="Calibri"/>
                <a:cs typeface="Calibri"/>
              </a:defRPr>
            </a:pPr>
            <a:r>
              <a:rPr sz="975" b="1" i="0">
                <a:solidFill>
                  <a:srgbClr val="8FC7DC"/>
                </a:solidFill>
                <a:latin typeface="Calibri"/>
                <a:ea typeface="Calibri"/>
                <a:cs typeface="Calibri"/>
              </a:rPr>
              <a:t>EXACT RAW RESPONSE · arithmetic</a:t>
            </a:r>
          </a:p>
        </p:txBody>
      </p:sp>
      <p:sp>
        <p:nvSpPr>
          <p:cNvPr id="7" name="">
            <a:extLst xmlns:a="http://schemas.openxmlformats.org/drawingml/2006/main">
              <a:ext uri="{FF2B5EF4-FFF2-40B4-BE49-F238E27FC236}">
                <a16:creationId xmlns:a16="http://schemas.microsoft.com/office/drawing/2014/main" id="{87482B6A-B3F4-4AF9-9BBC-D59D8A1906E6}"/>
              </a:ext>
            </a:extLst>
          </p:cNvPr>
          <p:cNvSpPr>
            <a:spLocks xmlns:a="http://schemas.openxmlformats.org/drawingml/2006/main" noGrp="1"/>
          </p:cNvSpPr>
          <p:nvPr/>
        </p:nvSpPr>
        <p:spPr>
          <a:xfrm xmlns:a="http://schemas.openxmlformats.org/drawingml/2006/main">
            <a:off x="990600" y="2047875"/>
            <a:ext cx="4838700" cy="373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"model": "jev-1.13.0",</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"answers": {</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"arithmetic": {</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"type": "choice",</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"choice": "four",</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"confidence": 1,</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"probabilities": {</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"twelve": 0,</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"four": 1,</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"seven": 0</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"usage": {</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"input_tokens": 357,</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"output_tokens": 42</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  }</a:t>
            </a:r>
          </a:p>
          <a:p xmlns:a="http://schemas.openxmlformats.org/drawingml/2006/main">
            <a:pPr algn="l">
              <a:lnSpc>
                <a:spcPct val="95000"/>
              </a:lnSpc>
              <a:buNone/>
              <a:defRPr sz="863" b="0" i="0">
                <a:solidFill>
                  <a:srgbClr val="E8EDF3"/>
                </a:solidFill>
                <a:latin typeface="Consolas"/>
                <a:ea typeface="Consolas"/>
                <a:cs typeface="Consolas"/>
              </a:defRPr>
            </a:pPr>
            <a:r>
              <a:rPr sz="863" b="0" i="0">
                <a:solidFill>
                  <a:srgbClr val="E8EDF3"/>
                </a:solidFill>
                <a:latin typeface="Consolas"/>
                <a:ea typeface="Consolas"/>
                <a:cs typeface="Consolas"/>
              </a:rPr>
              <a:t>}</a:t>
            </a:r>
          </a:p>
        </p:txBody>
      </p:sp>
      <p:sp>
        <p:nvSpPr>
          <p:cNvPr id="8" name="">
            <a:extLst xmlns:a="http://schemas.openxmlformats.org/drawingml/2006/main">
              <a:ext uri="{FF2B5EF4-FFF2-40B4-BE49-F238E27FC236}">
                <a16:creationId xmlns:a16="http://schemas.microsoft.com/office/drawing/2014/main" id="{A1D9E752-C62D-4366-8047-4F5D61925E93}"/>
              </a:ext>
            </a:extLst>
          </p:cNvPr>
          <p:cNvSpPr>
            <a:spLocks xmlns:a="http://schemas.openxmlformats.org/drawingml/2006/main" noGrp="1"/>
          </p:cNvSpPr>
          <p:nvPr/>
        </p:nvSpPr>
        <p:spPr>
          <a:xfrm xmlns:a="http://schemas.openxmlformats.org/drawingml/2006/main">
            <a:off x="6362700" y="1495425"/>
            <a:ext cx="4876800" cy="1152525"/>
          </a:xfrm>
          <a:prstGeom xmlns:a="http://schemas.openxmlformats.org/drawingml/2006/main" prst="rect">
            <a:avLst/>
          </a:prstGeom>
          <a:solidFill xmlns:a="http://schemas.openxmlformats.org/drawingml/2006/main">
            <a:srgbClr val="F1ECFA"/>
          </a:solidFill>
          <a:ln xmlns:a="http://schemas.openxmlformats.org/drawingml/2006/main" w="9525">
            <a:solidFill>
              <a:srgbClr val="815AC0"/>
            </a:solidFill>
            <a:prstDash val="solid"/>
          </a:ln>
        </p:spPr>
      </p:sp>
      <p:sp>
        <p:nvSpPr>
          <p:cNvPr id="9" name="">
            <a:extLst xmlns:a="http://schemas.openxmlformats.org/drawingml/2006/main">
              <a:ext uri="{FF2B5EF4-FFF2-40B4-BE49-F238E27FC236}">
                <a16:creationId xmlns:a16="http://schemas.microsoft.com/office/drawing/2014/main" id="{E892B21B-A79A-4940-B4FA-1E0035BBC8DE}"/>
              </a:ext>
            </a:extLst>
          </p:cNvPr>
          <p:cNvSpPr>
            <a:spLocks xmlns:a="http://schemas.openxmlformats.org/drawingml/2006/main" noGrp="1"/>
          </p:cNvSpPr>
          <p:nvPr/>
        </p:nvSpPr>
        <p:spPr>
          <a:xfrm xmlns:a="http://schemas.openxmlformats.org/drawingml/2006/main">
            <a:off x="6362700" y="1495425"/>
            <a:ext cx="85725" cy="1152525"/>
          </a:xfrm>
          <a:prstGeom xmlns:a="http://schemas.openxmlformats.org/drawingml/2006/main" prst="rect">
            <a:avLst/>
          </a:prstGeom>
          <a:solidFill xmlns:a="http://schemas.openxmlformats.org/drawingml/2006/main">
            <a:srgbClr val="815AC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CB974E-43F3-4F6B-82DA-3283F1D2FB2A}"/>
              </a:ext>
            </a:extLst>
          </p:cNvPr>
          <p:cNvSpPr>
            <a:spLocks xmlns:a="http://schemas.openxmlformats.org/drawingml/2006/main" noGrp="1"/>
          </p:cNvSpPr>
          <p:nvPr/>
        </p:nvSpPr>
        <p:spPr>
          <a:xfrm xmlns:a="http://schemas.openxmlformats.org/drawingml/2006/main">
            <a:off x="6648450" y="1657350"/>
            <a:ext cx="43243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815AC0"/>
                </a:solidFill>
                <a:latin typeface="Calibri"/>
                <a:ea typeface="Calibri"/>
                <a:cs typeface="Calibri"/>
              </a:defRPr>
            </a:pPr>
            <a:r>
              <a:rPr sz="900" b="1" i="0">
                <a:solidFill>
                  <a:srgbClr val="815AC0"/>
                </a:solidFill>
                <a:latin typeface="Calibri"/>
                <a:ea typeface="Calibri"/>
                <a:cs typeface="Calibri"/>
              </a:rPr>
              <a:t>RETURNED BY TYPESAFE</a:t>
            </a:r>
          </a:p>
        </p:txBody>
      </p:sp>
      <p:sp>
        <p:nvSpPr>
          <p:cNvPr id="11" name="">
            <a:extLst xmlns:a="http://schemas.openxmlformats.org/drawingml/2006/main">
              <a:ext uri="{FF2B5EF4-FFF2-40B4-BE49-F238E27FC236}">
                <a16:creationId xmlns:a16="http://schemas.microsoft.com/office/drawing/2014/main" id="{A5D3E0EE-6CCE-431D-A608-C1538794CB15}"/>
              </a:ext>
            </a:extLst>
          </p:cNvPr>
          <p:cNvSpPr>
            <a:spLocks xmlns:a="http://schemas.openxmlformats.org/drawingml/2006/main" noGrp="1"/>
          </p:cNvSpPr>
          <p:nvPr/>
        </p:nvSpPr>
        <p:spPr>
          <a:xfrm xmlns:a="http://schemas.openxmlformats.org/drawingml/2006/main">
            <a:off x="6648450" y="1943100"/>
            <a:ext cx="432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88" b="0" i="0">
                <a:solidFill>
                  <a:srgbClr val="1A1F2B"/>
                </a:solidFill>
                <a:latin typeface="Calibri"/>
                <a:ea typeface="Calibri"/>
                <a:cs typeface="Calibri"/>
              </a:defRPr>
            </a:pPr>
            <a:r>
              <a:rPr sz="1088" b="0" i="0">
                <a:solidFill>
                  <a:srgbClr val="1A1F2B"/>
                </a:solidFill>
                <a:latin typeface="Calibri"/>
                <a:ea typeface="Calibri"/>
                <a:cs typeface="Calibri"/>
              </a:rPr>
              <a:t>probabilities: four = 1.0; alternatives = 0.0</a:t>
            </a:r>
          </a:p>
          <a:p xmlns:a="http://schemas.openxmlformats.org/drawingml/2006/main">
            <a:pPr algn="l">
              <a:buNone/>
              <a:defRPr sz="1088" b="0" i="0">
                <a:solidFill>
                  <a:srgbClr val="1A1F2B"/>
                </a:solidFill>
                <a:latin typeface="Calibri"/>
                <a:ea typeface="Calibri"/>
                <a:cs typeface="Calibri"/>
              </a:defRPr>
            </a:pPr>
            <a:r>
              <a:rPr sz="1088" b="0" i="0">
                <a:solidFill>
                  <a:srgbClr val="1A1F2B"/>
                </a:solidFill>
                <a:latin typeface="Calibri"/>
                <a:ea typeface="Calibri"/>
                <a:cs typeface="Calibri"/>
              </a:rPr>
              <a:t>confidence: 1.0</a:t>
            </a:r>
          </a:p>
        </p:txBody>
      </p:sp>
      <p:sp>
        <p:nvSpPr>
          <p:cNvPr id="12" name="">
            <a:extLst xmlns:a="http://schemas.openxmlformats.org/drawingml/2006/main">
              <a:ext uri="{FF2B5EF4-FFF2-40B4-BE49-F238E27FC236}">
                <a16:creationId xmlns:a16="http://schemas.microsoft.com/office/drawing/2014/main" id="{9FA9A0E8-BA9F-453E-A74F-3E449C84301F}"/>
              </a:ext>
            </a:extLst>
          </p:cNvPr>
          <p:cNvSpPr>
            <a:spLocks xmlns:a="http://schemas.openxmlformats.org/drawingml/2006/main" noGrp="1"/>
          </p:cNvSpPr>
          <p:nvPr/>
        </p:nvSpPr>
        <p:spPr>
          <a:xfrm xmlns:a="http://schemas.openxmlformats.org/drawingml/2006/main">
            <a:off x="6362700" y="2876550"/>
            <a:ext cx="4876800" cy="1152525"/>
          </a:xfrm>
          <a:prstGeom xmlns:a="http://schemas.openxmlformats.org/drawingml/2006/main" prst="rect">
            <a:avLst/>
          </a:prstGeom>
          <a:solidFill xmlns:a="http://schemas.openxmlformats.org/drawingml/2006/main">
            <a:srgbClr val="E9F2F6"/>
          </a:solidFill>
          <a:ln xmlns:a="http://schemas.openxmlformats.org/drawingml/2006/main" w="9525">
            <a:solidFill>
              <a:srgbClr val="065A82"/>
            </a:solidFill>
            <a:prstDash val="solid"/>
          </a:ln>
        </p:spPr>
      </p:sp>
      <p:sp>
        <p:nvSpPr>
          <p:cNvPr id="13" name="">
            <a:extLst xmlns:a="http://schemas.openxmlformats.org/drawingml/2006/main">
              <a:ext uri="{FF2B5EF4-FFF2-40B4-BE49-F238E27FC236}">
                <a16:creationId xmlns:a16="http://schemas.microsoft.com/office/drawing/2014/main" id="{BB80EF68-7015-4023-A851-1AC1F960F2D4}"/>
              </a:ext>
            </a:extLst>
          </p:cNvPr>
          <p:cNvSpPr>
            <a:spLocks xmlns:a="http://schemas.openxmlformats.org/drawingml/2006/main" noGrp="1"/>
          </p:cNvSpPr>
          <p:nvPr/>
        </p:nvSpPr>
        <p:spPr>
          <a:xfrm xmlns:a="http://schemas.openxmlformats.org/drawingml/2006/main">
            <a:off x="6362700" y="2876550"/>
            <a:ext cx="85725" cy="1152525"/>
          </a:xfrm>
          <a:prstGeom xmlns:a="http://schemas.openxmlformats.org/drawingml/2006/main" prst="rect">
            <a:avLst/>
          </a:prstGeom>
          <a:solidFill xmlns:a="http://schemas.openxmlformats.org/drawingml/2006/main">
            <a:srgbClr val="065A8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C26F958-572C-4F6A-89EE-8231FBF239D1}"/>
              </a:ext>
            </a:extLst>
          </p:cNvPr>
          <p:cNvSpPr>
            <a:spLocks xmlns:a="http://schemas.openxmlformats.org/drawingml/2006/main" noGrp="1"/>
          </p:cNvSpPr>
          <p:nvPr/>
        </p:nvSpPr>
        <p:spPr>
          <a:xfrm xmlns:a="http://schemas.openxmlformats.org/drawingml/2006/main">
            <a:off x="6648450" y="3038475"/>
            <a:ext cx="43243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065A82"/>
                </a:solidFill>
                <a:latin typeface="Calibri"/>
                <a:ea typeface="Calibri"/>
                <a:cs typeface="Calibri"/>
              </a:defRPr>
            </a:pPr>
            <a:r>
              <a:rPr sz="900" b="1" i="0">
                <a:solidFill>
                  <a:srgbClr val="065A82"/>
                </a:solidFill>
                <a:latin typeface="Calibri"/>
                <a:ea typeface="Calibri"/>
                <a:cs typeface="Calibri"/>
              </a:rPr>
              <a:t>COMPUTED LOCALLY</a:t>
            </a:r>
          </a:p>
        </p:txBody>
      </p:sp>
      <p:sp>
        <p:nvSpPr>
          <p:cNvPr id="15" name="">
            <a:extLst xmlns:a="http://schemas.openxmlformats.org/drawingml/2006/main">
              <a:ext uri="{FF2B5EF4-FFF2-40B4-BE49-F238E27FC236}">
                <a16:creationId xmlns:a16="http://schemas.microsoft.com/office/drawing/2014/main" id="{07DC98AC-15F3-4FAE-BDE5-330C101FC3DF}"/>
              </a:ext>
            </a:extLst>
          </p:cNvPr>
          <p:cNvSpPr>
            <a:spLocks xmlns:a="http://schemas.openxmlformats.org/drawingml/2006/main" noGrp="1"/>
          </p:cNvSpPr>
          <p:nvPr/>
        </p:nvSpPr>
        <p:spPr>
          <a:xfrm xmlns:a="http://schemas.openxmlformats.org/drawingml/2006/main">
            <a:off x="6648450" y="3324225"/>
            <a:ext cx="432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88" b="0" i="0">
                <a:solidFill>
                  <a:srgbClr val="1A1F2B"/>
                </a:solidFill>
                <a:latin typeface="Calibri"/>
                <a:ea typeface="Calibri"/>
                <a:cs typeface="Calibri"/>
              </a:defRPr>
            </a:pPr>
            <a:r>
              <a:rPr sz="1088" b="0" i="0">
                <a:solidFill>
                  <a:srgbClr val="1A1F2B"/>
                </a:solidFill>
                <a:latin typeface="Calibri"/>
                <a:ea typeface="Calibri"/>
                <a:cs typeface="Calibri"/>
              </a:rPr>
              <a:t>margin = P(chosen) − P(next best) = 1.0</a:t>
            </a:r>
          </a:p>
          <a:p xmlns:a="http://schemas.openxmlformats.org/drawingml/2006/main">
            <a:pPr algn="l">
              <a:buNone/>
              <a:defRPr sz="1088" b="0" i="0">
                <a:solidFill>
                  <a:srgbClr val="1A1F2B"/>
                </a:solidFill>
                <a:latin typeface="Calibri"/>
                <a:ea typeface="Calibri"/>
                <a:cs typeface="Calibri"/>
              </a:defRPr>
            </a:pPr>
            <a:r>
              <a:rPr sz="1088" b="0" i="0">
                <a:solidFill>
                  <a:srgbClr val="1A1F2B"/>
                </a:solidFill>
                <a:latin typeface="Calibri"/>
                <a:ea typeface="Calibri"/>
                <a:cs typeface="Calibri"/>
              </a:rPr>
              <a:t>clearance = P(chosen) − P(correct) = 0.0</a:t>
            </a:r>
          </a:p>
        </p:txBody>
      </p:sp>
      <p:sp>
        <p:nvSpPr>
          <p:cNvPr id="16" name="">
            <a:extLst xmlns:a="http://schemas.openxmlformats.org/drawingml/2006/main">
              <a:ext uri="{FF2B5EF4-FFF2-40B4-BE49-F238E27FC236}">
                <a16:creationId xmlns:a16="http://schemas.microsoft.com/office/drawing/2014/main" id="{87E8AD3A-FC39-420A-9192-C0F91783A947}"/>
              </a:ext>
            </a:extLst>
          </p:cNvPr>
          <p:cNvSpPr>
            <a:spLocks xmlns:a="http://schemas.openxmlformats.org/drawingml/2006/main" noGrp="1"/>
          </p:cNvSpPr>
          <p:nvPr/>
        </p:nvSpPr>
        <p:spPr>
          <a:xfrm xmlns:a="http://schemas.openxmlformats.org/drawingml/2006/main">
            <a:off x="6362700" y="4257675"/>
            <a:ext cx="4876800" cy="1152525"/>
          </a:xfrm>
          <a:prstGeom xmlns:a="http://schemas.openxmlformats.org/drawingml/2006/main" prst="rect">
            <a:avLst/>
          </a:prstGeom>
          <a:solidFill xmlns:a="http://schemas.openxmlformats.org/drawingml/2006/main">
            <a:srgbClr val="FFF3DF"/>
          </a:solidFill>
          <a:ln xmlns:a="http://schemas.openxmlformats.org/drawingml/2006/main" w="9525">
            <a:solidFill>
              <a:srgbClr val="B86E00"/>
            </a:solidFill>
            <a:prstDash val="solid"/>
          </a:ln>
        </p:spPr>
      </p:sp>
      <p:sp>
        <p:nvSpPr>
          <p:cNvPr id="17" name="">
            <a:extLst xmlns:a="http://schemas.openxmlformats.org/drawingml/2006/main">
              <a:ext uri="{FF2B5EF4-FFF2-40B4-BE49-F238E27FC236}">
                <a16:creationId xmlns:a16="http://schemas.microsoft.com/office/drawing/2014/main" id="{EFD54538-AB38-4CFA-BF50-7D4EC901BD9B}"/>
              </a:ext>
            </a:extLst>
          </p:cNvPr>
          <p:cNvSpPr>
            <a:spLocks xmlns:a="http://schemas.openxmlformats.org/drawingml/2006/main" noGrp="1"/>
          </p:cNvSpPr>
          <p:nvPr/>
        </p:nvSpPr>
        <p:spPr>
          <a:xfrm xmlns:a="http://schemas.openxmlformats.org/drawingml/2006/main">
            <a:off x="6362700" y="4257675"/>
            <a:ext cx="85725" cy="1152525"/>
          </a:xfrm>
          <a:prstGeom xmlns:a="http://schemas.openxmlformats.org/drawingml/2006/main" prst="rect">
            <a:avLst/>
          </a:prstGeom>
          <a:solidFill xmlns:a="http://schemas.openxmlformats.org/drawingml/2006/main">
            <a:srgbClr val="B86E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F084E91-3290-4E5A-83F2-C3AB2CBBD7D2}"/>
              </a:ext>
            </a:extLst>
          </p:cNvPr>
          <p:cNvSpPr>
            <a:spLocks xmlns:a="http://schemas.openxmlformats.org/drawingml/2006/main" noGrp="1"/>
          </p:cNvSpPr>
          <p:nvPr/>
        </p:nvSpPr>
        <p:spPr>
          <a:xfrm xmlns:a="http://schemas.openxmlformats.org/drawingml/2006/main">
            <a:off x="6648450" y="4419600"/>
            <a:ext cx="43243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i="0">
                <a:solidFill>
                  <a:srgbClr val="B86E00"/>
                </a:solidFill>
                <a:latin typeface="Calibri"/>
                <a:ea typeface="Calibri"/>
                <a:cs typeface="Calibri"/>
              </a:defRPr>
            </a:pPr>
            <a:r>
              <a:rPr sz="900" b="1" i="0">
                <a:solidFill>
                  <a:srgbClr val="B86E00"/>
                </a:solidFill>
                <a:latin typeface="Calibri"/>
                <a:ea typeface="Calibri"/>
                <a:cs typeface="Calibri"/>
              </a:rPr>
              <a:t>DOCUMENTATION BOUNDARY</a:t>
            </a:r>
          </a:p>
        </p:txBody>
      </p:sp>
      <p:sp>
        <p:nvSpPr>
          <p:cNvPr id="19" name="">
            <a:extLst xmlns:a="http://schemas.openxmlformats.org/drawingml/2006/main">
              <a:ext uri="{FF2B5EF4-FFF2-40B4-BE49-F238E27FC236}">
                <a16:creationId xmlns:a16="http://schemas.microsoft.com/office/drawing/2014/main" id="{4F29273C-F4DD-424D-8593-36C04F440EE9}"/>
              </a:ext>
            </a:extLst>
          </p:cNvPr>
          <p:cNvSpPr>
            <a:spLocks xmlns:a="http://schemas.openxmlformats.org/drawingml/2006/main" noGrp="1"/>
          </p:cNvSpPr>
          <p:nvPr/>
        </p:nvSpPr>
        <p:spPr>
          <a:xfrm xmlns:a="http://schemas.openxmlformats.org/drawingml/2006/main">
            <a:off x="6648450" y="4705350"/>
            <a:ext cx="432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88" b="0" i="0">
                <a:solidFill>
                  <a:srgbClr val="1A1F2B"/>
                </a:solidFill>
                <a:latin typeface="Calibri"/>
                <a:ea typeface="Calibri"/>
                <a:cs typeface="Calibri"/>
              </a:defRPr>
            </a:pPr>
            <a:r>
              <a:rPr sz="1088" b="0" i="0">
                <a:solidFill>
                  <a:srgbClr val="1A1F2B"/>
                </a:solidFill>
                <a:latin typeface="Calibri"/>
                <a:ea typeface="Calibri"/>
                <a:cs typeface="Calibri"/>
              </a:rPr>
              <a:t>The API documents probabilities and a distribution-derived confidence. It does not return a margin field or specify internal clipping / numeric precision.</a:t>
            </a:r>
          </a:p>
        </p:txBody>
      </p:sp>
      <p:sp>
        <p:nvSpPr>
          <p:cNvPr id="20" name="">
            <a:extLst xmlns:a="http://schemas.openxmlformats.org/drawingml/2006/main">
              <a:ext uri="{FF2B5EF4-FFF2-40B4-BE49-F238E27FC236}">
                <a16:creationId xmlns:a16="http://schemas.microsoft.com/office/drawing/2014/main" id="{59FB6020-635C-4AAF-9DCB-A0C6A0086244}"/>
              </a:ext>
            </a:extLst>
          </p:cNvPr>
          <p:cNvSpPr>
            <a:spLocks xmlns:a="http://schemas.openxmlformats.org/drawingml/2006/main" noGrp="1"/>
          </p:cNvSpPr>
          <p:nvPr/>
        </p:nvSpPr>
        <p:spPr>
          <a:xfrm xmlns:a="http://schemas.openxmlformats.org/drawingml/2006/main">
            <a:off x="6362700" y="5638800"/>
            <a:ext cx="4876800" cy="371475"/>
          </a:xfrm>
          <a:prstGeom xmlns:a="http://schemas.openxmlformats.org/drawingml/2006/main" prst="rect">
            <a:avLst/>
          </a:prstGeom>
          <a:solidFill xmlns:a="http://schemas.openxmlformats.org/drawingml/2006/main">
            <a:srgbClr val="21295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F9744C9-4785-4B33-BB37-A70A598C444D}"/>
              </a:ext>
            </a:extLst>
          </p:cNvPr>
          <p:cNvSpPr>
            <a:spLocks xmlns:a="http://schemas.openxmlformats.org/drawingml/2006/main" noGrp="1"/>
          </p:cNvSpPr>
          <p:nvPr/>
        </p:nvSpPr>
        <p:spPr>
          <a:xfrm xmlns:a="http://schemas.openxmlformats.org/drawingml/2006/main">
            <a:off x="6515100" y="5734050"/>
            <a:ext cx="4572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38" b="1" i="0">
                <a:solidFill>
                  <a:srgbClr val="FFFFFF"/>
                </a:solidFill>
                <a:latin typeface="Calibri"/>
                <a:ea typeface="Calibri"/>
                <a:cs typeface="Calibri"/>
              </a:defRPr>
            </a:pPr>
            <a:r>
              <a:rPr sz="938" b="1" i="0">
                <a:solidFill>
                  <a:srgbClr val="FFFFFF"/>
                </a:solidFill>
                <a:latin typeface="Calibri"/>
                <a:ea typeface="Calibri"/>
                <a:cs typeface="Calibri"/>
              </a:rPr>
              <a:t>AUDIT: 12/12 exact one-hot responses; no client rounding or thresholding</a:t>
            </a:r>
          </a:p>
        </p:txBody>
      </p:sp>
      <p:sp>
        <p:nvSpPr>
          <p:cNvPr id="22" name="">
            <a:extLst xmlns:a="http://schemas.openxmlformats.org/drawingml/2006/main">
              <a:ext uri="{FF2B5EF4-FFF2-40B4-BE49-F238E27FC236}">
                <a16:creationId xmlns:a16="http://schemas.microsoft.com/office/drawing/2014/main" id="{9C1737C8-3B01-49F9-A6A9-DBE401B9FC75}"/>
              </a:ext>
            </a:extLst>
          </p:cNvPr>
          <p:cNvSpPr>
            <a:spLocks xmlns:a="http://schemas.openxmlformats.org/drawingml/2006/main" noGrp="1"/>
          </p:cNvSpPr>
          <p:nvPr/>
        </p:nvSpPr>
        <p:spPr>
          <a:xfrm xmlns:a="http://schemas.openxmlformats.org/drawingml/2006/main">
            <a:off x="781050" y="6286500"/>
            <a:ext cx="10458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13" b="1" i="1">
                <a:solidFill>
                  <a:srgbClr val="065A82"/>
                </a:solidFill>
                <a:latin typeface="Calibri"/>
                <a:ea typeface="Calibri"/>
                <a:cs typeface="Calibri"/>
              </a:defRPr>
            </a:pPr>
            <a:r>
              <a:rPr sz="1013" b="1" i="1">
                <a:solidFill>
                  <a:srgbClr val="065A82"/>
                </a:solidFill>
                <a:latin typeface="Calibri"/>
                <a:ea typeface="Calibri"/>
                <a:cs typeface="Calibri"/>
              </a:rPr>
              <a:t>Conclusion: report the literal API response, but do not treat this easy, saturated set as evidence of real-world calibration</a:t>
            </a:r>
          </a:p>
        </p:txBody>
      </p:sp>
    </p:spTree>
    <p:extLst>
      <p:ext uri="{BB962C8B-B14F-4D97-AF65-F5344CB8AC3E}">
        <p14:creationId xmlns:p14="http://schemas.microsoft.com/office/powerpoint/2010/main" val="178914364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2" name="background">
            <a:extLst xmlns:a="http://schemas.openxmlformats.org/drawingml/2006/main">
              <a:ext uri="{FF2B5EF4-FFF2-40B4-BE49-F238E27FC236}">
                <a16:creationId xmlns:a16="http://schemas.microsoft.com/office/drawing/2014/main" id="{3F7F30BE-CE67-464E-ACD7-FD66E141C6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C514FC0D-FFF5-4749-A92C-6E3B313BB22F}"/>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B1FC9C-D819-4F43-93D8-4875BFD6ACE2}"/>
              </a:ext>
            </a:extLst>
          </p:cNvPr>
          <p:cNvSpPr>
            <a:spLocks xmlns:a="http://schemas.openxmlformats.org/drawingml/2006/main" noGrp="1"/>
          </p:cNvSpPr>
          <p:nvPr/>
        </p:nvSpPr>
        <p:spPr>
          <a:xfrm xmlns:a="http://schemas.openxmlformats.org/drawingml/2006/main">
            <a:off x="781050" y="400050"/>
            <a:ext cx="1045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21295C"/>
                </a:solidFill>
                <a:latin typeface="Georgia"/>
                <a:ea typeface="Georgia"/>
                <a:cs typeface="Georgia"/>
              </a:defRPr>
            </a:pPr>
            <a:r>
              <a:rPr sz="2850" b="1" i="0">
                <a:solidFill>
                  <a:srgbClr val="21295C"/>
                </a:solidFill>
                <a:latin typeface="Georgia"/>
                <a:ea typeface="Georgia"/>
                <a:cs typeface="Georgia"/>
              </a:rPr>
              <a:t>Appendix C · Calling both classifiers</a:t>
            </a:r>
          </a:p>
        </p:txBody>
      </p:sp>
      <p:sp>
        <p:nvSpPr>
          <p:cNvPr id="4" name="">
            <a:extLst xmlns:a="http://schemas.openxmlformats.org/drawingml/2006/main">
              <a:ext uri="{FF2B5EF4-FFF2-40B4-BE49-F238E27FC236}">
                <a16:creationId xmlns:a16="http://schemas.microsoft.com/office/drawing/2014/main" id="{4696F3B9-E41A-4923-A135-439CFB1B3876}"/>
              </a:ext>
            </a:extLst>
          </p:cNvPr>
          <p:cNvSpPr>
            <a:spLocks xmlns:a="http://schemas.openxmlformats.org/drawingml/2006/main" noGrp="1"/>
          </p:cNvSpPr>
          <p:nvPr/>
        </p:nvSpPr>
        <p:spPr>
          <a:xfrm xmlns:a="http://schemas.openxmlformats.org/drawingml/2006/main">
            <a:off x="781050" y="933450"/>
            <a:ext cx="10458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1">
                <a:solidFill>
                  <a:srgbClr val="6B7A8C"/>
                </a:solidFill>
                <a:latin typeface="Calibri"/>
                <a:ea typeface="Calibri"/>
                <a:cs typeface="Calibri"/>
              </a:defRPr>
            </a:pPr>
            <a:r>
              <a:rPr sz="1275" b="0" i="1">
                <a:solidFill>
                  <a:srgbClr val="6B7A8C"/>
                </a:solidFill>
                <a:latin typeface="Calibri"/>
                <a:ea typeface="Calibri"/>
                <a:cs typeface="Calibri"/>
              </a:rPr>
              <a:t>Python entry points for the simple classification and tool calling tests</a:t>
            </a:r>
          </a:p>
        </p:txBody>
      </p:sp>
      <p:sp>
        <p:nvSpPr>
          <p:cNvPr id="5" name="">
            <a:extLst xmlns:a="http://schemas.openxmlformats.org/drawingml/2006/main">
              <a:ext uri="{FF2B5EF4-FFF2-40B4-BE49-F238E27FC236}">
                <a16:creationId xmlns:a16="http://schemas.microsoft.com/office/drawing/2014/main" id="{E1B91438-BF14-4BD9-9D52-3134BAB5BD24}"/>
              </a:ext>
            </a:extLst>
          </p:cNvPr>
          <p:cNvSpPr>
            <a:spLocks xmlns:a="http://schemas.openxmlformats.org/drawingml/2006/main" noGrp="1"/>
          </p:cNvSpPr>
          <p:nvPr/>
        </p:nvSpPr>
        <p:spPr>
          <a:xfrm xmlns:a="http://schemas.openxmlformats.org/drawingml/2006/main">
            <a:off x="781050" y="1428750"/>
            <a:ext cx="5048250" cy="4591050"/>
          </a:xfrm>
          <a:prstGeom xmlns:a="http://schemas.openxmlformats.org/drawingml/2006/main" prst="rect">
            <a:avLst/>
          </a:prstGeom>
          <a:solidFill xmlns:a="http://schemas.openxmlformats.org/drawingml/2006/main">
            <a:srgbClr val="1D26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8942B9-822D-4BFC-8B8A-92C74F67EA7B}"/>
              </a:ext>
            </a:extLst>
          </p:cNvPr>
          <p:cNvSpPr>
            <a:spLocks xmlns:a="http://schemas.openxmlformats.org/drawingml/2006/main" noGrp="1"/>
          </p:cNvSpPr>
          <p:nvPr/>
        </p:nvSpPr>
        <p:spPr>
          <a:xfrm xmlns:a="http://schemas.openxmlformats.org/drawingml/2006/main">
            <a:off x="990600" y="1628775"/>
            <a:ext cx="462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i="0">
                <a:solidFill>
                  <a:srgbClr val="8FC7DC"/>
                </a:solidFill>
                <a:latin typeface="Calibri"/>
                <a:ea typeface="Calibri"/>
                <a:cs typeface="Calibri"/>
              </a:defRPr>
            </a:pPr>
            <a:r>
              <a:rPr sz="975" b="1" i="0">
                <a:solidFill>
                  <a:srgbClr val="8FC7DC"/>
                </a:solidFill>
                <a:latin typeface="Calibri"/>
                <a:ea typeface="Calibri"/>
                <a:cs typeface="Calibri"/>
              </a:rPr>
              <a:t>MODERNBERT · LOCAL</a:t>
            </a:r>
          </a:p>
        </p:txBody>
      </p:sp>
      <p:sp>
        <p:nvSpPr>
          <p:cNvPr id="7" name="">
            <a:extLst xmlns:a="http://schemas.openxmlformats.org/drawingml/2006/main">
              <a:ext uri="{FF2B5EF4-FFF2-40B4-BE49-F238E27FC236}">
                <a16:creationId xmlns:a16="http://schemas.microsoft.com/office/drawing/2014/main" id="{5F7F9610-8C29-4817-BC40-5A533F062DFE}"/>
              </a:ext>
            </a:extLst>
          </p:cNvPr>
          <p:cNvSpPr>
            <a:spLocks xmlns:a="http://schemas.openxmlformats.org/drawingml/2006/main" noGrp="1"/>
          </p:cNvSpPr>
          <p:nvPr/>
        </p:nvSpPr>
        <p:spPr>
          <a:xfrm xmlns:a="http://schemas.openxmlformats.org/drawingml/2006/main">
            <a:off x="990600" y="2009775"/>
            <a:ext cx="462915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from zero_shot_decision_poc import (</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    TransformersNliScorer, evaluate, parse_request</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scorer = TransformersNliScorer(MODEL_PATH)</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result = evaluate(parse_request(payload), scorer)</a:t>
            </a:r>
          </a:p>
          <a:p xmlns:a="http://schemas.openxmlformats.org/drawingml/2006/main">
            <a:r>
              <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 Simple multiple-choice smoke test</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python poc/obvious_answers_benchmark.py \</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  --model models/modernbert-zeroshot --json</a:t>
            </a:r>
          </a:p>
          <a:p xmlns:a="http://schemas.openxmlformats.org/drawingml/2006/main">
            <a:r>
              <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 Tool calling routing test</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python poc/bfcl_routing_benchmark.py \</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  --backend modernbert \</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  --dataset data/bfcl-routing-subset.json \</a:t>
            </a:r>
          </a:p>
          <a:p xmlns:a="http://schemas.openxmlformats.org/drawingml/2006/main">
            <a:pPr algn="l">
              <a:lnSpc>
                <a:spcPct val="96000"/>
              </a:lnSpc>
              <a:buNone/>
              <a:defRPr sz="840" b="0" i="0">
                <a:solidFill>
                  <a:srgbClr val="E8EDF3"/>
                </a:solidFill>
                <a:latin typeface="Consolas"/>
                <a:ea typeface="Consolas"/>
                <a:cs typeface="Consolas"/>
              </a:defRPr>
            </a:pPr>
            <a:r>
              <a:rPr sz="840" b="0" i="0">
                <a:solidFill>
                  <a:srgbClr val="E8EDF3"/>
                </a:solidFill>
                <a:latin typeface="Consolas"/>
                <a:ea typeface="Consolas"/>
                <a:cs typeface="Consolas"/>
              </a:rPr>
              <a:t>  --model models/modernbert-zeroshot --output out.json</a:t>
            </a:r>
          </a:p>
        </p:txBody>
      </p:sp>
      <p:sp>
        <p:nvSpPr>
          <p:cNvPr id="8" name="">
            <a:extLst xmlns:a="http://schemas.openxmlformats.org/drawingml/2006/main">
              <a:ext uri="{FF2B5EF4-FFF2-40B4-BE49-F238E27FC236}">
                <a16:creationId xmlns:a16="http://schemas.microsoft.com/office/drawing/2014/main" id="{A8D5D518-402F-478D-90C0-9137A33E8C76}"/>
              </a:ext>
            </a:extLst>
          </p:cNvPr>
          <p:cNvSpPr>
            <a:spLocks xmlns:a="http://schemas.openxmlformats.org/drawingml/2006/main" noGrp="1"/>
          </p:cNvSpPr>
          <p:nvPr/>
        </p:nvSpPr>
        <p:spPr>
          <a:xfrm xmlns:a="http://schemas.openxmlformats.org/drawingml/2006/main">
            <a:off x="6191250" y="1428750"/>
            <a:ext cx="5048250" cy="4591050"/>
          </a:xfrm>
          <a:prstGeom xmlns:a="http://schemas.openxmlformats.org/drawingml/2006/main" prst="rect">
            <a:avLst/>
          </a:prstGeom>
          <a:solidFill xmlns:a="http://schemas.openxmlformats.org/drawingml/2006/main">
            <a:srgbClr val="241E3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945E40A-B9C8-4C1B-B1C8-DB94826D54EB}"/>
              </a:ext>
            </a:extLst>
          </p:cNvPr>
          <p:cNvSpPr>
            <a:spLocks xmlns:a="http://schemas.openxmlformats.org/drawingml/2006/main" noGrp="1"/>
          </p:cNvSpPr>
          <p:nvPr/>
        </p:nvSpPr>
        <p:spPr>
          <a:xfrm xmlns:a="http://schemas.openxmlformats.org/drawingml/2006/main">
            <a:off x="6400800" y="1628775"/>
            <a:ext cx="462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i="0">
                <a:solidFill>
                  <a:srgbClr val="D8CBEF"/>
                </a:solidFill>
                <a:latin typeface="Calibri"/>
                <a:ea typeface="Calibri"/>
                <a:cs typeface="Calibri"/>
              </a:defRPr>
            </a:pPr>
            <a:r>
              <a:rPr sz="975" b="1" i="0">
                <a:solidFill>
                  <a:srgbClr val="D8CBEF"/>
                </a:solidFill>
                <a:latin typeface="Calibri"/>
                <a:ea typeface="Calibri"/>
                <a:cs typeface="Calibri"/>
              </a:rPr>
              <a:t>TYPESAFE.AI "SYSTEM1" · HOSTED</a:t>
            </a:r>
          </a:p>
        </p:txBody>
      </p:sp>
      <p:sp>
        <p:nvSpPr>
          <p:cNvPr id="10" name="">
            <a:extLst xmlns:a="http://schemas.openxmlformats.org/drawingml/2006/main">
              <a:ext uri="{FF2B5EF4-FFF2-40B4-BE49-F238E27FC236}">
                <a16:creationId xmlns:a16="http://schemas.microsoft.com/office/drawing/2014/main" id="{F5D7B904-BFB6-46F8-9808-3A7B9D299719}"/>
              </a:ext>
            </a:extLst>
          </p:cNvPr>
          <p:cNvSpPr>
            <a:spLocks xmlns:a="http://schemas.openxmlformats.org/drawingml/2006/main" noGrp="1"/>
          </p:cNvSpPr>
          <p:nvPr/>
        </p:nvSpPr>
        <p:spPr>
          <a:xfrm xmlns:a="http://schemas.openxmlformats.org/drawingml/2006/main">
            <a:off x="6400800" y="2009775"/>
            <a:ext cx="462915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POST https://api.typesafe.ai/v1/systemone</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Authorization: Bearer $TYPESAFE_API_KEY</a:t>
            </a:r>
          </a:p>
          <a:p xmlns:a="http://schemas.openxmlformats.org/drawingml/2006/main">
            <a:r>
              <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  "model": "jev-latest",</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  "state": { ... },</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  "questions": {</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    "route": {</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      "type": "choice",</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      "instructions": "Which tool should handle this?",</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      "criteria": { "tool_1": "...", "no_tool": "..." }</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    }</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  }</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a:t>
            </a:r>
          </a:p>
          <a:p xmlns:a="http://schemas.openxmlformats.org/drawingml/2006/main">
            <a:r>
              <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python poc/typesafe_decision_poc.py --output simple.json</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python poc/bfcl_routing_benchmark.py --backend typesafe \</a:t>
            </a:r>
          </a:p>
          <a:p xmlns:a="http://schemas.openxmlformats.org/drawingml/2006/main">
            <a:pPr algn="l">
              <a:lnSpc>
                <a:spcPct val="94000"/>
              </a:lnSpc>
              <a:buNone/>
              <a:defRPr sz="810" b="0" i="0">
                <a:solidFill>
                  <a:srgbClr val="EEE9F6"/>
                </a:solidFill>
                <a:latin typeface="Consolas"/>
                <a:ea typeface="Consolas"/>
                <a:cs typeface="Consolas"/>
              </a:defRPr>
            </a:pPr>
            <a:r>
              <a:rPr sz="810" b="0" i="0">
                <a:solidFill>
                  <a:srgbClr val="EEE9F6"/>
                </a:solidFill>
                <a:latin typeface="Consolas"/>
                <a:ea typeface="Consolas"/>
                <a:cs typeface="Consolas"/>
              </a:rPr>
              <a:t>  --dataset data/bfcl-routing-subset.json --output tools.json</a:t>
            </a:r>
          </a:p>
        </p:txBody>
      </p:sp>
      <p:sp>
        <p:nvSpPr>
          <p:cNvPr id="11" name="">
            <a:extLst xmlns:a="http://schemas.openxmlformats.org/drawingml/2006/main">
              <a:ext uri="{FF2B5EF4-FFF2-40B4-BE49-F238E27FC236}">
                <a16:creationId xmlns:a16="http://schemas.microsoft.com/office/drawing/2014/main" id="{B149B995-2E0F-4E98-A690-2F092FD666C0}"/>
              </a:ext>
            </a:extLst>
          </p:cNvPr>
          <p:cNvSpPr>
            <a:spLocks xmlns:a="http://schemas.openxmlformats.org/drawingml/2006/main" noGrp="1"/>
          </p:cNvSpPr>
          <p:nvPr/>
        </p:nvSpPr>
        <p:spPr>
          <a:xfrm xmlns:a="http://schemas.openxmlformats.org/drawingml/2006/main">
            <a:off x="781050" y="6286500"/>
            <a:ext cx="10458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065A82"/>
                </a:solidFill>
                <a:latin typeface="Calibri"/>
                <a:ea typeface="Calibri"/>
                <a:cs typeface="Calibri"/>
              </a:defRPr>
            </a:pPr>
            <a:r>
              <a:rPr sz="975" b="1" i="0">
                <a:solidFill>
                  <a:srgbClr val="065A82"/>
                </a:solidFill>
                <a:latin typeface="Calibri"/>
                <a:ea typeface="Calibri"/>
                <a:cs typeface="Calibri"/>
              </a:rPr>
              <a:t>Credentials stay in .env. Saved request and response audits never contain the API key.</a:t>
            </a:r>
          </a:p>
        </p:txBody>
      </p:sp>
    </p:spTree>
    <p:extLst>
      <p:ext uri="{BB962C8B-B14F-4D97-AF65-F5344CB8AC3E}">
        <p14:creationId xmlns:p14="http://schemas.microsoft.com/office/powerpoint/2010/main" val="61477383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8" name="background">
            <a:extLst xmlns:a="http://schemas.openxmlformats.org/drawingml/2006/main">
              <a:ext uri="{FF2B5EF4-FFF2-40B4-BE49-F238E27FC236}">
                <a16:creationId xmlns:a16="http://schemas.microsoft.com/office/drawing/2014/main" id="{F54E1C97-058E-4185-8287-01B9B89045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9"/>
          </a:solidFill>
          <a:ln xmlns:a="http://schemas.openxmlformats.org/drawingml/2006/main" w="0">
            <a:noFill/>
          </a:ln>
        </p:spPr>
      </p:sp>
      <p:sp>
        <p:nvSpPr>
          <p:cNvPr id="2" name="brand-spine">
            <a:extLst xmlns:a="http://schemas.openxmlformats.org/drawingml/2006/main">
              <a:ext uri="{FF2B5EF4-FFF2-40B4-BE49-F238E27FC236}">
                <a16:creationId xmlns:a16="http://schemas.microsoft.com/office/drawing/2014/main" id="{26765152-7DD8-4943-99B3-D393DF339048}"/>
              </a:ext>
            </a:extLst>
          </p:cNvPr>
          <p:cNvSpPr>
            <a:spLocks xmlns:a="http://schemas.openxmlformats.org/drawingml/2006/main" noGrp="1"/>
          </p:cNvSpPr>
          <p:nvPr/>
        </p:nvSpPr>
        <p:spPr>
          <a:xfrm xmlns:a="http://schemas.openxmlformats.org/drawingml/2006/main">
            <a:off x="0" y="0"/>
            <a:ext cx="257175" cy="6858000"/>
          </a:xfrm>
          <a:prstGeom xmlns:a="http://schemas.openxmlformats.org/drawingml/2006/main" prst="rect">
            <a:avLst/>
          </a:prstGeom>
          <a:solidFill xmlns:a="http://schemas.openxmlformats.org/drawingml/2006/main">
            <a:srgbClr val="1C729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B4C121-8095-47AE-992F-3710E4AE2EF1}"/>
              </a:ext>
            </a:extLst>
          </p:cNvPr>
          <p:cNvSpPr>
            <a:spLocks xmlns:a="http://schemas.openxmlformats.org/drawingml/2006/main" noGrp="1"/>
          </p:cNvSpPr>
          <p:nvPr/>
        </p:nvSpPr>
        <p:spPr>
          <a:xfrm xmlns:a="http://schemas.openxmlformats.org/drawingml/2006/main">
            <a:off x="781050" y="400050"/>
            <a:ext cx="10458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i="0">
                <a:solidFill>
                  <a:srgbClr val="21295C"/>
                </a:solidFill>
                <a:latin typeface="Georgia"/>
                <a:ea typeface="Georgia"/>
                <a:cs typeface="Georgia"/>
              </a:defRPr>
            </a:pPr>
            <a:r>
              <a:rPr sz="3000" b="1" i="0">
                <a:solidFill>
                  <a:srgbClr val="21295C"/>
                </a:solidFill>
                <a:latin typeface="Georgia"/>
                <a:ea typeface="Georgia"/>
                <a:cs typeface="Georgia"/>
              </a:rPr>
              <a:t>Appendix D · Other zero-shot classifiers</a:t>
            </a:r>
          </a:p>
        </p:txBody>
      </p:sp>
      <p:sp>
        <p:nvSpPr>
          <p:cNvPr id="4" name="">
            <a:extLst xmlns:a="http://schemas.openxmlformats.org/drawingml/2006/main">
              <a:ext uri="{FF2B5EF4-FFF2-40B4-BE49-F238E27FC236}">
                <a16:creationId xmlns:a16="http://schemas.microsoft.com/office/drawing/2014/main" id="{4ED3DE8F-A03C-4CE3-9246-2AEF300BB226}"/>
              </a:ext>
            </a:extLst>
          </p:cNvPr>
          <p:cNvSpPr>
            <a:spLocks xmlns:a="http://schemas.openxmlformats.org/drawingml/2006/main" noGrp="1"/>
          </p:cNvSpPr>
          <p:nvPr/>
        </p:nvSpPr>
        <p:spPr>
          <a:xfrm xmlns:a="http://schemas.openxmlformats.org/drawingml/2006/main">
            <a:off x="781050" y="981075"/>
            <a:ext cx="1045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i="1">
                <a:solidFill>
                  <a:srgbClr val="6B7A8C"/>
                </a:solidFill>
                <a:latin typeface="Calibri"/>
                <a:ea typeface="Calibri"/>
                <a:cs typeface="Calibri"/>
              </a:defRPr>
            </a:pPr>
            <a:r>
              <a:rPr sz="1275" b="0" i="1">
                <a:solidFill>
                  <a:srgbClr val="6B7A8C"/>
                </a:solidFill>
                <a:latin typeface="Calibri"/>
                <a:ea typeface="Calibri"/>
                <a:cs typeface="Calibri"/>
              </a:rPr>
              <a:t>Candidates for the next experiment, not results from this benchmark</a:t>
            </a:r>
          </a:p>
        </p:txBody>
      </p:sp>
      <p:graphicFrame>
        <p:nvGraphicFramePr>
          <p:cNvPr id="14" name=""/>
          <p:cNvGraphicFramePr/>
          <p:nvPr/>
        </p:nvGraphicFramePr>
        <p:xfrm>
          <a:off xmlns:a="http://schemas.openxmlformats.org/drawingml/2006/main" x="781050" y="1581150"/>
          <a:ext xmlns:a="http://schemas.openxmlformats.org/drawingml/2006/main" cx="10458450" cy="3810000"/>
        </p:xfrm>
        <a:graphic xmlns:a="http://schemas.openxmlformats.org/drawingml/2006/main">
          <a:graphicData uri="http://schemas.openxmlformats.org/drawingml/2006/table">
            <a:tbl>
              <a:tblPr firstRow="1" bandRow="1"/>
              <a:tblGrid>
                <a:gridCol w="2095500"/>
                <a:gridCol w="3257550"/>
                <a:gridCol w="2333625"/>
                <a:gridCol w="2771775"/>
              </a:tblGrid>
              <a:tr h="438150">
                <a:tc>
                  <a:txBody>
                    <a:bodyPr/>
                    <a:lstStyle/>
                    <a:p>
                      <a:r>
                        <a:rPr sz="975" b="1">
                          <a:solidFill>
                            <a:srgbClr val="FFFFFF"/>
                          </a:solidFill>
                          <a:latin typeface="Calibri"/>
                          <a:ea typeface="Calibri"/>
                          <a:cs typeface="Calibri"/>
                        </a:rPr>
                        <a:t>Candidate</a:t>
                      </a:r>
                    </a:p>
                  </a:txBody>
                  <a:tcPr marL="95250" marR="95250" marT="57150" marB="57150" anchor="ctr">
                    <a:solidFill>
                      <a:srgbClr val="21295C"/>
                    </a:solidFill>
                  </a:tcPr>
                </a:tc>
                <a:tc>
                  <a:txBody>
                    <a:bodyPr/>
                    <a:lstStyle/>
                    <a:p>
                      <a:r>
                        <a:rPr sz="975" b="1">
                          <a:solidFill>
                            <a:srgbClr val="FFFFFF"/>
                          </a:solidFill>
                          <a:latin typeface="Calibri"/>
                          <a:ea typeface="Calibri"/>
                          <a:cs typeface="Calibri"/>
                        </a:rPr>
                        <a:t>Why test it</a:t>
                      </a:r>
                    </a:p>
                  </a:txBody>
                  <a:tcPr marL="95250" marR="95250" marT="57150" marB="57150" anchor="ctr">
                    <a:solidFill>
                      <a:srgbClr val="21295C"/>
                    </a:solidFill>
                  </a:tcPr>
                </a:tc>
                <a:tc>
                  <a:txBody>
                    <a:bodyPr/>
                    <a:lstStyle/>
                    <a:p>
                      <a:r>
                        <a:rPr sz="975" b="1">
                          <a:solidFill>
                            <a:srgbClr val="FFFFFF"/>
                          </a:solidFill>
                          <a:latin typeface="Calibri"/>
                          <a:ea typeface="Calibri"/>
                          <a:cs typeface="Calibri"/>
                        </a:rPr>
                        <a:t>Best fit</a:t>
                      </a:r>
                    </a:p>
                  </a:txBody>
                  <a:tcPr marL="95250" marR="95250" marT="57150" marB="57150" anchor="ctr">
                    <a:solidFill>
                      <a:srgbClr val="21295C"/>
                    </a:solidFill>
                  </a:tcPr>
                </a:tc>
                <a:tc>
                  <a:txBody>
                    <a:bodyPr/>
                    <a:lstStyle/>
                    <a:p>
                      <a:r>
                        <a:rPr sz="975" b="1">
                          <a:solidFill>
                            <a:srgbClr val="FFFFFF"/>
                          </a:solidFill>
                          <a:latin typeface="Calibri"/>
                          <a:ea typeface="Calibri"/>
                          <a:cs typeface="Calibri"/>
                        </a:rPr>
                        <a:t>Watchout</a:t>
                      </a:r>
                    </a:p>
                  </a:txBody>
                  <a:tcPr marL="95250" marR="95250" marT="57150" marB="57150" anchor="ctr">
                    <a:solidFill>
                      <a:srgbClr val="21295C"/>
                    </a:solidFill>
                  </a:tcPr>
                </a:tc>
              </a:tr>
              <a:tr h="842963">
                <a:tc>
                  <a:txBody>
                    <a:bodyPr/>
                    <a:lstStyle/>
                    <a:p>
                      <a:r>
                        <a:rPr sz="1013" b="1">
                          <a:solidFill>
                            <a:srgbClr val="065A82"/>
                          </a:solidFill>
                          <a:latin typeface="Calibri"/>
                          <a:ea typeface="Calibri"/>
                          <a:cs typeface="Calibri"/>
                        </a:rPr>
                        <a:t>DeBERTa v3 large</a:t>
                      </a:r>
                    </a:p>
                    <a:p>
                      <a:r>
                        <a:rPr sz="1013" b="1">
                          <a:solidFill>
                            <a:srgbClr val="065A82"/>
                          </a:solidFill>
                          <a:latin typeface="Calibri"/>
                          <a:ea typeface="Calibri"/>
                          <a:cs typeface="Calibri"/>
                        </a:rPr>
                        <a:t>zero-shot v2.0</a:t>
                      </a:r>
                    </a:p>
                  </a:txBody>
                  <a:tcPr marL="95250" marR="95250" marT="76200" marB="76200" anchor="ctr"/>
                </a:tc>
                <a:tc>
                  <a:txBody>
                    <a:bodyPr/>
                    <a:lstStyle/>
                    <a:p>
                      <a:r>
                        <a:rPr sz="1013">
                          <a:solidFill>
                            <a:srgbClr val="1A1F2B"/>
                          </a:solidFill>
                          <a:latin typeface="Calibri"/>
                          <a:ea typeface="Calibri"/>
                          <a:cs typeface="Calibri"/>
                        </a:rPr>
                        <a:t>Closest NLI comparison from the same zero-shot model series</a:t>
                      </a:r>
                    </a:p>
                  </a:txBody>
                  <a:tcPr marL="95250" marR="95250" marT="76200" marB="76200" anchor="ctr"/>
                </a:tc>
                <a:tc>
                  <a:txBody>
                    <a:bodyPr/>
                    <a:lstStyle/>
                    <a:p>
                      <a:r>
                        <a:rPr sz="1013">
                          <a:solidFill>
                            <a:srgbClr val="1A1F2B"/>
                          </a:solidFill>
                          <a:latin typeface="Calibri"/>
                          <a:ea typeface="Calibri"/>
                          <a:cs typeface="Calibri"/>
                        </a:rPr>
                        <a:t>English accuracy baseline</a:t>
                      </a:r>
                    </a:p>
                  </a:txBody>
                  <a:tcPr marL="95250" marR="95250" marT="76200" marB="76200" anchor="ctr"/>
                </a:tc>
                <a:tc>
                  <a:txBody>
                    <a:bodyPr/>
                    <a:lstStyle/>
                    <a:p>
                      <a:r>
                        <a:rPr sz="1013">
                          <a:solidFill>
                            <a:srgbClr val="1A1F2B"/>
                          </a:solidFill>
                          <a:latin typeface="Calibri"/>
                          <a:ea typeface="Calibri"/>
                          <a:cs typeface="Calibri"/>
                        </a:rPr>
                        <a:t>Slower and more memory-intensive than ModernBERT</a:t>
                      </a:r>
                    </a:p>
                  </a:txBody>
                  <a:tcPr marL="95250" marR="95250" marT="76200" marB="76200" anchor="ctr"/>
                </a:tc>
              </a:tr>
              <a:tr h="842963">
                <a:tc>
                  <a:txBody>
                    <a:bodyPr/>
                    <a:lstStyle/>
                    <a:p>
                      <a:r>
                        <a:rPr sz="1013" b="1">
                          <a:solidFill>
                            <a:srgbClr val="065A82"/>
                          </a:solidFill>
                          <a:latin typeface="Calibri"/>
                          <a:ea typeface="Calibri"/>
                          <a:cs typeface="Calibri"/>
                        </a:rPr>
                        <a:t>BART large MNLI</a:t>
                      </a:r>
                    </a:p>
                  </a:txBody>
                  <a:tcPr marL="95250" marR="95250" marT="76200" marB="76200" anchor="ctr"/>
                </a:tc>
                <a:tc>
                  <a:txBody>
                    <a:bodyPr/>
                    <a:lstStyle/>
                    <a:p>
                      <a:r>
                        <a:rPr sz="1013">
                          <a:solidFill>
                            <a:srgbClr val="1A1F2B"/>
                          </a:solidFill>
                          <a:latin typeface="Calibri"/>
                          <a:ea typeface="Calibri"/>
                          <a:cs typeface="Calibri"/>
                        </a:rPr>
                        <a:t>Established NLI zero-shot baseline</a:t>
                      </a:r>
                    </a:p>
                  </a:txBody>
                  <a:tcPr marL="95250" marR="95250" marT="76200" marB="76200" anchor="ctr"/>
                </a:tc>
                <a:tc>
                  <a:txBody>
                    <a:bodyPr/>
                    <a:lstStyle/>
                    <a:p>
                      <a:r>
                        <a:rPr sz="1013">
                          <a:solidFill>
                            <a:srgbClr val="1A1F2B"/>
                          </a:solidFill>
                          <a:latin typeface="Calibri"/>
                          <a:ea typeface="Calibri"/>
                          <a:cs typeface="Calibri"/>
                        </a:rPr>
                        <a:t>Compatibility and historical baseline</a:t>
                      </a:r>
                    </a:p>
                  </a:txBody>
                  <a:tcPr marL="95250" marR="95250" marT="76200" marB="76200" anchor="ctr"/>
                </a:tc>
                <a:tc>
                  <a:txBody>
                    <a:bodyPr/>
                    <a:lstStyle/>
                    <a:p>
                      <a:r>
                        <a:rPr sz="1013">
                          <a:solidFill>
                            <a:srgbClr val="1A1F2B"/>
                          </a:solidFill>
                          <a:latin typeface="Calibri"/>
                          <a:ea typeface="Calibri"/>
                          <a:cs typeface="Calibri"/>
                        </a:rPr>
                        <a:t>Older encoder-decoder architecture</a:t>
                      </a:r>
                    </a:p>
                  </a:txBody>
                  <a:tcPr marL="95250" marR="95250" marT="76200" marB="76200" anchor="ctr"/>
                </a:tc>
              </a:tr>
              <a:tr h="842963">
                <a:tc>
                  <a:txBody>
                    <a:bodyPr/>
                    <a:lstStyle/>
                    <a:p>
                      <a:r>
                        <a:rPr sz="1013" b="1">
                          <a:solidFill>
                            <a:srgbClr val="065A82"/>
                          </a:solidFill>
                          <a:latin typeface="Calibri"/>
                          <a:ea typeface="Calibri"/>
                          <a:cs typeface="Calibri"/>
                        </a:rPr>
                        <a:t>mDeBERTa v3 base</a:t>
                      </a:r>
                    </a:p>
                    <a:p>
                      <a:r>
                        <a:rPr sz="1013" b="1">
                          <a:solidFill>
                            <a:srgbClr val="065A82"/>
                          </a:solidFill>
                          <a:latin typeface="Calibri"/>
                          <a:ea typeface="Calibri"/>
                          <a:cs typeface="Calibri"/>
                        </a:rPr>
                        <a:t>MNLI / XNLI</a:t>
                      </a:r>
                    </a:p>
                  </a:txBody>
                  <a:tcPr marL="95250" marR="95250" marT="76200" marB="76200" anchor="ctr"/>
                </a:tc>
                <a:tc>
                  <a:txBody>
                    <a:bodyPr/>
                    <a:lstStyle/>
                    <a:p>
                      <a:r>
                        <a:rPr sz="1013">
                          <a:solidFill>
                            <a:srgbClr val="1A1F2B"/>
                          </a:solidFill>
                          <a:latin typeface="Calibri"/>
                          <a:ea typeface="Calibri"/>
                          <a:cs typeface="Calibri"/>
                        </a:rPr>
                        <a:t>Multilingual NLI checkpoint with a standard Transformers pipeline</a:t>
                      </a:r>
                    </a:p>
                  </a:txBody>
                  <a:tcPr marL="95250" marR="95250" marT="76200" marB="76200" anchor="ctr"/>
                </a:tc>
                <a:tc>
                  <a:txBody>
                    <a:bodyPr/>
                    <a:lstStyle/>
                    <a:p>
                      <a:r>
                        <a:rPr sz="1013">
                          <a:solidFill>
                            <a:srgbClr val="1A1F2B"/>
                          </a:solidFill>
                          <a:latin typeface="Calibri"/>
                          <a:ea typeface="Calibri"/>
                          <a:cs typeface="Calibri"/>
                        </a:rPr>
                        <a:t>Decisions across 16 languages</a:t>
                      </a:r>
                    </a:p>
                  </a:txBody>
                  <a:tcPr marL="95250" marR="95250" marT="76200" marB="76200" anchor="ctr"/>
                </a:tc>
                <a:tc>
                  <a:txBody>
                    <a:bodyPr/>
                    <a:lstStyle/>
                    <a:p>
                      <a:r>
                        <a:rPr sz="1013">
                          <a:solidFill>
                            <a:srgbClr val="1A1F2B"/>
                          </a:solidFill>
                          <a:latin typeface="Calibri"/>
                          <a:ea typeface="Calibri"/>
                          <a:cs typeface="Calibri"/>
                        </a:rPr>
                        <a:t>Validate performance language by language</a:t>
                      </a:r>
                    </a:p>
                  </a:txBody>
                  <a:tcPr marL="95250" marR="95250" marT="76200" marB="76200" anchor="ctr"/>
                </a:tc>
              </a:tr>
              <a:tr h="842963">
                <a:tc>
                  <a:txBody>
                    <a:bodyPr/>
                    <a:lstStyle/>
                    <a:p>
                      <a:r>
                        <a:rPr sz="1013" b="1">
                          <a:solidFill>
                            <a:srgbClr val="065A82"/>
                          </a:solidFill>
                          <a:latin typeface="Calibri"/>
                          <a:ea typeface="Calibri"/>
                          <a:cs typeface="Calibri"/>
                        </a:rPr>
                        <a:t>GLiClass small</a:t>
                      </a:r>
                    </a:p>
                  </a:txBody>
                  <a:tcPr marL="95250" marR="95250" marT="76200" marB="76200" anchor="ctr"/>
                </a:tc>
                <a:tc>
                  <a:txBody>
                    <a:bodyPr/>
                    <a:lstStyle/>
                    <a:p>
                      <a:r>
                        <a:rPr sz="1013">
                          <a:solidFill>
                            <a:srgbClr val="1A1F2B"/>
                          </a:solidFill>
                          <a:latin typeface="Calibri"/>
                          <a:ea typeface="Calibri"/>
                          <a:cs typeface="Calibri"/>
                        </a:rPr>
                        <a:t>Scores labels in one forward path</a:t>
                      </a:r>
                    </a:p>
                  </a:txBody>
                  <a:tcPr marL="95250" marR="95250" marT="76200" marB="76200" anchor="ctr"/>
                </a:tc>
                <a:tc>
                  <a:txBody>
                    <a:bodyPr/>
                    <a:lstStyle/>
                    <a:p>
                      <a:r>
                        <a:rPr sz="1013">
                          <a:solidFill>
                            <a:srgbClr val="1A1F2B"/>
                          </a:solidFill>
                          <a:latin typeface="Calibri"/>
                          <a:ea typeface="Calibri"/>
                          <a:cs typeface="Calibri"/>
                        </a:rPr>
                        <a:t>Many labels or latency-sensitive classification</a:t>
                      </a:r>
                    </a:p>
                  </a:txBody>
                  <a:tcPr marL="95250" marR="95250" marT="76200" marB="76200" anchor="ctr"/>
                </a:tc>
                <a:tc>
                  <a:txBody>
                    <a:bodyPr/>
                    <a:lstStyle/>
                    <a:p>
                      <a:r>
                        <a:rPr sz="1013">
                          <a:solidFill>
                            <a:srgbClr val="1A1F2B"/>
                          </a:solidFill>
                          <a:latin typeface="Calibri"/>
                          <a:ea typeface="Calibri"/>
                          <a:cs typeface="Calibri"/>
                        </a:rPr>
                        <a:t>Different package and scoring semantics</a:t>
                      </a:r>
                    </a:p>
                  </a:txBody>
                  <a:tcPr marL="95250" marR="95250" marT="76200" marB="76200" anchor="ctr"/>
                </a:tc>
              </a:tr>
            </a:tbl>
          </a:graphicData>
        </a:graphic>
      </p:graphicFrame>
      <p:sp>
        <p:nvSpPr>
          <p:cNvPr id="6" name="">
            <a:extLst xmlns:a="http://schemas.openxmlformats.org/drawingml/2006/main">
              <a:ext uri="{FF2B5EF4-FFF2-40B4-BE49-F238E27FC236}">
                <a16:creationId xmlns:a16="http://schemas.microsoft.com/office/drawing/2014/main" id="{59CF4BB3-56D9-4BAA-BA99-49CBC716EFB8}"/>
              </a:ext>
            </a:extLst>
          </p:cNvPr>
          <p:cNvSpPr>
            <a:spLocks xmlns:a="http://schemas.openxmlformats.org/drawingml/2006/main" noGrp="1"/>
          </p:cNvSpPr>
          <p:nvPr/>
        </p:nvSpPr>
        <p:spPr>
          <a:xfrm xmlns:a="http://schemas.openxmlformats.org/drawingml/2006/main">
            <a:off x="781050" y="5762625"/>
            <a:ext cx="1045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i="0">
                <a:solidFill>
                  <a:srgbClr val="21295C"/>
                </a:solidFill>
                <a:latin typeface="Calibri"/>
                <a:ea typeface="Calibri"/>
                <a:cs typeface="Calibri"/>
              </a:defRPr>
            </a:pPr>
            <a:r>
              <a:rPr sz="1200" b="1" i="0">
                <a:solidFill>
                  <a:srgbClr val="21295C"/>
                </a:solidFill>
                <a:latin typeface="Calibri"/>
                <a:ea typeface="Calibri"/>
                <a:cs typeface="Calibri"/>
              </a:rPr>
              <a:t>Recommended next run: DeBERTa v3 large first, then GLiClass to test a different latency and label-scaling tradeoff</a:t>
            </a:r>
          </a:p>
        </p:txBody>
      </p:sp>
      <p:sp>
        <p:nvSpPr>
          <p:cNvPr id="7" name="">
            <a:extLst xmlns:a="http://schemas.openxmlformats.org/drawingml/2006/main">
              <a:ext uri="{FF2B5EF4-FFF2-40B4-BE49-F238E27FC236}">
                <a16:creationId xmlns:a16="http://schemas.microsoft.com/office/drawing/2014/main" id="{6CC22DDB-30C7-461D-A8B6-ECDBA0D2B942}"/>
              </a:ext>
            </a:extLst>
          </p:cNvPr>
          <p:cNvSpPr>
            <a:spLocks xmlns:a="http://schemas.openxmlformats.org/drawingml/2006/main" noGrp="1"/>
          </p:cNvSpPr>
          <p:nvPr/>
        </p:nvSpPr>
        <p:spPr>
          <a:xfrm xmlns:a="http://schemas.openxmlformats.org/drawingml/2006/main">
            <a:off x="781050" y="6238875"/>
            <a:ext cx="1045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0" i="1">
                <a:solidFill>
                  <a:srgbClr val="6B7A8C"/>
                </a:solidFill>
                <a:latin typeface="Calibri"/>
                <a:ea typeface="Calibri"/>
                <a:cs typeface="Calibri"/>
              </a:defRPr>
            </a:pPr>
            <a:r>
              <a:rPr sz="1050" b="0" i="1">
                <a:solidFill>
                  <a:srgbClr val="6B7A8C"/>
                </a:solidFill>
                <a:latin typeface="Calibri"/>
                <a:ea typeface="Calibri"/>
                <a:cs typeface="Calibri"/>
              </a:rPr>
              <a:t>Keep the same 12 cases, then add ambiguous, adversarial, and domain-specific examples before comparing calibration</a:t>
            </a:r>
          </a:p>
        </p:txBody>
      </p:sp>
    </p:spTree>
    <p:extLst>
      <p:ext uri="{BB962C8B-B14F-4D97-AF65-F5344CB8AC3E}">
        <p14:creationId xmlns:p14="http://schemas.microsoft.com/office/powerpoint/2010/main" val="117950477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2026-09-18T05:42:34.5850000Z</dcterms:created>
  <dcterms:modified xsi:type="dcterms:W3CDTF">2026-09-18T05:42:34.5860000Z</dcterms:modified>
</coreProperties>
</file>